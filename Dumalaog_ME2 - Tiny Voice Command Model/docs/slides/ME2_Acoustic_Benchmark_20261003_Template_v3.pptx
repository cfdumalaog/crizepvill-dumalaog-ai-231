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ebef7b7e64cf1" /><Relationship Type="http://schemas.openxmlformats.org/officeDocument/2006/relationships/extended-properties" Target="/docProps/app.xml" Id="Rb94fdb22b4014397" /><Relationship Type="http://schemas.openxmlformats.org/officeDocument/2006/relationships/officeDocument" Target="/ppt/presentation.xml" Id="R5b11d8bdc08c45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2547a5fe054eb2"/>
  </p:sldMasterIdLst>
  <p:notesMasterIdLst>
    <p:notesMasterId xmlns:r="http://schemas.openxmlformats.org/officeDocument/2006/relationships" r:id="Rfbb8153d053844e5"/>
  </p:notesMasterIdLst>
  <p:sldIdLst>
    <p:sldId xmlns:r="http://schemas.openxmlformats.org/officeDocument/2006/relationships" id="256" r:id="R30a2971e61674779"/>
    <p:sldId xmlns:r="http://schemas.openxmlformats.org/officeDocument/2006/relationships" id="257" r:id="R35fed1c960ab47ed"/>
  </p:sldIdLst>
  <p:sldSz cx="10692003" cy="7559993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70634c26444edb" /><Relationship Type="http://schemas.openxmlformats.org/officeDocument/2006/relationships/slideMaster" Target="/ppt/slideMasters/slideMaster1.xml" Id="R532547a5fe054eb2" /><Relationship Type="http://schemas.openxmlformats.org/officeDocument/2006/relationships/notesMaster" Target="/ppt/notesMasters/notesMaster1.xml" Id="Rfbb8153d053844e5" /><Relationship Type="http://schemas.openxmlformats.org/officeDocument/2006/relationships/presProps" Target="/ppt/presProps.xml" Id="R252dbd6382b2434e" /><Relationship Type="http://schemas.openxmlformats.org/officeDocument/2006/relationships/tableStyles" Target="/ppt/tableStyles.xml" Id="R30c878e108714e8a" /><Relationship Type="http://schemas.openxmlformats.org/officeDocument/2006/relationships/slide" Target="/ppt/slides/slide1.xml" Id="R30a2971e61674779" /><Relationship Type="http://schemas.openxmlformats.org/officeDocument/2006/relationships/slide" Target="/ppt/slides/slide2.xml" Id="R35fed1c960ab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0aada6cf834f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ddb3d86344665" /><Relationship Type="http://schemas.openxmlformats.org/officeDocument/2006/relationships/notesMaster" Target="/ppt/notesMasters/notesMaster1.xml" Id="R15bbdc45d206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33f1f2ac4246fd" /><Relationship Type="http://schemas.openxmlformats.org/officeDocument/2006/relationships/notesMaster" Target="/ppt/notesMasters/notesMaster1.xml" Id="Rd25723304517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vcm-benchmark quick SSH run, 20261003-124806. Report and metrics: AI 231/Dumalaog_ME2 - Tiny Voice Command Model/archive/runs/class-benchmark-official-quick-20261003/20261003-124806/. The 109 wake-positive set comprises 93 in-scope phrase variants plus 16 out-of-scope items; 16 additional trials omit the wake word. Intent model inference metrics are model-only, not end-to-end response latency.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official vcm-benchmark quick SSH run, 20261003-124806. Report: AI 231/Dumalaog_ME2 - Tiny Voice Command Model/archive/runs/class-benchmark-official-quick-20261003/20261003-124806/report.md; structured metrics in metrics.json. The benchmark records 69 response-latency samples, including negative values, making the 6.99 s response p95 unsuitable as a definitive end-to-end measure. Do not confuse the Pi model-inference timing (7.9 ms mean, 9.3 ms p95) with response latency. No retraining or candidate deployment occurred during this benchmark update.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87f3e9ffd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2fc161f18e4e02" /><Relationship Type="http://schemas.openxmlformats.org/officeDocument/2006/relationships/slideLayout" Target="/ppt/slideLayouts/slideLayout1.xml" Id="R329429530cfd43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429530cfd43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d078e22992491a" /><Relationship Type="http://schemas.openxmlformats.org/officeDocument/2006/relationships/notesSlide" Target="/ppt/notesSlides/notesSlide1.xml" Id="R7012c89ce05e47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1f6cc7a114848" /><Relationship Type="http://schemas.openxmlformats.org/officeDocument/2006/relationships/notesSlide" Target="/ppt/notesSlides/notesSlide2.xml" Id="Rc5c7c4b5e9c84e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64DD2E1-2AAE-4D0F-98D9-8F59682A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"/>
            <a:ext cx="9858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42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ME2 - Voice Controlled Smart Device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6014C-06CE-4C1A-9E96-2D2A6AE1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742950"/>
            <a:ext cx="988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Always-on wake word + intent recognition at the 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A0CCA-E406-4E45-8609-A1E44F0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 October 2026  |  Live acoustic benchmark  |  Raspberry Pi 5  |  125 trials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8057-A613-442C-A0FE-3BBF8491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049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Model and 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7209A-8969-4438-B944-32F62A92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66900"/>
            <a:ext cx="48006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9050">
            <a:solidFill>
              <a:srgbClr val="9AB2D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4BBF3-2701-4806-A1FD-3ADEA602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7345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453"/>
                </a:solidFill>
                <a:latin typeface="Arial"/>
                <a:ea typeface="Arial"/>
                <a:cs typeface="Arial"/>
              </a:rPr>
              <a:t>Mic 16 kHz  -&gt;  40-bin log-mel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32C9E-167D-443D-9E85-42351140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28850"/>
            <a:ext cx="48006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AF4EB"/>
          </a:solidFill>
          <a:ln xmlns:a="http://schemas.openxmlformats.org/drawingml/2006/main" w="19050">
            <a:solidFill>
              <a:srgbClr val="59A7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99992-B48C-47B1-9872-41799FED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28850"/>
            <a:ext cx="459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A4B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4B2B"/>
                </a:solidFill>
                <a:latin typeface="Arial"/>
                <a:ea typeface="Arial"/>
                <a:cs typeface="Arial"/>
              </a:rPr>
              <a:t>Wake gate  -&gt;  31-class INT8 intent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86680-9A94-43CF-AF62-DE995B56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28900"/>
            <a:ext cx="4800600" cy="32385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D68E1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8DAF9-779B-4925-9ECF-9D9B3E53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68420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8420D"/>
                </a:solidFill>
                <a:latin typeface="Arial"/>
                <a:ea typeface="Arial"/>
                <a:cs typeface="Arial"/>
              </a:rPr>
              <a:t>Intent + slot  -&gt;  local Raspberry Pi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9761B-630C-4919-8A4C-EDF9813B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67050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D5DBD-FA25-4C49-B3C9-FD22A8B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690FB-6EEC-4DB0-BEBD-1EF7489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765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68BCD-0461-439D-8C5B-DD71514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71850"/>
            <a:ext cx="480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174B54-BB86-43D3-B2A2-71771CD3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86175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BFD3F-9271-49B0-BC2C-DE8932B5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weights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EA6E2-F4B6-4E2D-9F2F-A71D43F4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813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15,971 params  |  37.5 KB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945BD-705D-4FA7-BD47-2C2FF823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95700"/>
            <a:ext cx="480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84314-AD6A-4A91-B4A8-EF8F1CD9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0025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CF7B2-80CA-4F2A-BA80-5FE5C4D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2200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F018D1-E464-4F10-808B-AF57F18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70522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7.9 ms mean  |  9.3 ms p95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F8C781-927A-46E3-AF09-714A493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00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Live Pi 5 result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947B1-F8A5-40CB-9B65-71EE9E86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52950"/>
            <a:ext cx="480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7E4179-7E3C-465A-A1C2-42F2378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2200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E0B84-30AA-42C8-AF14-743A52C4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5624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0107A-6D71-442D-87D4-870C81B4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7750"/>
            <a:ext cx="480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75BC1-3294-4022-8F0B-482D5585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625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AB9DCF-A33B-434F-A5BD-478A805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2200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accuracy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A12DB-0C81-4FE6-BB4E-6A47E7FC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8672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36.7%  (40 / 109)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A8B781-8D3F-4B45-BD46-D25833F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172075"/>
            <a:ext cx="480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DD6312-B467-4E75-954E-C3864774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76875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F33AAE-D35B-42FF-B511-6FC7A80C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200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Command accuracy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92D53-2B02-4D3B-96E9-9BBACA03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18160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045149-323D-4C30-9E03-15CC087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486400"/>
            <a:ext cx="480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CA9BBE-5289-4FB9-8A74-E6506A6F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7912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C71506-AC7A-4A33-8867-590C4879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95925"/>
            <a:ext cx="2200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Out-of-scope false accepts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12C18E-7509-42A3-8E11-8E988F0C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49592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62.5%  (10 / 16)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BDD168-3E56-49E1-9FF9-3E68DFB8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00725"/>
            <a:ext cx="48006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D89B0C-310E-45AA-955B-5D6E5FF1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05525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3A9AEC-36D8-4C8A-AA01-0B4F8304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2200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No-wake false fires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F91A62-C44A-490E-92E8-6A46250B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810250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50.0%  (8 / 16)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FD1D3A-10B1-4085-AF62-637D897E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049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Evaluation set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97F911-EA0F-435D-A344-0DD54055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669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BC66F2-3529-47AA-9B17-EEE08D45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87642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DB697B-665A-4266-99E9-DFF372C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87642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3005F5-A9FE-4DC1-AA57-B0ED5015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717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86A243A-CB6D-47BC-BBB4-E1FF083A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CEE115-8504-497F-B4EB-DC5BD52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1812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Wake-positive trials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CA1D6F3-89C0-4075-806F-31967507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1812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109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50577C-4E18-429B-9900-5740E38D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CF11B8-A8A7-47B7-8835-BA4FA694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098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7C7409-E24F-4772-AD08-DE02E95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050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In-scope phrases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C8C287-3C98-44D6-8630-745588F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050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93 command variants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5A97B2-20E6-4663-93C1-72843C93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194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AFECD7-A4EE-40DD-9099-8DA6A416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337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E02555-36BD-45E9-A9C4-C3F5CB41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8289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Out-of-scope clips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B67FF5-449C-4D09-AA5F-A45DC9CA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8289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45AFB2-62D4-49E5-B8D9-AF9B4814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C712F3-BB38-4FF0-8C16-9B095084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575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8DF0E14-FBC6-4F5D-B1BB-641D50B1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527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No-wake controls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3292C4-9BAC-4A09-B0EC-E2154D03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527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B8879F-2085-46C4-BE3A-2AD3179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671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A54E26-3690-4594-8A69-6032998D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814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3DFA235-2987-46B2-A79D-5074CEA1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766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Voice mix (scored)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46B336-1A39-47FD-A93C-E5FD784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766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49 real  |  60 synthetic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D4B95C-2D2A-4718-9E83-3B21D61A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7195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Raspberry Pi 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1A3700-EDAF-43C6-B62B-9AD88176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148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07F7F1-D9AE-4EEB-B39A-A86D5142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524375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item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1C03B7-15E1-408A-8B65-74AD158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524375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302722-07DF-4B90-8A15-A8B6766A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2C08926-9AC8-42BE-86A5-2B00E26E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339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D73A32-F522-498F-A23E-1941CFE8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8291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6311FF-E979-41A6-BD2C-EB565861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8291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4-core  |  4 GB RAM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C8255A-276C-4201-BF50-F8D3A3EC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43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6D0A4D6-0E2B-45B2-802F-021912E0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578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7BF1FE-43EA-4101-8DAB-25F43D0B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530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Inference RTF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DD6144D-D756-48AC-91E1-D2EE5DB4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53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0.003 mean  |  0.004 p95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A55510-AEAD-48E8-8074-5CB7270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673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0F277E-E094-4AC3-A320-4014758D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8167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E4A09B-ADB3-47D1-80BA-DA42D58B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7687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CPU temperature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5B53E56-D947-4EBF-86CC-02777834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47687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45.2 C maximum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1CCC4D-C76C-4125-A6F3-E59307D8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912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939857-E45C-4DF6-B9FB-336F600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105525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68FA53-29CD-4ECB-B7A4-3E27441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800725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Throttling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796591E-5A1D-4969-A062-94D310D9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8007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None observed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684D4D-A6FF-4240-B625-7F10744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0"/>
            <a:ext cx="979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Quick holdout benchmark; this evaluates the existing deployed ME2 model, not a retrained candidate.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122E88D-5397-47A7-893B-799D922D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703" y="7264718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4A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794A9"/>
                </a:solidFill>
                <a:latin typeface="Arial"/>
                <a:ea typeface="Arial"/>
                <a:cs typeface="Arial"/>
              </a:rPr>
              <a:t>p. 1 / 2</a:t>
            </a:r>
          </a:p>
        </p:txBody>
      </p:sp>
    </p:spTree>
    <p:extLst>
      <p:ext uri="{BB962C8B-B14F-4D97-AF65-F5344CB8AC3E}">
        <p14:creationId xmlns:p14="http://schemas.microsoft.com/office/powerpoint/2010/main" val="1506652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D9FE6B1-9C06-48FE-90B3-54CFABCF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5275"/>
            <a:ext cx="988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Live acoustic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CA953-BD34-47DA-98C7-97911FC5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98964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B90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A9144-E081-4A9B-86EF-42F9D163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98964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BC0A3-1A0F-45F4-B6A2-2588A1B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4BDE6-0A69-45A2-822A-AD63D56D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0001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EA4CD-33CD-4CCB-96DB-BC86A026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0001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F7850-0B1B-4E7F-8314-3404B7F0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00125"/>
            <a:ext cx="217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Synthetic 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E4EF7-3C50-4107-9514-59020934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896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8F1E8-2FB4-4277-BCE5-14496271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57841-EEAD-4326-AF38-7D503061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62075"/>
            <a:ext cx="3171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FCD6-6E4F-4C7F-971C-C1A87EEC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62075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36.7%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294FF-5DAC-493F-A1A4-2623669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362075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16.3%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42E1D-601D-4260-A31D-1C5695B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6207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53.3%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1E00B-3724-4EB2-A0E3-D2D04027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9896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1E4CB-ECB9-4055-9869-E60AA56E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1C3D6-91C9-481E-BEFB-4349936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14500"/>
            <a:ext cx="3171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Command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6ABC8-286B-4823-A8D9-8B1D856B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1450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33.9%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0B715-6023-4913-958A-0E9CBFAD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71450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12.2%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26ACD-3381-42FE-8527-AD10C37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51.7%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40E93-5BB5-4605-9390-944798C3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9896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29F70B-8416-4C32-8BEF-5E4CAFEF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E0C71-6DD2-4D69-ABA9-319CF0AB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66925"/>
            <a:ext cx="3171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macro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248592-3D31-43FB-9B3B-45ECA0DA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66925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34.7%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5CDAE-558A-4318-A9BF-D5759B50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066925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12.0%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2C7FD7-20AF-49B3-8EF3-58A1F5A7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66925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49.9%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B2CA8F-954F-4BBD-B0DC-95F1522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989647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36D67-0926-407D-975D-D9716881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52725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958AC-86CB-42DD-ADD5-76DCE2B9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31718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Out-of-scope false accepts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4705AA-BA6E-4443-9BC5-742934B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193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3A605-254C-41F3-BFA9-9D03C42C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19350"/>
            <a:ext cx="20097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Conflicted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B53FB1-713C-48B9-ABDD-4729434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19350"/>
            <a:ext cx="217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Conflicted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07C50-2A40-4F5A-8DE4-1E0FFBCD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Pi inference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AF7C3C-D08B-4EAE-B61A-65EF939B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3275"/>
            <a:ext cx="4810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B4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D50D62-59F9-414F-A42D-2B2054E2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352800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2EAFC4-D8E8-468E-AF74-6671A22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5280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C76949-2484-4AD8-AB18-10906AF4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810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49495F-CBC4-4751-A12B-FFF35FC3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9097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FB502E-ABB4-4095-BC62-033CD169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67665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inference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9FB026-014F-459F-879B-315633B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76650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7.9 ms mean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CA494C-EB5C-44D1-89FB-78EEC92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810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52B56-171D-4C80-A694-ED1CB264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EDFB41-FB6E-4E19-81BA-8E33C872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10025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Intent inference p95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25A553-89CC-4838-BB94-B0CCFF08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10025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9.3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3E4381-2601-45CE-94BE-DCA7850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4810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9D17A2-E5BE-42A9-846F-7CC6B1BF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57725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EAF0A1-18C1-4FE5-8099-82CE3342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343400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Real-time factor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8A30E-57B5-4EB3-A280-DD7F1947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0.003 mean / 0.004 p95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744278-15C5-4B18-A646-A80D7C1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4810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5855C5-BC08-4314-8432-29B8D4CD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4810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9EA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7FADCF-3D15-4C71-BCA5-6AC2D52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676775"/>
            <a:ext cx="22193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Peak CPU temperature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109887-955C-4B7F-AD60-AC56E2A6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76775"/>
            <a:ext cx="23241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45.2 C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07E701-63EA-4C47-B6EE-722B84D8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48482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CA2462-E152-4479-9AC9-1178B97B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43275"/>
            <a:ext cx="4848225" cy="1657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D68E1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002664-C978-4050-940C-81155F11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76625"/>
            <a:ext cx="455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68420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8420D"/>
                </a:solidFill>
                <a:latin typeface="Arial"/>
                <a:ea typeface="Arial"/>
                <a:cs typeface="Arial"/>
              </a:rPr>
              <a:t>Recognition is the bottleneck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2BFBDA-C6F9-4035-8C23-31159711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19525"/>
            <a:ext cx="4552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The model runs quickly on the Pi, but real-voice intent accuracy is only 16.3%. Overall false accepts were 10 of 16 out-of-scope clips.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44A972-4C19-4C8F-B96C-9B9D516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24375"/>
            <a:ext cx="455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C2D"/>
                </a:solidFill>
                <a:latin typeface="Arial"/>
                <a:ea typeface="Arial"/>
                <a:cs typeface="Arial"/>
              </a:rPr>
              <a:t>The test logged 40 no-responses and 49 extra fires across 109 wake-positive trials.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D43E9A-A72C-4C7C-BFD3-89CEC279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9896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Review before making model changes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504DC3-929E-4C47-B2CD-06E921A7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3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418D80-FCAB-4439-A611-1DB011B3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6959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1B28C3-6E15-4A97-B558-AF853B20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94011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Audit the acoustic event log: 16 of 69 response-latency samples are negative, so the reported 6.99 s p95 is provisional.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60B003E-8CF1-4874-9A06-91C8ADF0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98964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3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F26DEC-5206-447C-8E38-EC63DC42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6153150"/>
            <a:ext cx="24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355E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5E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6AD47C7-DFC5-4D95-B147-3157D48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34100"/>
            <a:ext cx="9401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11C2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C2D"/>
                </a:solidFill>
                <a:latin typeface="Arial"/>
                <a:ea typeface="Arial"/>
                <a:cs typeface="Arial"/>
              </a:rPr>
              <a:t>Repeat with a larger, balanced holdout and corrected event-to-utterance timing before claiming end-to-end latency or promoting a model.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A70CE18-3D85-47BF-81DA-4EF174F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00850"/>
            <a:ext cx="957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125 trials total. FAR source breakdown conflicts in report prose; no retraining or promotion was performed.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B7C35C-AED9-481C-A143-FCAF5436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703" y="7264718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8794A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794A9"/>
                </a:solidFill>
                <a:latin typeface="Arial"/>
                <a:ea typeface="Arial"/>
                <a:cs typeface="Arial"/>
              </a:rPr>
              <a:t>p. 2 / 2</a:t>
            </a:r>
          </a:p>
        </p:txBody>
      </p:sp>
    </p:spTree>
    <p:extLst>
      <p:ext uri="{BB962C8B-B14F-4D97-AF65-F5344CB8AC3E}">
        <p14:creationId xmlns:p14="http://schemas.microsoft.com/office/powerpoint/2010/main" val="530556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2026-10-03T06:06:52.8380000Z</dcterms:created>
  <dcterms:modified xsi:type="dcterms:W3CDTF">2026-10-03T06:06:52.8380000Z</dcterms:modified>
</coreProperties>
</file>