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411f62b1c04f7a" /><Relationship Type="http://schemas.openxmlformats.org/officeDocument/2006/relationships/extended-properties" Target="/docProps/app.xml" Id="R5a8fcc4d561c4db7" /><Relationship Type="http://schemas.openxmlformats.org/officeDocument/2006/relationships/officeDocument" Target="/ppt/presentation.xml" Id="Rc60d8127f5354f6c" /></Relationships>
</file>

<file path=ppt/presentation.xml><?xml version="1.0" encoding="utf-8"?>
<p:presentation xmlns:p="http://schemas.openxmlformats.org/presentationml/2006/main">
  <p:sldMasterIdLst>
    <p:sldMasterId xmlns:r="http://schemas.openxmlformats.org/officeDocument/2006/relationships" id="2147483648" r:id="Rea54b1559f764b81"/>
  </p:sldMasterIdLst>
  <p:notesMasterIdLst>
    <p:notesMasterId xmlns:r="http://schemas.openxmlformats.org/officeDocument/2006/relationships" r:id="Re2345e8f8272446e"/>
  </p:notesMasterIdLst>
  <p:sldIdLst>
    <p:sldId xmlns:r="http://schemas.openxmlformats.org/officeDocument/2006/relationships" id="256" r:id="R52825b3230e846ab"/>
    <p:sldId xmlns:r="http://schemas.openxmlformats.org/officeDocument/2006/relationships" id="257" r:id="R0a2d0fa5d6e148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54ee7f82fc64554" /><Relationship Type="http://schemas.openxmlformats.org/officeDocument/2006/relationships/slideMaster" Target="/ppt/slideMasters/slideMaster1.xml" Id="Rea54b1559f764b81" /><Relationship Type="http://schemas.openxmlformats.org/officeDocument/2006/relationships/notesMaster" Target="/ppt/notesMasters/notesMaster1.xml" Id="Re2345e8f8272446e" /><Relationship Type="http://schemas.openxmlformats.org/officeDocument/2006/relationships/presProps" Target="/ppt/presProps.xml" Id="R01e86353097943ef" /><Relationship Type="http://schemas.openxmlformats.org/officeDocument/2006/relationships/tableStyles" Target="/ppt/tableStyles.xml" Id="Rcd7e5f21e3cc4d00" /><Relationship Type="http://schemas.openxmlformats.org/officeDocument/2006/relationships/slide" Target="/ppt/slides/slide1.xml" Id="R52825b3230e846ab" /><Relationship Type="http://schemas.openxmlformats.org/officeDocument/2006/relationships/slide" Target="/ppt/slides/slide2.xml" Id="R0a2d0fa5d6e148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bba8db68dab41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51435e57c14502" /><Relationship Type="http://schemas.openxmlformats.org/officeDocument/2006/relationships/notesMaster" Target="/ppt/notesMasters/notesMaster1.xml" Id="R50df70fd063441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0e200ba4f2446e" /><Relationship Type="http://schemas.openxmlformats.org/officeDocument/2006/relationships/notesMaster" Target="/ppt/notesMasters/notesMaster1.xml" Id="Rc72ea45108e049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ME2 Spoken Command Dataset pinned revision a90b8d106349b02c5570a1a258503386043f63b2, the candidate training summary and the frozen comparison report. The candidate intent model was trained from random initialization; its separate binary wake model is byte-identical to the current model because this dataset contains no wake-positive examples. The local feature input is 16 kHz mono, 2.5 seconds, 40 by 251 log-mel. Recognition and commands run locally without ASR or an LLM.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paired, frozen test pass scored 4,371 supported commands and 47 out-of-scope clips. Current raw accuracy and macro F1 were 79.64 percent and 79.47 percent; candidate values were 78.95 percent and 79.12 percent. The candidate performs better on the smaller real and varied source slices but worse on the large synthetic slice, so it is not promoted. At validation-selected gates, it made zero false actions on 47 out-of-scope clips with 61.36 percent correct-action coverage; the current deployed gate made 22 false actions on those 47 clips. The unchanged wake model made one false accept among 4,418 wake-negative clips; no wake-positive test rows exist. The Pi app is running separately at /home/dalmacio/Desktop/me2-dataset-candidate on port 7865, but there is no Pi microphone attached, so live speech remains untested.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b5a57aecd240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757ec410dc4172" /><Relationship Type="http://schemas.openxmlformats.org/officeDocument/2006/relationships/slideLayout" Target="/ppt/slideLayouts/slideLayout1.xml" Id="R3dd1e9aea01f4f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d1e9aea01f4f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7924de7fac45b9" /><Relationship Type="http://schemas.openxmlformats.org/officeDocument/2006/relationships/notesSlide" Target="/ppt/notesSlides/notesSlide1.xml" Id="R954c6941f93849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e191771107c4122" /><Relationship Type="http://schemas.openxmlformats.org/officeDocument/2006/relationships/notesSlide" Target="/ppt/notesSlides/notesSlide2.xml" Id="R8b0bf25c891245f3" /></Relationships>
</file>

<file path=ppt/slides/slide1.xml><?xml version="1.0" encoding="utf-8"?>
<p:sld xmlns:p="http://schemas.openxmlformats.org/presentationml/2006/main">
  <p:cSld>
    <p:bg>
      <p:bgPr>
        <a:solidFill xmlns:a="http://schemas.openxmlformats.org/drawingml/2006/main">
          <a:srgbClr val="0B233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20A0302-9F97-4094-AFC7-ADEE6867EF4D}"/>
              </a:ext>
            </a:extLst>
          </p:cNvPr>
          <p:cNvSpPr>
            <a:spLocks xmlns:a="http://schemas.openxmlformats.org/drawingml/2006/main" noGrp="1"/>
          </p:cNvSpPr>
          <p:nvPr/>
        </p:nvSpPr>
        <p:spPr>
          <a:xfrm xmlns:a="http://schemas.openxmlformats.org/drawingml/2006/main">
            <a:off x="647700" y="400050"/>
            <a:ext cx="76200" cy="866775"/>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B7BAD28-CE87-4F4F-B213-FADF3F9FDCAE}"/>
              </a:ext>
            </a:extLst>
          </p:cNvPr>
          <p:cNvSpPr>
            <a:spLocks xmlns:a="http://schemas.openxmlformats.org/drawingml/2006/main" noGrp="1"/>
          </p:cNvSpPr>
          <p:nvPr/>
        </p:nvSpPr>
        <p:spPr>
          <a:xfrm xmlns:a="http://schemas.openxmlformats.org/drawingml/2006/main">
            <a:off x="923925" y="409575"/>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FFFFFF"/>
                </a:solidFill>
                <a:latin typeface="Arial"/>
                <a:ea typeface="Arial"/>
                <a:cs typeface="Arial"/>
              </a:defRPr>
            </a:pPr>
            <a:r>
              <a:rPr sz="3525" b="1">
                <a:solidFill>
                  <a:srgbClr val="FFFFFF"/>
                </a:solidFill>
                <a:latin typeface="Arial"/>
                <a:ea typeface="Arial"/>
                <a:cs typeface="Arial"/>
              </a:rPr>
              <a:t>ME2 - VCM on Raspberry Pi 5</a:t>
            </a:r>
          </a:p>
        </p:txBody>
      </p:sp>
      <p:sp>
        <p:nvSpPr>
          <p:cNvPr id="3" name="">
            <a:extLst xmlns:a="http://schemas.openxmlformats.org/drawingml/2006/main">
              <a:ext uri="{FF2B5EF4-FFF2-40B4-BE49-F238E27FC236}">
                <a16:creationId xmlns:a16="http://schemas.microsoft.com/office/drawing/2014/main" id="{93005F22-62EC-4E96-9FA5-6BADA8C7C75C}"/>
              </a:ext>
            </a:extLst>
          </p:cNvPr>
          <p:cNvSpPr>
            <a:spLocks xmlns:a="http://schemas.openxmlformats.org/drawingml/2006/main" noGrp="1"/>
          </p:cNvSpPr>
          <p:nvPr/>
        </p:nvSpPr>
        <p:spPr>
          <a:xfrm xmlns:a="http://schemas.openxmlformats.org/drawingml/2006/main">
            <a:off x="933450" y="11334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B7D8E2"/>
                </a:solidFill>
                <a:latin typeface="Arial"/>
                <a:ea typeface="Arial"/>
                <a:cs typeface="Arial"/>
              </a:defRPr>
            </a:pPr>
            <a:r>
              <a:rPr sz="1800" b="0">
                <a:solidFill>
                  <a:srgbClr val="B7D8E2"/>
                </a:solidFill>
                <a:latin typeface="Arial"/>
                <a:ea typeface="Arial"/>
                <a:cs typeface="Arial"/>
              </a:rPr>
              <a:t>Always listening locally · two-stage TinyDSCNN-48 · no ASR</a:t>
            </a:r>
          </a:p>
        </p:txBody>
      </p:sp>
      <p:sp>
        <p:nvSpPr>
          <p:cNvPr id="4" name="">
            <a:extLst xmlns:a="http://schemas.openxmlformats.org/drawingml/2006/main">
              <a:ext uri="{FF2B5EF4-FFF2-40B4-BE49-F238E27FC236}">
                <a16:creationId xmlns:a16="http://schemas.microsoft.com/office/drawing/2014/main" id="{95A642E8-B036-42F0-8C0B-2F4DDEBE09D5}"/>
              </a:ext>
            </a:extLst>
          </p:cNvPr>
          <p:cNvSpPr>
            <a:spLocks xmlns:a="http://schemas.openxmlformats.org/drawingml/2006/main" noGrp="1"/>
          </p:cNvSpPr>
          <p:nvPr/>
        </p:nvSpPr>
        <p:spPr>
          <a:xfrm xmlns:a="http://schemas.openxmlformats.org/drawingml/2006/main">
            <a:off x="685800" y="1971675"/>
            <a:ext cx="571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Two-stage offline speech-to-action</a:t>
            </a:r>
          </a:p>
        </p:txBody>
      </p:sp>
      <p:sp>
        <p:nvSpPr>
          <p:cNvPr id="5" name="">
            <a:extLst xmlns:a="http://schemas.openxmlformats.org/drawingml/2006/main">
              <a:ext uri="{FF2B5EF4-FFF2-40B4-BE49-F238E27FC236}">
                <a16:creationId xmlns:a16="http://schemas.microsoft.com/office/drawing/2014/main" id="{046AD422-A0FE-4305-A87D-64BC911AEECF}"/>
              </a:ext>
            </a:extLst>
          </p:cNvPr>
          <p:cNvSpPr>
            <a:spLocks xmlns:a="http://schemas.openxmlformats.org/drawingml/2006/main" noGrp="1"/>
          </p:cNvSpPr>
          <p:nvPr/>
        </p:nvSpPr>
        <p:spPr>
          <a:xfrm xmlns:a="http://schemas.openxmlformats.org/drawingml/2006/main">
            <a:off x="685800" y="2638425"/>
            <a:ext cx="2266950" cy="28575"/>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BDD885-2254-4382-8D3B-A9D513DBD429}"/>
              </a:ext>
            </a:extLst>
          </p:cNvPr>
          <p:cNvSpPr>
            <a:spLocks xmlns:a="http://schemas.openxmlformats.org/drawingml/2006/main" noGrp="1"/>
          </p:cNvSpPr>
          <p:nvPr/>
        </p:nvSpPr>
        <p:spPr>
          <a:xfrm xmlns:a="http://schemas.openxmlformats.org/drawingml/2006/main">
            <a:off x="685800" y="28384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46C9DB"/>
                </a:solidFill>
                <a:latin typeface="Arial"/>
                <a:ea typeface="Arial"/>
                <a:cs typeface="Arial"/>
              </a:defRPr>
            </a:pPr>
            <a:r>
              <a:rPr sz="1500" b="1">
                <a:solidFill>
                  <a:srgbClr val="46C9DB"/>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24C92EC-10E6-4BA1-8B98-EF8FB663737F}"/>
              </a:ext>
            </a:extLst>
          </p:cNvPr>
          <p:cNvSpPr>
            <a:spLocks xmlns:a="http://schemas.openxmlformats.org/drawingml/2006/main" noGrp="1"/>
          </p:cNvSpPr>
          <p:nvPr/>
        </p:nvSpPr>
        <p:spPr>
          <a:xfrm xmlns:a="http://schemas.openxmlformats.org/drawingml/2006/main">
            <a:off x="685800" y="3314700"/>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Mic + log-mel front end</a:t>
            </a:r>
          </a:p>
        </p:txBody>
      </p:sp>
      <p:sp>
        <p:nvSpPr>
          <p:cNvPr id="8" name="">
            <a:extLst xmlns:a="http://schemas.openxmlformats.org/drawingml/2006/main">
              <a:ext uri="{FF2B5EF4-FFF2-40B4-BE49-F238E27FC236}">
                <a16:creationId xmlns:a16="http://schemas.microsoft.com/office/drawing/2014/main" id="{F57D568E-0C77-47BC-A1B6-5B6F13601319}"/>
              </a:ext>
            </a:extLst>
          </p:cNvPr>
          <p:cNvSpPr>
            <a:spLocks xmlns:a="http://schemas.openxmlformats.org/drawingml/2006/main" noGrp="1"/>
          </p:cNvSpPr>
          <p:nvPr/>
        </p:nvSpPr>
        <p:spPr>
          <a:xfrm xmlns:a="http://schemas.openxmlformats.org/drawingml/2006/main">
            <a:off x="685800" y="39719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16 kHz · 2.5 s · 40 × 251</a:t>
            </a:r>
          </a:p>
        </p:txBody>
      </p:sp>
      <p:sp>
        <p:nvSpPr>
          <p:cNvPr id="9" name="">
            <a:extLst xmlns:a="http://schemas.openxmlformats.org/drawingml/2006/main">
              <a:ext uri="{FF2B5EF4-FFF2-40B4-BE49-F238E27FC236}">
                <a16:creationId xmlns:a16="http://schemas.microsoft.com/office/drawing/2014/main" id="{CAB89867-5B50-4B24-80E1-AA496AD89F77}"/>
              </a:ext>
            </a:extLst>
          </p:cNvPr>
          <p:cNvSpPr>
            <a:spLocks xmlns:a="http://schemas.openxmlformats.org/drawingml/2006/main" noGrp="1"/>
          </p:cNvSpPr>
          <p:nvPr/>
        </p:nvSpPr>
        <p:spPr>
          <a:xfrm xmlns:a="http://schemas.openxmlformats.org/drawingml/2006/main">
            <a:off x="3143250" y="3333750"/>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46C9DB"/>
                </a:solidFill>
                <a:latin typeface="Arial"/>
                <a:ea typeface="Arial"/>
                <a:cs typeface="Arial"/>
              </a:defRPr>
            </a:pPr>
            <a:r>
              <a:rPr sz="2175" b="1">
                <a:solidFill>
                  <a:srgbClr val="46C9DB"/>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B6094D5A-1DE6-4105-A99B-8489CF7AA586}"/>
              </a:ext>
            </a:extLst>
          </p:cNvPr>
          <p:cNvSpPr>
            <a:spLocks xmlns:a="http://schemas.openxmlformats.org/drawingml/2006/main" noGrp="1"/>
          </p:cNvSpPr>
          <p:nvPr/>
        </p:nvSpPr>
        <p:spPr>
          <a:xfrm xmlns:a="http://schemas.openxmlformats.org/drawingml/2006/main">
            <a:off x="3524250" y="2638425"/>
            <a:ext cx="2266950" cy="28575"/>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FF26572-CA77-4C3F-B255-D8D4A455D66F}"/>
              </a:ext>
            </a:extLst>
          </p:cNvPr>
          <p:cNvSpPr>
            <a:spLocks xmlns:a="http://schemas.openxmlformats.org/drawingml/2006/main" noGrp="1"/>
          </p:cNvSpPr>
          <p:nvPr/>
        </p:nvSpPr>
        <p:spPr>
          <a:xfrm xmlns:a="http://schemas.openxmlformats.org/drawingml/2006/main">
            <a:off x="3524250" y="28384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46C9DB"/>
                </a:solidFill>
                <a:latin typeface="Arial"/>
                <a:ea typeface="Arial"/>
                <a:cs typeface="Arial"/>
              </a:defRPr>
            </a:pPr>
            <a:r>
              <a:rPr sz="1500" b="1">
                <a:solidFill>
                  <a:srgbClr val="46C9DB"/>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7B1BD828-072C-471F-B47A-1DE18AF3B145}"/>
              </a:ext>
            </a:extLst>
          </p:cNvPr>
          <p:cNvSpPr>
            <a:spLocks xmlns:a="http://schemas.openxmlformats.org/drawingml/2006/main" noGrp="1"/>
          </p:cNvSpPr>
          <p:nvPr/>
        </p:nvSpPr>
        <p:spPr>
          <a:xfrm xmlns:a="http://schemas.openxmlformats.org/drawingml/2006/main">
            <a:off x="3524250" y="3314700"/>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Binary wake gate</a:t>
            </a:r>
          </a:p>
        </p:txBody>
      </p:sp>
      <p:sp>
        <p:nvSpPr>
          <p:cNvPr id="13" name="">
            <a:extLst xmlns:a="http://schemas.openxmlformats.org/drawingml/2006/main">
              <a:ext uri="{FF2B5EF4-FFF2-40B4-BE49-F238E27FC236}">
                <a16:creationId xmlns:a16="http://schemas.microsoft.com/office/drawing/2014/main" id="{CDE1F850-F3A9-4FE6-829C-8306D8CF6A19}"/>
              </a:ext>
            </a:extLst>
          </p:cNvPr>
          <p:cNvSpPr>
            <a:spLocks xmlns:a="http://schemas.openxmlformats.org/drawingml/2006/main" noGrp="1"/>
          </p:cNvSpPr>
          <p:nvPr/>
        </p:nvSpPr>
        <p:spPr>
          <a:xfrm xmlns:a="http://schemas.openxmlformats.org/drawingml/2006/main">
            <a:off x="3524250" y="39719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2 classes · threshold 0.95</a:t>
            </a:r>
          </a:p>
        </p:txBody>
      </p:sp>
      <p:sp>
        <p:nvSpPr>
          <p:cNvPr id="14" name="">
            <a:extLst xmlns:a="http://schemas.openxmlformats.org/drawingml/2006/main">
              <a:ext uri="{FF2B5EF4-FFF2-40B4-BE49-F238E27FC236}">
                <a16:creationId xmlns:a16="http://schemas.microsoft.com/office/drawing/2014/main" id="{E72B7DD6-6DAD-49B8-9BCD-3C711E212333}"/>
              </a:ext>
            </a:extLst>
          </p:cNvPr>
          <p:cNvSpPr>
            <a:spLocks xmlns:a="http://schemas.openxmlformats.org/drawingml/2006/main" noGrp="1"/>
          </p:cNvSpPr>
          <p:nvPr/>
        </p:nvSpPr>
        <p:spPr>
          <a:xfrm xmlns:a="http://schemas.openxmlformats.org/drawingml/2006/main">
            <a:off x="5981700" y="3333750"/>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46C9DB"/>
                </a:solidFill>
                <a:latin typeface="Arial"/>
                <a:ea typeface="Arial"/>
                <a:cs typeface="Arial"/>
              </a:defRPr>
            </a:pPr>
            <a:r>
              <a:rPr sz="2175" b="1">
                <a:solidFill>
                  <a:srgbClr val="46C9D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924EC0E2-D8C1-4D07-9FCF-69538C23610A}"/>
              </a:ext>
            </a:extLst>
          </p:cNvPr>
          <p:cNvSpPr>
            <a:spLocks xmlns:a="http://schemas.openxmlformats.org/drawingml/2006/main" noGrp="1"/>
          </p:cNvSpPr>
          <p:nvPr/>
        </p:nvSpPr>
        <p:spPr>
          <a:xfrm xmlns:a="http://schemas.openxmlformats.org/drawingml/2006/main">
            <a:off x="6362700" y="2638425"/>
            <a:ext cx="2266950" cy="28575"/>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BE14ADD-3E47-423C-80A8-0C6C3A89C8DF}"/>
              </a:ext>
            </a:extLst>
          </p:cNvPr>
          <p:cNvSpPr>
            <a:spLocks xmlns:a="http://schemas.openxmlformats.org/drawingml/2006/main" noGrp="1"/>
          </p:cNvSpPr>
          <p:nvPr/>
        </p:nvSpPr>
        <p:spPr>
          <a:xfrm xmlns:a="http://schemas.openxmlformats.org/drawingml/2006/main">
            <a:off x="6362700" y="28384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46C9DB"/>
                </a:solidFill>
                <a:latin typeface="Arial"/>
                <a:ea typeface="Arial"/>
                <a:cs typeface="Arial"/>
              </a:defRPr>
            </a:pPr>
            <a:r>
              <a:rPr sz="1500" b="1">
                <a:solidFill>
                  <a:srgbClr val="46C9DB"/>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3249A011-446F-47ED-A1D2-7966BE28F415}"/>
              </a:ext>
            </a:extLst>
          </p:cNvPr>
          <p:cNvSpPr>
            <a:spLocks xmlns:a="http://schemas.openxmlformats.org/drawingml/2006/main" noGrp="1"/>
          </p:cNvSpPr>
          <p:nvPr/>
        </p:nvSpPr>
        <p:spPr>
          <a:xfrm xmlns:a="http://schemas.openxmlformats.org/drawingml/2006/main">
            <a:off x="6362700" y="3314700"/>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TinyDSCNN-48 intent</a:t>
            </a:r>
          </a:p>
        </p:txBody>
      </p:sp>
      <p:sp>
        <p:nvSpPr>
          <p:cNvPr id="18" name="">
            <a:extLst xmlns:a="http://schemas.openxmlformats.org/drawingml/2006/main">
              <a:ext uri="{FF2B5EF4-FFF2-40B4-BE49-F238E27FC236}">
                <a16:creationId xmlns:a16="http://schemas.microsoft.com/office/drawing/2014/main" id="{D297266E-755F-4F52-ACB4-293ABD16EB0B}"/>
              </a:ext>
            </a:extLst>
          </p:cNvPr>
          <p:cNvSpPr>
            <a:spLocks xmlns:a="http://schemas.openxmlformats.org/drawingml/2006/main" noGrp="1"/>
          </p:cNvSpPr>
          <p:nvPr/>
        </p:nvSpPr>
        <p:spPr>
          <a:xfrm xmlns:a="http://schemas.openxmlformats.org/drawingml/2006/main">
            <a:off x="6362700" y="39719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31 classes · 14,527 params</a:t>
            </a:r>
          </a:p>
        </p:txBody>
      </p:sp>
      <p:sp>
        <p:nvSpPr>
          <p:cNvPr id="19" name="">
            <a:extLst xmlns:a="http://schemas.openxmlformats.org/drawingml/2006/main">
              <a:ext uri="{FF2B5EF4-FFF2-40B4-BE49-F238E27FC236}">
                <a16:creationId xmlns:a16="http://schemas.microsoft.com/office/drawing/2014/main" id="{BDCED087-AD5C-4CCE-9193-B597CB36820F}"/>
              </a:ext>
            </a:extLst>
          </p:cNvPr>
          <p:cNvSpPr>
            <a:spLocks xmlns:a="http://schemas.openxmlformats.org/drawingml/2006/main" noGrp="1"/>
          </p:cNvSpPr>
          <p:nvPr/>
        </p:nvSpPr>
        <p:spPr>
          <a:xfrm xmlns:a="http://schemas.openxmlformats.org/drawingml/2006/main">
            <a:off x="8820150" y="3333750"/>
            <a:ext cx="400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46C9DB"/>
                </a:solidFill>
                <a:latin typeface="Arial"/>
                <a:ea typeface="Arial"/>
                <a:cs typeface="Arial"/>
              </a:defRPr>
            </a:pPr>
            <a:r>
              <a:rPr sz="2175" b="1">
                <a:solidFill>
                  <a:srgbClr val="46C9DB"/>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D3AFAA10-7663-4D32-B093-B53A7C79E3F2}"/>
              </a:ext>
            </a:extLst>
          </p:cNvPr>
          <p:cNvSpPr>
            <a:spLocks xmlns:a="http://schemas.openxmlformats.org/drawingml/2006/main" noGrp="1"/>
          </p:cNvSpPr>
          <p:nvPr/>
        </p:nvSpPr>
        <p:spPr>
          <a:xfrm xmlns:a="http://schemas.openxmlformats.org/drawingml/2006/main">
            <a:off x="9201150" y="2638425"/>
            <a:ext cx="2266950" cy="28575"/>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63EEBE0-7C5C-4AE1-B2F8-D2D1681E71BF}"/>
              </a:ext>
            </a:extLst>
          </p:cNvPr>
          <p:cNvSpPr>
            <a:spLocks xmlns:a="http://schemas.openxmlformats.org/drawingml/2006/main" noGrp="1"/>
          </p:cNvSpPr>
          <p:nvPr/>
        </p:nvSpPr>
        <p:spPr>
          <a:xfrm xmlns:a="http://schemas.openxmlformats.org/drawingml/2006/main">
            <a:off x="9201150" y="2838450"/>
            <a:ext cx="523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46C9DB"/>
                </a:solidFill>
                <a:latin typeface="Arial"/>
                <a:ea typeface="Arial"/>
                <a:cs typeface="Arial"/>
              </a:defRPr>
            </a:pPr>
            <a:r>
              <a:rPr sz="1500" b="1">
                <a:solidFill>
                  <a:srgbClr val="46C9DB"/>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3EC35426-09FF-45A5-8AC8-C3418B1B926B}"/>
              </a:ext>
            </a:extLst>
          </p:cNvPr>
          <p:cNvSpPr>
            <a:spLocks xmlns:a="http://schemas.openxmlformats.org/drawingml/2006/main" noGrp="1"/>
          </p:cNvSpPr>
          <p:nvPr/>
        </p:nvSpPr>
        <p:spPr>
          <a:xfrm xmlns:a="http://schemas.openxmlformats.org/drawingml/2006/main">
            <a:off x="9201150" y="3314700"/>
            <a:ext cx="2428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FFFFFF"/>
                </a:solidFill>
                <a:latin typeface="Arial"/>
                <a:ea typeface="Arial"/>
                <a:cs typeface="Arial"/>
              </a:defRPr>
            </a:pPr>
            <a:r>
              <a:rPr sz="1725" b="1">
                <a:solidFill>
                  <a:srgbClr val="FFFFFF"/>
                </a:solidFill>
                <a:latin typeface="Arial"/>
                <a:ea typeface="Arial"/>
                <a:cs typeface="Arial"/>
              </a:rPr>
              <a:t>Coded action</a:t>
            </a:r>
          </a:p>
        </p:txBody>
      </p:sp>
      <p:sp>
        <p:nvSpPr>
          <p:cNvPr id="23" name="">
            <a:extLst xmlns:a="http://schemas.openxmlformats.org/drawingml/2006/main">
              <a:ext uri="{FF2B5EF4-FFF2-40B4-BE49-F238E27FC236}">
                <a16:creationId xmlns:a16="http://schemas.microsoft.com/office/drawing/2014/main" id="{C80AE5B6-7D3B-464C-A21F-2A94D599C68D}"/>
              </a:ext>
            </a:extLst>
          </p:cNvPr>
          <p:cNvSpPr>
            <a:spLocks xmlns:a="http://schemas.openxmlformats.org/drawingml/2006/main" noGrp="1"/>
          </p:cNvSpPr>
          <p:nvPr/>
        </p:nvSpPr>
        <p:spPr>
          <a:xfrm xmlns:a="http://schemas.openxmlformats.org/drawingml/2006/main">
            <a:off x="9201150" y="3971925"/>
            <a:ext cx="2381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Light · media · temp · weather</a:t>
            </a:r>
          </a:p>
        </p:txBody>
      </p:sp>
      <p:sp>
        <p:nvSpPr>
          <p:cNvPr id="24" name="">
            <a:extLst xmlns:a="http://schemas.openxmlformats.org/drawingml/2006/main">
              <a:ext uri="{FF2B5EF4-FFF2-40B4-BE49-F238E27FC236}">
                <a16:creationId xmlns:a16="http://schemas.microsoft.com/office/drawing/2014/main" id="{48C93CCC-31DA-4591-BAF4-CDD7F4346BF3}"/>
              </a:ext>
            </a:extLst>
          </p:cNvPr>
          <p:cNvSpPr>
            <a:spLocks xmlns:a="http://schemas.openxmlformats.org/drawingml/2006/main" noGrp="1"/>
          </p:cNvSpPr>
          <p:nvPr/>
        </p:nvSpPr>
        <p:spPr>
          <a:xfrm xmlns:a="http://schemas.openxmlformats.org/drawingml/2006/main">
            <a:off x="685800" y="5143500"/>
            <a:ext cx="10820400" cy="9525"/>
          </a:xfrm>
          <a:prstGeom xmlns:a="http://schemas.openxmlformats.org/drawingml/2006/main" prst="rect">
            <a:avLst/>
          </a:prstGeom>
          <a:solidFill xmlns:a="http://schemas.openxmlformats.org/drawingml/2006/main">
            <a:srgbClr val="426070"/>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B4846D4-7602-402A-976E-9EB30BFB97D1}"/>
              </a:ext>
            </a:extLst>
          </p:cNvPr>
          <p:cNvSpPr>
            <a:spLocks xmlns:a="http://schemas.openxmlformats.org/drawingml/2006/main" noGrp="1"/>
          </p:cNvSpPr>
          <p:nvPr/>
        </p:nvSpPr>
        <p:spPr>
          <a:xfrm xmlns:a="http://schemas.openxmlformats.org/drawingml/2006/main">
            <a:off x="685800" y="5410200"/>
            <a:ext cx="3000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10,682 training rows</a:t>
            </a:r>
          </a:p>
        </p:txBody>
      </p:sp>
      <p:sp>
        <p:nvSpPr>
          <p:cNvPr id="26" name="">
            <a:extLst xmlns:a="http://schemas.openxmlformats.org/drawingml/2006/main">
              <a:ext uri="{FF2B5EF4-FFF2-40B4-BE49-F238E27FC236}">
                <a16:creationId xmlns:a16="http://schemas.microsoft.com/office/drawing/2014/main" id="{0AD9F09C-291B-4D0A-B77C-CFBC5C518FB6}"/>
              </a:ext>
            </a:extLst>
          </p:cNvPr>
          <p:cNvSpPr>
            <a:spLocks xmlns:a="http://schemas.openxmlformats.org/drawingml/2006/main" noGrp="1"/>
          </p:cNvSpPr>
          <p:nvPr/>
        </p:nvSpPr>
        <p:spPr>
          <a:xfrm xmlns:a="http://schemas.openxmlformats.org/drawingml/2006/main">
            <a:off x="685800" y="5848350"/>
            <a:ext cx="300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ME2 Spoken Command Dataset</a:t>
            </a:r>
          </a:p>
        </p:txBody>
      </p:sp>
      <p:sp>
        <p:nvSpPr>
          <p:cNvPr id="27" name="">
            <a:extLst xmlns:a="http://schemas.openxmlformats.org/drawingml/2006/main">
              <a:ext uri="{FF2B5EF4-FFF2-40B4-BE49-F238E27FC236}">
                <a16:creationId xmlns:a16="http://schemas.microsoft.com/office/drawing/2014/main" id="{2E15069C-3A79-48E0-8131-7A46F565E3AB}"/>
              </a:ext>
            </a:extLst>
          </p:cNvPr>
          <p:cNvSpPr>
            <a:spLocks xmlns:a="http://schemas.openxmlformats.org/drawingml/2006/main" noGrp="1"/>
          </p:cNvSpPr>
          <p:nvPr/>
        </p:nvSpPr>
        <p:spPr>
          <a:xfrm xmlns:a="http://schemas.openxmlformats.org/drawingml/2006/main">
            <a:off x="4095750" y="54102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4,418 frozen test clips</a:t>
            </a:r>
          </a:p>
        </p:txBody>
      </p:sp>
      <p:sp>
        <p:nvSpPr>
          <p:cNvPr id="28" name="">
            <a:extLst xmlns:a="http://schemas.openxmlformats.org/drawingml/2006/main">
              <a:ext uri="{FF2B5EF4-FFF2-40B4-BE49-F238E27FC236}">
                <a16:creationId xmlns:a16="http://schemas.microsoft.com/office/drawing/2014/main" id="{949817B9-0E15-463F-950D-05F1262C0594}"/>
              </a:ext>
            </a:extLst>
          </p:cNvPr>
          <p:cNvSpPr>
            <a:spLocks xmlns:a="http://schemas.openxmlformats.org/drawingml/2006/main" noGrp="1"/>
          </p:cNvSpPr>
          <p:nvPr/>
        </p:nvSpPr>
        <p:spPr>
          <a:xfrm xmlns:a="http://schemas.openxmlformats.org/drawingml/2006/main">
            <a:off x="4095750" y="58483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4,371 commands · 47 OOS</a:t>
            </a:r>
          </a:p>
        </p:txBody>
      </p:sp>
      <p:sp>
        <p:nvSpPr>
          <p:cNvPr id="29" name="">
            <a:extLst xmlns:a="http://schemas.openxmlformats.org/drawingml/2006/main">
              <a:ext uri="{FF2B5EF4-FFF2-40B4-BE49-F238E27FC236}">
                <a16:creationId xmlns:a16="http://schemas.microsoft.com/office/drawing/2014/main" id="{4D5E8EE0-2C26-45E3-9D0E-A34E9B018DC8}"/>
              </a:ext>
            </a:extLst>
          </p:cNvPr>
          <p:cNvSpPr>
            <a:spLocks xmlns:a="http://schemas.openxmlformats.org/drawingml/2006/main" noGrp="1"/>
          </p:cNvSpPr>
          <p:nvPr/>
        </p:nvSpPr>
        <p:spPr>
          <a:xfrm xmlns:a="http://schemas.openxmlformats.org/drawingml/2006/main">
            <a:off x="7496175" y="5410200"/>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74.9 KiB total</a:t>
            </a:r>
          </a:p>
        </p:txBody>
      </p:sp>
      <p:sp>
        <p:nvSpPr>
          <p:cNvPr id="30" name="">
            <a:extLst xmlns:a="http://schemas.openxmlformats.org/drawingml/2006/main">
              <a:ext uri="{FF2B5EF4-FFF2-40B4-BE49-F238E27FC236}">
                <a16:creationId xmlns:a16="http://schemas.microsoft.com/office/drawing/2014/main" id="{381E3921-096E-4CFD-9EF8-E97E0F6B740C}"/>
              </a:ext>
            </a:extLst>
          </p:cNvPr>
          <p:cNvSpPr>
            <a:spLocks xmlns:a="http://schemas.openxmlformats.org/drawingml/2006/main" noGrp="1"/>
          </p:cNvSpPr>
          <p:nvPr/>
        </p:nvSpPr>
        <p:spPr>
          <a:xfrm xmlns:a="http://schemas.openxmlformats.org/drawingml/2006/main">
            <a:off x="7496175" y="58483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7D8E2"/>
                </a:solidFill>
                <a:latin typeface="Arial"/>
                <a:ea typeface="Arial"/>
                <a:cs typeface="Arial"/>
              </a:defRPr>
            </a:pPr>
            <a:r>
              <a:rPr sz="1350" b="0">
                <a:solidFill>
                  <a:srgbClr val="B7D8E2"/>
                </a:solidFill>
                <a:latin typeface="Arial"/>
                <a:ea typeface="Arial"/>
                <a:cs typeface="Arial"/>
              </a:rPr>
              <a:t>Wake + intent INT8 ONNX</a:t>
            </a:r>
          </a:p>
        </p:txBody>
      </p:sp>
    </p:spTree>
    <p:extLst>
      <p:ext uri="{BB962C8B-B14F-4D97-AF65-F5344CB8AC3E}">
        <p14:creationId xmlns:p14="http://schemas.microsoft.com/office/powerpoint/2010/main" val="204410104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52C4938-9D6B-470D-B771-831C925373B2}"/>
              </a:ext>
            </a:extLst>
          </p:cNvPr>
          <p:cNvSpPr>
            <a:spLocks xmlns:a="http://schemas.openxmlformats.org/drawingml/2006/main" noGrp="1"/>
          </p:cNvSpPr>
          <p:nvPr/>
        </p:nvSpPr>
        <p:spPr>
          <a:xfrm xmlns:a="http://schemas.openxmlformats.org/drawingml/2006/main">
            <a:off x="685800" y="428625"/>
            <a:ext cx="76200" cy="771525"/>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DE417F3-87BE-46BE-AF00-7FCCE5BA13AA}"/>
              </a:ext>
            </a:extLst>
          </p:cNvPr>
          <p:cNvSpPr>
            <a:spLocks xmlns:a="http://schemas.openxmlformats.org/drawingml/2006/main" noGrp="1"/>
          </p:cNvSpPr>
          <p:nvPr/>
        </p:nvSpPr>
        <p:spPr>
          <a:xfrm xmlns:a="http://schemas.openxmlformats.org/drawingml/2006/main">
            <a:off x="933450" y="457200"/>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75" b="1">
                <a:solidFill>
                  <a:srgbClr val="0B2335"/>
                </a:solidFill>
                <a:latin typeface="Arial"/>
                <a:ea typeface="Arial"/>
                <a:cs typeface="Arial"/>
              </a:defRPr>
            </a:pPr>
            <a:r>
              <a:rPr sz="3375" b="1">
                <a:solidFill>
                  <a:srgbClr val="0B2335"/>
                </a:solidFill>
                <a:latin typeface="Arial"/>
                <a:ea typeface="Arial"/>
                <a:cs typeface="Arial"/>
              </a:rPr>
              <a:t>ME2 - VCM on Raspberry Pi 5</a:t>
            </a:r>
          </a:p>
        </p:txBody>
      </p:sp>
      <p:sp>
        <p:nvSpPr>
          <p:cNvPr id="3" name="">
            <a:extLst xmlns:a="http://schemas.openxmlformats.org/drawingml/2006/main">
              <a:ext uri="{FF2B5EF4-FFF2-40B4-BE49-F238E27FC236}">
                <a16:creationId xmlns:a16="http://schemas.microsoft.com/office/drawing/2014/main" id="{F14CF8C5-BE57-4C7D-A99F-7BFA19B8E567}"/>
              </a:ext>
            </a:extLst>
          </p:cNvPr>
          <p:cNvSpPr>
            <a:spLocks xmlns:a="http://schemas.openxmlformats.org/drawingml/2006/main" noGrp="1"/>
          </p:cNvSpPr>
          <p:nvPr/>
        </p:nvSpPr>
        <p:spPr>
          <a:xfrm xmlns:a="http://schemas.openxmlformats.org/drawingml/2006/main">
            <a:off x="952500" y="1143000"/>
            <a:ext cx="1028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C7180"/>
                </a:solidFill>
                <a:latin typeface="Arial"/>
                <a:ea typeface="Arial"/>
                <a:cs typeface="Arial"/>
              </a:defRPr>
            </a:pPr>
            <a:r>
              <a:rPr sz="1575" b="0">
                <a:solidFill>
                  <a:srgbClr val="5C7180"/>
                </a:solidFill>
                <a:latin typeface="Arial"/>
                <a:ea typeface="Arial"/>
                <a:cs typeface="Arial"/>
              </a:rPr>
              <a:t>Frozen test · 4,371 supported + 47 OOS · one scoring pass</a:t>
            </a:r>
          </a:p>
        </p:txBody>
      </p:sp>
      <p:sp>
        <p:nvSpPr>
          <p:cNvPr id="4" name="">
            <a:extLst xmlns:a="http://schemas.openxmlformats.org/drawingml/2006/main">
              <a:ext uri="{FF2B5EF4-FFF2-40B4-BE49-F238E27FC236}">
                <a16:creationId xmlns:a16="http://schemas.microsoft.com/office/drawing/2014/main" id="{943231CF-33C7-4CE9-92BE-B323C7A945FF}"/>
              </a:ext>
            </a:extLst>
          </p:cNvPr>
          <p:cNvSpPr>
            <a:spLocks xmlns:a="http://schemas.openxmlformats.org/drawingml/2006/main" noGrp="1"/>
          </p:cNvSpPr>
          <p:nvPr/>
        </p:nvSpPr>
        <p:spPr>
          <a:xfrm xmlns:a="http://schemas.openxmlformats.org/drawingml/2006/main">
            <a:off x="714375" y="1847850"/>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B2335"/>
                </a:solidFill>
                <a:latin typeface="Arial"/>
                <a:ea typeface="Arial"/>
                <a:cs typeface="Arial"/>
              </a:defRPr>
            </a:pPr>
            <a:r>
              <a:rPr sz="4125" b="1">
                <a:solidFill>
                  <a:srgbClr val="0B2335"/>
                </a:solidFill>
                <a:latin typeface="Arial"/>
                <a:ea typeface="Arial"/>
                <a:cs typeface="Arial"/>
              </a:rPr>
              <a:t>-0.69 pp</a:t>
            </a:r>
          </a:p>
        </p:txBody>
      </p:sp>
      <p:sp>
        <p:nvSpPr>
          <p:cNvPr id="5" name="">
            <a:extLst xmlns:a="http://schemas.openxmlformats.org/drawingml/2006/main">
              <a:ext uri="{FF2B5EF4-FFF2-40B4-BE49-F238E27FC236}">
                <a16:creationId xmlns:a16="http://schemas.microsoft.com/office/drawing/2014/main" id="{302B5372-4008-4AD1-A7B4-E080D62B3EFC}"/>
              </a:ext>
            </a:extLst>
          </p:cNvPr>
          <p:cNvSpPr>
            <a:spLocks xmlns:a="http://schemas.openxmlformats.org/drawingml/2006/main" noGrp="1"/>
          </p:cNvSpPr>
          <p:nvPr/>
        </p:nvSpPr>
        <p:spPr>
          <a:xfrm xmlns:a="http://schemas.openxmlformats.org/drawingml/2006/main">
            <a:off x="733425" y="26193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C7180"/>
                </a:solidFill>
                <a:latin typeface="Arial"/>
                <a:ea typeface="Arial"/>
                <a:cs typeface="Arial"/>
              </a:defRPr>
            </a:pPr>
            <a:r>
              <a:rPr sz="1650" b="0">
                <a:solidFill>
                  <a:srgbClr val="5C7180"/>
                </a:solidFill>
                <a:latin typeface="Arial"/>
                <a:ea typeface="Arial"/>
                <a:cs typeface="Arial"/>
              </a:rPr>
              <a:t>accuracy change · candidate</a:t>
            </a:r>
          </a:p>
        </p:txBody>
      </p:sp>
      <p:sp>
        <p:nvSpPr>
          <p:cNvPr id="6" name="">
            <a:extLst xmlns:a="http://schemas.openxmlformats.org/drawingml/2006/main">
              <a:ext uri="{FF2B5EF4-FFF2-40B4-BE49-F238E27FC236}">
                <a16:creationId xmlns:a16="http://schemas.microsoft.com/office/drawing/2014/main" id="{966368B4-E90F-4A83-926A-368F09CD7F85}"/>
              </a:ext>
            </a:extLst>
          </p:cNvPr>
          <p:cNvSpPr>
            <a:spLocks xmlns:a="http://schemas.openxmlformats.org/drawingml/2006/main" noGrp="1"/>
          </p:cNvSpPr>
          <p:nvPr/>
        </p:nvSpPr>
        <p:spPr>
          <a:xfrm xmlns:a="http://schemas.openxmlformats.org/drawingml/2006/main">
            <a:off x="3914775" y="1847850"/>
            <a:ext cx="285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B2335"/>
                </a:solidFill>
                <a:latin typeface="Arial"/>
                <a:ea typeface="Arial"/>
                <a:cs typeface="Arial"/>
              </a:defRPr>
            </a:pPr>
            <a:r>
              <a:rPr sz="4125" b="1">
                <a:solidFill>
                  <a:srgbClr val="0B2335"/>
                </a:solidFill>
                <a:latin typeface="Arial"/>
                <a:ea typeface="Arial"/>
                <a:cs typeface="Arial"/>
              </a:rPr>
              <a:t>-0.35 pp</a:t>
            </a:r>
          </a:p>
        </p:txBody>
      </p:sp>
      <p:sp>
        <p:nvSpPr>
          <p:cNvPr id="7" name="">
            <a:extLst xmlns:a="http://schemas.openxmlformats.org/drawingml/2006/main">
              <a:ext uri="{FF2B5EF4-FFF2-40B4-BE49-F238E27FC236}">
                <a16:creationId xmlns:a16="http://schemas.microsoft.com/office/drawing/2014/main" id="{7909E99D-A83F-4978-AD54-478B05D2DE1A}"/>
              </a:ext>
            </a:extLst>
          </p:cNvPr>
          <p:cNvSpPr>
            <a:spLocks xmlns:a="http://schemas.openxmlformats.org/drawingml/2006/main" noGrp="1"/>
          </p:cNvSpPr>
          <p:nvPr/>
        </p:nvSpPr>
        <p:spPr>
          <a:xfrm xmlns:a="http://schemas.openxmlformats.org/drawingml/2006/main">
            <a:off x="3924300" y="2619375"/>
            <a:ext cx="266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C7180"/>
                </a:solidFill>
                <a:latin typeface="Arial"/>
                <a:ea typeface="Arial"/>
                <a:cs typeface="Arial"/>
              </a:defRPr>
            </a:pPr>
            <a:r>
              <a:rPr sz="1650" b="0">
                <a:solidFill>
                  <a:srgbClr val="5C7180"/>
                </a:solidFill>
                <a:latin typeface="Arial"/>
                <a:ea typeface="Arial"/>
                <a:cs typeface="Arial"/>
              </a:rPr>
              <a:t>macro F1 change · candidate</a:t>
            </a:r>
          </a:p>
        </p:txBody>
      </p:sp>
      <p:sp>
        <p:nvSpPr>
          <p:cNvPr id="8" name="">
            <a:extLst xmlns:a="http://schemas.openxmlformats.org/drawingml/2006/main">
              <a:ext uri="{FF2B5EF4-FFF2-40B4-BE49-F238E27FC236}">
                <a16:creationId xmlns:a16="http://schemas.microsoft.com/office/drawing/2014/main" id="{7AC4E0AE-3268-4235-90A1-E52EDD8C9CFF}"/>
              </a:ext>
            </a:extLst>
          </p:cNvPr>
          <p:cNvSpPr>
            <a:spLocks xmlns:a="http://schemas.openxmlformats.org/drawingml/2006/main" noGrp="1"/>
          </p:cNvSpPr>
          <p:nvPr/>
        </p:nvSpPr>
        <p:spPr>
          <a:xfrm xmlns:a="http://schemas.openxmlformats.org/drawingml/2006/main">
            <a:off x="7191375" y="1847850"/>
            <a:ext cx="257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0B2335"/>
                </a:solidFill>
                <a:latin typeface="Arial"/>
                <a:ea typeface="Arial"/>
                <a:cs typeface="Arial"/>
              </a:defRPr>
            </a:pPr>
            <a:r>
              <a:rPr sz="4125" b="1">
                <a:solidFill>
                  <a:srgbClr val="0B2335"/>
                </a:solidFill>
                <a:latin typeface="Arial"/>
                <a:ea typeface="Arial"/>
                <a:cs typeface="Arial"/>
              </a:rPr>
              <a:t>0/47</a:t>
            </a:r>
          </a:p>
        </p:txBody>
      </p:sp>
      <p:sp>
        <p:nvSpPr>
          <p:cNvPr id="9" name="">
            <a:extLst xmlns:a="http://schemas.openxmlformats.org/drawingml/2006/main">
              <a:ext uri="{FF2B5EF4-FFF2-40B4-BE49-F238E27FC236}">
                <a16:creationId xmlns:a16="http://schemas.microsoft.com/office/drawing/2014/main" id="{82CD31DC-5639-4A2B-8C42-B98509E57C96}"/>
              </a:ext>
            </a:extLst>
          </p:cNvPr>
          <p:cNvSpPr>
            <a:spLocks xmlns:a="http://schemas.openxmlformats.org/drawingml/2006/main" noGrp="1"/>
          </p:cNvSpPr>
          <p:nvPr/>
        </p:nvSpPr>
        <p:spPr>
          <a:xfrm xmlns:a="http://schemas.openxmlformats.org/drawingml/2006/main">
            <a:off x="7191375" y="2619375"/>
            <a:ext cx="276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C7180"/>
                </a:solidFill>
                <a:latin typeface="Arial"/>
                <a:ea typeface="Arial"/>
                <a:cs typeface="Arial"/>
              </a:defRPr>
            </a:pPr>
            <a:r>
              <a:rPr sz="1650" b="0">
                <a:solidFill>
                  <a:srgbClr val="5C7180"/>
                </a:solidFill>
                <a:latin typeface="Arial"/>
                <a:ea typeface="Arial"/>
                <a:cs typeface="Arial"/>
              </a:rPr>
              <a:t>candidate OOS false actions</a:t>
            </a:r>
          </a:p>
        </p:txBody>
      </p:sp>
      <p:sp>
        <p:nvSpPr>
          <p:cNvPr id="10" name="">
            <a:extLst xmlns:a="http://schemas.openxmlformats.org/drawingml/2006/main">
              <a:ext uri="{FF2B5EF4-FFF2-40B4-BE49-F238E27FC236}">
                <a16:creationId xmlns:a16="http://schemas.microsoft.com/office/drawing/2014/main" id="{60782B62-D883-4F95-89E9-27F4B19C0E8E}"/>
              </a:ext>
            </a:extLst>
          </p:cNvPr>
          <p:cNvSpPr>
            <a:spLocks xmlns:a="http://schemas.openxmlformats.org/drawingml/2006/main" noGrp="1"/>
          </p:cNvSpPr>
          <p:nvPr/>
        </p:nvSpPr>
        <p:spPr>
          <a:xfrm xmlns:a="http://schemas.openxmlformats.org/drawingml/2006/main">
            <a:off x="704850" y="3257550"/>
            <a:ext cx="10782300" cy="19050"/>
          </a:xfrm>
          <a:prstGeom xmlns:a="http://schemas.openxmlformats.org/drawingml/2006/main" prst="rect">
            <a:avLst/>
          </a:prstGeom>
          <a:solidFill xmlns:a="http://schemas.openxmlformats.org/drawingml/2006/main">
            <a:srgbClr val="D7E4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6CF84A-A1D6-4A31-B2AD-3041045FF9BA}"/>
              </a:ext>
            </a:extLst>
          </p:cNvPr>
          <p:cNvSpPr>
            <a:spLocks xmlns:a="http://schemas.openxmlformats.org/drawingml/2006/main" noGrp="1"/>
          </p:cNvSpPr>
          <p:nvPr/>
        </p:nvSpPr>
        <p:spPr>
          <a:xfrm xmlns:a="http://schemas.openxmlformats.org/drawingml/2006/main">
            <a:off x="704850" y="3562350"/>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B2335"/>
                </a:solidFill>
                <a:latin typeface="Arial"/>
                <a:ea typeface="Arial"/>
                <a:cs typeface="Arial"/>
              </a:defRPr>
            </a:pPr>
            <a:r>
              <a:rPr sz="2250" b="1">
                <a:solidFill>
                  <a:srgbClr val="0B2335"/>
                </a:solidFill>
                <a:latin typeface="Arial"/>
                <a:ea typeface="Arial"/>
                <a:cs typeface="Arial"/>
              </a:rPr>
              <a:t>Pi candidate trial</a:t>
            </a:r>
          </a:p>
        </p:txBody>
      </p:sp>
      <p:sp>
        <p:nvSpPr>
          <p:cNvPr id="12" name="">
            <a:extLst xmlns:a="http://schemas.openxmlformats.org/drawingml/2006/main">
              <a:ext uri="{FF2B5EF4-FFF2-40B4-BE49-F238E27FC236}">
                <a16:creationId xmlns:a16="http://schemas.microsoft.com/office/drawing/2014/main" id="{5F3784FB-7D71-4551-85A0-FCC7AA234F9D}"/>
              </a:ext>
            </a:extLst>
          </p:cNvPr>
          <p:cNvSpPr>
            <a:spLocks xmlns:a="http://schemas.openxmlformats.org/drawingml/2006/main" noGrp="1"/>
          </p:cNvSpPr>
          <p:nvPr/>
        </p:nvSpPr>
        <p:spPr>
          <a:xfrm xmlns:a="http://schemas.openxmlformats.org/drawingml/2006/main">
            <a:off x="714375" y="41052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73042"/>
                </a:solidFill>
                <a:latin typeface="Arial"/>
                <a:ea typeface="Arial"/>
                <a:cs typeface="Arial"/>
              </a:defRPr>
            </a:pPr>
            <a:r>
              <a:rPr sz="1650" b="0">
                <a:solidFill>
                  <a:srgbClr val="173042"/>
                </a:solidFill>
                <a:latin typeface="Arial"/>
                <a:ea typeface="Arial"/>
                <a:cs typeface="Arial"/>
              </a:rPr>
              <a:t>Candidate runs separately on Pi port 7865</a:t>
            </a:r>
          </a:p>
        </p:txBody>
      </p:sp>
      <p:sp>
        <p:nvSpPr>
          <p:cNvPr id="13" name="">
            <a:extLst xmlns:a="http://schemas.openxmlformats.org/drawingml/2006/main">
              <a:ext uri="{FF2B5EF4-FFF2-40B4-BE49-F238E27FC236}">
                <a16:creationId xmlns:a16="http://schemas.microsoft.com/office/drawing/2014/main" id="{6038C405-F83F-4508-95A2-FA04E398F1E6}"/>
              </a:ext>
            </a:extLst>
          </p:cNvPr>
          <p:cNvSpPr>
            <a:spLocks xmlns:a="http://schemas.openxmlformats.org/drawingml/2006/main" noGrp="1"/>
          </p:cNvSpPr>
          <p:nvPr/>
        </p:nvSpPr>
        <p:spPr>
          <a:xfrm xmlns:a="http://schemas.openxmlformats.org/drawingml/2006/main">
            <a:off x="714375" y="4581525"/>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73042"/>
                </a:solidFill>
                <a:latin typeface="Arial"/>
                <a:ea typeface="Arial"/>
                <a:cs typeface="Arial"/>
              </a:defRPr>
            </a:pPr>
            <a:r>
              <a:rPr sz="1650" b="0">
                <a:solidFill>
                  <a:srgbClr val="173042"/>
                </a:solidFill>
                <a:latin typeface="Arial"/>
                <a:ea typeface="Arial"/>
                <a:cs typeface="Arial"/>
              </a:rPr>
              <a:t>Wake unchanged; intent retrained from scratch</a:t>
            </a:r>
          </a:p>
        </p:txBody>
      </p:sp>
      <p:sp>
        <p:nvSpPr>
          <p:cNvPr id="14" name="">
            <a:extLst xmlns:a="http://schemas.openxmlformats.org/drawingml/2006/main">
              <a:ext uri="{FF2B5EF4-FFF2-40B4-BE49-F238E27FC236}">
                <a16:creationId xmlns:a16="http://schemas.microsoft.com/office/drawing/2014/main" id="{02CD2549-1396-494F-9F37-2E61D47DCEE2}"/>
              </a:ext>
            </a:extLst>
          </p:cNvPr>
          <p:cNvSpPr>
            <a:spLocks xmlns:a="http://schemas.openxmlformats.org/drawingml/2006/main" noGrp="1"/>
          </p:cNvSpPr>
          <p:nvPr/>
        </p:nvSpPr>
        <p:spPr>
          <a:xfrm xmlns:a="http://schemas.openxmlformats.org/drawingml/2006/main">
            <a:off x="714375" y="5057775"/>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73042"/>
                </a:solidFill>
                <a:latin typeface="Arial"/>
                <a:ea typeface="Arial"/>
                <a:cs typeface="Arial"/>
              </a:defRPr>
            </a:pPr>
            <a:r>
              <a:rPr sz="1650" b="0">
                <a:solidFill>
                  <a:srgbClr val="173042"/>
                </a:solidFill>
                <a:latin typeface="Arial"/>
                <a:ea typeface="Arial"/>
                <a:cs typeface="Arial"/>
              </a:rPr>
              <a:t>Real-voice slices improve; synthetic score falls</a:t>
            </a:r>
          </a:p>
        </p:txBody>
      </p:sp>
      <p:sp>
        <p:nvSpPr>
          <p:cNvPr id="15" name="">
            <a:extLst xmlns:a="http://schemas.openxmlformats.org/drawingml/2006/main">
              <a:ext uri="{FF2B5EF4-FFF2-40B4-BE49-F238E27FC236}">
                <a16:creationId xmlns:a16="http://schemas.microsoft.com/office/drawing/2014/main" id="{E79250E2-4822-4B51-AAF6-A8CB086AB1F0}"/>
              </a:ext>
            </a:extLst>
          </p:cNvPr>
          <p:cNvSpPr>
            <a:spLocks xmlns:a="http://schemas.openxmlformats.org/drawingml/2006/main" noGrp="1"/>
          </p:cNvSpPr>
          <p:nvPr/>
        </p:nvSpPr>
        <p:spPr>
          <a:xfrm xmlns:a="http://schemas.openxmlformats.org/drawingml/2006/main">
            <a:off x="714375" y="5534025"/>
            <a:ext cx="609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73042"/>
                </a:solidFill>
                <a:latin typeface="Arial"/>
                <a:ea typeface="Arial"/>
                <a:cs typeface="Arial"/>
              </a:defRPr>
            </a:pPr>
            <a:r>
              <a:rPr sz="1650" b="0">
                <a:solidFill>
                  <a:srgbClr val="173042"/>
                </a:solidFill>
                <a:latin typeface="Arial"/>
                <a:ea typeface="Arial"/>
                <a:cs typeface="Arial"/>
              </a:rPr>
              <a:t>No Pi mic, so live speech A/B is pending</a:t>
            </a:r>
          </a:p>
        </p:txBody>
      </p:sp>
      <p:sp>
        <p:nvSpPr>
          <p:cNvPr id="16" name="">
            <a:extLst xmlns:a="http://schemas.openxmlformats.org/drawingml/2006/main">
              <a:ext uri="{FF2B5EF4-FFF2-40B4-BE49-F238E27FC236}">
                <a16:creationId xmlns:a16="http://schemas.microsoft.com/office/drawing/2014/main" id="{E24EF50B-BD97-4DC3-9FCF-79267C5BD343}"/>
              </a:ext>
            </a:extLst>
          </p:cNvPr>
          <p:cNvSpPr>
            <a:spLocks xmlns:a="http://schemas.openxmlformats.org/drawingml/2006/main" noGrp="1"/>
          </p:cNvSpPr>
          <p:nvPr/>
        </p:nvSpPr>
        <p:spPr>
          <a:xfrm xmlns:a="http://schemas.openxmlformats.org/drawingml/2006/main">
            <a:off x="7048500" y="3571875"/>
            <a:ext cx="28575" cy="2400300"/>
          </a:xfrm>
          <a:prstGeom xmlns:a="http://schemas.openxmlformats.org/drawingml/2006/main" prst="rect">
            <a:avLst/>
          </a:prstGeom>
          <a:solidFill xmlns:a="http://schemas.openxmlformats.org/drawingml/2006/main">
            <a:srgbClr val="46C9DB"/>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C6167C9-A132-4B88-97B5-4D422A50C1D2}"/>
              </a:ext>
            </a:extLst>
          </p:cNvPr>
          <p:cNvSpPr>
            <a:spLocks xmlns:a="http://schemas.openxmlformats.org/drawingml/2006/main" noGrp="1"/>
          </p:cNvSpPr>
          <p:nvPr/>
        </p:nvSpPr>
        <p:spPr>
          <a:xfrm xmlns:a="http://schemas.openxmlformats.org/drawingml/2006/main">
            <a:off x="7343775" y="3619500"/>
            <a:ext cx="4095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B2335"/>
                </a:solidFill>
                <a:latin typeface="Arial"/>
                <a:ea typeface="Arial"/>
                <a:cs typeface="Arial"/>
              </a:defRPr>
            </a:pPr>
            <a:r>
              <a:rPr sz="2100" b="1">
                <a:solidFill>
                  <a:srgbClr val="0B2335"/>
                </a:solidFill>
                <a:latin typeface="Arial"/>
                <a:ea typeface="Arial"/>
                <a:cs typeface="Arial"/>
              </a:rPr>
              <a:t>Model choice</a:t>
            </a:r>
          </a:p>
        </p:txBody>
      </p:sp>
      <p:sp>
        <p:nvSpPr>
          <p:cNvPr id="18" name="">
            <a:extLst xmlns:a="http://schemas.openxmlformats.org/drawingml/2006/main">
              <a:ext uri="{FF2B5EF4-FFF2-40B4-BE49-F238E27FC236}">
                <a16:creationId xmlns:a16="http://schemas.microsoft.com/office/drawing/2014/main" id="{1BBBD318-CD8B-4806-9883-33CB188438DD}"/>
              </a:ext>
            </a:extLst>
          </p:cNvPr>
          <p:cNvSpPr>
            <a:spLocks xmlns:a="http://schemas.openxmlformats.org/drawingml/2006/main" noGrp="1"/>
          </p:cNvSpPr>
          <p:nvPr/>
        </p:nvSpPr>
        <p:spPr>
          <a:xfrm xmlns:a="http://schemas.openxmlformats.org/drawingml/2006/main">
            <a:off x="7353300" y="414337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1">
                <a:solidFill>
                  <a:srgbClr val="C7534B"/>
                </a:solidFill>
                <a:latin typeface="Arial"/>
                <a:ea typeface="Arial"/>
                <a:cs typeface="Arial"/>
              </a:defRPr>
            </a:pPr>
            <a:r>
              <a:rPr sz="1500" b="1">
                <a:solidFill>
                  <a:srgbClr val="C7534B"/>
                </a:solidFill>
                <a:latin typeface="Arial"/>
                <a:ea typeface="Arial"/>
                <a:cs typeface="Arial"/>
              </a:rPr>
              <a:t>Only 2/31 candidate labels reach 95% F1; keep current default.</a:t>
            </a:r>
          </a:p>
        </p:txBody>
      </p:sp>
      <p:sp>
        <p:nvSpPr>
          <p:cNvPr id="19" name="">
            <a:extLst xmlns:a="http://schemas.openxmlformats.org/drawingml/2006/main">
              <a:ext uri="{FF2B5EF4-FFF2-40B4-BE49-F238E27FC236}">
                <a16:creationId xmlns:a16="http://schemas.microsoft.com/office/drawing/2014/main" id="{E07639AD-E0F5-4BA5-9D7B-4BAAA7EEAA46}"/>
              </a:ext>
            </a:extLst>
          </p:cNvPr>
          <p:cNvSpPr>
            <a:spLocks xmlns:a="http://schemas.openxmlformats.org/drawingml/2006/main" noGrp="1"/>
          </p:cNvSpPr>
          <p:nvPr/>
        </p:nvSpPr>
        <p:spPr>
          <a:xfrm xmlns:a="http://schemas.openxmlformats.org/drawingml/2006/main">
            <a:off x="7353300" y="4886325"/>
            <a:ext cx="3714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173042"/>
                </a:solidFill>
                <a:latin typeface="Arial"/>
                <a:ea typeface="Arial"/>
                <a:cs typeface="Arial"/>
              </a:defRPr>
            </a:pPr>
            <a:r>
              <a:rPr sz="1425" b="0">
                <a:solidFill>
                  <a:srgbClr val="173042"/>
                </a:solidFill>
                <a:latin typeface="Arial"/>
                <a:ea typeface="Arial"/>
                <a:cs typeface="Arial"/>
              </a:rPr>
              <a:t>OOS actions: candidate 0/47; current live gate 22/47.</a:t>
            </a:r>
          </a:p>
        </p:txBody>
      </p:sp>
      <p:sp>
        <p:nvSpPr>
          <p:cNvPr id="20" name="">
            <a:extLst xmlns:a="http://schemas.openxmlformats.org/drawingml/2006/main">
              <a:ext uri="{FF2B5EF4-FFF2-40B4-BE49-F238E27FC236}">
                <a16:creationId xmlns:a16="http://schemas.microsoft.com/office/drawing/2014/main" id="{EDF2DF50-3963-4873-9842-5774BA05AF42}"/>
              </a:ext>
            </a:extLst>
          </p:cNvPr>
          <p:cNvSpPr>
            <a:spLocks xmlns:a="http://schemas.openxmlformats.org/drawingml/2006/main" noGrp="1"/>
          </p:cNvSpPr>
          <p:nvPr/>
        </p:nvSpPr>
        <p:spPr>
          <a:xfrm xmlns:a="http://schemas.openxmlformats.org/drawingml/2006/main">
            <a:off x="7353300" y="5600700"/>
            <a:ext cx="381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C7180"/>
                </a:solidFill>
                <a:latin typeface="Arial"/>
                <a:ea typeface="Arial"/>
                <a:cs typeface="Arial"/>
              </a:defRPr>
            </a:pPr>
            <a:r>
              <a:rPr sz="1275" b="0">
                <a:solidFill>
                  <a:srgbClr val="5C7180"/>
                </a:solidFill>
                <a:latin typeface="Arial"/>
                <a:ea typeface="Arial"/>
                <a:cs typeface="Arial"/>
              </a:rPr>
              <a:t>Current leads: 79.64% accuracy / 79.47% F1; candidate 78.95% / 79.12%.</a:t>
            </a:r>
          </a:p>
        </p:txBody>
      </p:sp>
    </p:spTree>
    <p:extLst>
      <p:ext uri="{BB962C8B-B14F-4D97-AF65-F5344CB8AC3E}">
        <p14:creationId xmlns:p14="http://schemas.microsoft.com/office/powerpoint/2010/main" val="8873765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2026-10-02T03:59:26.7710000Z</dcterms:created>
  <dcterms:modified xsi:type="dcterms:W3CDTF">2026-10-02T03:59:26.7710000Z</dcterms:modified>
</coreProperties>
</file>