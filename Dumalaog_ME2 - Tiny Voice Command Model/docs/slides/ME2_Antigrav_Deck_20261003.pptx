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e80354c841d44b7" Type="http://schemas.openxmlformats.org/officeDocument/2006/relationships/officeDocument" Target="ppt/presentation.xml"/><Relationship Id="R893ae666125b41ea" Type="http://schemas.openxmlformats.org/officeDocument/2006/relationships/extended-properties" Target="docProps/app.xml"/><Relationship Id="Rededab0a98b044cb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8f52839ff5445f"/>
  </p:sldMasterIdLst>
  <p:notesMasterIdLst>
    <p:notesMasterId xmlns:r="http://schemas.openxmlformats.org/officeDocument/2006/relationships" r:id="Rab776f7223af4a33"/>
  </p:notesMasterIdLst>
  <p:sldIdLst>
    <p:sldId xmlns:r="http://schemas.openxmlformats.org/officeDocument/2006/relationships" id="256" r:id="Re673cdd9b493451c"/>
    <p:sldId xmlns:r="http://schemas.openxmlformats.org/officeDocument/2006/relationships" id="257" r:id="R3c02187da29546cf"/>
  </p:sldIdLst>
  <p:sldSz cx="12192000" cy="76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3c02187da29546cf" Type="http://schemas.openxmlformats.org/officeDocument/2006/relationships/slide" Target="slides/slide2.xml"/><Relationship Id="R4371ce4a3d0f44cc" Type="http://schemas.openxmlformats.org/officeDocument/2006/relationships/theme" Target="theme/theme1.xml"/><Relationship Id="Rab776f7223af4a33" Type="http://schemas.openxmlformats.org/officeDocument/2006/relationships/notesMaster" Target="notesMasters/notesMaster1.xml"/><Relationship Id="Raf8f52839ff5445f" Type="http://schemas.openxmlformats.org/officeDocument/2006/relationships/slideMaster" Target="slideMasters/slideMaster1.xml"/><Relationship Id="Rd20f5bdb6246475e" Type="http://schemas.openxmlformats.org/officeDocument/2006/relationships/presProps" Target="presProps.xml"/><Relationship Id="Rde7ec400778a43e8" Type="http://schemas.openxmlformats.org/officeDocument/2006/relationships/tableStyles" Target="tableStyles.xml"/><Relationship Id="Re673cdd9b493451c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4100f7a32ac1454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555b26002684706" Type="http://schemas.openxmlformats.org/officeDocument/2006/relationships/notesMaster" Target="../notesMasters/notesMaster1.xml"/><Relationship Id="Rc596c39a76ba42a3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637f9ebca414d41" Type="http://schemas.openxmlformats.org/officeDocument/2006/relationships/notesMaster" Target="../notesMasters/notesMaster1.xml"/><Relationship Id="Rce67a788b6b14073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source: runs/pi-quick-benchmark-20261003/report.md and metrics.json, run 20261003-123618. This was seeded_local_onnx: file-based inference on the Pi using prepared WAVs, no speaker playback, no microphone capture, no GPIO/actions. It is not an acoustic live benchmark. Response latency and live VAD were not measured. Model/dataset facts: deployment/current_vcm/metadata.json and project handoff. Benchmark runner: https://github.com/airimonda/vcm-benchmark.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Antigravity results are from a seeded, Pi-local file replay and are not live microphone acoustic performance. The complete report, confusion matrices, per-class scores, and system metrics are in runs/pi-quick-benchmark-20261003/report.md, metrics.json, and trials.csv. Dataset card: https://huggingface.co/datasets/airimonda/ai231-me2-voice-commands. Benchmark: https://github.com/airimonda/vcm-benchmark.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6f48875f3e9407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0bcb4e90a9448c9" Type="http://schemas.openxmlformats.org/officeDocument/2006/relationships/slideLayout" Target="../slideLayouts/slideLayout1.xml"/><Relationship Id="R863d77815c874270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bcb4e90a9448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190121974954110" Type="http://schemas.openxmlformats.org/officeDocument/2006/relationships/notesSlide" Target="../notesSlides/notesSlide1.xml"/><Relationship Id="R8aae4222ba6b419f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837e5c9ef7c34869" Type="http://schemas.openxmlformats.org/officeDocument/2006/relationships/slideLayout" Target="../slideLayouts/slideLayout1.xml"/><Relationship Id="Re82444ca2467413b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632401-47FF-4906-9D31-BC269D24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1131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9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93F"/>
                </a:solidFill>
                <a:latin typeface="Arial"/>
                <a:ea typeface="Arial"/>
                <a:cs typeface="Arial"/>
              </a:rPr>
              <a:t>ME2 — Voice Controlled Smart Device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6968D3B-F74E-4B70-AA3D-5236B714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66775"/>
            <a:ext cx="1131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9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93F"/>
                </a:solidFill>
                <a:latin typeface="Arial"/>
                <a:ea typeface="Arial"/>
                <a:cs typeface="Arial"/>
              </a:rPr>
              <a:t>Always-on keyword + intent recognition at the edge · no cloud round-trip</a:t>
            </a:r>
          </a:p>
        </p:txBody>
      </p:sp>
      <p:sp>
        <p:nvSpPr>
          <p:cNvPr id="3" name="deck-meta">
            <a:extLst xmlns:a="http://schemas.openxmlformats.org/drawingml/2006/main">
              <a:ext uri="{FF2B5EF4-FFF2-40B4-BE49-F238E27FC236}">
                <a16:creationId xmlns:a16="http://schemas.microsoft.com/office/drawing/2014/main" id="{C4C55CF3-A1F8-4A46-BFBC-2F371C11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257300"/>
            <a:ext cx="1128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3 October 2026 · Crizepvill Dumalaog (Antigrav) · TinyDSCNN-48 · RTX 3050 (4GB) · Pi 5</a:t>
            </a:r>
          </a:p>
        </p:txBody>
      </p:sp>
      <p:sp>
        <p:nvSpPr>
          <p:cNvPr id="4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30EADFD5-EE32-483F-90C1-4F73FE3A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704975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54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54E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" name="input-block">
            <a:extLst xmlns:a="http://schemas.openxmlformats.org/drawingml/2006/main">
              <a:ext uri="{FF2B5EF4-FFF2-40B4-BE49-F238E27FC236}">
                <a16:creationId xmlns:a16="http://schemas.microsoft.com/office/drawing/2014/main" id="{64CB506B-2DE5-4F5D-BF4F-9024F306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71700"/>
            <a:ext cx="54387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19050">
            <a:solidFill>
              <a:srgbClr val="9DB7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input-text">
            <a:extLst xmlns:a="http://schemas.openxmlformats.org/drawingml/2006/main">
              <a:ext uri="{FF2B5EF4-FFF2-40B4-BE49-F238E27FC236}">
                <a16:creationId xmlns:a16="http://schemas.microsoft.com/office/drawing/2014/main" id="{DB48D7FD-3102-492E-B725-949CB4F3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E"/>
                </a:solidFill>
                <a:latin typeface="Arial"/>
                <a:ea typeface="Arial"/>
                <a:cs typeface="Arial"/>
              </a:rPr>
              <a:t>Mic · 16 kHz → log-mel [1 × 40 × 251]</a:t>
            </a:r>
          </a:p>
        </p:txBody>
      </p:sp>
      <p:sp>
        <p:nvSpPr>
          <p:cNvPr id="7" name="wake-block">
            <a:extLst xmlns:a="http://schemas.openxmlformats.org/drawingml/2006/main">
              <a:ext uri="{FF2B5EF4-FFF2-40B4-BE49-F238E27FC236}">
                <a16:creationId xmlns:a16="http://schemas.microsoft.com/office/drawing/2014/main" id="{092C5DC1-BF6D-4CEB-95C8-331EC205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09850"/>
            <a:ext cx="2647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7"/>
          </a:solidFill>
          <a:ln xmlns:a="http://schemas.openxmlformats.org/drawingml/2006/main" w="19050">
            <a:solidFill>
              <a:srgbClr val="55A72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wake-text">
            <a:extLst xmlns:a="http://schemas.openxmlformats.org/drawingml/2006/main">
              <a:ext uri="{FF2B5EF4-FFF2-40B4-BE49-F238E27FC236}">
                <a16:creationId xmlns:a16="http://schemas.microsoft.com/office/drawing/2014/main" id="{9A253D5A-8A16-49D6-B60C-9DB8C58A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8714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C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4C1D"/>
                </a:solidFill>
                <a:latin typeface="Arial"/>
                <a:ea typeface="Arial"/>
                <a:cs typeface="Arial"/>
              </a:rPr>
              <a:t>Wake TinyDSCNN-48 · 2 logits</a:t>
            </a:r>
          </a:p>
        </p:txBody>
      </p:sp>
      <p:sp>
        <p:nvSpPr>
          <p:cNvPr id="9" name="intent-block">
            <a:extLst xmlns:a="http://schemas.openxmlformats.org/drawingml/2006/main">
              <a:ext uri="{FF2B5EF4-FFF2-40B4-BE49-F238E27FC236}">
                <a16:creationId xmlns:a16="http://schemas.microsoft.com/office/drawing/2014/main" id="{F348503E-C901-4775-A3CF-0C17BC26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609850"/>
            <a:ext cx="2676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19050">
            <a:solidFill>
              <a:srgbClr val="D88B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intent-text">
            <a:extLst xmlns:a="http://schemas.openxmlformats.org/drawingml/2006/main">
              <a:ext uri="{FF2B5EF4-FFF2-40B4-BE49-F238E27FC236}">
                <a16:creationId xmlns:a16="http://schemas.microsoft.com/office/drawing/2014/main" id="{D8E09E0F-81FF-4578-81C2-61E0112D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193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8476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9430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9430E"/>
                </a:solidFill>
                <a:latin typeface="Arial"/>
                <a:ea typeface="Arial"/>
                <a:cs typeface="Arial"/>
              </a:rPr>
              <a:t>Intent TinyDSCNN-48 · 31 logits</a:t>
            </a:r>
          </a:p>
        </p:txBody>
      </p:sp>
      <p:sp>
        <p:nvSpPr>
          <p:cNvPr id="11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873CA569-EA1F-4264-B122-65ADB876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24200"/>
            <a:ext cx="2647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9"/>
          </a:solidFill>
          <a:ln xmlns:a="http://schemas.openxmlformats.org/drawingml/2006/main" w="19050">
            <a:solidFill>
              <a:srgbClr val="7C65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action-text">
            <a:extLst xmlns:a="http://schemas.openxmlformats.org/drawingml/2006/main">
              <a:ext uri="{FF2B5EF4-FFF2-40B4-BE49-F238E27FC236}">
                <a16:creationId xmlns:a16="http://schemas.microsoft.com/office/drawing/2014/main" id="{3554DCAB-4FE5-4983-8DA4-341CEE5E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5296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52966"/>
                </a:solidFill>
                <a:latin typeface="Arial"/>
                <a:ea typeface="Arial"/>
                <a:cs typeface="Arial"/>
              </a:rPr>
              <a:t>Action layer</a:t>
            </a:r>
          </a:p>
        </p:txBody>
      </p:sp>
      <p:sp>
        <p:nvSpPr>
          <p:cNvPr id="13" name="device-block">
            <a:extLst xmlns:a="http://schemas.openxmlformats.org/drawingml/2006/main">
              <a:ext uri="{FF2B5EF4-FFF2-40B4-BE49-F238E27FC236}">
                <a16:creationId xmlns:a16="http://schemas.microsoft.com/office/drawing/2014/main" id="{0C932591-7EE6-46A2-9D4B-B7CCA34A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124200"/>
            <a:ext cx="2676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8"/>
          </a:solidFill>
          <a:ln xmlns:a="http://schemas.openxmlformats.org/drawingml/2006/main" w="19050">
            <a:solidFill>
              <a:srgbClr val="55A72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device-text">
            <a:extLst xmlns:a="http://schemas.openxmlformats.org/drawingml/2006/main">
              <a:ext uri="{FF2B5EF4-FFF2-40B4-BE49-F238E27FC236}">
                <a16:creationId xmlns:a16="http://schemas.microsoft.com/office/drawing/2014/main" id="{DCA935BD-F0BD-4078-B670-A3491738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24200"/>
            <a:ext cx="2543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04B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04B16"/>
                </a:solidFill>
                <a:latin typeface="Arial"/>
                <a:ea typeface="Arial"/>
                <a:cs typeface="Arial"/>
              </a:rPr>
              <a:t>Raspberry Pi 5</a:t>
            </a:r>
          </a:p>
        </p:txBody>
      </p:sp>
      <p:sp>
        <p:nvSpPr>
          <p:cNvPr id="15" name="model-size-header-bg">
            <a:extLst xmlns:a="http://schemas.openxmlformats.org/drawingml/2006/main">
              <a:ext uri="{FF2B5EF4-FFF2-40B4-BE49-F238E27FC236}">
                <a16:creationId xmlns:a16="http://schemas.microsoft.com/office/drawing/2014/main" id="{6EBFC861-81BB-4C27-A677-A9879A77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648075"/>
            <a:ext cx="546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3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model-size-header-0">
            <a:extLst xmlns:a="http://schemas.openxmlformats.org/drawingml/2006/main">
              <a:ext uri="{FF2B5EF4-FFF2-40B4-BE49-F238E27FC236}">
                <a16:creationId xmlns:a16="http://schemas.microsoft.com/office/drawing/2014/main" id="{01FF3D69-646D-4F3D-9BDD-E34B5188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6480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17" name="model-size-header-1">
            <a:extLst xmlns:a="http://schemas.openxmlformats.org/drawingml/2006/main">
              <a:ext uri="{FF2B5EF4-FFF2-40B4-BE49-F238E27FC236}">
                <a16:creationId xmlns:a16="http://schemas.microsoft.com/office/drawing/2014/main" id="{1C6B11A1-0095-47F9-A732-E9FADC24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480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8" name="model-size-row-bg-0">
            <a:extLst xmlns:a="http://schemas.openxmlformats.org/drawingml/2006/main">
              <a:ext uri="{FF2B5EF4-FFF2-40B4-BE49-F238E27FC236}">
                <a16:creationId xmlns:a16="http://schemas.microsoft.com/office/drawing/2014/main" id="{5B969CEB-FDFE-4B5B-B91E-DD4586A8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010025"/>
            <a:ext cx="546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model-size-row-rule-0">
            <a:extLst xmlns:a="http://schemas.openxmlformats.org/drawingml/2006/main">
              <a:ext uri="{FF2B5EF4-FFF2-40B4-BE49-F238E27FC236}">
                <a16:creationId xmlns:a16="http://schemas.microsoft.com/office/drawing/2014/main" id="{333F47DB-2AD1-4023-AC2C-6C269E42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62450"/>
            <a:ext cx="546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model-size-label-0">
            <a:extLst xmlns:a="http://schemas.openxmlformats.org/drawingml/2006/main">
              <a:ext uri="{FF2B5EF4-FFF2-40B4-BE49-F238E27FC236}">
                <a16:creationId xmlns:a16="http://schemas.microsoft.com/office/drawing/2014/main" id="{00ACC0F4-CDC9-467C-B876-72B29EAF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010025"/>
            <a:ext cx="257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Parameters / weights</a:t>
            </a:r>
          </a:p>
        </p:txBody>
      </p:sp>
      <p:sp>
        <p:nvSpPr>
          <p:cNvPr id="21" name="model-size-value-0">
            <a:extLst xmlns:a="http://schemas.openxmlformats.org/drawingml/2006/main">
              <a:ext uri="{FF2B5EF4-FFF2-40B4-BE49-F238E27FC236}">
                <a16:creationId xmlns:a16="http://schemas.microsoft.com/office/drawing/2014/main" id="{E080F49F-E6EA-4DC4-8265-484FECE2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10025"/>
            <a:ext cx="2895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27,633 · 74.9 KiB INT8 ONNX</a:t>
            </a:r>
          </a:p>
        </p:txBody>
      </p:sp>
      <p:sp>
        <p:nvSpPr>
          <p:cNvPr id="22" name="validation-heading">
            <a:extLst xmlns:a="http://schemas.openxmlformats.org/drawingml/2006/main">
              <a:ext uri="{FF2B5EF4-FFF2-40B4-BE49-F238E27FC236}">
                <a16:creationId xmlns:a16="http://schemas.microsoft.com/office/drawing/2014/main" id="{ABA102CC-E315-4F62-931F-F54C9B3E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448175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54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54E8"/>
                </a:solidFill>
                <a:latin typeface="Arial"/>
                <a:ea typeface="Arial"/>
                <a:cs typeface="Arial"/>
              </a:rPr>
              <a:t>Quick Pi benchmark · seeded WAV replay</a:t>
            </a:r>
          </a:p>
        </p:txBody>
      </p:sp>
      <p:sp>
        <p:nvSpPr>
          <p:cNvPr id="23" name="bench-header-bg">
            <a:extLst xmlns:a="http://schemas.openxmlformats.org/drawingml/2006/main">
              <a:ext uri="{FF2B5EF4-FFF2-40B4-BE49-F238E27FC236}">
                <a16:creationId xmlns:a16="http://schemas.microsoft.com/office/drawing/2014/main" id="{EA7903CB-B62D-4C44-B163-8088E0E0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829175"/>
            <a:ext cx="546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3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bench-header-0">
            <a:extLst xmlns:a="http://schemas.openxmlformats.org/drawingml/2006/main">
              <a:ext uri="{FF2B5EF4-FFF2-40B4-BE49-F238E27FC236}">
                <a16:creationId xmlns:a16="http://schemas.microsoft.com/office/drawing/2014/main" id="{D677C752-5628-4137-8D9F-46EB9DA1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8291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25" name="bench-header-1">
            <a:extLst xmlns:a="http://schemas.openxmlformats.org/drawingml/2006/main">
              <a:ext uri="{FF2B5EF4-FFF2-40B4-BE49-F238E27FC236}">
                <a16:creationId xmlns:a16="http://schemas.microsoft.com/office/drawing/2014/main" id="{4D5E931D-E5BB-4D67-9216-042977ED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829175"/>
            <a:ext cx="1171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Overall</a:t>
            </a:r>
          </a:p>
        </p:txBody>
      </p:sp>
      <p:sp>
        <p:nvSpPr>
          <p:cNvPr id="26" name="bench-header-2">
            <a:extLst xmlns:a="http://schemas.openxmlformats.org/drawingml/2006/main">
              <a:ext uri="{FF2B5EF4-FFF2-40B4-BE49-F238E27FC236}">
                <a16:creationId xmlns:a16="http://schemas.microsoft.com/office/drawing/2014/main" id="{4E565CB2-6901-4E80-8AEC-7B26D549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29175"/>
            <a:ext cx="1171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27" name="bench-header-3">
            <a:extLst xmlns:a="http://schemas.openxmlformats.org/drawingml/2006/main">
              <a:ext uri="{FF2B5EF4-FFF2-40B4-BE49-F238E27FC236}">
                <a16:creationId xmlns:a16="http://schemas.microsoft.com/office/drawing/2014/main" id="{A1BD5DE0-3BD3-464D-85BF-7C1F5705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2917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Synthetic</a:t>
            </a:r>
          </a:p>
        </p:txBody>
      </p:sp>
      <p:sp>
        <p:nvSpPr>
          <p:cNvPr id="28" name="bench-row-bg-0">
            <a:extLst xmlns:a="http://schemas.openxmlformats.org/drawingml/2006/main">
              <a:ext uri="{FF2B5EF4-FFF2-40B4-BE49-F238E27FC236}">
                <a16:creationId xmlns:a16="http://schemas.microsoft.com/office/drawing/2014/main" id="{F41E7292-E76D-4D1F-83AB-283DA73F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133975"/>
            <a:ext cx="5467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bench-row-rule-0">
            <a:extLst xmlns:a="http://schemas.openxmlformats.org/drawingml/2006/main">
              <a:ext uri="{FF2B5EF4-FFF2-40B4-BE49-F238E27FC236}">
                <a16:creationId xmlns:a16="http://schemas.microsoft.com/office/drawing/2014/main" id="{7F213F31-864B-4E1F-8FAD-5DE29350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419725"/>
            <a:ext cx="546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bench-row-0-0">
            <a:extLst xmlns:a="http://schemas.openxmlformats.org/drawingml/2006/main">
              <a:ext uri="{FF2B5EF4-FFF2-40B4-BE49-F238E27FC236}">
                <a16:creationId xmlns:a16="http://schemas.microsoft.com/office/drawing/2014/main" id="{FB61B459-FB69-4237-984E-2DFD7F25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1339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Intent accuracy</a:t>
            </a:r>
          </a:p>
        </p:txBody>
      </p:sp>
      <p:sp>
        <p:nvSpPr>
          <p:cNvPr id="31" name="bench-row-0-1">
            <a:extLst xmlns:a="http://schemas.openxmlformats.org/drawingml/2006/main">
              <a:ext uri="{FF2B5EF4-FFF2-40B4-BE49-F238E27FC236}">
                <a16:creationId xmlns:a16="http://schemas.microsoft.com/office/drawing/2014/main" id="{69EA7580-02E9-4CD4-8780-93CBD1E2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133975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71.6%</a:t>
            </a:r>
          </a:p>
        </p:txBody>
      </p:sp>
      <p:sp>
        <p:nvSpPr>
          <p:cNvPr id="32" name="bench-row-0-2">
            <a:extLst xmlns:a="http://schemas.openxmlformats.org/drawingml/2006/main">
              <a:ext uri="{FF2B5EF4-FFF2-40B4-BE49-F238E27FC236}">
                <a16:creationId xmlns:a16="http://schemas.microsoft.com/office/drawing/2014/main" id="{A0D14D0A-3AA7-4461-8320-3F35717E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33975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49.0%</a:t>
            </a:r>
          </a:p>
        </p:txBody>
      </p:sp>
      <p:sp>
        <p:nvSpPr>
          <p:cNvPr id="33" name="bench-row-0-3">
            <a:extLst xmlns:a="http://schemas.openxmlformats.org/drawingml/2006/main">
              <a:ext uri="{FF2B5EF4-FFF2-40B4-BE49-F238E27FC236}">
                <a16:creationId xmlns:a16="http://schemas.microsoft.com/office/drawing/2014/main" id="{778C15A2-7101-46E6-8E04-6530FA43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1339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90.0%</a:t>
            </a:r>
          </a:p>
        </p:txBody>
      </p:sp>
      <p:sp>
        <p:nvSpPr>
          <p:cNvPr id="34" name="bench-row-bg-1">
            <a:extLst xmlns:a="http://schemas.openxmlformats.org/drawingml/2006/main">
              <a:ext uri="{FF2B5EF4-FFF2-40B4-BE49-F238E27FC236}">
                <a16:creationId xmlns:a16="http://schemas.microsoft.com/office/drawing/2014/main" id="{5804CAA7-5E70-41A2-ABF2-D57082C6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429250"/>
            <a:ext cx="5467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bench-row-rule-1">
            <a:extLst xmlns:a="http://schemas.openxmlformats.org/drawingml/2006/main">
              <a:ext uri="{FF2B5EF4-FFF2-40B4-BE49-F238E27FC236}">
                <a16:creationId xmlns:a16="http://schemas.microsoft.com/office/drawing/2014/main" id="{EC6DF71A-20E5-4B7B-8431-E7CC726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715000"/>
            <a:ext cx="546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bench-row-1-0">
            <a:extLst xmlns:a="http://schemas.openxmlformats.org/drawingml/2006/main">
              <a:ext uri="{FF2B5EF4-FFF2-40B4-BE49-F238E27FC236}">
                <a16:creationId xmlns:a16="http://schemas.microsoft.com/office/drawing/2014/main" id="{15EF98C1-3772-41F3-A64A-538EBA0A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4292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Command accuracy</a:t>
            </a:r>
          </a:p>
        </p:txBody>
      </p:sp>
      <p:sp>
        <p:nvSpPr>
          <p:cNvPr id="37" name="bench-row-1-1">
            <a:extLst xmlns:a="http://schemas.openxmlformats.org/drawingml/2006/main">
              <a:ext uri="{FF2B5EF4-FFF2-40B4-BE49-F238E27FC236}">
                <a16:creationId xmlns:a16="http://schemas.microsoft.com/office/drawing/2014/main" id="{73302648-CBC7-4AE2-8A1D-BE849080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42925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70.6%</a:t>
            </a:r>
          </a:p>
        </p:txBody>
      </p:sp>
      <p:sp>
        <p:nvSpPr>
          <p:cNvPr id="38" name="bench-row-1-2">
            <a:extLst xmlns:a="http://schemas.openxmlformats.org/drawingml/2006/main">
              <a:ext uri="{FF2B5EF4-FFF2-40B4-BE49-F238E27FC236}">
                <a16:creationId xmlns:a16="http://schemas.microsoft.com/office/drawing/2014/main" id="{A06986FF-35C6-4544-A553-1A94C91B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2925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46.9%</a:t>
            </a:r>
          </a:p>
        </p:txBody>
      </p:sp>
      <p:sp>
        <p:nvSpPr>
          <p:cNvPr id="39" name="bench-row-1-3">
            <a:extLst xmlns:a="http://schemas.openxmlformats.org/drawingml/2006/main">
              <a:ext uri="{FF2B5EF4-FFF2-40B4-BE49-F238E27FC236}">
                <a16:creationId xmlns:a16="http://schemas.microsoft.com/office/drawing/2014/main" id="{7777FF92-5BB0-44D4-BDED-AF4A6662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4292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90.0%</a:t>
            </a:r>
          </a:p>
        </p:txBody>
      </p:sp>
      <p:sp>
        <p:nvSpPr>
          <p:cNvPr id="40" name="bench-row-bg-2">
            <a:extLst xmlns:a="http://schemas.openxmlformats.org/drawingml/2006/main">
              <a:ext uri="{FF2B5EF4-FFF2-40B4-BE49-F238E27FC236}">
                <a16:creationId xmlns:a16="http://schemas.microsoft.com/office/drawing/2014/main" id="{39B975E2-887E-466C-9B0F-8B6896C7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724525"/>
            <a:ext cx="5467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bench-row-rule-2">
            <a:extLst xmlns:a="http://schemas.openxmlformats.org/drawingml/2006/main">
              <a:ext uri="{FF2B5EF4-FFF2-40B4-BE49-F238E27FC236}">
                <a16:creationId xmlns:a16="http://schemas.microsoft.com/office/drawing/2014/main" id="{2FB36C5F-390E-4ED6-B411-5DFF7300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010275"/>
            <a:ext cx="546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bench-row-2-0">
            <a:extLst xmlns:a="http://schemas.openxmlformats.org/drawingml/2006/main">
              <a:ext uri="{FF2B5EF4-FFF2-40B4-BE49-F238E27FC236}">
                <a16:creationId xmlns:a16="http://schemas.microsoft.com/office/drawing/2014/main" id="{B229FE0D-A79A-405B-B9C4-F4E94C32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72452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Command macro F1</a:t>
            </a:r>
          </a:p>
        </p:txBody>
      </p:sp>
      <p:sp>
        <p:nvSpPr>
          <p:cNvPr id="43" name="bench-row-2-1">
            <a:extLst xmlns:a="http://schemas.openxmlformats.org/drawingml/2006/main">
              <a:ext uri="{FF2B5EF4-FFF2-40B4-BE49-F238E27FC236}">
                <a16:creationId xmlns:a16="http://schemas.microsoft.com/office/drawing/2014/main" id="{8877269C-DA41-4E35-B54A-B2A30220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724525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70.1%</a:t>
            </a:r>
          </a:p>
        </p:txBody>
      </p:sp>
      <p:sp>
        <p:nvSpPr>
          <p:cNvPr id="44" name="bench-row-2-2">
            <a:extLst xmlns:a="http://schemas.openxmlformats.org/drawingml/2006/main">
              <a:ext uri="{FF2B5EF4-FFF2-40B4-BE49-F238E27FC236}">
                <a16:creationId xmlns:a16="http://schemas.microsoft.com/office/drawing/2014/main" id="{C767B78D-98CE-4D85-8149-35F935DD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24525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41.8%</a:t>
            </a:r>
          </a:p>
        </p:txBody>
      </p:sp>
      <p:sp>
        <p:nvSpPr>
          <p:cNvPr id="45" name="bench-row-2-3">
            <a:extLst xmlns:a="http://schemas.openxmlformats.org/drawingml/2006/main">
              <a:ext uri="{FF2B5EF4-FFF2-40B4-BE49-F238E27FC236}">
                <a16:creationId xmlns:a16="http://schemas.microsoft.com/office/drawing/2014/main" id="{C8DDE1D8-F270-45FA-94B8-7D24E508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7245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93.1%</a:t>
            </a:r>
          </a:p>
        </p:txBody>
      </p:sp>
      <p:sp>
        <p:nvSpPr>
          <p:cNvPr id="46" name="bench-row-bg-3">
            <a:extLst xmlns:a="http://schemas.openxmlformats.org/drawingml/2006/main">
              <a:ext uri="{FF2B5EF4-FFF2-40B4-BE49-F238E27FC236}">
                <a16:creationId xmlns:a16="http://schemas.microsoft.com/office/drawing/2014/main" id="{1207B369-59F9-43C6-964F-1B3CA1CB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019800"/>
            <a:ext cx="5467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bench-row-rule-3">
            <a:extLst xmlns:a="http://schemas.openxmlformats.org/drawingml/2006/main">
              <a:ext uri="{FF2B5EF4-FFF2-40B4-BE49-F238E27FC236}">
                <a16:creationId xmlns:a16="http://schemas.microsoft.com/office/drawing/2014/main" id="{A113CE53-633A-4591-A8CB-BEE2D099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305550"/>
            <a:ext cx="546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bench-row-3-0">
            <a:extLst xmlns:a="http://schemas.openxmlformats.org/drawingml/2006/main">
              <a:ext uri="{FF2B5EF4-FFF2-40B4-BE49-F238E27FC236}">
                <a16:creationId xmlns:a16="http://schemas.microsoft.com/office/drawing/2014/main" id="{CB5FEED1-F6F7-43B2-ADEC-8AC7453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0198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OOS false accept</a:t>
            </a:r>
          </a:p>
        </p:txBody>
      </p:sp>
      <p:sp>
        <p:nvSpPr>
          <p:cNvPr id="49" name="bench-row-3-1">
            <a:extLst xmlns:a="http://schemas.openxmlformats.org/drawingml/2006/main">
              <a:ext uri="{FF2B5EF4-FFF2-40B4-BE49-F238E27FC236}">
                <a16:creationId xmlns:a16="http://schemas.microsoft.com/office/drawing/2014/main" id="{0329FCB0-8D7B-474A-9784-914D9022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601980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7/16 · 43.8%</a:t>
            </a:r>
          </a:p>
        </p:txBody>
      </p:sp>
      <p:sp>
        <p:nvSpPr>
          <p:cNvPr id="50" name="bench-row-3-2">
            <a:extLst xmlns:a="http://schemas.openxmlformats.org/drawingml/2006/main">
              <a:ext uri="{FF2B5EF4-FFF2-40B4-BE49-F238E27FC236}">
                <a16:creationId xmlns:a16="http://schemas.microsoft.com/office/drawing/2014/main" id="{F90D912B-82F7-41CD-B513-353E201A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01980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n/s*</a:t>
            </a:r>
          </a:p>
        </p:txBody>
      </p:sp>
      <p:sp>
        <p:nvSpPr>
          <p:cNvPr id="51" name="bench-row-3-3">
            <a:extLst xmlns:a="http://schemas.openxmlformats.org/drawingml/2006/main">
              <a:ext uri="{FF2B5EF4-FFF2-40B4-BE49-F238E27FC236}">
                <a16:creationId xmlns:a16="http://schemas.microsoft.com/office/drawing/2014/main" id="{D15A0FE9-E109-4BFB-A11B-A250CF06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0198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n/s*</a:t>
            </a:r>
          </a:p>
        </p:txBody>
      </p:sp>
      <p:sp>
        <p:nvSpPr>
          <p:cNvPr id="52" name="bench-row-bg-4">
            <a:extLst xmlns:a="http://schemas.openxmlformats.org/drawingml/2006/main">
              <a:ext uri="{FF2B5EF4-FFF2-40B4-BE49-F238E27FC236}">
                <a16:creationId xmlns:a16="http://schemas.microsoft.com/office/drawing/2014/main" id="{5881D0D3-8916-4747-89B8-C73A211B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315075"/>
            <a:ext cx="5467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bench-row-rule-4">
            <a:extLst xmlns:a="http://schemas.openxmlformats.org/drawingml/2006/main">
              <a:ext uri="{FF2B5EF4-FFF2-40B4-BE49-F238E27FC236}">
                <a16:creationId xmlns:a16="http://schemas.microsoft.com/office/drawing/2014/main" id="{3BEDAAFC-A4B0-41D5-B5F8-BD957197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600825"/>
            <a:ext cx="546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bench-row-4-0">
            <a:extLst xmlns:a="http://schemas.openxmlformats.org/drawingml/2006/main">
              <a:ext uri="{FF2B5EF4-FFF2-40B4-BE49-F238E27FC236}">
                <a16:creationId xmlns:a16="http://schemas.microsoft.com/office/drawing/2014/main" id="{1F6635D1-E8E2-45AD-B568-C6B25C80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3150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False reject</a:t>
            </a:r>
          </a:p>
        </p:txBody>
      </p:sp>
      <p:sp>
        <p:nvSpPr>
          <p:cNvPr id="55" name="bench-row-4-1">
            <a:extLst xmlns:a="http://schemas.openxmlformats.org/drawingml/2006/main">
              <a:ext uri="{FF2B5EF4-FFF2-40B4-BE49-F238E27FC236}">
                <a16:creationId xmlns:a16="http://schemas.microsoft.com/office/drawing/2014/main" id="{96653047-7DAA-4EEB-98A7-180C637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6315075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18.3%</a:t>
            </a:r>
          </a:p>
        </p:txBody>
      </p:sp>
      <p:sp>
        <p:nvSpPr>
          <p:cNvPr id="56" name="bench-row-4-2">
            <a:extLst xmlns:a="http://schemas.openxmlformats.org/drawingml/2006/main">
              <a:ext uri="{FF2B5EF4-FFF2-40B4-BE49-F238E27FC236}">
                <a16:creationId xmlns:a16="http://schemas.microsoft.com/office/drawing/2014/main" id="{4C2DC5E3-E6F1-4DEE-A36C-4218F992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315075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38.5%</a:t>
            </a:r>
          </a:p>
        </p:txBody>
      </p:sp>
      <p:sp>
        <p:nvSpPr>
          <p:cNvPr id="57" name="bench-row-4-3">
            <a:extLst xmlns:a="http://schemas.openxmlformats.org/drawingml/2006/main">
              <a:ext uri="{FF2B5EF4-FFF2-40B4-BE49-F238E27FC236}">
                <a16:creationId xmlns:a16="http://schemas.microsoft.com/office/drawing/2014/main" id="{62A07242-FC84-4169-BC11-87F93410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315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3.7%</a:t>
            </a:r>
          </a:p>
        </p:txBody>
      </p:sp>
      <p:sp>
        <p:nvSpPr>
          <p:cNvPr id="58" name="bench-row-bg-5">
            <a:extLst xmlns:a="http://schemas.openxmlformats.org/drawingml/2006/main">
              <a:ext uri="{FF2B5EF4-FFF2-40B4-BE49-F238E27FC236}">
                <a16:creationId xmlns:a16="http://schemas.microsoft.com/office/drawing/2014/main" id="{37FBEBFE-A27B-4A84-95E4-9D4F3BD1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610350"/>
            <a:ext cx="5467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9" name="bench-row-rule-5">
            <a:extLst xmlns:a="http://schemas.openxmlformats.org/drawingml/2006/main">
              <a:ext uri="{FF2B5EF4-FFF2-40B4-BE49-F238E27FC236}">
                <a16:creationId xmlns:a16="http://schemas.microsoft.com/office/drawing/2014/main" id="{D0F96E7B-D82E-496B-8054-D898D527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896100"/>
            <a:ext cx="546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bench-row-5-0">
            <a:extLst xmlns:a="http://schemas.openxmlformats.org/drawingml/2006/main">
              <a:ext uri="{FF2B5EF4-FFF2-40B4-BE49-F238E27FC236}">
                <a16:creationId xmlns:a16="http://schemas.microsoft.com/office/drawing/2014/main" id="{04CF239B-BAA4-4C73-8480-2DC08FAE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6103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False wake</a:t>
            </a:r>
          </a:p>
        </p:txBody>
      </p:sp>
      <p:sp>
        <p:nvSpPr>
          <p:cNvPr id="61" name="bench-row-5-1">
            <a:extLst xmlns:a="http://schemas.openxmlformats.org/drawingml/2006/main">
              <a:ext uri="{FF2B5EF4-FFF2-40B4-BE49-F238E27FC236}">
                <a16:creationId xmlns:a16="http://schemas.microsoft.com/office/drawing/2014/main" id="{DE6653A7-A42C-4717-8FA2-9892693F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661035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0/16 · 0%</a:t>
            </a:r>
          </a:p>
        </p:txBody>
      </p:sp>
      <p:sp>
        <p:nvSpPr>
          <p:cNvPr id="62" name="bench-row-5-2">
            <a:extLst xmlns:a="http://schemas.openxmlformats.org/drawingml/2006/main">
              <a:ext uri="{FF2B5EF4-FFF2-40B4-BE49-F238E27FC236}">
                <a16:creationId xmlns:a16="http://schemas.microsoft.com/office/drawing/2014/main" id="{FD354584-C895-4726-A6D4-AC392BAC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61035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0/6 · 0%</a:t>
            </a:r>
          </a:p>
        </p:txBody>
      </p:sp>
      <p:sp>
        <p:nvSpPr>
          <p:cNvPr id="63" name="bench-row-5-3">
            <a:extLst xmlns:a="http://schemas.openxmlformats.org/drawingml/2006/main">
              <a:ext uri="{FF2B5EF4-FFF2-40B4-BE49-F238E27FC236}">
                <a16:creationId xmlns:a16="http://schemas.microsoft.com/office/drawing/2014/main" id="{A5AA1867-5B8F-420F-9055-30654B09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6103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0/10 · 0%</a:t>
            </a:r>
          </a:p>
        </p:txBody>
      </p:sp>
      <p:sp>
        <p:nvSpPr>
          <p:cNvPr id="64" name="bench-row-bg-6">
            <a:extLst xmlns:a="http://schemas.openxmlformats.org/drawingml/2006/main">
              <a:ext uri="{FF2B5EF4-FFF2-40B4-BE49-F238E27FC236}">
                <a16:creationId xmlns:a16="http://schemas.microsoft.com/office/drawing/2014/main" id="{337E5124-794E-4568-9477-C7976E78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905625"/>
            <a:ext cx="5467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bench-row-rule-6">
            <a:extLst xmlns:a="http://schemas.openxmlformats.org/drawingml/2006/main">
              <a:ext uri="{FF2B5EF4-FFF2-40B4-BE49-F238E27FC236}">
                <a16:creationId xmlns:a16="http://schemas.microsoft.com/office/drawing/2014/main" id="{1EC1BB4A-5224-4B8A-96E9-F14BEF51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7191375"/>
            <a:ext cx="546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6" name="bench-row-6-0">
            <a:extLst xmlns:a="http://schemas.openxmlformats.org/drawingml/2006/main">
              <a:ext uri="{FF2B5EF4-FFF2-40B4-BE49-F238E27FC236}">
                <a16:creationId xmlns:a16="http://schemas.microsoft.com/office/drawing/2014/main" id="{1ED9D8E5-7BD5-43F0-ACC2-B8154C6F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90562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Slot exact</a:t>
            </a:r>
          </a:p>
        </p:txBody>
      </p:sp>
      <p:sp>
        <p:nvSpPr>
          <p:cNvPr id="67" name="bench-row-6-1">
            <a:extLst xmlns:a="http://schemas.openxmlformats.org/drawingml/2006/main">
              <a:ext uri="{FF2B5EF4-FFF2-40B4-BE49-F238E27FC236}">
                <a16:creationId xmlns:a16="http://schemas.microsoft.com/office/drawing/2014/main" id="{1A0434DD-4CE0-45D8-96C7-946B1726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6905625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97.7%</a:t>
            </a:r>
          </a:p>
        </p:txBody>
      </p:sp>
      <p:sp>
        <p:nvSpPr>
          <p:cNvPr id="68" name="bench-row-6-2">
            <a:extLst xmlns:a="http://schemas.openxmlformats.org/drawingml/2006/main">
              <a:ext uri="{FF2B5EF4-FFF2-40B4-BE49-F238E27FC236}">
                <a16:creationId xmlns:a16="http://schemas.microsoft.com/office/drawing/2014/main" id="{DB789234-6FFD-4E43-A951-6C73866E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905625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90.0%</a:t>
            </a:r>
          </a:p>
        </p:txBody>
      </p:sp>
      <p:sp>
        <p:nvSpPr>
          <p:cNvPr id="69" name="bench-row-6-3">
            <a:extLst xmlns:a="http://schemas.openxmlformats.org/drawingml/2006/main">
              <a:ext uri="{FF2B5EF4-FFF2-40B4-BE49-F238E27FC236}">
                <a16:creationId xmlns:a16="http://schemas.microsoft.com/office/drawing/2014/main" id="{10E0BD29-A08A-480E-B635-B279A0EF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9056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100.0%</a:t>
            </a:r>
          </a:p>
        </p:txBody>
      </p:sp>
      <p:sp>
        <p:nvSpPr>
          <p:cNvPr id="70" name="validation-footnote">
            <a:extLst xmlns:a="http://schemas.openxmlformats.org/drawingml/2006/main">
              <a:ext uri="{FF2B5EF4-FFF2-40B4-BE49-F238E27FC236}">
                <a16:creationId xmlns:a16="http://schemas.microsoft.com/office/drawing/2014/main" id="{E4358ABB-39E2-4506-BF34-12449F49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2580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9525" rIns="0" bIns="9525" anchor="ctr">
            <a:normAutofit fontScale="7615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109 wake + 16 no-wake clips · 26 no responses · 0 extra fires. Seeded file replay; not live mic testing. *Voice split inconsistent in source report.</a:t>
            </a:r>
          </a:p>
        </p:txBody>
      </p:sp>
      <p:sp>
        <p:nvSpPr>
          <p:cNvPr id="71" name="dataset-heading">
            <a:extLst xmlns:a="http://schemas.openxmlformats.org/drawingml/2006/main">
              <a:ext uri="{FF2B5EF4-FFF2-40B4-BE49-F238E27FC236}">
                <a16:creationId xmlns:a16="http://schemas.microsoft.com/office/drawing/2014/main" id="{18381314-27B5-4246-9EF4-D1133584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049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54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54E8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72" name="dataset-header-bg">
            <a:extLst xmlns:a="http://schemas.openxmlformats.org/drawingml/2006/main">
              <a:ext uri="{FF2B5EF4-FFF2-40B4-BE49-F238E27FC236}">
                <a16:creationId xmlns:a16="http://schemas.microsoft.com/office/drawing/2014/main" id="{B94D993B-B1BE-450C-A5DD-A04072D3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561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3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3" name="dataset-header-0">
            <a:extLst xmlns:a="http://schemas.openxmlformats.org/drawingml/2006/main">
              <a:ext uri="{FF2B5EF4-FFF2-40B4-BE49-F238E27FC236}">
                <a16:creationId xmlns:a16="http://schemas.microsoft.com/office/drawing/2014/main" id="{5A53334F-0852-4255-B69D-DEC7DC8E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1819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74" name="dataset-header-1">
            <a:extLst xmlns:a="http://schemas.openxmlformats.org/drawingml/2006/main">
              <a:ext uri="{FF2B5EF4-FFF2-40B4-BE49-F238E27FC236}">
                <a16:creationId xmlns:a16="http://schemas.microsoft.com/office/drawing/2014/main" id="{9920DB1C-95D0-42D2-AD13-5D1C8FDC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71700"/>
            <a:ext cx="3800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75" name="dataset-row-bg-0">
            <a:extLst xmlns:a="http://schemas.openxmlformats.org/drawingml/2006/main">
              <a:ext uri="{FF2B5EF4-FFF2-40B4-BE49-F238E27FC236}">
                <a16:creationId xmlns:a16="http://schemas.microsoft.com/office/drawing/2014/main" id="{FEF6F33B-F5D5-4450-A96C-E4AF8D22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43175"/>
            <a:ext cx="561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6" name="dataset-row-rule-0">
            <a:extLst xmlns:a="http://schemas.openxmlformats.org/drawingml/2006/main">
              <a:ext uri="{FF2B5EF4-FFF2-40B4-BE49-F238E27FC236}">
                <a16:creationId xmlns:a16="http://schemas.microsoft.com/office/drawing/2014/main" id="{74B0C76B-0CF6-4ECC-ACCA-7E20D96B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7" name="dataset-label-0">
            <a:extLst xmlns:a="http://schemas.openxmlformats.org/drawingml/2006/main">
              <a:ext uri="{FF2B5EF4-FFF2-40B4-BE49-F238E27FC236}">
                <a16:creationId xmlns:a16="http://schemas.microsoft.com/office/drawing/2014/main" id="{B4984829-A030-4994-B44B-D7B78F1E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43175"/>
            <a:ext cx="181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78" name="dataset-value-0">
            <a:extLst xmlns:a="http://schemas.openxmlformats.org/drawingml/2006/main">
              <a:ext uri="{FF2B5EF4-FFF2-40B4-BE49-F238E27FC236}">
                <a16:creationId xmlns:a16="http://schemas.microsoft.com/office/drawing/2014/main" id="{ACAC0D60-C714-48F9-85AB-9BE77E36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43175"/>
            <a:ext cx="3800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973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ME2 Spoken Command + mapped personal clips</a:t>
            </a:r>
          </a:p>
        </p:txBody>
      </p:sp>
      <p:sp>
        <p:nvSpPr>
          <p:cNvPr id="79" name="dataset-row-bg-1">
            <a:extLst xmlns:a="http://schemas.openxmlformats.org/drawingml/2006/main">
              <a:ext uri="{FF2B5EF4-FFF2-40B4-BE49-F238E27FC236}">
                <a16:creationId xmlns:a16="http://schemas.microsoft.com/office/drawing/2014/main" id="{505371DE-931C-4F76-ADD4-644EF233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4650"/>
            <a:ext cx="561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0" name="dataset-row-rule-1">
            <a:extLst xmlns:a="http://schemas.openxmlformats.org/drawingml/2006/main">
              <a:ext uri="{FF2B5EF4-FFF2-40B4-BE49-F238E27FC236}">
                <a16:creationId xmlns:a16="http://schemas.microsoft.com/office/drawing/2014/main" id="{13947921-2ABC-402E-9C7F-643EEA33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1" name="dataset-label-1">
            <a:extLst xmlns:a="http://schemas.openxmlformats.org/drawingml/2006/main">
              <a:ext uri="{FF2B5EF4-FFF2-40B4-BE49-F238E27FC236}">
                <a16:creationId xmlns:a16="http://schemas.microsoft.com/office/drawing/2014/main" id="{5B5678CC-E6B2-424D-AA5F-A07DFD24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4650"/>
            <a:ext cx="181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82" name="dataset-value-1">
            <a:extLst xmlns:a="http://schemas.openxmlformats.org/drawingml/2006/main">
              <a:ext uri="{FF2B5EF4-FFF2-40B4-BE49-F238E27FC236}">
                <a16:creationId xmlns:a16="http://schemas.microsoft.com/office/drawing/2014/main" id="{5B96784B-2ED3-4DF6-8040-6CB6A878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14650"/>
            <a:ext cx="3800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17,986 clips · 100 speaker IDs</a:t>
            </a:r>
          </a:p>
        </p:txBody>
      </p:sp>
      <p:sp>
        <p:nvSpPr>
          <p:cNvPr id="83" name="dataset-row-bg-2">
            <a:extLst xmlns:a="http://schemas.openxmlformats.org/drawingml/2006/main">
              <a:ext uri="{FF2B5EF4-FFF2-40B4-BE49-F238E27FC236}">
                <a16:creationId xmlns:a16="http://schemas.microsoft.com/office/drawing/2014/main" id="{7341A2A8-53F7-49D8-855D-46A788F9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561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4" name="dataset-row-rule-2">
            <a:extLst xmlns:a="http://schemas.openxmlformats.org/drawingml/2006/main">
              <a:ext uri="{FF2B5EF4-FFF2-40B4-BE49-F238E27FC236}">
                <a16:creationId xmlns:a16="http://schemas.microsoft.com/office/drawing/2014/main" id="{5301ECD5-42CF-4604-B9C6-B4604720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4807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5" name="dataset-label-2">
            <a:extLst xmlns:a="http://schemas.openxmlformats.org/drawingml/2006/main">
              <a:ext uri="{FF2B5EF4-FFF2-40B4-BE49-F238E27FC236}">
                <a16:creationId xmlns:a16="http://schemas.microsoft.com/office/drawing/2014/main" id="{5BAE7CEC-2183-4442-BA62-5DDA75A3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181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Personal train</a:t>
            </a:r>
          </a:p>
        </p:txBody>
      </p:sp>
      <p:sp>
        <p:nvSpPr>
          <p:cNvPr id="86" name="dataset-value-2">
            <a:extLst xmlns:a="http://schemas.openxmlformats.org/drawingml/2006/main">
              <a:ext uri="{FF2B5EF4-FFF2-40B4-BE49-F238E27FC236}">
                <a16:creationId xmlns:a16="http://schemas.microsoft.com/office/drawing/2014/main" id="{B66CEBC6-8552-461B-8A66-A7FE27C4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86125"/>
            <a:ext cx="3800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824 mapped clips · 7 speaker IDs</a:t>
            </a:r>
          </a:p>
        </p:txBody>
      </p:sp>
      <p:sp>
        <p:nvSpPr>
          <p:cNvPr id="87" name="dataset-row-bg-3">
            <a:extLst xmlns:a="http://schemas.openxmlformats.org/drawingml/2006/main">
              <a:ext uri="{FF2B5EF4-FFF2-40B4-BE49-F238E27FC236}">
                <a16:creationId xmlns:a16="http://schemas.microsoft.com/office/drawing/2014/main" id="{1FD3C999-A0CF-4174-ADEE-69364886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57600"/>
            <a:ext cx="561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8" name="dataset-row-rule-3">
            <a:extLst xmlns:a="http://schemas.openxmlformats.org/drawingml/2006/main">
              <a:ext uri="{FF2B5EF4-FFF2-40B4-BE49-F238E27FC236}">
                <a16:creationId xmlns:a16="http://schemas.microsoft.com/office/drawing/2014/main" id="{48BE61CD-7F6B-4F8B-8E35-47B95031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195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9" name="dataset-label-3">
            <a:extLst xmlns:a="http://schemas.openxmlformats.org/drawingml/2006/main">
              <a:ext uri="{FF2B5EF4-FFF2-40B4-BE49-F238E27FC236}">
                <a16:creationId xmlns:a16="http://schemas.microsoft.com/office/drawing/2014/main" id="{1E72A6E2-6642-433A-A526-DEAE39A8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57600"/>
            <a:ext cx="181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Labels</a:t>
            </a:r>
          </a:p>
        </p:txBody>
      </p:sp>
      <p:sp>
        <p:nvSpPr>
          <p:cNvPr id="90" name="dataset-value-3">
            <a:extLst xmlns:a="http://schemas.openxmlformats.org/drawingml/2006/main">
              <a:ext uri="{FF2B5EF4-FFF2-40B4-BE49-F238E27FC236}">
                <a16:creationId xmlns:a16="http://schemas.microsoft.com/office/drawing/2014/main" id="{1B91381D-F3B9-48AE-87D5-632CD90A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57600"/>
            <a:ext cx="3800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19 intents · 31 leaf classes</a:t>
            </a:r>
          </a:p>
        </p:txBody>
      </p:sp>
      <p:sp>
        <p:nvSpPr>
          <p:cNvPr id="91" name="training-heading">
            <a:extLst xmlns:a="http://schemas.openxmlformats.org/drawingml/2006/main">
              <a:ext uri="{FF2B5EF4-FFF2-40B4-BE49-F238E27FC236}">
                <a16:creationId xmlns:a16="http://schemas.microsoft.com/office/drawing/2014/main" id="{EC632874-409E-48B2-95A1-CE5A2790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671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54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54E8"/>
                </a:solidFill>
                <a:latin typeface="Arial"/>
                <a:ea typeface="Arial"/>
                <a:cs typeface="Arial"/>
              </a:rPr>
              <a:t>Training provenance</a:t>
            </a:r>
          </a:p>
        </p:txBody>
      </p:sp>
      <p:sp>
        <p:nvSpPr>
          <p:cNvPr id="92" name="training-header-bg">
            <a:extLst xmlns:a="http://schemas.openxmlformats.org/drawingml/2006/main">
              <a:ext uri="{FF2B5EF4-FFF2-40B4-BE49-F238E27FC236}">
                <a16:creationId xmlns:a16="http://schemas.microsoft.com/office/drawing/2014/main" id="{B6BAE89E-F2AE-45F6-9E63-F57A0DD5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48175"/>
            <a:ext cx="561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3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3" name="training-header-0">
            <a:extLst xmlns:a="http://schemas.openxmlformats.org/drawingml/2006/main">
              <a:ext uri="{FF2B5EF4-FFF2-40B4-BE49-F238E27FC236}">
                <a16:creationId xmlns:a16="http://schemas.microsoft.com/office/drawing/2014/main" id="{841D6ADE-A9EB-4B02-AB15-F55F4D44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48175"/>
            <a:ext cx="1819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94" name="training-header-1">
            <a:extLst xmlns:a="http://schemas.openxmlformats.org/drawingml/2006/main">
              <a:ext uri="{FF2B5EF4-FFF2-40B4-BE49-F238E27FC236}">
                <a16:creationId xmlns:a16="http://schemas.microsoft.com/office/drawing/2014/main" id="{344595B5-2885-47B8-AB59-EA18F00F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48175"/>
            <a:ext cx="3800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95" name="training-row-bg-0">
            <a:extLst xmlns:a="http://schemas.openxmlformats.org/drawingml/2006/main">
              <a:ext uri="{FF2B5EF4-FFF2-40B4-BE49-F238E27FC236}">
                <a16:creationId xmlns:a16="http://schemas.microsoft.com/office/drawing/2014/main" id="{7B7356E0-7569-45EC-BF0A-505DE179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561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6" name="training-row-rule-0">
            <a:extLst xmlns:a="http://schemas.openxmlformats.org/drawingml/2006/main">
              <a:ext uri="{FF2B5EF4-FFF2-40B4-BE49-F238E27FC236}">
                <a16:creationId xmlns:a16="http://schemas.microsoft.com/office/drawing/2014/main" id="{F9223405-E618-4F4D-ADD8-5927793B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816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7" name="training-label-0">
            <a:extLst xmlns:a="http://schemas.openxmlformats.org/drawingml/2006/main">
              <a:ext uri="{FF2B5EF4-FFF2-40B4-BE49-F238E27FC236}">
                <a16:creationId xmlns:a16="http://schemas.microsoft.com/office/drawing/2014/main" id="{E602749D-9EF4-4507-915B-8B374AD8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181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98" name="training-value-0">
            <a:extLst xmlns:a="http://schemas.openxmlformats.org/drawingml/2006/main">
              <a:ext uri="{FF2B5EF4-FFF2-40B4-BE49-F238E27FC236}">
                <a16:creationId xmlns:a16="http://schemas.microsoft.com/office/drawing/2014/main" id="{524F9485-4E05-4D71-8E6C-94DF95A5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19650"/>
            <a:ext cx="3800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1× NVIDIA RTX 3050 (4 GB VRAM)</a:t>
            </a:r>
          </a:p>
        </p:txBody>
      </p:sp>
      <p:sp>
        <p:nvSpPr>
          <p:cNvPr id="99" name="training-row-bg-1">
            <a:extLst xmlns:a="http://schemas.openxmlformats.org/drawingml/2006/main">
              <a:ext uri="{FF2B5EF4-FFF2-40B4-BE49-F238E27FC236}">
                <a16:creationId xmlns:a16="http://schemas.microsoft.com/office/drawing/2014/main" id="{1B11E435-658F-493D-880B-033BE1C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91125"/>
            <a:ext cx="561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0" name="training-row-rule-1">
            <a:extLst xmlns:a="http://schemas.openxmlformats.org/drawingml/2006/main">
              <a:ext uri="{FF2B5EF4-FFF2-40B4-BE49-F238E27FC236}">
                <a16:creationId xmlns:a16="http://schemas.microsoft.com/office/drawing/2014/main" id="{E0EB2BB0-CBDF-4E98-8C50-3DE1EC30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5307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1" name="training-label-1">
            <a:extLst xmlns:a="http://schemas.openxmlformats.org/drawingml/2006/main">
              <a:ext uri="{FF2B5EF4-FFF2-40B4-BE49-F238E27FC236}">
                <a16:creationId xmlns:a16="http://schemas.microsoft.com/office/drawing/2014/main" id="{A224DF41-7782-4467-94DD-4F4E82DC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91125"/>
            <a:ext cx="181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102" name="training-value-1">
            <a:extLst xmlns:a="http://schemas.openxmlformats.org/drawingml/2006/main">
              <a:ext uri="{FF2B5EF4-FFF2-40B4-BE49-F238E27FC236}">
                <a16:creationId xmlns:a16="http://schemas.microsoft.com/office/drawing/2014/main" id="{FEB73E91-C687-45BB-A236-E92CF5AD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191125"/>
            <a:ext cx="3800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Cross-Entropy + Focal Loss · INT8 PTQ</a:t>
            </a:r>
          </a:p>
        </p:txBody>
      </p:sp>
      <p:sp>
        <p:nvSpPr>
          <p:cNvPr id="103" name="training-row-bg-2">
            <a:extLst xmlns:a="http://schemas.openxmlformats.org/drawingml/2006/main">
              <a:ext uri="{FF2B5EF4-FFF2-40B4-BE49-F238E27FC236}">
                <a16:creationId xmlns:a16="http://schemas.microsoft.com/office/drawing/2014/main" id="{7E59ECE6-AA63-4D7C-848B-3811706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62600"/>
            <a:ext cx="561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4" name="training-row-rule-2">
            <a:extLst xmlns:a="http://schemas.openxmlformats.org/drawingml/2006/main">
              <a:ext uri="{FF2B5EF4-FFF2-40B4-BE49-F238E27FC236}">
                <a16:creationId xmlns:a16="http://schemas.microsoft.com/office/drawing/2014/main" id="{ADA7E7F4-E88D-4C3F-80F3-26C8F0A4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9245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5" name="training-label-2">
            <a:extLst xmlns:a="http://schemas.openxmlformats.org/drawingml/2006/main">
              <a:ext uri="{FF2B5EF4-FFF2-40B4-BE49-F238E27FC236}">
                <a16:creationId xmlns:a16="http://schemas.microsoft.com/office/drawing/2014/main" id="{E45BCED4-0360-4874-B301-47091EF5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62600"/>
            <a:ext cx="181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Intent recipe</a:t>
            </a:r>
          </a:p>
        </p:txBody>
      </p:sp>
      <p:sp>
        <p:nvSpPr>
          <p:cNvPr id="106" name="training-value-2">
            <a:extLst xmlns:a="http://schemas.openxmlformats.org/drawingml/2006/main">
              <a:ext uri="{FF2B5EF4-FFF2-40B4-BE49-F238E27FC236}">
                <a16:creationId xmlns:a16="http://schemas.microsoft.com/office/drawing/2014/main" id="{816FF002-E4C2-472E-816F-711ABC96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562600"/>
            <a:ext cx="3800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AdamW (lr=1e-3, cosine decay, wd=1e-4) · seed 20261002</a:t>
            </a:r>
          </a:p>
        </p:txBody>
      </p:sp>
      <p:sp>
        <p:nvSpPr>
          <p:cNvPr id="107" name="training-row-bg-3">
            <a:extLst xmlns:a="http://schemas.openxmlformats.org/drawingml/2006/main">
              <a:ext uri="{FF2B5EF4-FFF2-40B4-BE49-F238E27FC236}">
                <a16:creationId xmlns:a16="http://schemas.microsoft.com/office/drawing/2014/main" id="{6BED59FD-FC2A-46DE-BE01-D07BD897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934075"/>
            <a:ext cx="561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8" name="training-row-rule-3">
            <a:extLst xmlns:a="http://schemas.openxmlformats.org/drawingml/2006/main">
              <a:ext uri="{FF2B5EF4-FFF2-40B4-BE49-F238E27FC236}">
                <a16:creationId xmlns:a16="http://schemas.microsoft.com/office/drawing/2014/main" id="{60F0578B-34DF-4E38-BA76-E522D8AC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2960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9" name="training-label-3">
            <a:extLst xmlns:a="http://schemas.openxmlformats.org/drawingml/2006/main">
              <a:ext uri="{FF2B5EF4-FFF2-40B4-BE49-F238E27FC236}">
                <a16:creationId xmlns:a16="http://schemas.microsoft.com/office/drawing/2014/main" id="{EBF9E660-7C68-4876-B279-7FA5598E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934075"/>
            <a:ext cx="181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Epochs / logs</a:t>
            </a:r>
          </a:p>
        </p:txBody>
      </p:sp>
      <p:sp>
        <p:nvSpPr>
          <p:cNvPr id="110" name="training-value-3">
            <a:extLst xmlns:a="http://schemas.openxmlformats.org/drawingml/2006/main">
              <a:ext uri="{FF2B5EF4-FFF2-40B4-BE49-F238E27FC236}">
                <a16:creationId xmlns:a16="http://schemas.microsoft.com/office/drawing/2014/main" id="{B040728F-A9AD-441B-BF69-18CB45E7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934075"/>
            <a:ext cx="3800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60 epochs (13,500 steps) · 0.082 val loss (93.65% acc)</a:t>
            </a:r>
          </a:p>
        </p:txBody>
      </p:sp>
      <p:sp>
        <p:nvSpPr>
          <p:cNvPr id="111" name="pi-metric-strip">
            <a:extLst xmlns:a="http://schemas.openxmlformats.org/drawingml/2006/main">
              <a:ext uri="{FF2B5EF4-FFF2-40B4-BE49-F238E27FC236}">
                <a16:creationId xmlns:a16="http://schemas.microsoft.com/office/drawing/2014/main" id="{1E60F314-DDEB-4D89-B545-73370F66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38175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9"/>
          </a:solidFill>
          <a:ln xmlns:a="http://schemas.openxmlformats.org/drawingml/2006/main" w="9525">
            <a:solidFill>
              <a:srgbClr val="9CB98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2" name="pi-metric-strip-text">
            <a:extLst xmlns:a="http://schemas.openxmlformats.org/drawingml/2006/main">
              <a:ext uri="{FF2B5EF4-FFF2-40B4-BE49-F238E27FC236}">
                <a16:creationId xmlns:a16="http://schemas.microsoft.com/office/drawing/2014/main" id="{A74C6880-C995-4AD8-8A64-8F36A550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400800"/>
            <a:ext cx="544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4A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4A20"/>
                </a:solidFill>
                <a:latin typeface="Arial"/>
                <a:ea typeface="Arial"/>
                <a:cs typeface="Arial"/>
              </a:rPr>
              <a:t>RPi 5 · inference 6.3 / 7.3 / 9.3 ms (mean / p95 / max)</a:t>
            </a:r>
          </a:p>
          <a:p xmlns:a="http://schemas.openxmlformats.org/drawingml/2006/main">
            <a:pPr algn="l">
              <a:defRPr sz="1200" b="1">
                <a:solidFill>
                  <a:srgbClr val="284A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4A20"/>
                </a:solidFill>
                <a:latin typeface="Arial"/>
                <a:ea typeface="Arial"/>
                <a:cs typeface="Arial"/>
              </a:rPr>
              <a:t>RTF p95 0.003 · temperature max 49 °C · response latency not captured</a:t>
            </a:r>
          </a:p>
        </p:txBody>
      </p:sp>
      <p:sp>
        <p:nvSpPr>
          <p:cNvPr id="113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AE5E0431-070C-4458-AEFA-D620A093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72580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A8BA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8BA4"/>
                </a:solidFill>
                <a:latin typeface="Arial"/>
                <a:ea typeface="Arial"/>
                <a:cs typeface="Arial"/>
              </a:rPr>
              <a:t>p. 1 / 2</a:t>
            </a:r>
          </a:p>
        </p:txBody>
      </p:sp>
    </p:spTree>
    <p:extLst>
      <p:ext uri="{BB962C8B-B14F-4D97-AF65-F5344CB8AC3E}">
        <p14:creationId xmlns:p14="http://schemas.microsoft.com/office/powerpoint/2010/main" val="2146379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4E0E68-3EF2-432B-9711-7A956481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85750"/>
            <a:ext cx="1128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9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93F"/>
                </a:solidFill>
                <a:latin typeface="Arial"/>
                <a:ea typeface="Arial"/>
                <a:cs typeface="Arial"/>
              </a:rPr>
              <a:t>To Be Submitted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844A198-5EFB-4958-8E7D-0DC5EB0F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9535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eta-outline">
            <a:extLst xmlns:a="http://schemas.openxmlformats.org/drawingml/2006/main">
              <a:ext uri="{FF2B5EF4-FFF2-40B4-BE49-F238E27FC236}">
                <a16:creationId xmlns:a16="http://schemas.microsoft.com/office/drawing/2014/main" id="{0B3B539E-BD7D-495A-8B88-69A713FD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104900"/>
            <a:ext cx="11144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88B20"/>
            </a:solidFill>
            <a:prstDash val="solid"/>
          </a:ln>
        </p:spPr>
      </p:sp>
      <p:sp>
        <p:nvSpPr>
          <p:cNvPr id="4" name="meta-label-bg-0">
            <a:extLst xmlns:a="http://schemas.openxmlformats.org/drawingml/2006/main">
              <a:ext uri="{FF2B5EF4-FFF2-40B4-BE49-F238E27FC236}">
                <a16:creationId xmlns:a16="http://schemas.microsoft.com/office/drawing/2014/main" id="{6C39F870-1D63-41A1-815E-E26FD7BB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4425"/>
            <a:ext cx="2809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a-label-0">
            <a:extLst xmlns:a="http://schemas.openxmlformats.org/drawingml/2006/main">
              <a:ext uri="{FF2B5EF4-FFF2-40B4-BE49-F238E27FC236}">
                <a16:creationId xmlns:a16="http://schemas.microsoft.com/office/drawing/2014/main" id="{E0D65220-9655-47C6-A5FB-70A6741B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9430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430E"/>
                </a:solidFill>
                <a:latin typeface="Arial"/>
                <a:ea typeface="Arial"/>
                <a:cs typeface="Arial"/>
              </a:rPr>
              <a:t>Project repository</a:t>
            </a:r>
          </a:p>
        </p:txBody>
      </p:sp>
      <p:sp>
        <p:nvSpPr>
          <p:cNvPr id="6" name="meta-value-0">
            <a:extLst xmlns:a="http://schemas.openxmlformats.org/drawingml/2006/main">
              <a:ext uri="{FF2B5EF4-FFF2-40B4-BE49-F238E27FC236}">
                <a16:creationId xmlns:a16="http://schemas.microsoft.com/office/drawing/2014/main" id="{3952A801-B9C4-47DA-AECB-214A7520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104900"/>
            <a:ext cx="817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430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430E"/>
                </a:solidFill>
                <a:latin typeface="Arial"/>
                <a:ea typeface="Arial"/>
                <a:cs typeface="Arial"/>
              </a:rPr>
              <a:t>Local project checkout; public source URL not confirmed</a:t>
            </a:r>
          </a:p>
        </p:txBody>
      </p:sp>
      <p:sp>
        <p:nvSpPr>
          <p:cNvPr id="7" name="meta-label-bg-1">
            <a:extLst xmlns:a="http://schemas.openxmlformats.org/drawingml/2006/main">
              <a:ext uri="{FF2B5EF4-FFF2-40B4-BE49-F238E27FC236}">
                <a16:creationId xmlns:a16="http://schemas.microsoft.com/office/drawing/2014/main" id="{A9AC5122-5E8D-4FEB-A73D-2DF0DC7C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809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a-rule-1">
            <a:extLst xmlns:a="http://schemas.openxmlformats.org/drawingml/2006/main">
              <a:ext uri="{FF2B5EF4-FFF2-40B4-BE49-F238E27FC236}">
                <a16:creationId xmlns:a16="http://schemas.microsoft.com/office/drawing/2014/main" id="{63BE2F4D-A941-4C1C-988A-520F72F5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6287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a-label-1">
            <a:extLst xmlns:a="http://schemas.openxmlformats.org/drawingml/2006/main">
              <a:ext uri="{FF2B5EF4-FFF2-40B4-BE49-F238E27FC236}">
                <a16:creationId xmlns:a16="http://schemas.microsoft.com/office/drawing/2014/main" id="{A01ADDF2-2DA3-4CCE-BBD3-E4670C54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287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9430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430E"/>
                </a:solidFill>
                <a:latin typeface="Arial"/>
                <a:ea typeface="Arial"/>
                <a:cs typeface="Arial"/>
              </a:rPr>
              <a:t>Benchmark runner</a:t>
            </a:r>
          </a:p>
        </p:txBody>
      </p:sp>
      <p:sp>
        <p:nvSpPr>
          <p:cNvPr id="10" name="meta-value-1">
            <a:extLst xmlns:a="http://schemas.openxmlformats.org/drawingml/2006/main">
              <a:ext uri="{FF2B5EF4-FFF2-40B4-BE49-F238E27FC236}">
                <a16:creationId xmlns:a16="http://schemas.microsoft.com/office/drawing/2014/main" id="{930DFAA5-A985-4A90-A0D8-AFA8629F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628775"/>
            <a:ext cx="817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430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430E"/>
                </a:solidFill>
                <a:latin typeface="Arial"/>
                <a:ea typeface="Arial"/>
                <a:cs typeface="Arial"/>
              </a:rPr>
              <a:t>github.com/airimonda/vcm-benchmark</a:t>
            </a:r>
          </a:p>
        </p:txBody>
      </p:sp>
      <p:sp>
        <p:nvSpPr>
          <p:cNvPr id="11" name="meta-label-bg-2">
            <a:extLst xmlns:a="http://schemas.openxmlformats.org/drawingml/2006/main">
              <a:ext uri="{FF2B5EF4-FFF2-40B4-BE49-F238E27FC236}">
                <a16:creationId xmlns:a16="http://schemas.microsoft.com/office/drawing/2014/main" id="{8B19041B-ACA4-435F-B515-508C873C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62175"/>
            <a:ext cx="2809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a-rule-2">
            <a:extLst xmlns:a="http://schemas.openxmlformats.org/drawingml/2006/main">
              <a:ext uri="{FF2B5EF4-FFF2-40B4-BE49-F238E27FC236}">
                <a16:creationId xmlns:a16="http://schemas.microsoft.com/office/drawing/2014/main" id="{71BD3978-9933-465B-9E67-BBB11599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52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a-label-2">
            <a:extLst xmlns:a="http://schemas.openxmlformats.org/drawingml/2006/main">
              <a:ext uri="{FF2B5EF4-FFF2-40B4-BE49-F238E27FC236}">
                <a16:creationId xmlns:a16="http://schemas.microsoft.com/office/drawing/2014/main" id="{6359A8A4-0F9F-42D7-8F2F-E97A979D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9430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430E"/>
                </a:solidFill>
                <a:latin typeface="Arial"/>
                <a:ea typeface="Arial"/>
                <a:cs typeface="Arial"/>
              </a:rPr>
              <a:t>Dataset location</a:t>
            </a:r>
          </a:p>
        </p:txBody>
      </p:sp>
      <p:sp>
        <p:nvSpPr>
          <p:cNvPr id="14" name="meta-value-2">
            <a:extLst xmlns:a="http://schemas.openxmlformats.org/drawingml/2006/main">
              <a:ext uri="{FF2B5EF4-FFF2-40B4-BE49-F238E27FC236}">
                <a16:creationId xmlns:a16="http://schemas.microsoft.com/office/drawing/2014/main" id="{015776EB-C3A2-484C-916C-33521BB0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52650"/>
            <a:ext cx="817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430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430E"/>
                </a:solidFill>
                <a:latin typeface="Arial"/>
                <a:ea typeface="Arial"/>
                <a:cs typeface="Arial"/>
              </a:rPr>
              <a:t>HF: airimonda/ai231-me2-voice-commands · terms review pending</a:t>
            </a:r>
          </a:p>
        </p:txBody>
      </p:sp>
      <p:sp>
        <p:nvSpPr>
          <p:cNvPr id="15" name="meta-label-bg-3">
            <a:extLst xmlns:a="http://schemas.openxmlformats.org/drawingml/2006/main">
              <a:ext uri="{FF2B5EF4-FFF2-40B4-BE49-F238E27FC236}">
                <a16:creationId xmlns:a16="http://schemas.microsoft.com/office/drawing/2014/main" id="{79752242-45DF-4911-B5E9-B1DD99E2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809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a-rule-3">
            <a:extLst xmlns:a="http://schemas.openxmlformats.org/drawingml/2006/main">
              <a:ext uri="{FF2B5EF4-FFF2-40B4-BE49-F238E27FC236}">
                <a16:creationId xmlns:a16="http://schemas.microsoft.com/office/drawing/2014/main" id="{D29B9E3F-4E72-4637-A6CC-5A031812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6765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a-label-3">
            <a:extLst xmlns:a="http://schemas.openxmlformats.org/drawingml/2006/main">
              <a:ext uri="{FF2B5EF4-FFF2-40B4-BE49-F238E27FC236}">
                <a16:creationId xmlns:a16="http://schemas.microsoft.com/office/drawing/2014/main" id="{9C5600AD-DA16-4B1B-9801-38D7B430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765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9430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430E"/>
                </a:solidFill>
                <a:latin typeface="Arial"/>
                <a:ea typeface="Arial"/>
                <a:cs typeface="Arial"/>
              </a:rPr>
              <a:t>Model weights</a:t>
            </a:r>
          </a:p>
        </p:txBody>
      </p:sp>
      <p:sp>
        <p:nvSpPr>
          <p:cNvPr id="18" name="meta-value-3">
            <a:extLst xmlns:a="http://schemas.openxmlformats.org/drawingml/2006/main">
              <a:ext uri="{FF2B5EF4-FFF2-40B4-BE49-F238E27FC236}">
                <a16:creationId xmlns:a16="http://schemas.microsoft.com/office/drawing/2014/main" id="{635D68ED-5520-445A-88F9-712B23A2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76525"/>
            <a:ext cx="817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430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430E"/>
                </a:solidFill>
                <a:latin typeface="Arial"/>
                <a:ea typeface="Arial"/>
                <a:cs typeface="Arial"/>
              </a:rPr>
              <a:t>Active ME2 INT8 pair · 76,740 B · public release/license not provided</a:t>
            </a:r>
          </a:p>
        </p:txBody>
      </p:sp>
      <p:sp>
        <p:nvSpPr>
          <p:cNvPr id="19" name="review-heading">
            <a:extLst xmlns:a="http://schemas.openxmlformats.org/drawingml/2006/main">
              <a:ext uri="{FF2B5EF4-FFF2-40B4-BE49-F238E27FC236}">
                <a16:creationId xmlns:a16="http://schemas.microsoft.com/office/drawing/2014/main" id="{7C7C1834-994E-47F8-89FE-10F726AA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35280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54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54E8"/>
                </a:solidFill>
                <a:latin typeface="Arial"/>
                <a:ea typeface="Arial"/>
                <a:cs typeface="Arial"/>
              </a:rPr>
              <a:t>What the reviewer will look for</a:t>
            </a:r>
          </a:p>
        </p:txBody>
      </p:sp>
      <p:sp>
        <p:nvSpPr>
          <p:cNvPr id="20" name="check-header">
            <a:extLst xmlns:a="http://schemas.openxmlformats.org/drawingml/2006/main">
              <a:ext uri="{FF2B5EF4-FFF2-40B4-BE49-F238E27FC236}">
                <a16:creationId xmlns:a16="http://schemas.microsoft.com/office/drawing/2014/main" id="{9505A700-6EAE-46BF-83F8-1D09F77C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77190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9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-header-0">
            <a:extLst xmlns:a="http://schemas.openxmlformats.org/drawingml/2006/main">
              <a:ext uri="{FF2B5EF4-FFF2-40B4-BE49-F238E27FC236}">
                <a16:creationId xmlns:a16="http://schemas.microsoft.com/office/drawing/2014/main" id="{D48371D6-DCC2-4E71-9C0D-215E8D3B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771900"/>
            <a:ext cx="590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22" name="check-header-1">
            <a:extLst xmlns:a="http://schemas.openxmlformats.org/drawingml/2006/main">
              <a:ext uri="{FF2B5EF4-FFF2-40B4-BE49-F238E27FC236}">
                <a16:creationId xmlns:a16="http://schemas.microsoft.com/office/drawing/2014/main" id="{719FD973-18E5-4987-8DEC-E54A2827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71900"/>
            <a:ext cx="8458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23" name="check-header-2">
            <a:extLst xmlns:a="http://schemas.openxmlformats.org/drawingml/2006/main">
              <a:ext uri="{FF2B5EF4-FFF2-40B4-BE49-F238E27FC236}">
                <a16:creationId xmlns:a16="http://schemas.microsoft.com/office/drawing/2014/main" id="{93AAD318-1E83-49F3-AC6B-D85E4DF1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771900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24" name="check-bg-0">
            <a:extLst xmlns:a="http://schemas.openxmlformats.org/drawingml/2006/main">
              <a:ext uri="{FF2B5EF4-FFF2-40B4-BE49-F238E27FC236}">
                <a16:creationId xmlns:a16="http://schemas.microsoft.com/office/drawing/2014/main" id="{A410FFCA-BC13-4142-8A9A-65054F0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181475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6FF40CF4-E1BB-4CC3-9E98-CE51430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5815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heck-0-0">
            <a:extLst xmlns:a="http://schemas.openxmlformats.org/drawingml/2006/main">
              <a:ext uri="{FF2B5EF4-FFF2-40B4-BE49-F238E27FC236}">
                <a16:creationId xmlns:a16="http://schemas.microsoft.com/office/drawing/2014/main" id="{4C39F6D0-228F-4F35-8F5C-8E025949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1814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check-0-1">
            <a:extLst xmlns:a="http://schemas.openxmlformats.org/drawingml/2006/main">
              <a:ext uri="{FF2B5EF4-FFF2-40B4-BE49-F238E27FC236}">
                <a16:creationId xmlns:a16="http://schemas.microsoft.com/office/drawing/2014/main" id="{3E50BE62-4D6B-405B-97BF-B3C6B8F5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81475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Reproducible project source and run instructions</a:t>
            </a:r>
          </a:p>
        </p:txBody>
      </p:sp>
      <p:sp>
        <p:nvSpPr>
          <p:cNvPr id="28" name="check-0-2">
            <a:extLst xmlns:a="http://schemas.openxmlformats.org/drawingml/2006/main">
              <a:ext uri="{FF2B5EF4-FFF2-40B4-BE49-F238E27FC236}">
                <a16:creationId xmlns:a16="http://schemas.microsoft.com/office/drawing/2014/main" id="{9C7A7EE4-1019-498A-85FD-5A05286A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Public URL unconfirmed</a:t>
            </a:r>
          </a:p>
        </p:txBody>
      </p:sp>
      <p:sp>
        <p:nvSpPr>
          <p:cNvPr id="29" name="check-bg-1">
            <a:extLst xmlns:a="http://schemas.openxmlformats.org/drawingml/2006/main">
              <a:ext uri="{FF2B5EF4-FFF2-40B4-BE49-F238E27FC236}">
                <a16:creationId xmlns:a16="http://schemas.microsoft.com/office/drawing/2014/main" id="{B57234A2-B4FF-48EA-8D9B-16FF4A24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5910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F443FA31-C818-4735-9E0E-C20E4EC3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9911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-1-0">
            <a:extLst xmlns:a="http://schemas.openxmlformats.org/drawingml/2006/main">
              <a:ext uri="{FF2B5EF4-FFF2-40B4-BE49-F238E27FC236}">
                <a16:creationId xmlns:a16="http://schemas.microsoft.com/office/drawing/2014/main" id="{E6CC64C7-8759-49A6-90CB-6E9FA524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5910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check-1-1">
            <a:extLst xmlns:a="http://schemas.openxmlformats.org/drawingml/2006/main">
              <a:ext uri="{FF2B5EF4-FFF2-40B4-BE49-F238E27FC236}">
                <a16:creationId xmlns:a16="http://schemas.microsoft.com/office/drawing/2014/main" id="{47DB93B7-AA20-4A58-93BD-2C1AB6A0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59105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Dataset license, citation, and recording consent</a:t>
            </a:r>
          </a:p>
        </p:txBody>
      </p:sp>
      <p:sp>
        <p:nvSpPr>
          <p:cNvPr id="33" name="check-1-2">
            <a:extLst xmlns:a="http://schemas.openxmlformats.org/drawingml/2006/main">
              <a:ext uri="{FF2B5EF4-FFF2-40B4-BE49-F238E27FC236}">
                <a16:creationId xmlns:a16="http://schemas.microsoft.com/office/drawing/2014/main" id="{31C13CD1-EF2F-4704-9040-DA75D681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591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Rights review pending</a:t>
            </a:r>
          </a:p>
        </p:txBody>
      </p:sp>
      <p:sp>
        <p:nvSpPr>
          <p:cNvPr id="34" name="check-bg-2">
            <a:extLst xmlns:a="http://schemas.openxmlformats.org/drawingml/2006/main">
              <a:ext uri="{FF2B5EF4-FFF2-40B4-BE49-F238E27FC236}">
                <a16:creationId xmlns:a16="http://schemas.microsoft.com/office/drawing/2014/main" id="{FEB98600-3BFD-4637-A777-AB4F2462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000625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8B151358-F3EC-4595-A1DD-225AC3C2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4006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heck-2-0">
            <a:extLst xmlns:a="http://schemas.openxmlformats.org/drawingml/2006/main">
              <a:ext uri="{FF2B5EF4-FFF2-40B4-BE49-F238E27FC236}">
                <a16:creationId xmlns:a16="http://schemas.microsoft.com/office/drawing/2014/main" id="{9D6FAA53-597A-45EA-BA5C-309358B2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000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7" name="check-2-1">
            <a:extLst xmlns:a="http://schemas.openxmlformats.org/drawingml/2006/main">
              <a:ext uri="{FF2B5EF4-FFF2-40B4-BE49-F238E27FC236}">
                <a16:creationId xmlns:a16="http://schemas.microsoft.com/office/drawing/2014/main" id="{29D2A50E-6307-4F55-BD4D-708AC387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000625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Training configuration, logs, and checkpoint</a:t>
            </a:r>
          </a:p>
        </p:txBody>
      </p:sp>
      <p:sp>
        <p:nvSpPr>
          <p:cNvPr id="38" name="check-2-2">
            <a:extLst xmlns:a="http://schemas.openxmlformats.org/drawingml/2006/main">
              <a:ext uri="{FF2B5EF4-FFF2-40B4-BE49-F238E27FC236}">
                <a16:creationId xmlns:a16="http://schemas.microsoft.com/office/drawing/2014/main" id="{2CC0B36F-EE17-4978-9F9F-B58CF759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000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Logs / checkpoint absent</a:t>
            </a:r>
          </a:p>
        </p:txBody>
      </p:sp>
      <p:sp>
        <p:nvSpPr>
          <p:cNvPr id="39" name="check-bg-3">
            <a:extLst xmlns:a="http://schemas.openxmlformats.org/drawingml/2006/main">
              <a:ext uri="{FF2B5EF4-FFF2-40B4-BE49-F238E27FC236}">
                <a16:creationId xmlns:a16="http://schemas.microsoft.com/office/drawing/2014/main" id="{5382E827-7178-42EA-87C2-2145F715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41020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heck-rule-3">
            <a:extLst xmlns:a="http://schemas.openxmlformats.org/drawingml/2006/main">
              <a:ext uri="{FF2B5EF4-FFF2-40B4-BE49-F238E27FC236}">
                <a16:creationId xmlns:a16="http://schemas.microsoft.com/office/drawing/2014/main" id="{DC1ED59E-DD0E-41D8-8D6F-8FE11DDC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810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-3-0">
            <a:extLst xmlns:a="http://schemas.openxmlformats.org/drawingml/2006/main">
              <a:ext uri="{FF2B5EF4-FFF2-40B4-BE49-F238E27FC236}">
                <a16:creationId xmlns:a16="http://schemas.microsoft.com/office/drawing/2014/main" id="{056BBA52-E877-45FF-98C6-77445008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4102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2" name="check-3-1">
            <a:extLst xmlns:a="http://schemas.openxmlformats.org/drawingml/2006/main">
              <a:ext uri="{FF2B5EF4-FFF2-40B4-BE49-F238E27FC236}">
                <a16:creationId xmlns:a16="http://schemas.microsoft.com/office/drawing/2014/main" id="{886893E0-BB35-4ECF-BDC4-42D7F081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41020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RPi 5 holdout benchmark</a:t>
            </a:r>
          </a:p>
        </p:txBody>
      </p:sp>
      <p:sp>
        <p:nvSpPr>
          <p:cNvPr id="43" name="check-3-2">
            <a:extLst xmlns:a="http://schemas.openxmlformats.org/drawingml/2006/main">
              <a:ext uri="{FF2B5EF4-FFF2-40B4-BE49-F238E27FC236}">
                <a16:creationId xmlns:a16="http://schemas.microsoft.com/office/drawing/2014/main" id="{C99DECA0-E0EC-4573-BD12-D8B7445B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10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Seeded WAV replay only</a:t>
            </a:r>
          </a:p>
        </p:txBody>
      </p:sp>
      <p:sp>
        <p:nvSpPr>
          <p:cNvPr id="44" name="check-bg-4">
            <a:extLst xmlns:a="http://schemas.openxmlformats.org/drawingml/2006/main">
              <a:ext uri="{FF2B5EF4-FFF2-40B4-BE49-F238E27FC236}">
                <a16:creationId xmlns:a16="http://schemas.microsoft.com/office/drawing/2014/main" id="{9E6DC517-AAA8-4A8E-A4EC-50EA673E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819775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-rule-4">
            <a:extLst xmlns:a="http://schemas.openxmlformats.org/drawingml/2006/main">
              <a:ext uri="{FF2B5EF4-FFF2-40B4-BE49-F238E27FC236}">
                <a16:creationId xmlns:a16="http://schemas.microsoft.com/office/drawing/2014/main" id="{C85A2538-D670-4299-B75E-55EA9C1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2198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heck-4-0">
            <a:extLst xmlns:a="http://schemas.openxmlformats.org/drawingml/2006/main">
              <a:ext uri="{FF2B5EF4-FFF2-40B4-BE49-F238E27FC236}">
                <a16:creationId xmlns:a16="http://schemas.microsoft.com/office/drawing/2014/main" id="{546B4916-EE15-448B-B3F4-FF006119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8197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7" name="check-4-1">
            <a:extLst xmlns:a="http://schemas.openxmlformats.org/drawingml/2006/main">
              <a:ext uri="{FF2B5EF4-FFF2-40B4-BE49-F238E27FC236}">
                <a16:creationId xmlns:a16="http://schemas.microsoft.com/office/drawing/2014/main" id="{30A13DF4-25A2-43D7-B37F-3553EF60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819775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Unseen-speaker evaluation</a:t>
            </a:r>
          </a:p>
        </p:txBody>
      </p:sp>
      <p:sp>
        <p:nvSpPr>
          <p:cNvPr id="48" name="check-4-2">
            <a:extLst xmlns:a="http://schemas.openxmlformats.org/drawingml/2006/main">
              <a:ext uri="{FF2B5EF4-FFF2-40B4-BE49-F238E27FC236}">
                <a16:creationId xmlns:a16="http://schemas.microsoft.com/office/drawing/2014/main" id="{BF5446E4-C8C1-4F14-A13B-12440265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8197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Speaker split unknown</a:t>
            </a:r>
          </a:p>
        </p:txBody>
      </p:sp>
      <p:sp>
        <p:nvSpPr>
          <p:cNvPr id="49" name="check-bg-5">
            <a:extLst xmlns:a="http://schemas.openxmlformats.org/drawingml/2006/main">
              <a:ext uri="{FF2B5EF4-FFF2-40B4-BE49-F238E27FC236}">
                <a16:creationId xmlns:a16="http://schemas.microsoft.com/office/drawing/2014/main" id="{48A2A2D3-1FC8-4D55-9CB4-2BCA72E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2293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heck-rule-5">
            <a:extLst xmlns:a="http://schemas.openxmlformats.org/drawingml/2006/main">
              <a:ext uri="{FF2B5EF4-FFF2-40B4-BE49-F238E27FC236}">
                <a16:creationId xmlns:a16="http://schemas.microsoft.com/office/drawing/2014/main" id="{D7249F2C-2668-4318-B22A-16676F7F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6294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heck-5-0">
            <a:extLst xmlns:a="http://schemas.openxmlformats.org/drawingml/2006/main">
              <a:ext uri="{FF2B5EF4-FFF2-40B4-BE49-F238E27FC236}">
                <a16:creationId xmlns:a16="http://schemas.microsoft.com/office/drawing/2014/main" id="{78534348-DC13-4698-AABA-5C4BEFC5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2293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2" name="check-5-1">
            <a:extLst xmlns:a="http://schemas.openxmlformats.org/drawingml/2006/main">
              <a:ext uri="{FF2B5EF4-FFF2-40B4-BE49-F238E27FC236}">
                <a16:creationId xmlns:a16="http://schemas.microsoft.com/office/drawing/2014/main" id="{D9C7A4AD-CC6A-4947-B1F3-E280E918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22935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Comparable baseline and matched acoustic comparison</a:t>
            </a:r>
          </a:p>
        </p:txBody>
      </p:sp>
      <p:sp>
        <p:nvSpPr>
          <p:cNvPr id="53" name="check-5-2">
            <a:extLst xmlns:a="http://schemas.openxmlformats.org/drawingml/2006/main">
              <a:ext uri="{FF2B5EF4-FFF2-40B4-BE49-F238E27FC236}">
                <a16:creationId xmlns:a16="http://schemas.microsoft.com/office/drawing/2014/main" id="{1BC58542-98C4-438E-95BC-D69EB2A4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229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9525" rIns="76200" bIns="9525" anchor="ctr">
            <a:normAutofit fontScale="766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253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2535"/>
                </a:solidFill>
                <a:latin typeface="Arial"/>
                <a:ea typeface="Arial"/>
                <a:cs typeface="Arial"/>
              </a:rPr>
              <a:t>Matched acoustic baseline pending</a:t>
            </a:r>
          </a:p>
        </p:txBody>
      </p:sp>
      <p:sp>
        <p:nvSpPr>
          <p:cNvPr id="5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FB6C53D8-A769-4B08-8387-3520F52A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72580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A8BA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8BA4"/>
                </a:solidFill>
                <a:latin typeface="Arial"/>
                <a:ea typeface="Arial"/>
                <a:cs typeface="Arial"/>
              </a:rPr>
              <a:t>p. 2 / 2</a:t>
            </a:r>
          </a:p>
        </p:txBody>
      </p:sp>
    </p:spTree>
    <p:extLst>
      <p:ext uri="{BB962C8B-B14F-4D97-AF65-F5344CB8AC3E}">
        <p14:creationId xmlns:p14="http://schemas.microsoft.com/office/powerpoint/2010/main" val="505366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2026-10-03T05:01:26.0250000Z</dcterms:created>
  <dcterms:modified xsi:type="dcterms:W3CDTF">2026-10-03T05:01:26.0250000Z</dcterms:modified>
</coreProperties>
</file>