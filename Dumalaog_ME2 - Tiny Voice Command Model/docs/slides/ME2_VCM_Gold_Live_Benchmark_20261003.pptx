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6b7baff2f04c81" /><Relationship Type="http://schemas.openxmlformats.org/officeDocument/2006/relationships/extended-properties" Target="/docProps/app.xml" Id="R7e01acbe7ae8414f" /><Relationship Type="http://schemas.openxmlformats.org/officeDocument/2006/relationships/officeDocument" Target="/ppt/presentation.xml" Id="R1ed841f120dd4e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b5a3d665774695"/>
  </p:sldMasterIdLst>
  <p:notesMasterIdLst>
    <p:notesMasterId xmlns:r="http://schemas.openxmlformats.org/officeDocument/2006/relationships" r:id="R48d249a7fa304863"/>
  </p:notesMasterIdLst>
  <p:sldIdLst>
    <p:sldId xmlns:r="http://schemas.openxmlformats.org/officeDocument/2006/relationships" id="256" r:id="Rc55f8dd25bda49f4"/>
    <p:sldId xmlns:r="http://schemas.openxmlformats.org/officeDocument/2006/relationships" id="257" r:id="R2248a082c95a4f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d5fc466e734d76" /><Relationship Type="http://schemas.openxmlformats.org/officeDocument/2006/relationships/slideMaster" Target="/ppt/slideMasters/slideMaster1.xml" Id="Rf1b5a3d665774695" /><Relationship Type="http://schemas.openxmlformats.org/officeDocument/2006/relationships/notesMaster" Target="/ppt/notesMasters/notesMaster1.xml" Id="R48d249a7fa304863" /><Relationship Type="http://schemas.openxmlformats.org/officeDocument/2006/relationships/presProps" Target="/ppt/presProps.xml" Id="Rc889732b1c334fad" /><Relationship Type="http://schemas.openxmlformats.org/officeDocument/2006/relationships/tableStyles" Target="/ppt/tableStyles.xml" Id="R72e81cf7a3104257" /><Relationship Type="http://schemas.openxmlformats.org/officeDocument/2006/relationships/slide" Target="/ppt/slides/slide1.xml" Id="Rc55f8dd25bda49f4" /><Relationship Type="http://schemas.openxmlformats.org/officeDocument/2006/relationships/slide" Target="/ppt/slides/slide2.xml" Id="R2248a082c95a4f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4313fd45a148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e07f42de00454a" /><Relationship Type="http://schemas.openxmlformats.org/officeDocument/2006/relationships/notesMaster" Target="/ppt/notesMasters/notesMaster1.xml" Id="Rd183f718251c45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cb60aa8b3c4d56" /><Relationship Type="http://schemas.openxmlformats.org/officeDocument/2006/relationships/notesMaster" Target="/ppt/notesMasters/notesMaster1.xml" Id="R7534d560e7454b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Updated benchmark reference: https://github.com/airimonda/vcm-benchmark. Architecture and active ME2 model details remain from the source deck. The latest cached public holdout contains 202 clips: 186 in-scope commands across 93 phrase variations, plus 16 out-of-scope clips.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vcm-benchmark live Raspberry Pi procedure, not an offline replay of the 4,443-row Gold test. The latest cached holdout has 202 rows (186 supported command clips, 16 OOS, 93 variations). Full mode adds 16 in-scope no-wake false-wake controls, for 218 trials. Quick mode selects one clip per variation, all OOS clips, and 16 no-wake controls, for 125 trials. The full prior unscored generated plan averaged 4.396 seconds of played trial audio per trial, including wake word and silence; the SOP's mean random gap is 12.5 seconds. Therefore full timed phase = 218 x (4.396 + 12.5) / 60 = 61.4 minutes. Quick estimate uses the same prior generated plan's mean wake and no-wake trial lengths, producing 33.7 minutes. The tool recomputes and displays the run-specific estimate on its approval screen; mic check, log-format validation, three wake recordings and two unscored sound checks are extra and can take longer. The assistant must log intent, infer_ms and audio_ms. The Pi ME2 app was stopped at last post-cleanup verification and must be started intentionally; the isolated Gold candidate was removed. No benchmark trials were scored in this update. Source: https://github.com/airimonda/vcm-benchmark.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cfc1aa01bd47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cf365492164cd9" /><Relationship Type="http://schemas.openxmlformats.org/officeDocument/2006/relationships/slideLayout" Target="/ppt/slideLayouts/slideLayout1.xml" Id="R70b466d20ed641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b466d20ed641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e6671e0e64112" /><Relationship Type="http://schemas.openxmlformats.org/officeDocument/2006/relationships/notesSlide" Target="/ppt/notesSlides/notesSlide1.xml" Id="Ra5c404ea9e8d4f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6d23fc1404c71" /><Relationship Type="http://schemas.openxmlformats.org/officeDocument/2006/relationships/notesSlide" Target="/ppt/notesSlides/notesSlide2.xml" Id="R71577a4f694d43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3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0A0302-9F97-4094-AFC7-ADEE6867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762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C9D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BAD28-CE87-4F4F-B213-FADF3F9F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0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ME2 - VCM on Raspberry Pi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05F22-62EC-4E96-9FA5-6BADA8C7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13347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B7D8E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7D8E2"/>
                </a:solidFill>
                <a:latin typeface="Arial"/>
                <a:ea typeface="Arial"/>
                <a:cs typeface="Arial"/>
              </a:rPr>
              <a:t>Always listening locally · two-stage TinyDSCNN-48 · no ASR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642E8-B036-42F0-8C0B-2F4DDEBE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Two-stage offline speech-to-action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AD422-A0FE-4305-A87D-64BC911A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C9D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DD885-2254-4382-8D3B-A9D513DB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46C9D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6C9D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4C92EC-10E6-4BA1-8B98-EF8FB663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Mic + log-mel front 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7D568E-0C77-47BC-A1B6-5B6F1360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7D8E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D8E2"/>
                </a:solidFill>
                <a:latin typeface="Arial"/>
                <a:ea typeface="Arial"/>
                <a:cs typeface="Arial"/>
              </a:rPr>
              <a:t>16 kHz · 2.5 s · 40 × 251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B89867-5B50-4B24-80E1-AA496AD8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33750"/>
            <a:ext cx="40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46C9D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6C9D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94D5A-1DE6-4105-A99B-8489CF7A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38425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C9D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F26572-CA77-4C3F-B255-D8D4A455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384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46C9D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6C9D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1BD828-072C-471F-B47A-1DE18AF3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1470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Binary wake 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E1F850-F3A9-4FE6-829C-8306D8CF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7192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7D8E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D8E2"/>
                </a:solidFill>
                <a:latin typeface="Arial"/>
                <a:ea typeface="Arial"/>
                <a:cs typeface="Arial"/>
              </a:rPr>
              <a:t>2 classes · threshold 0.95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2B7DD6-6DAD-49B8-9BCD-3C711E21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33750"/>
            <a:ext cx="40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46C9D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6C9D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4EC0E2-D8C1-4D07-9FCF-69538C23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38425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C9D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E14ADD-3E47-423C-80A8-0C6C3A89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384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46C9D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6C9D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49A011-446F-47ED-A1D2-7966BE28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1470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TinyDSCNN-48 intent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97266E-755F-4F52-ACB4-293ABD16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7192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7D8E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D8E2"/>
                </a:solidFill>
                <a:latin typeface="Arial"/>
                <a:ea typeface="Arial"/>
                <a:cs typeface="Arial"/>
              </a:rPr>
              <a:t>31 classes · 14,527 params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CED087-AD5C-4CCE-9193-B597CB36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33750"/>
            <a:ext cx="40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46C9D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6C9D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AFAA10-7663-4D32-B093-B53A7C79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38425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C9D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3EEBE0-7C5C-4AE1-B2F8-D2D1681E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384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46C9D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6C9D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C35426-09FF-45A5-8AC8-C3418B1B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1470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Coded 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0AE5B6-7D3B-464C-A21F-2A94D599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7192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7D8E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D8E2"/>
                </a:solidFill>
                <a:latin typeface="Arial"/>
                <a:ea typeface="Arial"/>
                <a:cs typeface="Arial"/>
              </a:rPr>
              <a:t>Light · media · temp · weather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C93CCC-31DA-4591-BAF4-CDD7F434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07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4846D4-7602-402A-976E-9EB30BFB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300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10,682 training rows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D9F09C-291B-4D0A-B77C-CFBC5C51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7D8E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D8E2"/>
                </a:solidFill>
                <a:latin typeface="Arial"/>
                <a:ea typeface="Arial"/>
                <a:cs typeface="Arial"/>
              </a:rPr>
              <a:t>ME2 Spoken Command Dataset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15069C-3A79-48E0-8131-7A46F565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102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202 live holdout clips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9817B9-0E15-463F-950D-05F1262C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48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7D8E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D8E2"/>
                </a:solidFill>
                <a:latin typeface="Arial"/>
                <a:ea typeface="Arial"/>
                <a:cs typeface="Arial"/>
              </a:rPr>
              <a:t>186 commands · 16 OOS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5E8EE0-2C26-45E3-9D0E-A34E9B01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410200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74.9 KiB total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1E3921-096E-4CFD-9EF8-E97E0F6B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8483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7D8E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D8E2"/>
                </a:solidFill>
                <a:latin typeface="Arial"/>
                <a:ea typeface="Arial"/>
                <a:cs typeface="Arial"/>
              </a:rPr>
              <a:t>Wake + intent INT8 ONNX</a:t>
            </a:r>
          </a:p>
        </p:txBody>
      </p:sp>
    </p:spTree>
    <p:extLst>
      <p:ext uri="{BB962C8B-B14F-4D97-AF65-F5344CB8AC3E}">
        <p14:creationId xmlns:p14="http://schemas.microsoft.com/office/powerpoint/2010/main" val="20441010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2C4938-9D6B-470D-B771-831C9253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762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C9D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417F3-87BE-46BE-AF00-7FCCE5BA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75" b="1">
                <a:solidFill>
                  <a:srgbClr val="0B2335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B2335"/>
                </a:solidFill>
                <a:latin typeface="Arial"/>
                <a:ea typeface="Arial"/>
                <a:cs typeface="Arial"/>
              </a:rPr>
              <a:t>ME2 - VCM on Raspberry Pi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CF8C5-BE57-4C7D-A99F-7BFA19B8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430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C71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7180"/>
                </a:solidFill>
                <a:latin typeface="Arial"/>
                <a:ea typeface="Arial"/>
                <a:cs typeface="Arial"/>
              </a:rPr>
              <a:t>Raspberry Pi 5 Holdout Benchmark · 125 Evaluated Trials · On-Device INT8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231CF-33C7-4CE9-92BE-B323C7A9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47850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125" b="1">
                <a:solidFill>
                  <a:srgbClr val="0B2335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0B2335"/>
                </a:solidFill>
                <a:latin typeface="Arial"/>
                <a:ea typeface="Arial"/>
                <a:cs typeface="Arial"/>
              </a:rPr>
              <a:t>71.6%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B5372-4008-4AD1-A7B4-E080D62B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193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C71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7180"/>
                </a:solidFill>
                <a:latin typeface="Arial"/>
                <a:ea typeface="Arial"/>
                <a:cs typeface="Arial"/>
              </a:rPr>
              <a:t>intent accuracy · 72.7% macro F1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368B4-E90F-4A83-926A-368F09CD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18478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125" b="1">
                <a:solidFill>
                  <a:srgbClr val="0B2335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0B2335"/>
                </a:solidFill>
                <a:latin typeface="Arial"/>
                <a:ea typeface="Arial"/>
                <a:cs typeface="Arial"/>
              </a:rPr>
              <a:t>97.7%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9E99D-A83F-4978-AD54-478B05D2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193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C71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7180"/>
                </a:solidFill>
                <a:latin typeface="Arial"/>
                <a:ea typeface="Arial"/>
                <a:cs typeface="Arial"/>
              </a:rPr>
              <a:t>slot exact match · 100% timer/temp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4E0AE-3268-4235-90A1-E52EDD8C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8478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125" b="1">
                <a:solidFill>
                  <a:srgbClr val="0B2335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0B2335"/>
                </a:solidFill>
                <a:latin typeface="Arial"/>
                <a:ea typeface="Arial"/>
                <a:cs typeface="Arial"/>
              </a:rPr>
              <a:t>6.3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D31DC-5639-4A2B-8C42-B98509E5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6193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C71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7180"/>
                </a:solidFill>
                <a:latin typeface="Arial"/>
                <a:ea typeface="Arial"/>
                <a:cs typeface="Arial"/>
              </a:rPr>
              <a:t>Pi 5 latency · 0.003 real-time factor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782B62-D883-4F95-89E9-27F4B19C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10782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6CF84A-A1D6-4A31-B2AD-3041045F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581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23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2335"/>
                </a:solidFill>
                <a:latin typeface="Arial"/>
                <a:ea typeface="Arial"/>
                <a:cs typeface="Arial"/>
              </a:rPr>
              <a:t>Benchmark Classification Accuracy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784FB-7D71-4551-85A0-FCC7AA23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052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19-class intent accuracy: 71.6% [95% CI: 62.5%–79.2%]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38C405-F83F-4508-95A2-FA04E398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81525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93-variation command accuracy: 70.6% (macro F1: 72.7%)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CD2549-1396-494F-9F37-2E61D47D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57775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Voice breakdown: 90.0% synthetic voice · 49.0% real voice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9250E2-4822-4B51-AAF6-A8CB086A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34025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Wake gating: 100.0% detect rate · 0.0% false wake (0/16)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4EF50B-BD97-4DC3-9FCF-79267C5B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71875"/>
            <a:ext cx="2857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C9D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6167C9-A132-4B88-97B5-4D422A50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619500"/>
            <a:ext cx="4095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23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2335"/>
                </a:solidFill>
                <a:latin typeface="Arial"/>
                <a:ea typeface="Arial"/>
                <a:cs typeface="Arial"/>
              </a:rPr>
              <a:t>Raspberry Pi 5 Hardware &amp; Runtime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BBD318-CD8B-4806-9883-33CB1884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43375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C753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7534B"/>
                </a:solidFill>
                <a:latin typeface="Arial"/>
                <a:ea typeface="Arial"/>
                <a:cs typeface="Arial"/>
              </a:rPr>
              <a:t>Evaluated on deployed INT8 models (39.3 KB intent + 37.4 KB wake).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7639AD-E0F5-4BA5-9D7B-4BAAA7EE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886325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Inference: 6.3 ms mean (7.2 ms p95) · RTF 0.003 · Peak RAM 143 MB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F2DF50-3963-4873-9842-5774BA05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600700"/>
            <a:ext cx="381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C71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180"/>
                </a:solidFill>
                <a:latin typeface="Arial"/>
                <a:ea typeface="Arial"/>
                <a:cs typeface="Arial"/>
              </a:rPr>
              <a:t>Slots: 100% timer, temp, brightness, color; 85.7% alarm. Max temp 49°C.</a:t>
            </a:r>
          </a:p>
        </p:txBody>
      </p:sp>
    </p:spTree>
    <p:extLst>
      <p:ext uri="{BB962C8B-B14F-4D97-AF65-F5344CB8AC3E}">
        <p14:creationId xmlns:p14="http://schemas.microsoft.com/office/powerpoint/2010/main" val="8873765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2026-10-03T02:36:01.0360000Z</dcterms:created>
  <dcterms:modified xsi:type="dcterms:W3CDTF">2026-10-03T02:36:01.0360000Z</dcterms:modified>
</coreProperties>
</file>