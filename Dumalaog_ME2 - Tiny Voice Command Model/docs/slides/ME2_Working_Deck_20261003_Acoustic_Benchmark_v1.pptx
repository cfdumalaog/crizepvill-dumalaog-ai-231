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bec562f5bd047cf" /><Relationship Type="http://schemas.openxmlformats.org/officeDocument/2006/relationships/extended-properties" Target="/docProps/app.xml" Id="R05dc0edac0014deb" /><Relationship Type="http://schemas.openxmlformats.org/officeDocument/2006/relationships/officeDocument" Target="/ppt/presentation.xml" Id="R6d1b37acc7834da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a9443bc7d824e51"/>
  </p:sldMasterIdLst>
  <p:notesMasterIdLst>
    <p:notesMasterId xmlns:r="http://schemas.openxmlformats.org/officeDocument/2006/relationships" r:id="R56b365c81c6741f5"/>
  </p:notesMasterIdLst>
  <p:sldIdLst>
    <p:sldId xmlns:r="http://schemas.openxmlformats.org/officeDocument/2006/relationships" id="256" r:id="R286fb6592e244168"/>
    <p:sldId xmlns:r="http://schemas.openxmlformats.org/officeDocument/2006/relationships" id="257" r:id="R8924b3e1bb1547c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209042bdd944463" /><Relationship Type="http://schemas.openxmlformats.org/officeDocument/2006/relationships/slideMaster" Target="/ppt/slideMasters/slideMaster1.xml" Id="R3a9443bc7d824e51" /><Relationship Type="http://schemas.openxmlformats.org/officeDocument/2006/relationships/notesMaster" Target="/ppt/notesMasters/notesMaster1.xml" Id="R56b365c81c6741f5" /><Relationship Type="http://schemas.openxmlformats.org/officeDocument/2006/relationships/presProps" Target="/ppt/presProps.xml" Id="R0f06143325f44e98" /><Relationship Type="http://schemas.openxmlformats.org/officeDocument/2006/relationships/tableStyles" Target="/ppt/tableStyles.xml" Id="Rf1bbcc8296a94f84" /><Relationship Type="http://schemas.openxmlformats.org/officeDocument/2006/relationships/slide" Target="/ppt/slides/slide1.xml" Id="R286fb6592e244168" /><Relationship Type="http://schemas.openxmlformats.org/officeDocument/2006/relationships/slide" Target="/ppt/slides/slide2.xml" Id="R8924b3e1bb1547c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5520e7d7b2143d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fc719dfd1934543" /><Relationship Type="http://schemas.openxmlformats.org/officeDocument/2006/relationships/notesMaster" Target="/ppt/notesMasters/notesMaster1.xml" Id="Rc03a7403b3924e6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c5342a2b9ae462a" /><Relationship Type="http://schemas.openxmlformats.org/officeDocument/2006/relationships/notesMaster" Target="/ppt/notesMasters/notesMaster1.xml" Id="R688c4a05bd5d47d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Updated benchmark reference: https://github.com/airimonda/vcm-benchmark. Architecture and active ME2 model details remain from the source deck. The latest cached public holdout contains 202 clips: 186 in-scope commands across 93 phrase variations, plus 16 out-of-scope clips.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the vcm-benchmark live Raspberry Pi procedure, not an offline replay of the 4,443-row Gold test. The latest cached holdout has 202 rows (186 supported command clips, 16 OOS, 93 variations). Full mode adds 16 in-scope no-wake false-wake controls, for 218 trials. Quick mode selects one clip per variation, all OOS clips, and 16 no-wake controls, for 125 trials. The full prior unscored generated plan averaged 4.396 seconds of played trial audio per trial, including wake word and silence; the SOP's mean random gap is 12.5 seconds. Therefore full timed phase = 218 x (4.396 + 12.5) / 60 = 61.4 minutes. Quick estimate uses the same prior generated plan's mean wake and no-wake trial lengths, producing 33.7 minutes. The tool recomputes and displays the run-specific estimate on its approval screen; mic check, log-format validation, three wake recordings and two unscored sound checks are extra and can take longer. The assistant must log intent, infer_ms and audio_ms. The Pi ME2 app was stopped at last post-cleanup verification and must be started intentionally; the isolated Gold candidate was removed. No benchmark trials were scored in this update. Source: https://github.com/airimonda/vcm-benchmark.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d0dcd50d22a401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3e68565b39b49c9" /><Relationship Type="http://schemas.openxmlformats.org/officeDocument/2006/relationships/slideLayout" Target="/ppt/slideLayouts/slideLayout1.xml" Id="Re7b4597daefb40b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7b4597daefb40b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4d82e3d873434d" /><Relationship Type="http://schemas.openxmlformats.org/officeDocument/2006/relationships/notesSlide" Target="/ppt/notesSlides/notesSlide1.xml" Id="Rf9087c08c4ed4d0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6ffe4e9f7746dc" /><Relationship Type="http://schemas.openxmlformats.org/officeDocument/2006/relationships/notesSlide" Target="/ppt/notesSlides/notesSlide2.xml" Id="Rc956f14da1494f4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233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20A0302-9F97-4094-AFC7-ADEE6867E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76200" cy="866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C9D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7BAD28-CE87-4F4F-B213-FADF3F9FD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409575"/>
            <a:ext cx="1047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5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5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ME2 - VCM on Raspberry Pi 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005F22-62EC-4E96-9FA5-6BADA8C7C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133475"/>
            <a:ext cx="10382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B7D8E2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B7D8E2"/>
                </a:solidFill>
                <a:latin typeface="Arial"/>
                <a:ea typeface="Arial"/>
                <a:cs typeface="Arial"/>
              </a:rPr>
              <a:t>Always listening locally · two-stage TinyDSCNN-48 · no ASR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A642E8-B036-42F0-8C0B-2F4DDEBE0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71675"/>
            <a:ext cx="571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Two-stage offline speech-to-action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6AD422-A0FE-4305-A87D-64BC911AE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38425"/>
            <a:ext cx="2266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C9DB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BDD885-2254-4382-8D3B-A9D513DBD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38450"/>
            <a:ext cx="523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46C9D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6C9D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4C92EC-10E6-4BA1-8B98-EF8FB6637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14700"/>
            <a:ext cx="2428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Mic + log-mel front end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7D568E-0C77-47BC-A1B6-5B6F13601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71925"/>
            <a:ext cx="2381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B7D8E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7D8E2"/>
                </a:solidFill>
                <a:latin typeface="Arial"/>
                <a:ea typeface="Arial"/>
                <a:cs typeface="Arial"/>
              </a:rPr>
              <a:t>16 kHz · 2.5 s · 40 × 251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B89867-5B50-4B24-80E1-AA496AD89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333750"/>
            <a:ext cx="4000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1">
                <a:solidFill>
                  <a:srgbClr val="46C9DB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46C9DB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094D5A-1DE6-4105-A99B-8489CF7AA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638425"/>
            <a:ext cx="2266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C9DB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F26572-CA77-4C3F-B255-D8D4A455D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838450"/>
            <a:ext cx="523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46C9D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6C9D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1BD828-072C-471F-B47A-1DE18AF3B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314700"/>
            <a:ext cx="2428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Binary wake gate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E1F850-F3A9-4FE6-829C-8306D8CF6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971925"/>
            <a:ext cx="2381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B7D8E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7D8E2"/>
                </a:solidFill>
                <a:latin typeface="Arial"/>
                <a:ea typeface="Arial"/>
                <a:cs typeface="Arial"/>
              </a:rPr>
              <a:t>2 classes · threshold 0.95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72B7DD6-6DAD-49B8-9BCD-3C711E212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333750"/>
            <a:ext cx="4000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1">
                <a:solidFill>
                  <a:srgbClr val="46C9DB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46C9DB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24EC0E2-D8C1-4D07-9FCF-69538C236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638425"/>
            <a:ext cx="2266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C9DB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BE14ADD-3E47-423C-80A8-0C6C3A89C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838450"/>
            <a:ext cx="523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46C9D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6C9D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249A011-446F-47ED-A1D2-7966BE28F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314700"/>
            <a:ext cx="2428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TinyDSCNN-48 intent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297266E-755F-4F52-ACB4-293ABD16E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971925"/>
            <a:ext cx="2381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B7D8E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7D8E2"/>
                </a:solidFill>
                <a:latin typeface="Arial"/>
                <a:ea typeface="Arial"/>
                <a:cs typeface="Arial"/>
              </a:rPr>
              <a:t>31 classes · INT8 ONNX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DCED087-AD5C-4CCE-9193-B597CB368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333750"/>
            <a:ext cx="4000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1">
                <a:solidFill>
                  <a:srgbClr val="46C9DB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46C9DB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3AFAA10-7663-4D32-B093-B53A7C79E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638425"/>
            <a:ext cx="2266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C9DB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63EEBE0-7C5C-4AE1-B2F8-D2D1681E7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838450"/>
            <a:ext cx="523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46C9D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6C9DB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EC35426-09FF-45A5-8AC8-C3418B1B9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314700"/>
            <a:ext cx="2428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Coded action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80AE5B6-7D3B-464C-A21F-2A94D599C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971925"/>
            <a:ext cx="2381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B7D8E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7D8E2"/>
                </a:solidFill>
                <a:latin typeface="Arial"/>
                <a:ea typeface="Arial"/>
                <a:cs typeface="Arial"/>
              </a:rPr>
              <a:t>Light · media · temp · weather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8C93CCC-31DA-4591-BAF4-CDD7F4346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6070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B4846D4-7602-402A-976E-9EB30BFB9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10200"/>
            <a:ext cx="3000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10,682 training rows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AD9F09C-291B-4D0A-B77C-CFBC5C518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48350"/>
            <a:ext cx="3000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B7D8E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7D8E2"/>
                </a:solidFill>
                <a:latin typeface="Arial"/>
                <a:ea typeface="Arial"/>
                <a:cs typeface="Arial"/>
              </a:rPr>
              <a:t>ME2 Spoken Command Dataset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E15069C-3A79-48E0-8131-7A46F565E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410200"/>
            <a:ext cx="285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202 live holdout clips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49817B9-0E15-463F-950D-05F1262C0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8483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B7D8E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7D8E2"/>
                </a:solidFill>
                <a:latin typeface="Arial"/>
                <a:ea typeface="Arial"/>
                <a:cs typeface="Arial"/>
              </a:rPr>
              <a:t>186 commands · 16 OOS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D5E8EE0-2C26-45E3-9D0E-A34E9B018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5410200"/>
            <a:ext cx="3524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74.9 KiB total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81E3921-096E-4CFD-9EF8-E97E0F6B7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5848350"/>
            <a:ext cx="352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B7D8E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7D8E2"/>
                </a:solidFill>
                <a:latin typeface="Arial"/>
                <a:ea typeface="Arial"/>
                <a:cs typeface="Arial"/>
              </a:rPr>
              <a:t>Wake + intent INT8 ONNX</a:t>
            </a:r>
          </a:p>
        </p:txBody>
      </p:sp>
    </p:spTree>
    <p:extLst>
      <p:ext uri="{BB962C8B-B14F-4D97-AF65-F5344CB8AC3E}">
        <p14:creationId xmlns:p14="http://schemas.microsoft.com/office/powerpoint/2010/main" val="204410104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52C4938-9D6B-470D-B771-831C92537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76200" cy="771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C9D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E417F3-87BE-46BE-AF00-7FCCE5BA1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57200"/>
            <a:ext cx="10382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375" b="1">
                <a:solidFill>
                  <a:srgbClr val="0B2335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0B2335"/>
                </a:solidFill>
                <a:latin typeface="Arial"/>
                <a:ea typeface="Arial"/>
                <a:cs typeface="Arial"/>
              </a:rPr>
              <a:t>ME2 - VCM on Raspberry Pi 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4CF8C5-BE57-4C7D-A99F-7BFA19B8E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14300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5C718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C7180"/>
                </a:solidFill>
                <a:latin typeface="Arial"/>
                <a:ea typeface="Arial"/>
                <a:cs typeface="Arial"/>
              </a:rPr>
              <a:t>Live Pi acoustic holdout · quick mode · 125 trials · INT8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3231CF-33C7-4CE9-92BE-B323C7A94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847850"/>
            <a:ext cx="2762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4125" b="1">
                <a:solidFill>
                  <a:srgbClr val="0B2335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0B2335"/>
                </a:solidFill>
                <a:latin typeface="Arial"/>
                <a:ea typeface="Arial"/>
                <a:cs typeface="Arial"/>
              </a:rPr>
              <a:t>36.7%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2B5372-4008-4AD1-A7B4-E080D62B3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619375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5C718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C7180"/>
                </a:solidFill>
                <a:latin typeface="Arial"/>
                <a:ea typeface="Arial"/>
                <a:cs typeface="Arial"/>
              </a:rPr>
              <a:t>intent accuracy · 34.7% macro F1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6368B4-E90F-4A83-926A-368F09CD7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4775" y="1847850"/>
            <a:ext cx="285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4125" b="1">
                <a:solidFill>
                  <a:srgbClr val="0B2335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0B2335"/>
                </a:solidFill>
                <a:latin typeface="Arial"/>
                <a:ea typeface="Arial"/>
                <a:cs typeface="Arial"/>
              </a:rPr>
              <a:t>33.9%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09E99D-A83F-4978-AD54-478B05D2D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2619375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5C718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C7180"/>
                </a:solidFill>
                <a:latin typeface="Arial"/>
                <a:ea typeface="Arial"/>
                <a:cs typeface="Arial"/>
              </a:rPr>
              <a:t>93-command accuracy · 32.2% macro F1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C4E0AE-3268-4235-90A1-E52EDD8C9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1847850"/>
            <a:ext cx="2571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4125" b="1">
                <a:solidFill>
                  <a:srgbClr val="0B2335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0B2335"/>
                </a:solidFill>
                <a:latin typeface="Arial"/>
                <a:ea typeface="Arial"/>
                <a:cs typeface="Arial"/>
              </a:rPr>
              <a:t>50%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CD31DC-5639-4A2B-8C42-B98509E57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619375"/>
            <a:ext cx="276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5C718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C7180"/>
                </a:solidFill>
                <a:latin typeface="Arial"/>
                <a:ea typeface="Arial"/>
                <a:cs typeface="Arial"/>
              </a:rPr>
              <a:t>false wake · 8/16 no-wake controls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782B62-D883-4F95-89E9-27F4B19C0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57550"/>
            <a:ext cx="10782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4E8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6CF84A-A1D6-4A31-B2AD-3041045FF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62350"/>
            <a:ext cx="5810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0B2335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B2335"/>
                </a:solidFill>
                <a:latin typeface="Arial"/>
                <a:ea typeface="Arial"/>
                <a:cs typeface="Arial"/>
              </a:rPr>
              <a:t>Live Acoustic Benchmark Results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3784FB-7D71-4551-85A0-FCC7AA234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105275"/>
            <a:ext cx="590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17304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73042"/>
                </a:solidFill>
                <a:latin typeface="Arial"/>
                <a:ea typeface="Arial"/>
                <a:cs typeface="Arial"/>
              </a:rPr>
              <a:t>Intent accuracy: 36.7% [95% CI: 28%–46%] · macro F1 34.7%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38C405-F83F-4508-95A2-FA04E398F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581525"/>
            <a:ext cx="609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17304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73042"/>
                </a:solidFill>
                <a:latin typeface="Arial"/>
                <a:ea typeface="Arial"/>
                <a:cs typeface="Arial"/>
              </a:rPr>
              <a:t>93-command accuracy: 33.9% [95% CI: 26%–43%] · macro F1 32.2%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CD2549-1396-494F-9F37-2E61D47DC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057775"/>
            <a:ext cx="609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17304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73042"/>
                </a:solidFill>
                <a:latin typeface="Arial"/>
                <a:ea typeface="Arial"/>
                <a:cs typeface="Arial"/>
              </a:rPr>
              <a:t>Intent by voice: 16.3% real (n=49) · 53.3% synthetic (n=60)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9250E2-4822-4B51-AAF6-A8CB086AB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534025"/>
            <a:ext cx="609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17304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73042"/>
                </a:solidFill>
                <a:latin typeface="Arial"/>
                <a:ea typeface="Arial"/>
                <a:cs typeface="Arial"/>
              </a:rPr>
              <a:t>OOS false accept 62.5% (10/16) · false reject 36.6%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24EF50B-BD97-4DC3-9FCF-79267C5BD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571875"/>
            <a:ext cx="28575" cy="2400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C9DB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C6167C9-A132-4B88-97B5-4D422A50C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3619500"/>
            <a:ext cx="4095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0B233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B2335"/>
                </a:solidFill>
                <a:latin typeface="Arial"/>
                <a:ea typeface="Arial"/>
                <a:cs typeface="Arial"/>
              </a:rPr>
              <a:t>Pi 5 Acoustic &amp; Runtime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BBBD318-CD8B-4806-9883-33CB18843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4143375"/>
            <a:ext cx="3714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C7534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C7534B"/>
                </a:solidFill>
                <a:latin typeface="Arial"/>
                <a:ea typeface="Arial"/>
                <a:cs typeface="Arial"/>
              </a:rPr>
              <a:t>Fifine mic check passed: SNR 21.8 dB. 109 wake-word clips + 16 no-wake controls.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07639AD-E0F5-4BA5-9D7B-4BAAA7EEA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4886325"/>
            <a:ext cx="3714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173042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3042"/>
                </a:solidFill>
                <a:latin typeface="Arial"/>
                <a:ea typeface="Arial"/>
                <a:cs typeface="Arial"/>
              </a:rPr>
              <a:t>Inference p95 9.3 ms · RTF p95 0.004 · max temperature 45.2 °C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DF2DF50-3963-4873-9842-5774BA05A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5600700"/>
            <a:ext cx="3810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5C718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C7180"/>
                </a:solidFill>
                <a:latin typeface="Arial"/>
                <a:ea typeface="Arial"/>
                <a:cs typeface="Arial"/>
              </a:rPr>
              <a:t>Slot exact 88.0% (n=25). 40/109 no response; 49 extra fires. Response p95 6.99 s is provisional: 16/69 timings negative.</a:t>
            </a:r>
          </a:p>
        </p:txBody>
      </p:sp>
    </p:spTree>
    <p:extLst>
      <p:ext uri="{BB962C8B-B14F-4D97-AF65-F5344CB8AC3E}">
        <p14:creationId xmlns:p14="http://schemas.microsoft.com/office/powerpoint/2010/main" val="88737652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2026-10-03T05:43:03.4270000Z</dcterms:created>
  <dcterms:modified xsi:type="dcterms:W3CDTF">2026-10-03T05:43:03.4270000Z</dcterms:modified>
</coreProperties>
</file>