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f469a54a054b52" /><Relationship Type="http://schemas.openxmlformats.org/officeDocument/2006/relationships/extended-properties" Target="/docProps/app.xml" Id="R9b0f287146ce4f1d" /><Relationship Type="http://schemas.openxmlformats.org/officeDocument/2006/relationships/officeDocument" Target="/ppt/presentation.xml" Id="Re5fcc6d7532d4bfa" /></Relationships>
</file>

<file path=ppt/presentation.xml><?xml version="1.0" encoding="utf-8"?>
<p:presentation xmlns:p="http://schemas.openxmlformats.org/presentationml/2006/main">
  <p:sldMasterIdLst>
    <p:sldMasterId xmlns:r="http://schemas.openxmlformats.org/officeDocument/2006/relationships" id="2147483648" r:id="R68e709bca9624e0c"/>
  </p:sldMasterIdLst>
  <p:notesMasterIdLst>
    <p:notesMasterId xmlns:r="http://schemas.openxmlformats.org/officeDocument/2006/relationships" r:id="R84b7fe917e3b4737"/>
  </p:notesMasterIdLst>
  <p:sldIdLst>
    <p:sldId xmlns:r="http://schemas.openxmlformats.org/officeDocument/2006/relationships" id="256" r:id="Rc9fd99fe87df4c23"/>
    <p:sldId xmlns:r="http://schemas.openxmlformats.org/officeDocument/2006/relationships" id="257" r:id="R79916153df874f63"/>
    <p:sldId xmlns:r="http://schemas.openxmlformats.org/officeDocument/2006/relationships" id="258" r:id="R5f3059c3dd9f4754"/>
    <p:sldId xmlns:r="http://schemas.openxmlformats.org/officeDocument/2006/relationships" id="259" r:id="R44b995487ba14206"/>
    <p:sldId xmlns:r="http://schemas.openxmlformats.org/officeDocument/2006/relationships" id="260" r:id="Re25715102c5c42e7"/>
    <p:sldId xmlns:r="http://schemas.openxmlformats.org/officeDocument/2006/relationships" id="261" r:id="R0988280b45e64076"/>
    <p:sldId xmlns:r="http://schemas.openxmlformats.org/officeDocument/2006/relationships" id="262" r:id="R8b2eeb7cb24a4a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9c2b64647e4d2e" /><Relationship Type="http://schemas.openxmlformats.org/officeDocument/2006/relationships/slideMaster" Target="/ppt/slideMasters/slideMaster1.xml" Id="R68e709bca9624e0c" /><Relationship Type="http://schemas.openxmlformats.org/officeDocument/2006/relationships/notesMaster" Target="/ppt/notesMasters/notesMaster1.xml" Id="R84b7fe917e3b4737" /><Relationship Type="http://schemas.openxmlformats.org/officeDocument/2006/relationships/presProps" Target="/ppt/presProps.xml" Id="Re41e3998bfb54e5c" /><Relationship Type="http://schemas.openxmlformats.org/officeDocument/2006/relationships/tableStyles" Target="/ppt/tableStyles.xml" Id="R2f6f42fccb0547be" /><Relationship Type="http://schemas.openxmlformats.org/officeDocument/2006/relationships/slide" Target="/ppt/slides/slide1.xml" Id="Rc9fd99fe87df4c23" /><Relationship Type="http://schemas.openxmlformats.org/officeDocument/2006/relationships/slide" Target="/ppt/slides/slide2.xml" Id="R79916153df874f63" /><Relationship Type="http://schemas.openxmlformats.org/officeDocument/2006/relationships/slide" Target="/ppt/slides/slide3.xml" Id="R5f3059c3dd9f4754" /><Relationship Type="http://schemas.openxmlformats.org/officeDocument/2006/relationships/slide" Target="/ppt/slides/slide4.xml" Id="R44b995487ba14206" /><Relationship Type="http://schemas.openxmlformats.org/officeDocument/2006/relationships/slide" Target="/ppt/slides/slide5.xml" Id="Re25715102c5c42e7" /><Relationship Type="http://schemas.openxmlformats.org/officeDocument/2006/relationships/slide" Target="/ppt/slides/slide6.xml" Id="R0988280b45e64076" /><Relationship Type="http://schemas.openxmlformats.org/officeDocument/2006/relationships/slide" Target="/ppt/slides/slide7.xml" Id="R8b2eeb7cb24a4a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e4da2a939d46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f4dc3eb5094e6a" /><Relationship Type="http://schemas.openxmlformats.org/officeDocument/2006/relationships/notesMaster" Target="/ppt/notesMasters/notesMaster1.xml" Id="R38265386121148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bfdc32053b489b" /><Relationship Type="http://schemas.openxmlformats.org/officeDocument/2006/relationships/notesMaster" Target="/ppt/notesMasters/notesMaster1.xml" Id="R714b2b9cdfe54a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8cde2f60874a5e" /><Relationship Type="http://schemas.openxmlformats.org/officeDocument/2006/relationships/notesMaster" Target="/ppt/notesMasters/notesMaster1.xml" Id="Rad4522d82d9841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2da40c1e4d474d" /><Relationship Type="http://schemas.openxmlformats.org/officeDocument/2006/relationships/notesMaster" Target="/ppt/notesMasters/notesMaster1.xml" Id="Rfa8be97eee1246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f652ee8ebb493f" /><Relationship Type="http://schemas.openxmlformats.org/officeDocument/2006/relationships/notesMaster" Target="/ppt/notesMasters/notesMaster1.xml" Id="Rfd75cf961f8749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bf4a7d96e44d4f" /><Relationship Type="http://schemas.openxmlformats.org/officeDocument/2006/relationships/notesMaster" Target="/ppt/notesMasters/notesMaster1.xml" Id="R1045222b286d48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b82c41391346dc" /><Relationship Type="http://schemas.openxmlformats.org/officeDocument/2006/relationships/notesMaster" Target="/ppt/notesMasters/notesMaster1.xml" Id="R899ff428b62f47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idea: ME3 is an action-capable voice interface. The model does not need to be trained for each task; it needs a disciplined tool surface and evidence that the requested work happened.</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change from a voice chatbot is the middle: Qwen is not only writing an answer; it is choosing typed operations, receiving their results, and continuing until the task is complete or needs clarification.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responsibilities. VAD, ASR, and TTS are local. Qwen is remote and performs inference. The registry owns what may happen. The final answer is grounded in structured tool results, not just model confidence.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capability the project needed. A spoken request can create real project files. The model then reads them back and reports what exists. The current demonstration is a local, dependency-free static web app; it does not silently publish to the internet.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interpretation of parity. The objective is that useful tasks Onit can perform are represented by explicit tools: files, web, commands, jobs, system information, and the existing MCP services. That does not mean granting an always-listening Pi arbitrary shell access or hidden credentials.</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evidence boundary. The Pi now runs the verified release with a provisioned, mode-600 Qwen key, and a text-mode Qwen run built and served a web app on the Pi (LAN-verified). The remaining gates are physical Pi audio and a clean captured v1.5 overlap evaluation; local Windows evidence is not promoted into either claim.</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user-visible promise: speak a request, let the model call bounded tools, and receive an answer backed by what the tools actually returned. The remaining work is hardware audio and benchmark evidence, not model training.</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adf9a80d824b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b02495a1fc49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78a0bc2c8f40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df229007184f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98adbb34444f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3036206a0749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CBA00E-83A4-49A5-9BAF-1E115402B1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4545FE-2058-471D-9F0E-B0C2469334B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6D93D2-CDF5-4353-BE10-55BF957FCB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6ADE21-0906-4D52-9F4E-867AA9ABE8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D001EF-AC70-442B-BB95-5F5E200F7A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21A88E-7DDD-4FEE-8249-AEF5DA77E6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6B4DC6-5427-499A-B285-4360B72DFB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019303-F50D-4388-87F5-9D6047A7B4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536DCC-B9BA-456B-9335-CB4B96933D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025A96-2876-4C55-A1FC-8D65240052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5b9452e7f248aa" /><Relationship Type="http://schemas.openxmlformats.org/officeDocument/2006/relationships/slideLayout" Target="/ppt/slideLayouts/slideLayout1.xml" Id="R39c1b1178ccf4c8d" /><Relationship Type="http://schemas.openxmlformats.org/officeDocument/2006/relationships/slideLayout" Target="/ppt/slideLayouts/slideLayout2.xml" Id="Rcf5a030137874c92" /><Relationship Type="http://schemas.openxmlformats.org/officeDocument/2006/relationships/slideLayout" Target="/ppt/slideLayouts/slideLayout3.xml" Id="Rb58b430733c5488d" /><Relationship Type="http://schemas.openxmlformats.org/officeDocument/2006/relationships/slideLayout" Target="/ppt/slideLayouts/slideLayout4.xml" Id="Ra03d1775cde743cf" /><Relationship Type="http://schemas.openxmlformats.org/officeDocument/2006/relationships/slideLayout" Target="/ppt/slideLayouts/slideLayout5.xml" Id="R68494371c188411d" /><Relationship Type="http://schemas.openxmlformats.org/officeDocument/2006/relationships/slideLayout" Target="/ppt/slideLayouts/slideLayout6.xml" Id="Rbc91dbf58c8e47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c1b1178ccf4c8d"/>
    <p:sldLayoutId xmlns:r="http://schemas.openxmlformats.org/officeDocument/2006/relationships" id="2147483650" r:id="Rcf5a030137874c92"/>
    <p:sldLayoutId xmlns:r="http://schemas.openxmlformats.org/officeDocument/2006/relationships" id="2147483651" r:id="Rb58b430733c5488d"/>
    <p:sldLayoutId xmlns:r="http://schemas.openxmlformats.org/officeDocument/2006/relationships" id="2147483652" r:id="Ra03d1775cde743cf"/>
    <p:sldLayoutId xmlns:r="http://schemas.openxmlformats.org/officeDocument/2006/relationships" id="2147483653" r:id="R68494371c188411d"/>
    <p:sldLayoutId xmlns:r="http://schemas.openxmlformats.org/officeDocument/2006/relationships" id="2147483654" r:id="Rbc91dbf58c8e47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4046cfed9e44bb" /><Relationship Type="http://schemas.openxmlformats.org/officeDocument/2006/relationships/notesSlide" Target="/ppt/notesSlides/notesSlide1.xml" Id="Rff5b5e73396e47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7e10975d8a4997" /><Relationship Type="http://schemas.openxmlformats.org/officeDocument/2006/relationships/notesSlide" Target="/ppt/notesSlides/notesSlide2.xml" Id="R52e7d72914554b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d06498204f14577" /><Relationship Type="http://schemas.openxmlformats.org/officeDocument/2006/relationships/notesSlide" Target="/ppt/notesSlides/notesSlide3.xml" Id="R17e144875d914f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bb1e44f0e64b94" /><Relationship Type="http://schemas.openxmlformats.org/officeDocument/2006/relationships/notesSlide" Target="/ppt/notesSlides/notesSlide4.xml" Id="R6e584474fa7e4f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4ee2df929942e2" /><Relationship Type="http://schemas.openxmlformats.org/officeDocument/2006/relationships/notesSlide" Target="/ppt/notesSlides/notesSlide5.xml" Id="Ra5b1d4b3d3a641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42cfea55d2453d" /><Relationship Type="http://schemas.openxmlformats.org/officeDocument/2006/relationships/notesSlide" Target="/ppt/notesSlides/notesSlide6.xml" Id="R4d5c0230153241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d2023acc9f4673" /><Relationship Type="http://schemas.openxmlformats.org/officeDocument/2006/relationships/notesSlide" Target="/ppt/notesSlides/notesSlide7.xml" Id="Rf8afe95541af4488"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1" name="cover-orbit">
            <a:extLst xmlns:a="http://schemas.openxmlformats.org/drawingml/2006/main">
              <a:ext uri="{FF2B5EF4-FFF2-40B4-BE49-F238E27FC236}">
                <a16:creationId xmlns:a16="http://schemas.microsoft.com/office/drawing/2014/main" id="{075002AE-C239-42AA-B29A-EA44C2826D8B}"/>
              </a:ext>
            </a:extLst>
          </p:cNvPr>
          <p:cNvSpPr>
            <a:spLocks xmlns:a="http://schemas.openxmlformats.org/drawingml/2006/main" noGrp="1"/>
          </p:cNvSpPr>
          <p:nvPr/>
        </p:nvSpPr>
        <p:spPr>
          <a:xfrm xmlns:a="http://schemas.openxmlformats.org/drawingml/2006/main">
            <a:off x="7810500" y="190500"/>
            <a:ext cx="4000500" cy="40005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 name="cover-ring">
            <a:extLst xmlns:a="http://schemas.openxmlformats.org/drawingml/2006/main">
              <a:ext uri="{FF2B5EF4-FFF2-40B4-BE49-F238E27FC236}">
                <a16:creationId xmlns:a16="http://schemas.microsoft.com/office/drawing/2014/main" id="{5F8842DF-222D-409B-9141-BD5C8EA9EA8B}"/>
              </a:ext>
            </a:extLst>
          </p:cNvPr>
          <p:cNvSpPr>
            <a:spLocks xmlns:a="http://schemas.openxmlformats.org/drawingml/2006/main" noGrp="1"/>
          </p:cNvSpPr>
          <p:nvPr/>
        </p:nvSpPr>
        <p:spPr>
          <a:xfrm xmlns:a="http://schemas.openxmlformats.org/drawingml/2006/main">
            <a:off x="8477250" y="590550"/>
            <a:ext cx="2857500" cy="2857500"/>
          </a:xfrm>
          <a:prstGeom xmlns:a="http://schemas.openxmlformats.org/drawingml/2006/main" prst="ellipse">
            <a:avLst/>
          </a:prstGeom>
          <a:noFill xmlns:a="http://schemas.openxmlformats.org/drawingml/2006/main"/>
          <a:ln xmlns:a="http://schemas.openxmlformats.org/drawingml/2006/main" w="9525">
            <a:solidFill>
              <a:srgbClr val="5EEAD4"/>
            </a:solidFill>
            <a:prstDash val="solid"/>
          </a:ln>
        </p:spPr>
      </p:sp>
      <p:sp>
        <p:nvSpPr>
          <p:cNvPr id="3" name="cover-core">
            <a:extLst xmlns:a="http://schemas.openxmlformats.org/drawingml/2006/main">
              <a:ext uri="{FF2B5EF4-FFF2-40B4-BE49-F238E27FC236}">
                <a16:creationId xmlns:a16="http://schemas.microsoft.com/office/drawing/2014/main" id="{90E99DEB-5B03-419D-8CB7-CA3D86C58E41}"/>
              </a:ext>
            </a:extLst>
          </p:cNvPr>
          <p:cNvSpPr>
            <a:spLocks xmlns:a="http://schemas.openxmlformats.org/drawingml/2006/main" noGrp="1"/>
          </p:cNvSpPr>
          <p:nvPr/>
        </p:nvSpPr>
        <p:spPr>
          <a:xfrm xmlns:a="http://schemas.openxmlformats.org/drawingml/2006/main">
            <a:off x="9258300" y="1371600"/>
            <a:ext cx="1295400" cy="1295400"/>
          </a:xfrm>
          <a:prstGeom xmlns:a="http://schemas.openxmlformats.org/drawingml/2006/main" prst="ellipse">
            <a:avLst/>
          </a:prstGeom>
          <a:solidFill xmlns:a="http://schemas.openxmlformats.org/drawingml/2006/main">
            <a:srgbClr val="5EEA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BB9F24-4DD0-4A3E-AD8C-92FDA587B209}"/>
              </a:ext>
            </a:extLst>
          </p:cNvPr>
          <p:cNvSpPr>
            <a:spLocks xmlns:a="http://schemas.openxmlformats.org/drawingml/2006/main" noGrp="1"/>
          </p:cNvSpPr>
          <p:nvPr/>
        </p:nvSpPr>
        <p:spPr>
          <a:xfrm xmlns:a="http://schemas.openxmlformats.org/drawingml/2006/main">
            <a:off x="685800" y="704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EEAD4"/>
                </a:solidFill>
                <a:latin typeface="Arial"/>
                <a:ea typeface="Arial"/>
                <a:cs typeface="Arial"/>
              </a:defRPr>
            </a:defPPr>
            <a:lvl1pPr>
              <a:defRPr sz="1200" b="1">
                <a:solidFill>
                  <a:srgbClr val="5EEAD4"/>
                </a:solidFill>
                <a:latin typeface="Arial"/>
                <a:ea typeface="Arial"/>
                <a:cs typeface="Arial"/>
              </a:defRPr>
            </a:lvl1pPr>
            <a:lvl2pPr>
              <a:defRPr sz="1200" b="1">
                <a:solidFill>
                  <a:srgbClr val="5EEAD4"/>
                </a:solidFill>
                <a:latin typeface="Arial"/>
                <a:ea typeface="Arial"/>
                <a:cs typeface="Arial"/>
              </a:defRPr>
            </a:lvl2pPr>
            <a:lvl3pPr>
              <a:defRPr sz="1200" b="1">
                <a:solidFill>
                  <a:srgbClr val="5EEAD4"/>
                </a:solidFill>
                <a:latin typeface="Arial"/>
                <a:ea typeface="Arial"/>
                <a:cs typeface="Arial"/>
              </a:defRPr>
            </a:lvl3pPr>
            <a:lvl4pPr>
              <a:defRPr sz="1200" b="1">
                <a:solidFill>
                  <a:srgbClr val="5EEAD4"/>
                </a:solidFill>
                <a:latin typeface="Arial"/>
                <a:ea typeface="Arial"/>
                <a:cs typeface="Arial"/>
              </a:defRPr>
            </a:lvl4pPr>
            <a:lvl5pPr>
              <a:defRPr sz="1200" b="1">
                <a:solidFill>
                  <a:srgbClr val="5EEAD4"/>
                </a:solidFill>
                <a:latin typeface="Arial"/>
                <a:ea typeface="Arial"/>
                <a:cs typeface="Arial"/>
              </a:defRPr>
            </a:lvl5pPr>
            <a:lvl6pPr>
              <a:defRPr sz="1200" b="1">
                <a:solidFill>
                  <a:srgbClr val="5EEAD4"/>
                </a:solidFill>
                <a:latin typeface="Arial"/>
                <a:ea typeface="Arial"/>
                <a:cs typeface="Arial"/>
              </a:defRPr>
            </a:lvl6pPr>
            <a:lvl7pPr>
              <a:defRPr sz="1200" b="1">
                <a:solidFill>
                  <a:srgbClr val="5EEAD4"/>
                </a:solidFill>
                <a:latin typeface="Arial"/>
                <a:ea typeface="Arial"/>
                <a:cs typeface="Arial"/>
              </a:defRPr>
            </a:lvl7pPr>
            <a:lvl8pPr>
              <a:defRPr sz="1200" b="1">
                <a:solidFill>
                  <a:srgbClr val="5EEAD4"/>
                </a:solidFill>
                <a:latin typeface="Arial"/>
                <a:ea typeface="Arial"/>
                <a:cs typeface="Arial"/>
              </a:defRPr>
            </a:lvl8pPr>
            <a:lvl9pPr>
              <a:defRPr sz="1200" b="1">
                <a:solidFill>
                  <a:srgbClr val="5EEAD4"/>
                </a:solidFill>
                <a:latin typeface="Arial"/>
                <a:ea typeface="Arial"/>
                <a:cs typeface="Arial"/>
              </a:defRPr>
            </a:lvl9pPr>
          </a:lstStyle>
          <a:p xmlns:a="http://schemas.openxmlformats.org/drawingml/2006/main">
            <a:pPr>
              <a:defRPr sz="1200" b="1">
                <a:solidFill>
                  <a:srgbClr val="5EEAD4"/>
                </a:solidFill>
                <a:latin typeface="Arial"/>
                <a:ea typeface="Arial"/>
                <a:cs typeface="Arial"/>
              </a:defRPr>
            </a:pPr>
            <a:r>
              <a:rPr sz="1200" b="1">
                <a:solidFill>
                  <a:srgbClr val="5EEAD4"/>
                </a:solidFill>
                <a:latin typeface="Arial"/>
                <a:ea typeface="Arial"/>
                <a:cs typeface="Arial"/>
              </a:rPr>
              <a:t>ME3 VOICE DUPLEX</a:t>
            </a:r>
          </a:p>
        </p:txBody>
      </p:sp>
      <p:sp>
        <p:nvSpPr>
          <p:cNvPr id="5" name="">
            <a:extLst xmlns:a="http://schemas.openxmlformats.org/drawingml/2006/main">
              <a:ext uri="{FF2B5EF4-FFF2-40B4-BE49-F238E27FC236}">
                <a16:creationId xmlns:a16="http://schemas.microsoft.com/office/drawing/2014/main" id="{19DC700C-FDD8-4307-A14B-F84A3A43386F}"/>
              </a:ext>
            </a:extLst>
          </p:cNvPr>
          <p:cNvSpPr>
            <a:spLocks xmlns:a="http://schemas.openxmlformats.org/drawingml/2006/main" noGrp="1"/>
          </p:cNvSpPr>
          <p:nvPr/>
        </p:nvSpPr>
        <p:spPr>
          <a:xfrm xmlns:a="http://schemas.openxmlformats.org/drawingml/2006/main">
            <a:off x="685800" y="1381125"/>
            <a:ext cx="6286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AFC"/>
                </a:solidFill>
                <a:latin typeface="Arial"/>
                <a:ea typeface="Arial"/>
                <a:cs typeface="Arial"/>
              </a:defRPr>
            </a:defPPr>
            <a:lvl1pPr>
              <a:defRPr sz="4050" b="1">
                <a:solidFill>
                  <a:srgbClr val="F7FAFC"/>
                </a:solidFill>
                <a:latin typeface="Arial"/>
                <a:ea typeface="Arial"/>
                <a:cs typeface="Arial"/>
              </a:defRPr>
            </a:lvl1pPr>
            <a:lvl2pPr>
              <a:defRPr sz="4050" b="1">
                <a:solidFill>
                  <a:srgbClr val="F7FAFC"/>
                </a:solidFill>
                <a:latin typeface="Arial"/>
                <a:ea typeface="Arial"/>
                <a:cs typeface="Arial"/>
              </a:defRPr>
            </a:lvl2pPr>
            <a:lvl3pPr>
              <a:defRPr sz="4050" b="1">
                <a:solidFill>
                  <a:srgbClr val="F7FAFC"/>
                </a:solidFill>
                <a:latin typeface="Arial"/>
                <a:ea typeface="Arial"/>
                <a:cs typeface="Arial"/>
              </a:defRPr>
            </a:lvl3pPr>
            <a:lvl4pPr>
              <a:defRPr sz="4050" b="1">
                <a:solidFill>
                  <a:srgbClr val="F7FAFC"/>
                </a:solidFill>
                <a:latin typeface="Arial"/>
                <a:ea typeface="Arial"/>
                <a:cs typeface="Arial"/>
              </a:defRPr>
            </a:lvl4pPr>
            <a:lvl5pPr>
              <a:defRPr sz="4050" b="1">
                <a:solidFill>
                  <a:srgbClr val="F7FAFC"/>
                </a:solidFill>
                <a:latin typeface="Arial"/>
                <a:ea typeface="Arial"/>
                <a:cs typeface="Arial"/>
              </a:defRPr>
            </a:lvl5pPr>
            <a:lvl6pPr>
              <a:defRPr sz="4050" b="1">
                <a:solidFill>
                  <a:srgbClr val="F7FAFC"/>
                </a:solidFill>
                <a:latin typeface="Arial"/>
                <a:ea typeface="Arial"/>
                <a:cs typeface="Arial"/>
              </a:defRPr>
            </a:lvl6pPr>
            <a:lvl7pPr>
              <a:defRPr sz="4050" b="1">
                <a:solidFill>
                  <a:srgbClr val="F7FAFC"/>
                </a:solidFill>
                <a:latin typeface="Arial"/>
                <a:ea typeface="Arial"/>
                <a:cs typeface="Arial"/>
              </a:defRPr>
            </a:lvl7pPr>
            <a:lvl8pPr>
              <a:defRPr sz="4050" b="1">
                <a:solidFill>
                  <a:srgbClr val="F7FAFC"/>
                </a:solidFill>
                <a:latin typeface="Arial"/>
                <a:ea typeface="Arial"/>
                <a:cs typeface="Arial"/>
              </a:defRPr>
            </a:lvl8pPr>
            <a:lvl9pPr>
              <a:defRPr sz="4050" b="1">
                <a:solidFill>
                  <a:srgbClr val="F7FAFC"/>
                </a:solidFill>
                <a:latin typeface="Arial"/>
                <a:ea typeface="Arial"/>
                <a:cs typeface="Arial"/>
              </a:defRPr>
            </a:lvl9pPr>
          </a:lstStyle>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From voice request</a:t>
            </a:r>
          </a:p>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to verified action</a:t>
            </a:r>
          </a:p>
        </p:txBody>
      </p:sp>
      <p:sp>
        <p:nvSpPr>
          <p:cNvPr id="6" name="">
            <a:extLst xmlns:a="http://schemas.openxmlformats.org/drawingml/2006/main">
              <a:ext uri="{FF2B5EF4-FFF2-40B4-BE49-F238E27FC236}">
                <a16:creationId xmlns:a16="http://schemas.microsoft.com/office/drawing/2014/main" id="{1E2CCD30-0600-4241-8A37-63B5C2E9319E}"/>
              </a:ext>
            </a:extLst>
          </p:cNvPr>
          <p:cNvSpPr>
            <a:spLocks xmlns:a="http://schemas.openxmlformats.org/drawingml/2006/main" noGrp="1"/>
          </p:cNvSpPr>
          <p:nvPr/>
        </p:nvSpPr>
        <p:spPr>
          <a:xfrm xmlns:a="http://schemas.openxmlformats.org/drawingml/2006/main">
            <a:off x="723900" y="3143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A8B8CA"/>
                </a:solidFill>
                <a:latin typeface="Arial"/>
                <a:ea typeface="Arial"/>
                <a:cs typeface="Arial"/>
              </a:defRPr>
            </a:defPPr>
            <a:lvl1pPr>
              <a:defRPr sz="1800">
                <a:solidFill>
                  <a:srgbClr val="A8B8CA"/>
                </a:solidFill>
                <a:latin typeface="Arial"/>
                <a:ea typeface="Arial"/>
                <a:cs typeface="Arial"/>
              </a:defRPr>
            </a:lvl1pPr>
            <a:lvl2pPr>
              <a:defRPr sz="1800">
                <a:solidFill>
                  <a:srgbClr val="A8B8CA"/>
                </a:solidFill>
                <a:latin typeface="Arial"/>
                <a:ea typeface="Arial"/>
                <a:cs typeface="Arial"/>
              </a:defRPr>
            </a:lvl2pPr>
            <a:lvl3pPr>
              <a:defRPr sz="1800">
                <a:solidFill>
                  <a:srgbClr val="A8B8CA"/>
                </a:solidFill>
                <a:latin typeface="Arial"/>
                <a:ea typeface="Arial"/>
                <a:cs typeface="Arial"/>
              </a:defRPr>
            </a:lvl3pPr>
            <a:lvl4pPr>
              <a:defRPr sz="1800">
                <a:solidFill>
                  <a:srgbClr val="A8B8CA"/>
                </a:solidFill>
                <a:latin typeface="Arial"/>
                <a:ea typeface="Arial"/>
                <a:cs typeface="Arial"/>
              </a:defRPr>
            </a:lvl4pPr>
            <a:lvl5pPr>
              <a:defRPr sz="1800">
                <a:solidFill>
                  <a:srgbClr val="A8B8CA"/>
                </a:solidFill>
                <a:latin typeface="Arial"/>
                <a:ea typeface="Arial"/>
                <a:cs typeface="Arial"/>
              </a:defRPr>
            </a:lvl5pPr>
            <a:lvl6pPr>
              <a:defRPr sz="1800">
                <a:solidFill>
                  <a:srgbClr val="A8B8CA"/>
                </a:solidFill>
                <a:latin typeface="Arial"/>
                <a:ea typeface="Arial"/>
                <a:cs typeface="Arial"/>
              </a:defRPr>
            </a:lvl6pPr>
            <a:lvl7pPr>
              <a:defRPr sz="1800">
                <a:solidFill>
                  <a:srgbClr val="A8B8CA"/>
                </a:solidFill>
                <a:latin typeface="Arial"/>
                <a:ea typeface="Arial"/>
                <a:cs typeface="Arial"/>
              </a:defRPr>
            </a:lvl7pPr>
            <a:lvl8pPr>
              <a:defRPr sz="1800">
                <a:solidFill>
                  <a:srgbClr val="A8B8CA"/>
                </a:solidFill>
                <a:latin typeface="Arial"/>
                <a:ea typeface="Arial"/>
                <a:cs typeface="Arial"/>
              </a:defRPr>
            </a:lvl8pPr>
            <a:lvl9pPr>
              <a:defRPr sz="1800">
                <a:solidFill>
                  <a:srgbClr val="A8B8CA"/>
                </a:solidFill>
                <a:latin typeface="Arial"/>
                <a:ea typeface="Arial"/>
                <a:cs typeface="Arial"/>
              </a:defRPr>
            </a:lvl9pPr>
          </a:lstStyle>
          <a:p xmlns:a="http://schemas.openxmlformats.org/drawingml/2006/main">
            <a:pPr>
              <a:defRPr sz="1800">
                <a:solidFill>
                  <a:srgbClr val="A8B8CA"/>
                </a:solidFill>
                <a:latin typeface="Arial"/>
                <a:ea typeface="Arial"/>
                <a:cs typeface="Arial"/>
              </a:defRPr>
            </a:pPr>
            <a:r>
              <a:rPr sz="1800">
                <a:solidFill>
                  <a:srgbClr val="A8B8CA"/>
                </a:solidFill>
                <a:latin typeface="Arial"/>
                <a:ea typeface="Arial"/>
                <a:cs typeface="Arial"/>
              </a:rPr>
              <a:t>A Raspberry Pi full-duplex agent with a Qwen tool-using brain</a:t>
            </a:r>
          </a:p>
        </p:txBody>
      </p:sp>
      <p:sp>
        <p:nvSpPr>
          <p:cNvPr id="7" name="cover-callout">
            <a:extLst xmlns:a="http://schemas.openxmlformats.org/drawingml/2006/main">
              <a:ext uri="{FF2B5EF4-FFF2-40B4-BE49-F238E27FC236}">
                <a16:creationId xmlns:a16="http://schemas.microsoft.com/office/drawing/2014/main" id="{ABF9EEC4-085A-4F6A-870F-036C2F9A8E60}"/>
              </a:ext>
            </a:extLst>
          </p:cNvPr>
          <p:cNvSpPr>
            <a:spLocks xmlns:a="http://schemas.openxmlformats.org/drawingml/2006/main" noGrp="1"/>
          </p:cNvSpPr>
          <p:nvPr/>
        </p:nvSpPr>
        <p:spPr>
          <a:xfrm xmlns:a="http://schemas.openxmlformats.org/drawingml/2006/main">
            <a:off x="723900" y="4095750"/>
            <a:ext cx="5429250" cy="762000"/>
          </a:xfrm>
          <a:prstGeom xmlns:a="http://schemas.openxmlformats.org/drawingml/2006/main" prst="roundRect">
            <a:avLst>
              <a:gd name="adj" fmla="val 15000"/>
            </a:avLst>
          </a:prstGeom>
          <a:solidFill xmlns:a="http://schemas.openxmlformats.org/drawingml/2006/main">
            <a:srgbClr val="143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35943D-D753-488F-ADBC-FEE9962DFBDA}"/>
              </a:ext>
            </a:extLst>
          </p:cNvPr>
          <p:cNvSpPr>
            <a:spLocks xmlns:a="http://schemas.openxmlformats.org/drawingml/2006/main" noGrp="1"/>
          </p:cNvSpPr>
          <p:nvPr/>
        </p:nvSpPr>
        <p:spPr>
          <a:xfrm xmlns:a="http://schemas.openxmlformats.org/drawingml/2006/main">
            <a:off x="971550" y="426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7F3D0"/>
                </a:solidFill>
                <a:latin typeface="Arial"/>
                <a:ea typeface="Arial"/>
                <a:cs typeface="Arial"/>
              </a:defRPr>
            </a:defPPr>
            <a:lvl1pPr>
              <a:defRPr sz="1650" b="1">
                <a:solidFill>
                  <a:srgbClr val="A7F3D0"/>
                </a:solidFill>
                <a:latin typeface="Arial"/>
                <a:ea typeface="Arial"/>
                <a:cs typeface="Arial"/>
              </a:defRPr>
            </a:lvl1pPr>
            <a:lvl2pPr>
              <a:defRPr sz="1650" b="1">
                <a:solidFill>
                  <a:srgbClr val="A7F3D0"/>
                </a:solidFill>
                <a:latin typeface="Arial"/>
                <a:ea typeface="Arial"/>
                <a:cs typeface="Arial"/>
              </a:defRPr>
            </a:lvl2pPr>
            <a:lvl3pPr>
              <a:defRPr sz="1650" b="1">
                <a:solidFill>
                  <a:srgbClr val="A7F3D0"/>
                </a:solidFill>
                <a:latin typeface="Arial"/>
                <a:ea typeface="Arial"/>
                <a:cs typeface="Arial"/>
              </a:defRPr>
            </a:lvl3pPr>
            <a:lvl4pPr>
              <a:defRPr sz="1650" b="1">
                <a:solidFill>
                  <a:srgbClr val="A7F3D0"/>
                </a:solidFill>
                <a:latin typeface="Arial"/>
                <a:ea typeface="Arial"/>
                <a:cs typeface="Arial"/>
              </a:defRPr>
            </a:lvl4pPr>
            <a:lvl5pPr>
              <a:defRPr sz="1650" b="1">
                <a:solidFill>
                  <a:srgbClr val="A7F3D0"/>
                </a:solidFill>
                <a:latin typeface="Arial"/>
                <a:ea typeface="Arial"/>
                <a:cs typeface="Arial"/>
              </a:defRPr>
            </a:lvl5pPr>
            <a:lvl6pPr>
              <a:defRPr sz="1650" b="1">
                <a:solidFill>
                  <a:srgbClr val="A7F3D0"/>
                </a:solidFill>
                <a:latin typeface="Arial"/>
                <a:ea typeface="Arial"/>
                <a:cs typeface="Arial"/>
              </a:defRPr>
            </a:lvl6pPr>
            <a:lvl7pPr>
              <a:defRPr sz="1650" b="1">
                <a:solidFill>
                  <a:srgbClr val="A7F3D0"/>
                </a:solidFill>
                <a:latin typeface="Arial"/>
                <a:ea typeface="Arial"/>
                <a:cs typeface="Arial"/>
              </a:defRPr>
            </a:lvl7pPr>
            <a:lvl8pPr>
              <a:defRPr sz="1650" b="1">
                <a:solidFill>
                  <a:srgbClr val="A7F3D0"/>
                </a:solidFill>
                <a:latin typeface="Arial"/>
                <a:ea typeface="Arial"/>
                <a:cs typeface="Arial"/>
              </a:defRPr>
            </a:lvl8pPr>
            <a:lvl9pPr>
              <a:defRPr sz="1650" b="1">
                <a:solidFill>
                  <a:srgbClr val="A7F3D0"/>
                </a:solidFill>
                <a:latin typeface="Arial"/>
                <a:ea typeface="Arial"/>
                <a:cs typeface="Arial"/>
              </a:defRPr>
            </a:lvl9pPr>
          </a:lstStyle>
          <a:p xmlns:a="http://schemas.openxmlformats.org/drawingml/2006/main">
            <a:pPr>
              <a:defRPr sz="1650" b="1">
                <a:solidFill>
                  <a:srgbClr val="A7F3D0"/>
                </a:solidFill>
                <a:latin typeface="Arial"/>
                <a:ea typeface="Arial"/>
                <a:cs typeface="Arial"/>
              </a:defRPr>
            </a:pPr>
            <a:r>
              <a:rPr sz="1650" b="1">
                <a:solidFill>
                  <a:srgbClr val="A7F3D0"/>
                </a:solidFill>
                <a:latin typeface="Arial"/>
                <a:ea typeface="Arial"/>
                <a:cs typeface="Arial"/>
              </a:rPr>
              <a:t>No task-specific training required</a:t>
            </a:r>
          </a:p>
        </p:txBody>
      </p:sp>
      <p:sp>
        <p:nvSpPr>
          <p:cNvPr id="9" name="">
            <a:extLst xmlns:a="http://schemas.openxmlformats.org/drawingml/2006/main">
              <a:ext uri="{FF2B5EF4-FFF2-40B4-BE49-F238E27FC236}">
                <a16:creationId xmlns:a16="http://schemas.microsoft.com/office/drawing/2014/main" id="{EB1DCB11-5A26-47E5-8C9F-288446183B7D}"/>
              </a:ext>
            </a:extLst>
          </p:cNvPr>
          <p:cNvSpPr>
            <a:spLocks xmlns:a="http://schemas.openxmlformats.org/drawingml/2006/main" noGrp="1"/>
          </p:cNvSpPr>
          <p:nvPr/>
        </p:nvSpPr>
        <p:spPr>
          <a:xfrm xmlns:a="http://schemas.openxmlformats.org/drawingml/2006/main">
            <a:off x="971550" y="4552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Inference + typed tools + verification</a:t>
            </a:r>
          </a:p>
        </p:txBody>
      </p:sp>
      <p:sp>
        <p:nvSpPr>
          <p:cNvPr id="10" name="">
            <a:extLst xmlns:a="http://schemas.openxmlformats.org/drawingml/2006/main">
              <a:ext uri="{FF2B5EF4-FFF2-40B4-BE49-F238E27FC236}">
                <a16:creationId xmlns:a16="http://schemas.microsoft.com/office/drawing/2014/main" id="{E9DC3FCA-F423-45F9-B802-41604DD6A6F7}"/>
              </a:ext>
            </a:extLst>
          </p:cNvPr>
          <p:cNvSpPr>
            <a:spLocks xmlns:a="http://schemas.openxmlformats.org/drawingml/2006/main" noGrp="1"/>
          </p:cNvSpPr>
          <p:nvPr/>
        </p:nvSpPr>
        <p:spPr>
          <a:xfrm xmlns:a="http://schemas.openxmlformats.org/drawingml/2006/main">
            <a:off x="723900" y="6000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Crizepvill F. Dumalaog  •  Mapua University  •  2026</a:t>
            </a:r>
          </a:p>
        </p:txBody>
      </p:sp>
    </p:spTree>
    <p:extLst>
      <p:ext uri="{BB962C8B-B14F-4D97-AF65-F5344CB8AC3E}">
        <p14:creationId xmlns:p14="http://schemas.microsoft.com/office/powerpoint/2010/main" val="1410752319"/>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ED2E299-2A7A-426B-A066-59A3A0FAFA7F}"/>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D1849457-B149-4EBE-BC69-12A0BB4CD3FC}"/>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A spoken request becomes a checked result</a:t>
            </a:r>
          </a:p>
        </p:txBody>
      </p:sp>
      <p:sp>
        <p:nvSpPr>
          <p:cNvPr id="3" name="">
            <a:extLst xmlns:a="http://schemas.openxmlformats.org/drawingml/2006/main">
              <a:ext uri="{FF2B5EF4-FFF2-40B4-BE49-F238E27FC236}">
                <a16:creationId xmlns:a16="http://schemas.microsoft.com/office/drawing/2014/main" id="{5F174E94-B0A4-4286-A9C6-77F33C2D8FAF}"/>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user stays in conversation while the model reasons and acts through bounded tools.</a:t>
            </a:r>
          </a:p>
        </p:txBody>
      </p:sp>
      <p:cxnSp>
        <p:nvCxnSpPr>
          <p:cNvPr id="4" name="sequence-1">
            <a:extLst xmlns:a="http://schemas.openxmlformats.org/drawingml/2006/main">
              <a:ext uri="{FF2B5EF4-FFF2-40B4-BE49-F238E27FC236}">
                <a16:creationId xmlns:a16="http://schemas.microsoft.com/office/drawing/2014/main" id="{3F83432E-7FAC-4F73-9BAC-B413CD800BAA}"/>
              </a:ext>
            </a:extLst>
          </p:cNvPr>
          <p:cNvCxnSpPr/>
          <p:nvPr/>
        </p:nvCxnSpPr>
        <p:spPr>
          <a:xfrm xmlns:a="http://schemas.openxmlformats.org/drawingml/2006/main">
            <a:off x="2247900" y="3143250"/>
            <a:ext cx="952500"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sequence-2">
            <a:extLst xmlns:a="http://schemas.openxmlformats.org/drawingml/2006/main">
              <a:ext uri="{FF2B5EF4-FFF2-40B4-BE49-F238E27FC236}">
                <a16:creationId xmlns:a16="http://schemas.microsoft.com/office/drawing/2014/main" id="{0383DCB2-AC15-4B5B-B3DE-184AC32E0074}"/>
              </a:ext>
            </a:extLst>
          </p:cNvPr>
          <p:cNvCxnSpPr/>
          <p:nvPr/>
        </p:nvCxnSpPr>
        <p:spPr>
          <a:xfrm xmlns:a="http://schemas.openxmlformats.org/drawingml/2006/main">
            <a:off x="4819650" y="3143250"/>
            <a:ext cx="952500"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sequence-3">
            <a:extLst xmlns:a="http://schemas.openxmlformats.org/drawingml/2006/main">
              <a:ext uri="{FF2B5EF4-FFF2-40B4-BE49-F238E27FC236}">
                <a16:creationId xmlns:a16="http://schemas.microsoft.com/office/drawing/2014/main" id="{5AD4D370-3967-4913-9350-B956A4F0C978}"/>
              </a:ext>
            </a:extLst>
          </p:cNvPr>
          <p:cNvCxnSpPr/>
          <p:nvPr/>
        </p:nvCxnSpPr>
        <p:spPr>
          <a:xfrm xmlns:a="http://schemas.openxmlformats.org/drawingml/2006/main">
            <a:off x="7391400" y="3143250"/>
            <a:ext cx="952500" cy="0"/>
          </a:xfrm>
          <a:prstGeom xmlns:a="http://schemas.openxmlformats.org/drawingml/2006/main" prst="straightConnector1">
            <a:avLst/>
          </a:prstGeom>
          <a:ln xmlns:a="http://schemas.openxmlformats.org/drawingml/2006/main" w="19050">
            <a:solidFill>
              <a:srgbClr val="FCD34D"/>
            </a:solidFill>
            <a:prstDash val="solid"/>
            <a:tailEnd type="arrow" w="med" len="med"/>
          </a:ln>
        </p:spPr>
      </p:cxnSp>
      <p:sp>
        <p:nvSpPr>
          <p:cNvPr id="7" name="sequence-node-0">
            <a:extLst xmlns:a="http://schemas.openxmlformats.org/drawingml/2006/main">
              <a:ext uri="{FF2B5EF4-FFF2-40B4-BE49-F238E27FC236}">
                <a16:creationId xmlns:a16="http://schemas.microsoft.com/office/drawing/2014/main" id="{2990304E-2328-47E7-B32F-539E252A88A0}"/>
              </a:ext>
            </a:extLst>
          </p:cNvPr>
          <p:cNvSpPr>
            <a:spLocks xmlns:a="http://schemas.openxmlformats.org/drawingml/2006/main" noGrp="1"/>
          </p:cNvSpPr>
          <p:nvPr/>
        </p:nvSpPr>
        <p:spPr>
          <a:xfrm xmlns:a="http://schemas.openxmlformats.org/drawingml/2006/main">
            <a:off x="7620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5EEAD4"/>
            </a:solidFill>
            <a:prstDash val="solid"/>
          </a:ln>
        </p:spPr>
      </p:sp>
      <p:sp>
        <p:nvSpPr>
          <p:cNvPr id="8" name="">
            <a:extLst xmlns:a="http://schemas.openxmlformats.org/drawingml/2006/main">
              <a:ext uri="{FF2B5EF4-FFF2-40B4-BE49-F238E27FC236}">
                <a16:creationId xmlns:a16="http://schemas.microsoft.com/office/drawing/2014/main" id="{3A27E3D5-9EB8-46D3-A35E-8245709DEB76}"/>
              </a:ext>
            </a:extLst>
          </p:cNvPr>
          <p:cNvSpPr>
            <a:spLocks xmlns:a="http://schemas.openxmlformats.org/drawingml/2006/main" noGrp="1"/>
          </p:cNvSpPr>
          <p:nvPr/>
        </p:nvSpPr>
        <p:spPr>
          <a:xfrm xmlns:a="http://schemas.openxmlformats.org/drawingml/2006/main">
            <a:off x="9334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643FFEC-2977-49D8-824E-5025EC4A096D}"/>
              </a:ext>
            </a:extLst>
          </p:cNvPr>
          <p:cNvSpPr>
            <a:spLocks xmlns:a="http://schemas.openxmlformats.org/drawingml/2006/main" noGrp="1"/>
          </p:cNvSpPr>
          <p:nvPr/>
        </p:nvSpPr>
        <p:spPr>
          <a:xfrm xmlns:a="http://schemas.openxmlformats.org/drawingml/2006/main">
            <a:off x="9334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Speak</a:t>
            </a:r>
          </a:p>
        </p:txBody>
      </p:sp>
      <p:sp>
        <p:nvSpPr>
          <p:cNvPr id="10" name="">
            <a:extLst xmlns:a="http://schemas.openxmlformats.org/drawingml/2006/main">
              <a:ext uri="{FF2B5EF4-FFF2-40B4-BE49-F238E27FC236}">
                <a16:creationId xmlns:a16="http://schemas.microsoft.com/office/drawing/2014/main" id="{5D0668B2-5385-4322-825E-58E3D7E296D0}"/>
              </a:ext>
            </a:extLst>
          </p:cNvPr>
          <p:cNvSpPr>
            <a:spLocks xmlns:a="http://schemas.openxmlformats.org/drawingml/2006/main" noGrp="1"/>
          </p:cNvSpPr>
          <p:nvPr/>
        </p:nvSpPr>
        <p:spPr>
          <a:xfrm xmlns:a="http://schemas.openxmlformats.org/drawingml/2006/main">
            <a:off x="9334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“Build me a web app”</a:t>
            </a:r>
          </a:p>
        </p:txBody>
      </p:sp>
      <p:sp>
        <p:nvSpPr>
          <p:cNvPr id="11" name="sequence-node-1">
            <a:extLst xmlns:a="http://schemas.openxmlformats.org/drawingml/2006/main">
              <a:ext uri="{FF2B5EF4-FFF2-40B4-BE49-F238E27FC236}">
                <a16:creationId xmlns:a16="http://schemas.microsoft.com/office/drawing/2014/main" id="{D2CD329A-F6B7-46EC-BC71-0E5609176183}"/>
              </a:ext>
            </a:extLst>
          </p:cNvPr>
          <p:cNvSpPr>
            <a:spLocks xmlns:a="http://schemas.openxmlformats.org/drawingml/2006/main" noGrp="1"/>
          </p:cNvSpPr>
          <p:nvPr/>
        </p:nvSpPr>
        <p:spPr>
          <a:xfrm xmlns:a="http://schemas.openxmlformats.org/drawingml/2006/main">
            <a:off x="33337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60A5FA"/>
            </a:solidFill>
            <a:prstDash val="solid"/>
          </a:ln>
        </p:spPr>
      </p:sp>
      <p:sp>
        <p:nvSpPr>
          <p:cNvPr id="12" name="">
            <a:extLst xmlns:a="http://schemas.openxmlformats.org/drawingml/2006/main">
              <a:ext uri="{FF2B5EF4-FFF2-40B4-BE49-F238E27FC236}">
                <a16:creationId xmlns:a16="http://schemas.microsoft.com/office/drawing/2014/main" id="{3022941D-4DDA-429E-BAA5-20F9B241865C}"/>
              </a:ext>
            </a:extLst>
          </p:cNvPr>
          <p:cNvSpPr>
            <a:spLocks xmlns:a="http://schemas.openxmlformats.org/drawingml/2006/main" noGrp="1"/>
          </p:cNvSpPr>
          <p:nvPr/>
        </p:nvSpPr>
        <p:spPr>
          <a:xfrm xmlns:a="http://schemas.openxmlformats.org/drawingml/2006/main">
            <a:off x="35052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C992CE84-82D7-40EC-B67A-1AC5EB68210A}"/>
              </a:ext>
            </a:extLst>
          </p:cNvPr>
          <p:cNvSpPr>
            <a:spLocks xmlns:a="http://schemas.openxmlformats.org/drawingml/2006/main" noGrp="1"/>
          </p:cNvSpPr>
          <p:nvPr/>
        </p:nvSpPr>
        <p:spPr>
          <a:xfrm xmlns:a="http://schemas.openxmlformats.org/drawingml/2006/main">
            <a:off x="35052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4D9E0FF5-FEBA-46EE-B607-9099E59C8C14}"/>
              </a:ext>
            </a:extLst>
          </p:cNvPr>
          <p:cNvSpPr>
            <a:spLocks xmlns:a="http://schemas.openxmlformats.org/drawingml/2006/main" noGrp="1"/>
          </p:cNvSpPr>
          <p:nvPr/>
        </p:nvSpPr>
        <p:spPr>
          <a:xfrm xmlns:a="http://schemas.openxmlformats.org/drawingml/2006/main">
            <a:off x="35052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Qwen selects tool calls</a:t>
            </a:r>
          </a:p>
        </p:txBody>
      </p:sp>
      <p:sp>
        <p:nvSpPr>
          <p:cNvPr id="15" name="sequence-node-2">
            <a:extLst xmlns:a="http://schemas.openxmlformats.org/drawingml/2006/main">
              <a:ext uri="{FF2B5EF4-FFF2-40B4-BE49-F238E27FC236}">
                <a16:creationId xmlns:a16="http://schemas.microsoft.com/office/drawing/2014/main" id="{4375F762-7E48-45AD-B6E3-E96C802DE262}"/>
              </a:ext>
            </a:extLst>
          </p:cNvPr>
          <p:cNvSpPr>
            <a:spLocks xmlns:a="http://schemas.openxmlformats.org/drawingml/2006/main" noGrp="1"/>
          </p:cNvSpPr>
          <p:nvPr/>
        </p:nvSpPr>
        <p:spPr>
          <a:xfrm xmlns:a="http://schemas.openxmlformats.org/drawingml/2006/main">
            <a:off x="59055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FCD34D"/>
            </a:solidFill>
            <a:prstDash val="solid"/>
          </a:ln>
        </p:spPr>
      </p:sp>
      <p:sp>
        <p:nvSpPr>
          <p:cNvPr id="16" name="">
            <a:extLst xmlns:a="http://schemas.openxmlformats.org/drawingml/2006/main">
              <a:ext uri="{FF2B5EF4-FFF2-40B4-BE49-F238E27FC236}">
                <a16:creationId xmlns:a16="http://schemas.microsoft.com/office/drawing/2014/main" id="{F5BACA0B-30A0-4FAB-969B-45EBC7E29962}"/>
              </a:ext>
            </a:extLst>
          </p:cNvPr>
          <p:cNvSpPr>
            <a:spLocks xmlns:a="http://schemas.openxmlformats.org/drawingml/2006/main" noGrp="1"/>
          </p:cNvSpPr>
          <p:nvPr/>
        </p:nvSpPr>
        <p:spPr>
          <a:xfrm xmlns:a="http://schemas.openxmlformats.org/drawingml/2006/main">
            <a:off x="60769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2A8E52E1-E359-4F95-A49C-FA7447DB488C}"/>
              </a:ext>
            </a:extLst>
          </p:cNvPr>
          <p:cNvSpPr>
            <a:spLocks xmlns:a="http://schemas.openxmlformats.org/drawingml/2006/main" noGrp="1"/>
          </p:cNvSpPr>
          <p:nvPr/>
        </p:nvSpPr>
        <p:spPr>
          <a:xfrm xmlns:a="http://schemas.openxmlformats.org/drawingml/2006/main">
            <a:off x="60769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Act</a:t>
            </a:r>
          </a:p>
        </p:txBody>
      </p:sp>
      <p:sp>
        <p:nvSpPr>
          <p:cNvPr id="18" name="">
            <a:extLst xmlns:a="http://schemas.openxmlformats.org/drawingml/2006/main">
              <a:ext uri="{FF2B5EF4-FFF2-40B4-BE49-F238E27FC236}">
                <a16:creationId xmlns:a16="http://schemas.microsoft.com/office/drawing/2014/main" id="{68A78A08-8731-4CD8-96AB-D1E6660EFBEE}"/>
              </a:ext>
            </a:extLst>
          </p:cNvPr>
          <p:cNvSpPr>
            <a:spLocks xmlns:a="http://schemas.openxmlformats.org/drawingml/2006/main" noGrp="1"/>
          </p:cNvSpPr>
          <p:nvPr/>
        </p:nvSpPr>
        <p:spPr>
          <a:xfrm xmlns:a="http://schemas.openxmlformats.org/drawingml/2006/main">
            <a:off x="60769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Files, web, commands, jobs</a:t>
            </a:r>
          </a:p>
        </p:txBody>
      </p:sp>
      <p:sp>
        <p:nvSpPr>
          <p:cNvPr id="19" name="sequence-node-3">
            <a:extLst xmlns:a="http://schemas.openxmlformats.org/drawingml/2006/main">
              <a:ext uri="{FF2B5EF4-FFF2-40B4-BE49-F238E27FC236}">
                <a16:creationId xmlns:a16="http://schemas.microsoft.com/office/drawing/2014/main" id="{6BB049B8-C2E7-4D5C-AC9C-6810578602F5}"/>
              </a:ext>
            </a:extLst>
          </p:cNvPr>
          <p:cNvSpPr>
            <a:spLocks xmlns:a="http://schemas.openxmlformats.org/drawingml/2006/main" noGrp="1"/>
          </p:cNvSpPr>
          <p:nvPr/>
        </p:nvSpPr>
        <p:spPr>
          <a:xfrm xmlns:a="http://schemas.openxmlformats.org/drawingml/2006/main">
            <a:off x="84772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A7F3D0"/>
            </a:solidFill>
            <a:prstDash val="solid"/>
          </a:ln>
        </p:spPr>
      </p:sp>
      <p:sp>
        <p:nvSpPr>
          <p:cNvPr id="20" name="">
            <a:extLst xmlns:a="http://schemas.openxmlformats.org/drawingml/2006/main">
              <a:ext uri="{FF2B5EF4-FFF2-40B4-BE49-F238E27FC236}">
                <a16:creationId xmlns:a16="http://schemas.microsoft.com/office/drawing/2014/main" id="{37C1050C-1B94-44E4-8C8F-9594A4B1E572}"/>
              </a:ext>
            </a:extLst>
          </p:cNvPr>
          <p:cNvSpPr>
            <a:spLocks xmlns:a="http://schemas.openxmlformats.org/drawingml/2006/main" noGrp="1"/>
          </p:cNvSpPr>
          <p:nvPr/>
        </p:nvSpPr>
        <p:spPr>
          <a:xfrm xmlns:a="http://schemas.openxmlformats.org/drawingml/2006/main">
            <a:off x="86487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1A256937-EBDA-47FE-A09E-10BE5320A884}"/>
              </a:ext>
            </a:extLst>
          </p:cNvPr>
          <p:cNvSpPr>
            <a:spLocks xmlns:a="http://schemas.openxmlformats.org/drawingml/2006/main" noGrp="1"/>
          </p:cNvSpPr>
          <p:nvPr/>
        </p:nvSpPr>
        <p:spPr>
          <a:xfrm xmlns:a="http://schemas.openxmlformats.org/drawingml/2006/main">
            <a:off x="86487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A7ADA77F-17D2-480B-944E-BA926826468F}"/>
              </a:ext>
            </a:extLst>
          </p:cNvPr>
          <p:cNvSpPr>
            <a:spLocks xmlns:a="http://schemas.openxmlformats.org/drawingml/2006/main" noGrp="1"/>
          </p:cNvSpPr>
          <p:nvPr/>
        </p:nvSpPr>
        <p:spPr>
          <a:xfrm xmlns:a="http://schemas.openxmlformats.org/drawingml/2006/main">
            <a:off x="86487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Read-back + verification</a:t>
            </a:r>
          </a:p>
        </p:txBody>
      </p:sp>
      <p:sp>
        <p:nvSpPr>
          <p:cNvPr id="23" name="sequence-caption">
            <a:extLst xmlns:a="http://schemas.openxmlformats.org/drawingml/2006/main">
              <a:ext uri="{FF2B5EF4-FFF2-40B4-BE49-F238E27FC236}">
                <a16:creationId xmlns:a16="http://schemas.microsoft.com/office/drawing/2014/main" id="{DA131D2E-E24B-4C8C-9071-0ABAAAB12BBE}"/>
              </a:ext>
            </a:extLst>
          </p:cNvPr>
          <p:cNvSpPr>
            <a:spLocks xmlns:a="http://schemas.openxmlformats.org/drawingml/2006/main" noGrp="1"/>
          </p:cNvSpPr>
          <p:nvPr/>
        </p:nvSpPr>
        <p:spPr>
          <a:xfrm xmlns:a="http://schemas.openxmlformats.org/drawingml/2006/main">
            <a:off x="1714500" y="4648200"/>
            <a:ext cx="8763000" cy="819150"/>
          </a:xfrm>
          <a:prstGeom xmlns:a="http://schemas.openxmlformats.org/drawingml/2006/main" prst="roundRect">
            <a:avLst>
              <a:gd name="adj" fmla="val 13953"/>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5697532-1FB0-4498-A23E-0F6FC313A657}"/>
              </a:ext>
            </a:extLst>
          </p:cNvPr>
          <p:cNvSpPr>
            <a:spLocks xmlns:a="http://schemas.openxmlformats.org/drawingml/2006/main" noGrp="1"/>
          </p:cNvSpPr>
          <p:nvPr/>
        </p:nvSpPr>
        <p:spPr>
          <a:xfrm xmlns:a="http://schemas.openxmlformats.org/drawingml/2006/main">
            <a:off x="2019300" y="48387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7FAFC"/>
                </a:solidFill>
                <a:latin typeface="Arial"/>
                <a:ea typeface="Arial"/>
                <a:cs typeface="Arial"/>
              </a:defRPr>
            </a:defPPr>
            <a:lvl1pPr>
              <a:defRPr sz="1725" b="1">
                <a:solidFill>
                  <a:srgbClr val="F7FAFC"/>
                </a:solidFill>
                <a:latin typeface="Arial"/>
                <a:ea typeface="Arial"/>
                <a:cs typeface="Arial"/>
              </a:defRPr>
            </a:lvl1pPr>
            <a:lvl2pPr>
              <a:defRPr sz="1725" b="1">
                <a:solidFill>
                  <a:srgbClr val="F7FAFC"/>
                </a:solidFill>
                <a:latin typeface="Arial"/>
                <a:ea typeface="Arial"/>
                <a:cs typeface="Arial"/>
              </a:defRPr>
            </a:lvl2pPr>
            <a:lvl3pPr>
              <a:defRPr sz="1725" b="1">
                <a:solidFill>
                  <a:srgbClr val="F7FAFC"/>
                </a:solidFill>
                <a:latin typeface="Arial"/>
                <a:ea typeface="Arial"/>
                <a:cs typeface="Arial"/>
              </a:defRPr>
            </a:lvl3pPr>
            <a:lvl4pPr>
              <a:defRPr sz="1725" b="1">
                <a:solidFill>
                  <a:srgbClr val="F7FAFC"/>
                </a:solidFill>
                <a:latin typeface="Arial"/>
                <a:ea typeface="Arial"/>
                <a:cs typeface="Arial"/>
              </a:defRPr>
            </a:lvl4pPr>
            <a:lvl5pPr>
              <a:defRPr sz="1725" b="1">
                <a:solidFill>
                  <a:srgbClr val="F7FAFC"/>
                </a:solidFill>
                <a:latin typeface="Arial"/>
                <a:ea typeface="Arial"/>
                <a:cs typeface="Arial"/>
              </a:defRPr>
            </a:lvl5pPr>
            <a:lvl6pPr>
              <a:defRPr sz="1725" b="1">
                <a:solidFill>
                  <a:srgbClr val="F7FAFC"/>
                </a:solidFill>
                <a:latin typeface="Arial"/>
                <a:ea typeface="Arial"/>
                <a:cs typeface="Arial"/>
              </a:defRPr>
            </a:lvl6pPr>
            <a:lvl7pPr>
              <a:defRPr sz="1725" b="1">
                <a:solidFill>
                  <a:srgbClr val="F7FAFC"/>
                </a:solidFill>
                <a:latin typeface="Arial"/>
                <a:ea typeface="Arial"/>
                <a:cs typeface="Arial"/>
              </a:defRPr>
            </a:lvl7pPr>
            <a:lvl8pPr>
              <a:defRPr sz="1725" b="1">
                <a:solidFill>
                  <a:srgbClr val="F7FAFC"/>
                </a:solidFill>
                <a:latin typeface="Arial"/>
                <a:ea typeface="Arial"/>
                <a:cs typeface="Arial"/>
              </a:defRPr>
            </a:lvl8pPr>
            <a:lvl9pPr>
              <a:defRPr sz="1725" b="1">
                <a:solidFill>
                  <a:srgbClr val="F7FAFC"/>
                </a:solidFill>
                <a:latin typeface="Arial"/>
                <a:ea typeface="Arial"/>
                <a:cs typeface="Arial"/>
              </a:defRPr>
            </a:lvl9pPr>
          </a:lstStyle>
          <a:p xmlns:a="http://schemas.openxmlformats.org/drawingml/2006/main">
            <a:pPr>
              <a:defRPr sz="1725" b="1">
                <a:solidFill>
                  <a:srgbClr val="F7FAFC"/>
                </a:solidFill>
                <a:latin typeface="Arial"/>
                <a:ea typeface="Arial"/>
                <a:cs typeface="Arial"/>
              </a:defRPr>
            </a:pPr>
            <a:r>
              <a:rPr sz="1725" b="1">
                <a:solidFill>
                  <a:srgbClr val="F7FAFC"/>
                </a:solidFill>
                <a:latin typeface="Arial"/>
                <a:ea typeface="Arial"/>
                <a:cs typeface="Arial"/>
              </a:rPr>
              <a:t>Full duplex means listening continues during playback.</a:t>
            </a:r>
          </a:p>
        </p:txBody>
      </p:sp>
      <p:sp>
        <p:nvSpPr>
          <p:cNvPr id="25" name="">
            <a:extLst xmlns:a="http://schemas.openxmlformats.org/drawingml/2006/main">
              <a:ext uri="{FF2B5EF4-FFF2-40B4-BE49-F238E27FC236}">
                <a16:creationId xmlns:a16="http://schemas.microsoft.com/office/drawing/2014/main" id="{20190CCC-CDB7-4207-9D2C-339F1C886C96}"/>
              </a:ext>
            </a:extLst>
          </p:cNvPr>
          <p:cNvSpPr>
            <a:spLocks xmlns:a="http://schemas.openxmlformats.org/drawingml/2006/main" noGrp="1"/>
          </p:cNvSpPr>
          <p:nvPr/>
        </p:nvSpPr>
        <p:spPr>
          <a:xfrm xmlns:a="http://schemas.openxmlformats.org/drawingml/2006/main">
            <a:off x="2019300" y="516255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Speech during TTS cancels playback and starts a new turn.</a:t>
            </a:r>
          </a:p>
        </p:txBody>
      </p:sp>
      <p:sp>
        <p:nvSpPr>
          <p:cNvPr id="26" name="">
            <a:extLst xmlns:a="http://schemas.openxmlformats.org/drawingml/2006/main">
              <a:ext uri="{FF2B5EF4-FFF2-40B4-BE49-F238E27FC236}">
                <a16:creationId xmlns:a16="http://schemas.microsoft.com/office/drawing/2014/main" id="{1B7C1D70-D4BE-4DEB-9ABF-B5C609B9CABA}"/>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2/7</a:t>
            </a:r>
          </a:p>
        </p:txBody>
      </p:sp>
    </p:spTree>
    <p:extLst>
      <p:ext uri="{BB962C8B-B14F-4D97-AF65-F5344CB8AC3E}">
        <p14:creationId xmlns:p14="http://schemas.microsoft.com/office/powerpoint/2010/main" val="1551131809"/>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79D3C56-5108-4617-A73A-827576B2C737}"/>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34C61D5C-2574-434B-8BAA-96821E062F9A}"/>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Local speech, remote reasoning, owned actions</a:t>
            </a:r>
          </a:p>
        </p:txBody>
      </p:sp>
      <p:sp>
        <p:nvSpPr>
          <p:cNvPr id="3" name="">
            <a:extLst xmlns:a="http://schemas.openxmlformats.org/drawingml/2006/main">
              <a:ext uri="{FF2B5EF4-FFF2-40B4-BE49-F238E27FC236}">
                <a16:creationId xmlns:a16="http://schemas.microsoft.com/office/drawing/2014/main" id="{29337D77-DA1E-4B53-9BD6-1D2B4339994E}"/>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Speech stays local; Qwen reasons remotely; typed tools own side effects.</a:t>
            </a:r>
          </a:p>
        </p:txBody>
      </p:sp>
      <p:cxnSp>
        <p:nvCxnSpPr>
          <p:cNvPr id="4" name="arch-local-to-qwen">
            <a:extLst xmlns:a="http://schemas.openxmlformats.org/drawingml/2006/main">
              <a:ext uri="{FF2B5EF4-FFF2-40B4-BE49-F238E27FC236}">
                <a16:creationId xmlns:a16="http://schemas.microsoft.com/office/drawing/2014/main" id="{70C0B6A8-51F5-4734-9C8B-8B00E4FF0C78}"/>
              </a:ext>
            </a:extLst>
          </p:cNvPr>
          <p:cNvCxnSpPr/>
          <p:nvPr/>
        </p:nvCxnSpPr>
        <p:spPr>
          <a:xfrm xmlns:a="http://schemas.openxmlformats.org/drawingml/2006/main">
            <a:off x="2333625" y="3181350"/>
            <a:ext cx="71437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arch-qwen-to-tools">
            <a:extLst xmlns:a="http://schemas.openxmlformats.org/drawingml/2006/main">
              <a:ext uri="{FF2B5EF4-FFF2-40B4-BE49-F238E27FC236}">
                <a16:creationId xmlns:a16="http://schemas.microsoft.com/office/drawing/2014/main" id="{10FC8D20-1FBF-4F2F-BDBC-2B179CB4C7C5}"/>
              </a:ext>
            </a:extLst>
          </p:cNvPr>
          <p:cNvCxnSpPr/>
          <p:nvPr/>
        </p:nvCxnSpPr>
        <p:spPr>
          <a:xfrm xmlns:a="http://schemas.openxmlformats.org/drawingml/2006/main">
            <a:off x="5381625" y="3181350"/>
            <a:ext cx="71437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arch-tools-to-response">
            <a:extLst xmlns:a="http://schemas.openxmlformats.org/drawingml/2006/main">
              <a:ext uri="{FF2B5EF4-FFF2-40B4-BE49-F238E27FC236}">
                <a16:creationId xmlns:a16="http://schemas.microsoft.com/office/drawing/2014/main" id="{94A1A0AB-4CFC-4281-B4E2-154B5BC03E24}"/>
              </a:ext>
            </a:extLst>
          </p:cNvPr>
          <p:cNvCxnSpPr/>
          <p:nvPr/>
        </p:nvCxnSpPr>
        <p:spPr>
          <a:xfrm xmlns:a="http://schemas.openxmlformats.org/drawingml/2006/main">
            <a:off x="8429625" y="3181350"/>
            <a:ext cx="714375" cy="0"/>
          </a:xfrm>
          <a:prstGeom xmlns:a="http://schemas.openxmlformats.org/drawingml/2006/main" prst="straightConnector1">
            <a:avLst/>
          </a:prstGeom>
          <a:ln xmlns:a="http://schemas.openxmlformats.org/drawingml/2006/main" w="19050">
            <a:solidFill>
              <a:srgbClr val="A7F3D0"/>
            </a:solidFill>
            <a:prstDash val="solid"/>
            <a:tailEnd type="arrow" w="med" len="med"/>
          </a:ln>
        </p:spPr>
      </p:cxnSp>
      <p:sp>
        <p:nvSpPr>
          <p:cNvPr id="7" name="arch-node-0">
            <a:extLst xmlns:a="http://schemas.openxmlformats.org/drawingml/2006/main">
              <a:ext uri="{FF2B5EF4-FFF2-40B4-BE49-F238E27FC236}">
                <a16:creationId xmlns:a16="http://schemas.microsoft.com/office/drawing/2014/main" id="{A7CE0329-D12F-4678-B08E-875C6E976A72}"/>
              </a:ext>
            </a:extLst>
          </p:cNvPr>
          <p:cNvSpPr>
            <a:spLocks xmlns:a="http://schemas.openxmlformats.org/drawingml/2006/main" noGrp="1"/>
          </p:cNvSpPr>
          <p:nvPr/>
        </p:nvSpPr>
        <p:spPr>
          <a:xfrm xmlns:a="http://schemas.openxmlformats.org/drawingml/2006/main">
            <a:off x="666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5EEAD4"/>
            </a:solidFill>
            <a:prstDash val="solid"/>
          </a:ln>
        </p:spPr>
      </p:sp>
      <p:sp>
        <p:nvSpPr>
          <p:cNvPr id="8" name="arch-accent-0">
            <a:extLst xmlns:a="http://schemas.openxmlformats.org/drawingml/2006/main">
              <a:ext uri="{FF2B5EF4-FFF2-40B4-BE49-F238E27FC236}">
                <a16:creationId xmlns:a16="http://schemas.microsoft.com/office/drawing/2014/main" id="{FB87CBC9-C9D9-4A6A-84F0-DC2ED5F33ED8}"/>
              </a:ext>
            </a:extLst>
          </p:cNvPr>
          <p:cNvSpPr>
            <a:spLocks xmlns:a="http://schemas.openxmlformats.org/drawingml/2006/main" noGrp="1"/>
          </p:cNvSpPr>
          <p:nvPr/>
        </p:nvSpPr>
        <p:spPr>
          <a:xfrm xmlns:a="http://schemas.openxmlformats.org/drawingml/2006/main">
            <a:off x="857250" y="2514600"/>
            <a:ext cx="457200" cy="5715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1B30E7-E3C0-42B2-8474-3F0C3A02068C}"/>
              </a:ext>
            </a:extLst>
          </p:cNvPr>
          <p:cNvSpPr>
            <a:spLocks xmlns:a="http://schemas.openxmlformats.org/drawingml/2006/main" noGrp="1"/>
          </p:cNvSpPr>
          <p:nvPr/>
        </p:nvSpPr>
        <p:spPr>
          <a:xfrm xmlns:a="http://schemas.openxmlformats.org/drawingml/2006/main">
            <a:off x="857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LOCAL AUDIO</a:t>
            </a:r>
          </a:p>
        </p:txBody>
      </p:sp>
      <p:sp>
        <p:nvSpPr>
          <p:cNvPr id="10" name="">
            <a:extLst xmlns:a="http://schemas.openxmlformats.org/drawingml/2006/main">
              <a:ext uri="{FF2B5EF4-FFF2-40B4-BE49-F238E27FC236}">
                <a16:creationId xmlns:a16="http://schemas.microsoft.com/office/drawing/2014/main" id="{379B6050-20B8-458B-99E3-76195ADC22E0}"/>
              </a:ext>
            </a:extLst>
          </p:cNvPr>
          <p:cNvSpPr>
            <a:spLocks xmlns:a="http://schemas.openxmlformats.org/drawingml/2006/main" noGrp="1"/>
          </p:cNvSpPr>
          <p:nvPr/>
        </p:nvSpPr>
        <p:spPr>
          <a:xfrm xmlns:a="http://schemas.openxmlformats.org/drawingml/2006/main">
            <a:off x="857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Mic → VAD → ASR</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TTS → speaker</a:t>
            </a:r>
          </a:p>
        </p:txBody>
      </p:sp>
      <p:sp>
        <p:nvSpPr>
          <p:cNvPr id="11" name="">
            <a:extLst xmlns:a="http://schemas.openxmlformats.org/drawingml/2006/main">
              <a:ext uri="{FF2B5EF4-FFF2-40B4-BE49-F238E27FC236}">
                <a16:creationId xmlns:a16="http://schemas.microsoft.com/office/drawing/2014/main" id="{16724BC7-8E22-4F21-9ED8-3B111534924E}"/>
              </a:ext>
            </a:extLst>
          </p:cNvPr>
          <p:cNvSpPr>
            <a:spLocks xmlns:a="http://schemas.openxmlformats.org/drawingml/2006/main" noGrp="1"/>
          </p:cNvSpPr>
          <p:nvPr/>
        </p:nvSpPr>
        <p:spPr>
          <a:xfrm xmlns:a="http://schemas.openxmlformats.org/drawingml/2006/main">
            <a:off x="857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Pi / Windows</a:t>
            </a:r>
          </a:p>
        </p:txBody>
      </p:sp>
      <p:sp>
        <p:nvSpPr>
          <p:cNvPr id="12" name="arch-node-1">
            <a:extLst xmlns:a="http://schemas.openxmlformats.org/drawingml/2006/main">
              <a:ext uri="{FF2B5EF4-FFF2-40B4-BE49-F238E27FC236}">
                <a16:creationId xmlns:a16="http://schemas.microsoft.com/office/drawing/2014/main" id="{987EB10B-714E-418A-B153-5D2B75975ACB}"/>
              </a:ext>
            </a:extLst>
          </p:cNvPr>
          <p:cNvSpPr>
            <a:spLocks xmlns:a="http://schemas.openxmlformats.org/drawingml/2006/main" noGrp="1"/>
          </p:cNvSpPr>
          <p:nvPr/>
        </p:nvSpPr>
        <p:spPr>
          <a:xfrm xmlns:a="http://schemas.openxmlformats.org/drawingml/2006/main">
            <a:off x="3714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60A5FA"/>
            </a:solidFill>
            <a:prstDash val="solid"/>
          </a:ln>
        </p:spPr>
      </p:sp>
      <p:sp>
        <p:nvSpPr>
          <p:cNvPr id="13" name="arch-accent-1">
            <a:extLst xmlns:a="http://schemas.openxmlformats.org/drawingml/2006/main">
              <a:ext uri="{FF2B5EF4-FFF2-40B4-BE49-F238E27FC236}">
                <a16:creationId xmlns:a16="http://schemas.microsoft.com/office/drawing/2014/main" id="{C9D4A287-3B37-4B4D-891B-9985FCC08CB0}"/>
              </a:ext>
            </a:extLst>
          </p:cNvPr>
          <p:cNvSpPr>
            <a:spLocks xmlns:a="http://schemas.openxmlformats.org/drawingml/2006/main" noGrp="1"/>
          </p:cNvSpPr>
          <p:nvPr/>
        </p:nvSpPr>
        <p:spPr>
          <a:xfrm xmlns:a="http://schemas.openxmlformats.org/drawingml/2006/main">
            <a:off x="3905250" y="2514600"/>
            <a:ext cx="457200" cy="5715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B38490-09CB-4FC3-91DC-12B98EEF16FB}"/>
              </a:ext>
            </a:extLst>
          </p:cNvPr>
          <p:cNvSpPr>
            <a:spLocks xmlns:a="http://schemas.openxmlformats.org/drawingml/2006/main" noGrp="1"/>
          </p:cNvSpPr>
          <p:nvPr/>
        </p:nvSpPr>
        <p:spPr>
          <a:xfrm xmlns:a="http://schemas.openxmlformats.org/drawingml/2006/main">
            <a:off x="3905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QWEN BRAIN</a:t>
            </a:r>
          </a:p>
        </p:txBody>
      </p:sp>
      <p:sp>
        <p:nvSpPr>
          <p:cNvPr id="15" name="">
            <a:extLst xmlns:a="http://schemas.openxmlformats.org/drawingml/2006/main">
              <a:ext uri="{FF2B5EF4-FFF2-40B4-BE49-F238E27FC236}">
                <a16:creationId xmlns:a16="http://schemas.microsoft.com/office/drawing/2014/main" id="{EE9DC10A-665A-467F-A23B-D05214F62835}"/>
              </a:ext>
            </a:extLst>
          </p:cNvPr>
          <p:cNvSpPr>
            <a:spLocks xmlns:a="http://schemas.openxmlformats.org/drawingml/2006/main" noGrp="1"/>
          </p:cNvSpPr>
          <p:nvPr/>
        </p:nvSpPr>
        <p:spPr>
          <a:xfrm xmlns:a="http://schemas.openxmlformats.org/drawingml/2006/main">
            <a:off x="3905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Chat completions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tool_choice = auto</a:t>
            </a:r>
          </a:p>
        </p:txBody>
      </p:sp>
      <p:sp>
        <p:nvSpPr>
          <p:cNvPr id="16" name="">
            <a:extLst xmlns:a="http://schemas.openxmlformats.org/drawingml/2006/main">
              <a:ext uri="{FF2B5EF4-FFF2-40B4-BE49-F238E27FC236}">
                <a16:creationId xmlns:a16="http://schemas.microsoft.com/office/drawing/2014/main" id="{B98B6250-617D-48E7-82B6-CF52D32DFAC3}"/>
              </a:ext>
            </a:extLst>
          </p:cNvPr>
          <p:cNvSpPr>
            <a:spLocks xmlns:a="http://schemas.openxmlformats.org/drawingml/2006/main" noGrp="1"/>
          </p:cNvSpPr>
          <p:nvPr/>
        </p:nvSpPr>
        <p:spPr>
          <a:xfrm xmlns:a="http://schemas.openxmlformats.org/drawingml/2006/main">
            <a:off x="3905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vLLM API</a:t>
            </a:r>
          </a:p>
        </p:txBody>
      </p:sp>
      <p:sp>
        <p:nvSpPr>
          <p:cNvPr id="17" name="arch-node-2">
            <a:extLst xmlns:a="http://schemas.openxmlformats.org/drawingml/2006/main">
              <a:ext uri="{FF2B5EF4-FFF2-40B4-BE49-F238E27FC236}">
                <a16:creationId xmlns:a16="http://schemas.microsoft.com/office/drawing/2014/main" id="{08011769-A1D9-4C32-9AE2-3164666A9F1A}"/>
              </a:ext>
            </a:extLst>
          </p:cNvPr>
          <p:cNvSpPr>
            <a:spLocks xmlns:a="http://schemas.openxmlformats.org/drawingml/2006/main" noGrp="1"/>
          </p:cNvSpPr>
          <p:nvPr/>
        </p:nvSpPr>
        <p:spPr>
          <a:xfrm xmlns:a="http://schemas.openxmlformats.org/drawingml/2006/main">
            <a:off x="6762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FCD34D"/>
            </a:solidFill>
            <a:prstDash val="solid"/>
          </a:ln>
        </p:spPr>
      </p:sp>
      <p:sp>
        <p:nvSpPr>
          <p:cNvPr id="18" name="arch-accent-2">
            <a:extLst xmlns:a="http://schemas.openxmlformats.org/drawingml/2006/main">
              <a:ext uri="{FF2B5EF4-FFF2-40B4-BE49-F238E27FC236}">
                <a16:creationId xmlns:a16="http://schemas.microsoft.com/office/drawing/2014/main" id="{A394E343-BE23-4B9C-B748-0A316BF6956C}"/>
              </a:ext>
            </a:extLst>
          </p:cNvPr>
          <p:cNvSpPr>
            <a:spLocks xmlns:a="http://schemas.openxmlformats.org/drawingml/2006/main" noGrp="1"/>
          </p:cNvSpPr>
          <p:nvPr/>
        </p:nvSpPr>
        <p:spPr>
          <a:xfrm xmlns:a="http://schemas.openxmlformats.org/drawingml/2006/main">
            <a:off x="6953250" y="2514600"/>
            <a:ext cx="457200" cy="57150"/>
          </a:xfrm>
          <a:prstGeom xmlns:a="http://schemas.openxmlformats.org/drawingml/2006/main" prst="rect">
            <a:avLst/>
          </a:prstGeom>
          <a:solidFill xmlns:a="http://schemas.openxmlformats.org/drawingml/2006/main">
            <a:srgbClr val="FCD3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695C680-ECDB-48AC-B475-D6B26C0AA50C}"/>
              </a:ext>
            </a:extLst>
          </p:cNvPr>
          <p:cNvSpPr>
            <a:spLocks xmlns:a="http://schemas.openxmlformats.org/drawingml/2006/main" noGrp="1"/>
          </p:cNvSpPr>
          <p:nvPr/>
        </p:nvSpPr>
        <p:spPr>
          <a:xfrm xmlns:a="http://schemas.openxmlformats.org/drawingml/2006/main">
            <a:off x="6953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TOOL REGISTRY</a:t>
            </a:r>
          </a:p>
        </p:txBody>
      </p:sp>
      <p:sp>
        <p:nvSpPr>
          <p:cNvPr id="20" name="">
            <a:extLst xmlns:a="http://schemas.openxmlformats.org/drawingml/2006/main">
              <a:ext uri="{FF2B5EF4-FFF2-40B4-BE49-F238E27FC236}">
                <a16:creationId xmlns:a16="http://schemas.microsoft.com/office/drawing/2014/main" id="{B82E05EB-B11D-4042-9243-EB1AEBEEC504}"/>
              </a:ext>
            </a:extLst>
          </p:cNvPr>
          <p:cNvSpPr>
            <a:spLocks xmlns:a="http://schemas.openxmlformats.org/drawingml/2006/main" noGrp="1"/>
          </p:cNvSpPr>
          <p:nvPr/>
        </p:nvSpPr>
        <p:spPr>
          <a:xfrm xmlns:a="http://schemas.openxmlformats.org/drawingml/2006/main">
            <a:off x="6953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Files • web • commands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background tasks</a:t>
            </a:r>
          </a:p>
        </p:txBody>
      </p:sp>
      <p:sp>
        <p:nvSpPr>
          <p:cNvPr id="21" name="">
            <a:extLst xmlns:a="http://schemas.openxmlformats.org/drawingml/2006/main">
              <a:ext uri="{FF2B5EF4-FFF2-40B4-BE49-F238E27FC236}">
                <a16:creationId xmlns:a16="http://schemas.microsoft.com/office/drawing/2014/main" id="{80FFCDF7-72BA-4C9F-8C9B-744046C80A21}"/>
              </a:ext>
            </a:extLst>
          </p:cNvPr>
          <p:cNvSpPr>
            <a:spLocks xmlns:a="http://schemas.openxmlformats.org/drawingml/2006/main" noGrp="1"/>
          </p:cNvSpPr>
          <p:nvPr/>
        </p:nvSpPr>
        <p:spPr>
          <a:xfrm xmlns:a="http://schemas.openxmlformats.org/drawingml/2006/main">
            <a:off x="6953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ME3 policy</a:t>
            </a:r>
          </a:p>
        </p:txBody>
      </p:sp>
      <p:sp>
        <p:nvSpPr>
          <p:cNvPr id="22" name="arch-node-3">
            <a:extLst xmlns:a="http://schemas.openxmlformats.org/drawingml/2006/main">
              <a:ext uri="{FF2B5EF4-FFF2-40B4-BE49-F238E27FC236}">
                <a16:creationId xmlns:a16="http://schemas.microsoft.com/office/drawing/2014/main" id="{15763A4A-94F1-46B1-BD45-019B2A337E7D}"/>
              </a:ext>
            </a:extLst>
          </p:cNvPr>
          <p:cNvSpPr>
            <a:spLocks xmlns:a="http://schemas.openxmlformats.org/drawingml/2006/main" noGrp="1"/>
          </p:cNvSpPr>
          <p:nvPr/>
        </p:nvSpPr>
        <p:spPr>
          <a:xfrm xmlns:a="http://schemas.openxmlformats.org/drawingml/2006/main">
            <a:off x="9810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A7F3D0"/>
            </a:solidFill>
            <a:prstDash val="solid"/>
          </a:ln>
        </p:spPr>
      </p:sp>
      <p:sp>
        <p:nvSpPr>
          <p:cNvPr id="23" name="arch-accent-3">
            <a:extLst xmlns:a="http://schemas.openxmlformats.org/drawingml/2006/main">
              <a:ext uri="{FF2B5EF4-FFF2-40B4-BE49-F238E27FC236}">
                <a16:creationId xmlns:a16="http://schemas.microsoft.com/office/drawing/2014/main" id="{DC39A0C9-3744-4B1B-A313-A8DC8D6503A8}"/>
              </a:ext>
            </a:extLst>
          </p:cNvPr>
          <p:cNvSpPr>
            <a:spLocks xmlns:a="http://schemas.openxmlformats.org/drawingml/2006/main" noGrp="1"/>
          </p:cNvSpPr>
          <p:nvPr/>
        </p:nvSpPr>
        <p:spPr>
          <a:xfrm xmlns:a="http://schemas.openxmlformats.org/drawingml/2006/main">
            <a:off x="10001250" y="2514600"/>
            <a:ext cx="457200" cy="57150"/>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A62A247-9F90-462C-B5F0-DB742B060C1B}"/>
              </a:ext>
            </a:extLst>
          </p:cNvPr>
          <p:cNvSpPr>
            <a:spLocks xmlns:a="http://schemas.openxmlformats.org/drawingml/2006/main" noGrp="1"/>
          </p:cNvSpPr>
          <p:nvPr/>
        </p:nvSpPr>
        <p:spPr>
          <a:xfrm xmlns:a="http://schemas.openxmlformats.org/drawingml/2006/main">
            <a:off x="10001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78A628B6-B826-4511-99C5-32B6749CF9BF}"/>
              </a:ext>
            </a:extLst>
          </p:cNvPr>
          <p:cNvSpPr>
            <a:spLocks xmlns:a="http://schemas.openxmlformats.org/drawingml/2006/main" noGrp="1"/>
          </p:cNvSpPr>
          <p:nvPr/>
        </p:nvSpPr>
        <p:spPr>
          <a:xfrm xmlns:a="http://schemas.openxmlformats.org/drawingml/2006/main">
            <a:off x="10001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 result →</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spoken response</a:t>
            </a:r>
          </a:p>
        </p:txBody>
      </p:sp>
      <p:sp>
        <p:nvSpPr>
          <p:cNvPr id="26" name="">
            <a:extLst xmlns:a="http://schemas.openxmlformats.org/drawingml/2006/main">
              <a:ext uri="{FF2B5EF4-FFF2-40B4-BE49-F238E27FC236}">
                <a16:creationId xmlns:a16="http://schemas.microsoft.com/office/drawing/2014/main" id="{D38E3921-C4FB-4096-88ED-9136F9648552}"/>
              </a:ext>
            </a:extLst>
          </p:cNvPr>
          <p:cNvSpPr>
            <a:spLocks xmlns:a="http://schemas.openxmlformats.org/drawingml/2006/main" noGrp="1"/>
          </p:cNvSpPr>
          <p:nvPr/>
        </p:nvSpPr>
        <p:spPr>
          <a:xfrm xmlns:a="http://schemas.openxmlformats.org/drawingml/2006/main">
            <a:off x="10001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auditable</a:t>
            </a:r>
          </a:p>
        </p:txBody>
      </p:sp>
      <p:sp>
        <p:nvSpPr>
          <p:cNvPr id="27" name="arch-principle">
            <a:extLst xmlns:a="http://schemas.openxmlformats.org/drawingml/2006/main">
              <a:ext uri="{FF2B5EF4-FFF2-40B4-BE49-F238E27FC236}">
                <a16:creationId xmlns:a16="http://schemas.microsoft.com/office/drawing/2014/main" id="{BC80EDA0-F4C1-4B07-87C1-C826785FB274}"/>
              </a:ext>
            </a:extLst>
          </p:cNvPr>
          <p:cNvSpPr>
            <a:spLocks xmlns:a="http://schemas.openxmlformats.org/drawingml/2006/main" noGrp="1"/>
          </p:cNvSpPr>
          <p:nvPr/>
        </p:nvSpPr>
        <p:spPr>
          <a:xfrm xmlns:a="http://schemas.openxmlformats.org/drawingml/2006/main">
            <a:off x="1619250" y="4762500"/>
            <a:ext cx="8953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245DF72-065B-4F86-8FFF-770520C994A7}"/>
              </a:ext>
            </a:extLst>
          </p:cNvPr>
          <p:cNvSpPr>
            <a:spLocks xmlns:a="http://schemas.openxmlformats.org/drawingml/2006/main" noGrp="1"/>
          </p:cNvSpPr>
          <p:nvPr/>
        </p:nvSpPr>
        <p:spPr>
          <a:xfrm xmlns:a="http://schemas.openxmlformats.org/drawingml/2006/main">
            <a:off x="1952625" y="495300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One bounded registry is shared by direct Qwen calls and MCP wrappers.</a:t>
            </a:r>
          </a:p>
        </p:txBody>
      </p:sp>
      <p:sp>
        <p:nvSpPr>
          <p:cNvPr id="29" name="">
            <a:extLst xmlns:a="http://schemas.openxmlformats.org/drawingml/2006/main">
              <a:ext uri="{FF2B5EF4-FFF2-40B4-BE49-F238E27FC236}">
                <a16:creationId xmlns:a16="http://schemas.microsoft.com/office/drawing/2014/main" id="{D20D684B-375A-4AA0-8D88-B7AA9188BE47}"/>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3/7</a:t>
            </a:r>
          </a:p>
        </p:txBody>
      </p:sp>
    </p:spTree>
    <p:extLst>
      <p:ext uri="{BB962C8B-B14F-4D97-AF65-F5344CB8AC3E}">
        <p14:creationId xmlns:p14="http://schemas.microsoft.com/office/powerpoint/2010/main" val="260135183"/>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49C03F-975F-4DB9-A96D-3384F2F621E3}"/>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TOOL CALL IN ACTION</a:t>
            </a:r>
          </a:p>
        </p:txBody>
      </p:sp>
      <p:sp>
        <p:nvSpPr>
          <p:cNvPr id="2" name="">
            <a:extLst xmlns:a="http://schemas.openxmlformats.org/drawingml/2006/main">
              <a:ext uri="{FF2B5EF4-FFF2-40B4-BE49-F238E27FC236}">
                <a16:creationId xmlns:a16="http://schemas.microsoft.com/office/drawing/2014/main" id="{31A9C638-20E9-4244-98D2-1089697C6248}"/>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“Build a web app” is an executable request</a:t>
            </a:r>
          </a:p>
        </p:txBody>
      </p:sp>
      <p:sp>
        <p:nvSpPr>
          <p:cNvPr id="3" name="">
            <a:extLst xmlns:a="http://schemas.openxmlformats.org/drawingml/2006/main">
              <a:ext uri="{FF2B5EF4-FFF2-40B4-BE49-F238E27FC236}">
                <a16:creationId xmlns:a16="http://schemas.microsoft.com/office/drawing/2014/main" id="{94CFA7DD-4B9D-4125-B63D-79A8B4898940}"/>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same loop can start from text; the voice path connects to the Pi audio pipeline.</a:t>
            </a:r>
          </a:p>
        </p:txBody>
      </p:sp>
      <p:sp>
        <p:nvSpPr>
          <p:cNvPr id="4" name="webapp-request">
            <a:extLst xmlns:a="http://schemas.openxmlformats.org/drawingml/2006/main">
              <a:ext uri="{FF2B5EF4-FFF2-40B4-BE49-F238E27FC236}">
                <a16:creationId xmlns:a16="http://schemas.microsoft.com/office/drawing/2014/main" id="{4283C4DD-0BD5-4BBB-85B3-B3DA25BADF2C}"/>
              </a:ext>
            </a:extLst>
          </p:cNvPr>
          <p:cNvSpPr>
            <a:spLocks xmlns:a="http://schemas.openxmlformats.org/drawingml/2006/main" noGrp="1"/>
          </p:cNvSpPr>
          <p:nvPr/>
        </p:nvSpPr>
        <p:spPr>
          <a:xfrm xmlns:a="http://schemas.openxmlformats.org/drawingml/2006/main">
            <a:off x="666750" y="2095500"/>
            <a:ext cx="2762250" cy="2857500"/>
          </a:xfrm>
          <a:prstGeom xmlns:a="http://schemas.openxmlformats.org/drawingml/2006/main" prst="roundRect">
            <a:avLst>
              <a:gd name="adj" fmla="val 4138"/>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CCD206D5-AC67-4AE9-AC1F-A3550DF45248}"/>
              </a:ext>
            </a:extLst>
          </p:cNvPr>
          <p:cNvSpPr>
            <a:spLocks xmlns:a="http://schemas.openxmlformats.org/drawingml/2006/main" noGrp="1"/>
          </p:cNvSpPr>
          <p:nvPr/>
        </p:nvSpPr>
        <p:spPr>
          <a:xfrm xmlns:a="http://schemas.openxmlformats.org/drawingml/2006/main">
            <a:off x="93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VOICE REQUEST</a:t>
            </a:r>
          </a:p>
        </p:txBody>
      </p:sp>
      <p:sp>
        <p:nvSpPr>
          <p:cNvPr id="6" name="">
            <a:extLst xmlns:a="http://schemas.openxmlformats.org/drawingml/2006/main">
              <a:ext uri="{FF2B5EF4-FFF2-40B4-BE49-F238E27FC236}">
                <a16:creationId xmlns:a16="http://schemas.microsoft.com/office/drawing/2014/main" id="{5C77C8E0-A66E-487A-B0C2-D96519AC4AF1}"/>
              </a:ext>
            </a:extLst>
          </p:cNvPr>
          <p:cNvSpPr>
            <a:spLocks xmlns:a="http://schemas.openxmlformats.org/drawingml/2006/main" noGrp="1"/>
          </p:cNvSpPr>
          <p:nvPr/>
        </p:nvSpPr>
        <p:spPr>
          <a:xfrm xmlns:a="http://schemas.openxmlformats.org/drawingml/2006/main">
            <a:off x="933450" y="28384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FAFC"/>
                </a:solidFill>
                <a:latin typeface="Arial"/>
                <a:ea typeface="Arial"/>
                <a:cs typeface="Arial"/>
              </a:defRPr>
            </a:defPPr>
            <a:lvl1pPr>
              <a:defRPr sz="2400" b="1">
                <a:solidFill>
                  <a:srgbClr val="F7FAFC"/>
                </a:solidFill>
                <a:latin typeface="Arial"/>
                <a:ea typeface="Arial"/>
                <a:cs typeface="Arial"/>
              </a:defRPr>
            </a:lvl1pPr>
            <a:lvl2pPr>
              <a:defRPr sz="2400" b="1">
                <a:solidFill>
                  <a:srgbClr val="F7FAFC"/>
                </a:solidFill>
                <a:latin typeface="Arial"/>
                <a:ea typeface="Arial"/>
                <a:cs typeface="Arial"/>
              </a:defRPr>
            </a:lvl2pPr>
            <a:lvl3pPr>
              <a:defRPr sz="2400" b="1">
                <a:solidFill>
                  <a:srgbClr val="F7FAFC"/>
                </a:solidFill>
                <a:latin typeface="Arial"/>
                <a:ea typeface="Arial"/>
                <a:cs typeface="Arial"/>
              </a:defRPr>
            </a:lvl3pPr>
            <a:lvl4pPr>
              <a:defRPr sz="2400" b="1">
                <a:solidFill>
                  <a:srgbClr val="F7FAFC"/>
                </a:solidFill>
                <a:latin typeface="Arial"/>
                <a:ea typeface="Arial"/>
                <a:cs typeface="Arial"/>
              </a:defRPr>
            </a:lvl4pPr>
            <a:lvl5pPr>
              <a:defRPr sz="2400" b="1">
                <a:solidFill>
                  <a:srgbClr val="F7FAFC"/>
                </a:solidFill>
                <a:latin typeface="Arial"/>
                <a:ea typeface="Arial"/>
                <a:cs typeface="Arial"/>
              </a:defRPr>
            </a:lvl5pPr>
            <a:lvl6pPr>
              <a:defRPr sz="2400" b="1">
                <a:solidFill>
                  <a:srgbClr val="F7FAFC"/>
                </a:solidFill>
                <a:latin typeface="Arial"/>
                <a:ea typeface="Arial"/>
                <a:cs typeface="Arial"/>
              </a:defRPr>
            </a:lvl6pPr>
            <a:lvl7pPr>
              <a:defRPr sz="2400" b="1">
                <a:solidFill>
                  <a:srgbClr val="F7FAFC"/>
                </a:solidFill>
                <a:latin typeface="Arial"/>
                <a:ea typeface="Arial"/>
                <a:cs typeface="Arial"/>
              </a:defRPr>
            </a:lvl7pPr>
            <a:lvl8pPr>
              <a:defRPr sz="2400" b="1">
                <a:solidFill>
                  <a:srgbClr val="F7FAFC"/>
                </a:solidFill>
                <a:latin typeface="Arial"/>
                <a:ea typeface="Arial"/>
                <a:cs typeface="Arial"/>
              </a:defRPr>
            </a:lvl8pPr>
            <a:lvl9pPr>
              <a:defRPr sz="2400" b="1">
                <a:solidFill>
                  <a:srgbClr val="F7FAFC"/>
                </a:solidFill>
                <a:latin typeface="Arial"/>
                <a:ea typeface="Arial"/>
                <a:cs typeface="Arial"/>
              </a:defRPr>
            </a:lvl9pPr>
          </a:lstStyle>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“Build a</a:t>
            </a:r>
          </a:p>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web app.”</a:t>
            </a:r>
          </a:p>
        </p:txBody>
      </p:sp>
      <p:sp>
        <p:nvSpPr>
          <p:cNvPr id="7" name="">
            <a:extLst xmlns:a="http://schemas.openxmlformats.org/drawingml/2006/main">
              <a:ext uri="{FF2B5EF4-FFF2-40B4-BE49-F238E27FC236}">
                <a16:creationId xmlns:a16="http://schemas.microsoft.com/office/drawing/2014/main" id="{FDC0B631-2A3B-4C31-AE49-F64DA3C7D6C6}"/>
              </a:ext>
            </a:extLst>
          </p:cNvPr>
          <p:cNvSpPr>
            <a:spLocks xmlns:a="http://schemas.openxmlformats.org/drawingml/2006/main" noGrp="1"/>
          </p:cNvSpPr>
          <p:nvPr/>
        </p:nvSpPr>
        <p:spPr>
          <a:xfrm xmlns:a="http://schemas.openxmlformats.org/drawingml/2006/main">
            <a:off x="933450" y="4095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Qwen turns intent</a:t>
            </a:r>
          </a:p>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into tool calls.</a:t>
            </a:r>
          </a:p>
        </p:txBody>
      </p:sp>
      <p:cxnSp>
        <p:nvCxnSpPr>
          <p:cNvPr id="8" name="webapp-to-calls">
            <a:extLst xmlns:a="http://schemas.openxmlformats.org/drawingml/2006/main">
              <a:ext uri="{FF2B5EF4-FFF2-40B4-BE49-F238E27FC236}">
                <a16:creationId xmlns:a16="http://schemas.microsoft.com/office/drawing/2014/main" id="{78D81E61-7B48-475D-8F85-5D72FB9EBA1E}"/>
              </a:ext>
            </a:extLst>
          </p:cNvPr>
          <p:cNvCxnSpPr/>
          <p:nvPr/>
        </p:nvCxnSpPr>
        <p:spPr>
          <a:xfrm xmlns:a="http://schemas.openxmlformats.org/drawingml/2006/main">
            <a:off x="3429000" y="3486150"/>
            <a:ext cx="61912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sp>
        <p:nvSpPr>
          <p:cNvPr id="9" name="webapp-calls">
            <a:extLst xmlns:a="http://schemas.openxmlformats.org/drawingml/2006/main">
              <a:ext uri="{FF2B5EF4-FFF2-40B4-BE49-F238E27FC236}">
                <a16:creationId xmlns:a16="http://schemas.microsoft.com/office/drawing/2014/main" id="{C3791684-2AD9-4BEB-BDD6-2BD2F37DFC42}"/>
              </a:ext>
            </a:extLst>
          </p:cNvPr>
          <p:cNvSpPr>
            <a:spLocks xmlns:a="http://schemas.openxmlformats.org/drawingml/2006/main" noGrp="1"/>
          </p:cNvSpPr>
          <p:nvPr/>
        </p:nvSpPr>
        <p:spPr>
          <a:xfrm xmlns:a="http://schemas.openxmlformats.org/drawingml/2006/main">
            <a:off x="4191000" y="2095500"/>
            <a:ext cx="333375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60A5FA"/>
            </a:solidFill>
            <a:prstDash val="solid"/>
          </a:ln>
        </p:spPr>
      </p:sp>
      <p:sp>
        <p:nvSpPr>
          <p:cNvPr id="10" name="">
            <a:extLst xmlns:a="http://schemas.openxmlformats.org/drawingml/2006/main">
              <a:ext uri="{FF2B5EF4-FFF2-40B4-BE49-F238E27FC236}">
                <a16:creationId xmlns:a16="http://schemas.microsoft.com/office/drawing/2014/main" id="{50FB26BB-AB77-41C8-88E7-64DFC26D2791}"/>
              </a:ext>
            </a:extLst>
          </p:cNvPr>
          <p:cNvSpPr>
            <a:spLocks xmlns:a="http://schemas.openxmlformats.org/drawingml/2006/main" noGrp="1"/>
          </p:cNvSpPr>
          <p:nvPr/>
        </p:nvSpPr>
        <p:spPr>
          <a:xfrm xmlns:a="http://schemas.openxmlformats.org/drawingml/2006/main">
            <a:off x="445770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TOOL LOOP</a:t>
            </a:r>
          </a:p>
        </p:txBody>
      </p:sp>
      <p:sp>
        <p:nvSpPr>
          <p:cNvPr id="11" name="">
            <a:extLst xmlns:a="http://schemas.openxmlformats.org/drawingml/2006/main">
              <a:ext uri="{FF2B5EF4-FFF2-40B4-BE49-F238E27FC236}">
                <a16:creationId xmlns:a16="http://schemas.microsoft.com/office/drawing/2014/main" id="{7485EE48-5183-4F12-A88C-0714538E56DD}"/>
              </a:ext>
            </a:extLst>
          </p:cNvPr>
          <p:cNvSpPr>
            <a:spLocks xmlns:a="http://schemas.openxmlformats.org/drawingml/2006/main" noGrp="1"/>
          </p:cNvSpPr>
          <p:nvPr/>
        </p:nvSpPr>
        <p:spPr>
          <a:xfrm xmlns:a="http://schemas.openxmlformats.org/drawingml/2006/main">
            <a:off x="4457700" y="28575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7FAFC"/>
                </a:solidFill>
                <a:latin typeface="Arial"/>
                <a:ea typeface="Arial"/>
                <a:cs typeface="Arial"/>
              </a:defRPr>
            </a:defPPr>
            <a:lvl1pPr>
              <a:defRPr sz="1800" b="1">
                <a:solidFill>
                  <a:srgbClr val="F7FAFC"/>
                </a:solidFill>
                <a:latin typeface="Arial"/>
                <a:ea typeface="Arial"/>
                <a:cs typeface="Arial"/>
              </a:defRPr>
            </a:lvl1pPr>
            <a:lvl2pPr>
              <a:defRPr sz="1800" b="1">
                <a:solidFill>
                  <a:srgbClr val="F7FAFC"/>
                </a:solidFill>
                <a:latin typeface="Arial"/>
                <a:ea typeface="Arial"/>
                <a:cs typeface="Arial"/>
              </a:defRPr>
            </a:lvl2pPr>
            <a:lvl3pPr>
              <a:defRPr sz="1800" b="1">
                <a:solidFill>
                  <a:srgbClr val="F7FAFC"/>
                </a:solidFill>
                <a:latin typeface="Arial"/>
                <a:ea typeface="Arial"/>
                <a:cs typeface="Arial"/>
              </a:defRPr>
            </a:lvl3pPr>
            <a:lvl4pPr>
              <a:defRPr sz="1800" b="1">
                <a:solidFill>
                  <a:srgbClr val="F7FAFC"/>
                </a:solidFill>
                <a:latin typeface="Arial"/>
                <a:ea typeface="Arial"/>
                <a:cs typeface="Arial"/>
              </a:defRPr>
            </a:lvl4pPr>
            <a:lvl5pPr>
              <a:defRPr sz="1800" b="1">
                <a:solidFill>
                  <a:srgbClr val="F7FAFC"/>
                </a:solidFill>
                <a:latin typeface="Arial"/>
                <a:ea typeface="Arial"/>
                <a:cs typeface="Arial"/>
              </a:defRPr>
            </a:lvl5pPr>
            <a:lvl6pPr>
              <a:defRPr sz="1800" b="1">
                <a:solidFill>
                  <a:srgbClr val="F7FAFC"/>
                </a:solidFill>
                <a:latin typeface="Arial"/>
                <a:ea typeface="Arial"/>
                <a:cs typeface="Arial"/>
              </a:defRPr>
            </a:lvl6pPr>
            <a:lvl7pPr>
              <a:defRPr sz="1800" b="1">
                <a:solidFill>
                  <a:srgbClr val="F7FAFC"/>
                </a:solidFill>
                <a:latin typeface="Arial"/>
                <a:ea typeface="Arial"/>
                <a:cs typeface="Arial"/>
              </a:defRPr>
            </a:lvl7pPr>
            <a:lvl8pPr>
              <a:defRPr sz="1800" b="1">
                <a:solidFill>
                  <a:srgbClr val="F7FAFC"/>
                </a:solidFill>
                <a:latin typeface="Arial"/>
                <a:ea typeface="Arial"/>
                <a:cs typeface="Arial"/>
              </a:defRPr>
            </a:lvl8pPr>
            <a:lvl9pPr>
              <a:defRPr sz="1800" b="1">
                <a:solidFill>
                  <a:srgbClr val="F7FAFC"/>
                </a:solidFill>
                <a:latin typeface="Arial"/>
                <a:ea typeface="Arial"/>
                <a:cs typeface="Arial"/>
              </a:defRPr>
            </a:lvl9pPr>
          </a:lstStyle>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list_files</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write_file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read_file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run_command</a:t>
            </a:r>
          </a:p>
        </p:txBody>
      </p:sp>
      <p:sp>
        <p:nvSpPr>
          <p:cNvPr id="12" name="">
            <a:extLst xmlns:a="http://schemas.openxmlformats.org/drawingml/2006/main">
              <a:ext uri="{FF2B5EF4-FFF2-40B4-BE49-F238E27FC236}">
                <a16:creationId xmlns:a16="http://schemas.microsoft.com/office/drawing/2014/main" id="{59EC38A7-FDBE-44AD-A659-ABBDCE86B23D}"/>
              </a:ext>
            </a:extLst>
          </p:cNvPr>
          <p:cNvSpPr>
            <a:spLocks xmlns:a="http://schemas.openxmlformats.org/drawingml/2006/main" noGrp="1"/>
          </p:cNvSpPr>
          <p:nvPr/>
        </p:nvSpPr>
        <p:spPr>
          <a:xfrm xmlns:a="http://schemas.openxmlformats.org/drawingml/2006/main">
            <a:off x="4457700" y="4438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Each call returns JSON evidence.</a:t>
            </a:r>
          </a:p>
        </p:txBody>
      </p:sp>
      <p:cxnSp>
        <p:nvCxnSpPr>
          <p:cNvPr id="13" name="calls-to-files">
            <a:extLst xmlns:a="http://schemas.openxmlformats.org/drawingml/2006/main">
              <a:ext uri="{FF2B5EF4-FFF2-40B4-BE49-F238E27FC236}">
                <a16:creationId xmlns:a16="http://schemas.microsoft.com/office/drawing/2014/main" id="{A44539F4-F6E3-4AAD-B472-AC9F7E10C286}"/>
              </a:ext>
            </a:extLst>
          </p:cNvPr>
          <p:cNvCxnSpPr/>
          <p:nvPr/>
        </p:nvCxnSpPr>
        <p:spPr>
          <a:xfrm xmlns:a="http://schemas.openxmlformats.org/drawingml/2006/main">
            <a:off x="7524750" y="3486150"/>
            <a:ext cx="61912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sp>
        <p:nvSpPr>
          <p:cNvPr id="14" name="webapp-result">
            <a:extLst xmlns:a="http://schemas.openxmlformats.org/drawingml/2006/main">
              <a:ext uri="{FF2B5EF4-FFF2-40B4-BE49-F238E27FC236}">
                <a16:creationId xmlns:a16="http://schemas.microsoft.com/office/drawing/2014/main" id="{6ECFD22D-F56F-4190-92EA-239183032809}"/>
              </a:ext>
            </a:extLst>
          </p:cNvPr>
          <p:cNvSpPr>
            <a:spLocks xmlns:a="http://schemas.openxmlformats.org/drawingml/2006/main" noGrp="1"/>
          </p:cNvSpPr>
          <p:nvPr/>
        </p:nvSpPr>
        <p:spPr>
          <a:xfrm xmlns:a="http://schemas.openxmlformats.org/drawingml/2006/main">
            <a:off x="8286750" y="2095500"/>
            <a:ext cx="323850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A7F3D0"/>
            </a:solidFill>
            <a:prstDash val="solid"/>
          </a:ln>
        </p:spPr>
      </p:sp>
      <p:sp>
        <p:nvSpPr>
          <p:cNvPr id="15" name="">
            <a:extLst xmlns:a="http://schemas.openxmlformats.org/drawingml/2006/main">
              <a:ext uri="{FF2B5EF4-FFF2-40B4-BE49-F238E27FC236}">
                <a16:creationId xmlns:a16="http://schemas.microsoft.com/office/drawing/2014/main" id="{96948E2E-6ABA-4811-BF58-B2DD392971C7}"/>
              </a:ext>
            </a:extLst>
          </p:cNvPr>
          <p:cNvSpPr>
            <a:spLocks xmlns:a="http://schemas.openxmlformats.org/drawingml/2006/main" noGrp="1"/>
          </p:cNvSpPr>
          <p:nvPr/>
        </p:nvSpPr>
        <p:spPr>
          <a:xfrm xmlns:a="http://schemas.openxmlformats.org/drawingml/2006/main">
            <a:off x="855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PROJECT RESULT</a:t>
            </a:r>
          </a:p>
        </p:txBody>
      </p:sp>
      <p:sp>
        <p:nvSpPr>
          <p:cNvPr id="16" name="">
            <a:extLst xmlns:a="http://schemas.openxmlformats.org/drawingml/2006/main">
              <a:ext uri="{FF2B5EF4-FFF2-40B4-BE49-F238E27FC236}">
                <a16:creationId xmlns:a16="http://schemas.microsoft.com/office/drawing/2014/main" id="{394CD221-AACF-4167-8BD1-2305D81C494D}"/>
              </a:ext>
            </a:extLst>
          </p:cNvPr>
          <p:cNvSpPr>
            <a:spLocks xmlns:a="http://schemas.openxmlformats.org/drawingml/2006/main" noGrp="1"/>
          </p:cNvSpPr>
          <p:nvPr/>
        </p:nvSpPr>
        <p:spPr>
          <a:xfrm xmlns:a="http://schemas.openxmlformats.org/drawingml/2006/main">
            <a:off x="8553450" y="281940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agent_workspace/</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voice_webapp/</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index.html</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styles.css</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app.js</a:t>
            </a:r>
          </a:p>
        </p:txBody>
      </p:sp>
      <p:sp>
        <p:nvSpPr>
          <p:cNvPr id="17" name="">
            <a:extLst xmlns:a="http://schemas.openxmlformats.org/drawingml/2006/main">
              <a:ext uri="{FF2B5EF4-FFF2-40B4-BE49-F238E27FC236}">
                <a16:creationId xmlns:a16="http://schemas.microsoft.com/office/drawing/2014/main" id="{4FE6382E-E764-49C5-B6E8-87CEC554F436}"/>
              </a:ext>
            </a:extLst>
          </p:cNvPr>
          <p:cNvSpPr>
            <a:spLocks xmlns:a="http://schemas.openxmlformats.org/drawingml/2006/main" noGrp="1"/>
          </p:cNvSpPr>
          <p:nvPr/>
        </p:nvSpPr>
        <p:spPr>
          <a:xfrm xmlns:a="http://schemas.openxmlformats.org/drawingml/2006/main">
            <a:off x="8553450" y="44577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Verified by a later list + read pass.</a:t>
            </a:r>
          </a:p>
        </p:txBody>
      </p:sp>
      <p:sp>
        <p:nvSpPr>
          <p:cNvPr id="18" name="">
            <a:extLst xmlns:a="http://schemas.openxmlformats.org/drawingml/2006/main">
              <a:ext uri="{FF2B5EF4-FFF2-40B4-BE49-F238E27FC236}">
                <a16:creationId xmlns:a16="http://schemas.microsoft.com/office/drawing/2014/main" id="{E0B52CAC-1BD9-4509-B4E3-7B1915FD5A3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4/7</a:t>
            </a:r>
          </a:p>
        </p:txBody>
      </p:sp>
    </p:spTree>
    <p:extLst>
      <p:ext uri="{BB962C8B-B14F-4D97-AF65-F5344CB8AC3E}">
        <p14:creationId xmlns:p14="http://schemas.microsoft.com/office/powerpoint/2010/main" val="805051639"/>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494368F-F69C-4433-BAA2-FA5791E9AA8A}"/>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CAPABILITY BOUNDARY</a:t>
            </a:r>
          </a:p>
        </p:txBody>
      </p:sp>
      <p:sp>
        <p:nvSpPr>
          <p:cNvPr id="2" name="">
            <a:extLst xmlns:a="http://schemas.openxmlformats.org/drawingml/2006/main">
              <a:ext uri="{FF2B5EF4-FFF2-40B4-BE49-F238E27FC236}">
                <a16:creationId xmlns:a16="http://schemas.microsoft.com/office/drawing/2014/main" id="{EE88203B-EBBC-49FD-A284-041FAB1135B0}"/>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Onit-like usefulness through typed, reviewable tools</a:t>
            </a:r>
          </a:p>
        </p:txBody>
      </p:sp>
      <p:sp>
        <p:nvSpPr>
          <p:cNvPr id="3" name="">
            <a:extLst xmlns:a="http://schemas.openxmlformats.org/drawingml/2006/main">
              <a:ext uri="{FF2B5EF4-FFF2-40B4-BE49-F238E27FC236}">
                <a16:creationId xmlns:a16="http://schemas.microsoft.com/office/drawing/2014/main" id="{1C556AC1-7CFE-4D5E-9FD9-A5FD05911E81}"/>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Broad task coverage, with a safer default surface for an always-listening device.</a:t>
            </a:r>
          </a:p>
        </p:txBody>
      </p:sp>
      <p:sp>
        <p:nvSpPr>
          <p:cNvPr id="4" name="cap-left-0">
            <a:extLst xmlns:a="http://schemas.openxmlformats.org/drawingml/2006/main">
              <a:ext uri="{FF2B5EF4-FFF2-40B4-BE49-F238E27FC236}">
                <a16:creationId xmlns:a16="http://schemas.microsoft.com/office/drawing/2014/main" id="{8A89428D-B7E4-4F31-A6C1-C70E278EE7D8}"/>
              </a:ext>
            </a:extLst>
          </p:cNvPr>
          <p:cNvSpPr>
            <a:spLocks xmlns:a="http://schemas.openxmlformats.org/drawingml/2006/main" noGrp="1"/>
          </p:cNvSpPr>
          <p:nvPr/>
        </p:nvSpPr>
        <p:spPr>
          <a:xfrm xmlns:a="http://schemas.openxmlformats.org/drawingml/2006/main">
            <a:off x="762000" y="20383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DD994533-81DF-43B6-825F-8F9A74FC01A8}"/>
              </a:ext>
            </a:extLst>
          </p:cNvPr>
          <p:cNvSpPr>
            <a:spLocks xmlns:a="http://schemas.openxmlformats.org/drawingml/2006/main" noGrp="1"/>
          </p:cNvSpPr>
          <p:nvPr/>
        </p:nvSpPr>
        <p:spPr>
          <a:xfrm xmlns:a="http://schemas.openxmlformats.org/drawingml/2006/main">
            <a:off x="971550" y="21336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EEAD4"/>
                </a:solidFill>
                <a:latin typeface="Arial"/>
                <a:ea typeface="Arial"/>
                <a:cs typeface="Arial"/>
              </a:defRPr>
            </a:defPPr>
            <a:lvl1pPr>
              <a:defRPr sz="1350" b="1">
                <a:solidFill>
                  <a:srgbClr val="5EEAD4"/>
                </a:solidFill>
                <a:latin typeface="Arial"/>
                <a:ea typeface="Arial"/>
                <a:cs typeface="Arial"/>
              </a:defRPr>
            </a:lvl1pPr>
            <a:lvl2pPr>
              <a:defRPr sz="1350" b="1">
                <a:solidFill>
                  <a:srgbClr val="5EEAD4"/>
                </a:solidFill>
                <a:latin typeface="Arial"/>
                <a:ea typeface="Arial"/>
                <a:cs typeface="Arial"/>
              </a:defRPr>
            </a:lvl2pPr>
            <a:lvl3pPr>
              <a:defRPr sz="1350" b="1">
                <a:solidFill>
                  <a:srgbClr val="5EEAD4"/>
                </a:solidFill>
                <a:latin typeface="Arial"/>
                <a:ea typeface="Arial"/>
                <a:cs typeface="Arial"/>
              </a:defRPr>
            </a:lvl3pPr>
            <a:lvl4pPr>
              <a:defRPr sz="1350" b="1">
                <a:solidFill>
                  <a:srgbClr val="5EEAD4"/>
                </a:solidFill>
                <a:latin typeface="Arial"/>
                <a:ea typeface="Arial"/>
                <a:cs typeface="Arial"/>
              </a:defRPr>
            </a:lvl4pPr>
            <a:lvl5pPr>
              <a:defRPr sz="1350" b="1">
                <a:solidFill>
                  <a:srgbClr val="5EEAD4"/>
                </a:solidFill>
                <a:latin typeface="Arial"/>
                <a:ea typeface="Arial"/>
                <a:cs typeface="Arial"/>
              </a:defRPr>
            </a:lvl5pPr>
            <a:lvl6pPr>
              <a:defRPr sz="1350" b="1">
                <a:solidFill>
                  <a:srgbClr val="5EEAD4"/>
                </a:solidFill>
                <a:latin typeface="Arial"/>
                <a:ea typeface="Arial"/>
                <a:cs typeface="Arial"/>
              </a:defRPr>
            </a:lvl6pPr>
            <a:lvl7pPr>
              <a:defRPr sz="1350" b="1">
                <a:solidFill>
                  <a:srgbClr val="5EEAD4"/>
                </a:solidFill>
                <a:latin typeface="Arial"/>
                <a:ea typeface="Arial"/>
                <a:cs typeface="Arial"/>
              </a:defRPr>
            </a:lvl7pPr>
            <a:lvl8pPr>
              <a:defRPr sz="1350" b="1">
                <a:solidFill>
                  <a:srgbClr val="5EEAD4"/>
                </a:solidFill>
                <a:latin typeface="Arial"/>
                <a:ea typeface="Arial"/>
                <a:cs typeface="Arial"/>
              </a:defRPr>
            </a:lvl8pPr>
            <a:lvl9pPr>
              <a:defRPr sz="1350" b="1">
                <a:solidFill>
                  <a:srgbClr val="5EEAD4"/>
                </a:solidFill>
                <a:latin typeface="Arial"/>
                <a:ea typeface="Arial"/>
                <a:cs typeface="Arial"/>
              </a:defRPr>
            </a:lvl9pPr>
          </a:lstStyle>
          <a:p xmlns:a="http://schemas.openxmlformats.org/drawingml/2006/main">
            <a:pPr>
              <a:defRPr sz="1350" b="1">
                <a:solidFill>
                  <a:srgbClr val="5EEAD4"/>
                </a:solidFill>
                <a:latin typeface="Arial"/>
                <a:ea typeface="Arial"/>
                <a:cs typeface="Arial"/>
              </a:defRPr>
            </a:pPr>
            <a:r>
              <a:rPr sz="1350" b="1">
                <a:solidFill>
                  <a:srgbClr val="5EEAD4"/>
                </a:solidFill>
                <a:latin typeface="Arial"/>
                <a:ea typeface="Arial"/>
                <a:cs typeface="Arial"/>
              </a:rPr>
              <a:t>Conversation</a:t>
            </a:r>
          </a:p>
        </p:txBody>
      </p:sp>
      <p:sp>
        <p:nvSpPr>
          <p:cNvPr id="6" name="">
            <a:extLst xmlns:a="http://schemas.openxmlformats.org/drawingml/2006/main">
              <a:ext uri="{FF2B5EF4-FFF2-40B4-BE49-F238E27FC236}">
                <a16:creationId xmlns:a16="http://schemas.microsoft.com/office/drawing/2014/main" id="{53D59345-6B2E-414B-A925-BD5C2F8BEE3F}"/>
              </a:ext>
            </a:extLst>
          </p:cNvPr>
          <p:cNvSpPr>
            <a:spLocks xmlns:a="http://schemas.openxmlformats.org/drawingml/2006/main" noGrp="1"/>
          </p:cNvSpPr>
          <p:nvPr/>
        </p:nvSpPr>
        <p:spPr>
          <a:xfrm xmlns:a="http://schemas.openxmlformats.org/drawingml/2006/main">
            <a:off x="2952750" y="21336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Qwen chat + multi-step tool loop</a:t>
            </a:r>
          </a:p>
        </p:txBody>
      </p:sp>
      <p:sp>
        <p:nvSpPr>
          <p:cNvPr id="7" name="cap-left-1">
            <a:extLst xmlns:a="http://schemas.openxmlformats.org/drawingml/2006/main">
              <a:ext uri="{FF2B5EF4-FFF2-40B4-BE49-F238E27FC236}">
                <a16:creationId xmlns:a16="http://schemas.microsoft.com/office/drawing/2014/main" id="{CB1C8A80-6C20-4889-95F6-D906FEEC8013}"/>
              </a:ext>
            </a:extLst>
          </p:cNvPr>
          <p:cNvSpPr>
            <a:spLocks xmlns:a="http://schemas.openxmlformats.org/drawingml/2006/main" noGrp="1"/>
          </p:cNvSpPr>
          <p:nvPr/>
        </p:nvSpPr>
        <p:spPr>
          <a:xfrm xmlns:a="http://schemas.openxmlformats.org/drawingml/2006/main">
            <a:off x="762000" y="26479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2D2D9325-2225-485E-87DB-63DE67E901A6}"/>
              </a:ext>
            </a:extLst>
          </p:cNvPr>
          <p:cNvSpPr>
            <a:spLocks xmlns:a="http://schemas.openxmlformats.org/drawingml/2006/main" noGrp="1"/>
          </p:cNvSpPr>
          <p:nvPr/>
        </p:nvSpPr>
        <p:spPr>
          <a:xfrm xmlns:a="http://schemas.openxmlformats.org/drawingml/2006/main">
            <a:off x="971550" y="27432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60A5FA"/>
                </a:solidFill>
                <a:latin typeface="Arial"/>
                <a:ea typeface="Arial"/>
                <a:cs typeface="Arial"/>
              </a:defRPr>
            </a:defPPr>
            <a:lvl1pPr>
              <a:defRPr sz="1350" b="1">
                <a:solidFill>
                  <a:srgbClr val="60A5FA"/>
                </a:solidFill>
                <a:latin typeface="Arial"/>
                <a:ea typeface="Arial"/>
                <a:cs typeface="Arial"/>
              </a:defRPr>
            </a:lvl1pPr>
            <a:lvl2pPr>
              <a:defRPr sz="1350" b="1">
                <a:solidFill>
                  <a:srgbClr val="60A5FA"/>
                </a:solidFill>
                <a:latin typeface="Arial"/>
                <a:ea typeface="Arial"/>
                <a:cs typeface="Arial"/>
              </a:defRPr>
            </a:lvl2pPr>
            <a:lvl3pPr>
              <a:defRPr sz="1350" b="1">
                <a:solidFill>
                  <a:srgbClr val="60A5FA"/>
                </a:solidFill>
                <a:latin typeface="Arial"/>
                <a:ea typeface="Arial"/>
                <a:cs typeface="Arial"/>
              </a:defRPr>
            </a:lvl3pPr>
            <a:lvl4pPr>
              <a:defRPr sz="1350" b="1">
                <a:solidFill>
                  <a:srgbClr val="60A5FA"/>
                </a:solidFill>
                <a:latin typeface="Arial"/>
                <a:ea typeface="Arial"/>
                <a:cs typeface="Arial"/>
              </a:defRPr>
            </a:lvl4pPr>
            <a:lvl5pPr>
              <a:defRPr sz="1350" b="1">
                <a:solidFill>
                  <a:srgbClr val="60A5FA"/>
                </a:solidFill>
                <a:latin typeface="Arial"/>
                <a:ea typeface="Arial"/>
                <a:cs typeface="Arial"/>
              </a:defRPr>
            </a:lvl5pPr>
            <a:lvl6pPr>
              <a:defRPr sz="1350" b="1">
                <a:solidFill>
                  <a:srgbClr val="60A5FA"/>
                </a:solidFill>
                <a:latin typeface="Arial"/>
                <a:ea typeface="Arial"/>
                <a:cs typeface="Arial"/>
              </a:defRPr>
            </a:lvl6pPr>
            <a:lvl7pPr>
              <a:defRPr sz="1350" b="1">
                <a:solidFill>
                  <a:srgbClr val="60A5FA"/>
                </a:solidFill>
                <a:latin typeface="Arial"/>
                <a:ea typeface="Arial"/>
                <a:cs typeface="Arial"/>
              </a:defRPr>
            </a:lvl7pPr>
            <a:lvl8pPr>
              <a:defRPr sz="1350" b="1">
                <a:solidFill>
                  <a:srgbClr val="60A5FA"/>
                </a:solidFill>
                <a:latin typeface="Arial"/>
                <a:ea typeface="Arial"/>
                <a:cs typeface="Arial"/>
              </a:defRPr>
            </a:lvl8pPr>
            <a:lvl9pPr>
              <a:defRPr sz="1350" b="1">
                <a:solidFill>
                  <a:srgbClr val="60A5FA"/>
                </a:solidFill>
                <a:latin typeface="Arial"/>
                <a:ea typeface="Arial"/>
                <a:cs typeface="Arial"/>
              </a:defRPr>
            </a:lvl9pPr>
          </a:lstStyle>
          <a:p xmlns:a="http://schemas.openxmlformats.org/drawingml/2006/main">
            <a:pPr>
              <a:defRPr sz="1350" b="1">
                <a:solidFill>
                  <a:srgbClr val="60A5FA"/>
                </a:solidFill>
                <a:latin typeface="Arial"/>
                <a:ea typeface="Arial"/>
                <a:cs typeface="Arial"/>
              </a:defRPr>
            </a:pPr>
            <a:r>
              <a:rPr sz="1350" b="1">
                <a:solidFill>
                  <a:srgbClr val="60A5FA"/>
                </a:solidFill>
                <a:latin typeface="Arial"/>
                <a:ea typeface="Arial"/>
                <a:cs typeface="Arial"/>
              </a:rPr>
              <a:t>Project work</a:t>
            </a:r>
          </a:p>
        </p:txBody>
      </p:sp>
      <p:sp>
        <p:nvSpPr>
          <p:cNvPr id="9" name="">
            <a:extLst xmlns:a="http://schemas.openxmlformats.org/drawingml/2006/main">
              <a:ext uri="{FF2B5EF4-FFF2-40B4-BE49-F238E27FC236}">
                <a16:creationId xmlns:a16="http://schemas.microsoft.com/office/drawing/2014/main" id="{B15E5FE9-2EF9-4E52-9317-837144F3C688}"/>
              </a:ext>
            </a:extLst>
          </p:cNvPr>
          <p:cNvSpPr>
            <a:spLocks xmlns:a="http://schemas.openxmlformats.org/drawingml/2006/main" noGrp="1"/>
          </p:cNvSpPr>
          <p:nvPr/>
        </p:nvSpPr>
        <p:spPr>
          <a:xfrm xmlns:a="http://schemas.openxmlformats.org/drawingml/2006/main">
            <a:off x="2952750" y="27432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list / read / write / search files</a:t>
            </a:r>
          </a:p>
        </p:txBody>
      </p:sp>
      <p:sp>
        <p:nvSpPr>
          <p:cNvPr id="10" name="cap-left-2">
            <a:extLst xmlns:a="http://schemas.openxmlformats.org/drawingml/2006/main">
              <a:ext uri="{FF2B5EF4-FFF2-40B4-BE49-F238E27FC236}">
                <a16:creationId xmlns:a16="http://schemas.microsoft.com/office/drawing/2014/main" id="{4C63CE13-7341-41B2-82CD-2D5030DA76B7}"/>
              </a:ext>
            </a:extLst>
          </p:cNvPr>
          <p:cNvSpPr>
            <a:spLocks xmlns:a="http://schemas.openxmlformats.org/drawingml/2006/main" noGrp="1"/>
          </p:cNvSpPr>
          <p:nvPr/>
        </p:nvSpPr>
        <p:spPr>
          <a:xfrm xmlns:a="http://schemas.openxmlformats.org/drawingml/2006/main">
            <a:off x="762000" y="32575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A7F3D0"/>
            </a:solidFill>
            <a:prstDash val="solid"/>
          </a:ln>
        </p:spPr>
      </p:sp>
      <p:sp>
        <p:nvSpPr>
          <p:cNvPr id="11" name="">
            <a:extLst xmlns:a="http://schemas.openxmlformats.org/drawingml/2006/main">
              <a:ext uri="{FF2B5EF4-FFF2-40B4-BE49-F238E27FC236}">
                <a16:creationId xmlns:a16="http://schemas.microsoft.com/office/drawing/2014/main" id="{9BC0CBF6-81FB-4720-909F-35902913CFA3}"/>
              </a:ext>
            </a:extLst>
          </p:cNvPr>
          <p:cNvSpPr>
            <a:spLocks xmlns:a="http://schemas.openxmlformats.org/drawingml/2006/main" noGrp="1"/>
          </p:cNvSpPr>
          <p:nvPr/>
        </p:nvSpPr>
        <p:spPr>
          <a:xfrm xmlns:a="http://schemas.openxmlformats.org/drawingml/2006/main">
            <a:off x="971550" y="33528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Web</a:t>
            </a:r>
          </a:p>
        </p:txBody>
      </p:sp>
      <p:sp>
        <p:nvSpPr>
          <p:cNvPr id="12" name="">
            <a:extLst xmlns:a="http://schemas.openxmlformats.org/drawingml/2006/main">
              <a:ext uri="{FF2B5EF4-FFF2-40B4-BE49-F238E27FC236}">
                <a16:creationId xmlns:a16="http://schemas.microsoft.com/office/drawing/2014/main" id="{34A4F802-2D6D-4C5B-86FB-87E07189D9BE}"/>
              </a:ext>
            </a:extLst>
          </p:cNvPr>
          <p:cNvSpPr>
            <a:spLocks xmlns:a="http://schemas.openxmlformats.org/drawingml/2006/main" noGrp="1"/>
          </p:cNvSpPr>
          <p:nvPr/>
        </p:nvSpPr>
        <p:spPr>
          <a:xfrm xmlns:a="http://schemas.openxmlformats.org/drawingml/2006/main">
            <a:off x="2952750" y="33528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public URL fetch + web search</a:t>
            </a:r>
          </a:p>
        </p:txBody>
      </p:sp>
      <p:sp>
        <p:nvSpPr>
          <p:cNvPr id="13" name="cap-left-3">
            <a:extLst xmlns:a="http://schemas.openxmlformats.org/drawingml/2006/main">
              <a:ext uri="{FF2B5EF4-FFF2-40B4-BE49-F238E27FC236}">
                <a16:creationId xmlns:a16="http://schemas.microsoft.com/office/drawing/2014/main" id="{0D793FC3-46AE-45BA-890A-9135B3D2DD3A}"/>
              </a:ext>
            </a:extLst>
          </p:cNvPr>
          <p:cNvSpPr>
            <a:spLocks xmlns:a="http://schemas.openxmlformats.org/drawingml/2006/main" noGrp="1"/>
          </p:cNvSpPr>
          <p:nvPr/>
        </p:nvSpPr>
        <p:spPr>
          <a:xfrm xmlns:a="http://schemas.openxmlformats.org/drawingml/2006/main">
            <a:off x="762000" y="38671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CD34D"/>
            </a:solidFill>
            <a:prstDash val="solid"/>
          </a:ln>
        </p:spPr>
      </p:sp>
      <p:sp>
        <p:nvSpPr>
          <p:cNvPr id="14" name="">
            <a:extLst xmlns:a="http://schemas.openxmlformats.org/drawingml/2006/main">
              <a:ext uri="{FF2B5EF4-FFF2-40B4-BE49-F238E27FC236}">
                <a16:creationId xmlns:a16="http://schemas.microsoft.com/office/drawing/2014/main" id="{566560C8-2B14-4CAB-9C5B-B622D7C182B7}"/>
              </a:ext>
            </a:extLst>
          </p:cNvPr>
          <p:cNvSpPr>
            <a:spLocks xmlns:a="http://schemas.openxmlformats.org/drawingml/2006/main" noGrp="1"/>
          </p:cNvSpPr>
          <p:nvPr/>
        </p:nvSpPr>
        <p:spPr>
          <a:xfrm xmlns:a="http://schemas.openxmlformats.org/drawingml/2006/main">
            <a:off x="971550" y="39624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CD34D"/>
                </a:solidFill>
                <a:latin typeface="Arial"/>
                <a:ea typeface="Arial"/>
                <a:cs typeface="Arial"/>
              </a:defRPr>
            </a:defPPr>
            <a:lvl1pPr>
              <a:defRPr sz="1350" b="1">
                <a:solidFill>
                  <a:srgbClr val="FCD34D"/>
                </a:solidFill>
                <a:latin typeface="Arial"/>
                <a:ea typeface="Arial"/>
                <a:cs typeface="Arial"/>
              </a:defRPr>
            </a:lvl1pPr>
            <a:lvl2pPr>
              <a:defRPr sz="1350" b="1">
                <a:solidFill>
                  <a:srgbClr val="FCD34D"/>
                </a:solidFill>
                <a:latin typeface="Arial"/>
                <a:ea typeface="Arial"/>
                <a:cs typeface="Arial"/>
              </a:defRPr>
            </a:lvl2pPr>
            <a:lvl3pPr>
              <a:defRPr sz="1350" b="1">
                <a:solidFill>
                  <a:srgbClr val="FCD34D"/>
                </a:solidFill>
                <a:latin typeface="Arial"/>
                <a:ea typeface="Arial"/>
                <a:cs typeface="Arial"/>
              </a:defRPr>
            </a:lvl3pPr>
            <a:lvl4pPr>
              <a:defRPr sz="1350" b="1">
                <a:solidFill>
                  <a:srgbClr val="FCD34D"/>
                </a:solidFill>
                <a:latin typeface="Arial"/>
                <a:ea typeface="Arial"/>
                <a:cs typeface="Arial"/>
              </a:defRPr>
            </a:lvl4pPr>
            <a:lvl5pPr>
              <a:defRPr sz="1350" b="1">
                <a:solidFill>
                  <a:srgbClr val="FCD34D"/>
                </a:solidFill>
                <a:latin typeface="Arial"/>
                <a:ea typeface="Arial"/>
                <a:cs typeface="Arial"/>
              </a:defRPr>
            </a:lvl5pPr>
            <a:lvl6pPr>
              <a:defRPr sz="1350" b="1">
                <a:solidFill>
                  <a:srgbClr val="FCD34D"/>
                </a:solidFill>
                <a:latin typeface="Arial"/>
                <a:ea typeface="Arial"/>
                <a:cs typeface="Arial"/>
              </a:defRPr>
            </a:lvl6pPr>
            <a:lvl7pPr>
              <a:defRPr sz="1350" b="1">
                <a:solidFill>
                  <a:srgbClr val="FCD34D"/>
                </a:solidFill>
                <a:latin typeface="Arial"/>
                <a:ea typeface="Arial"/>
                <a:cs typeface="Arial"/>
              </a:defRPr>
            </a:lvl7pPr>
            <a:lvl8pPr>
              <a:defRPr sz="1350" b="1">
                <a:solidFill>
                  <a:srgbClr val="FCD34D"/>
                </a:solidFill>
                <a:latin typeface="Arial"/>
                <a:ea typeface="Arial"/>
                <a:cs typeface="Arial"/>
              </a:defRPr>
            </a:lvl8pPr>
            <a:lvl9pPr>
              <a:defRPr sz="1350" b="1">
                <a:solidFill>
                  <a:srgbClr val="FCD34D"/>
                </a:solidFill>
                <a:latin typeface="Arial"/>
                <a:ea typeface="Arial"/>
                <a:cs typeface="Arial"/>
              </a:defRPr>
            </a:lvl9pPr>
          </a:lstStyle>
          <a:p xmlns:a="http://schemas.openxmlformats.org/drawingml/2006/main">
            <a:pPr>
              <a:defRPr sz="1350" b="1">
                <a:solidFill>
                  <a:srgbClr val="FCD34D"/>
                </a:solidFill>
                <a:latin typeface="Arial"/>
                <a:ea typeface="Arial"/>
                <a:cs typeface="Arial"/>
              </a:defRPr>
            </a:pPr>
            <a:r>
              <a:rPr sz="1350" b="1">
                <a:solidFill>
                  <a:srgbClr val="FCD34D"/>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9566E1CF-E99D-4EE3-9B63-03760B832C9F}"/>
              </a:ext>
            </a:extLst>
          </p:cNvPr>
          <p:cNvSpPr>
            <a:spLocks xmlns:a="http://schemas.openxmlformats.org/drawingml/2006/main" noGrp="1"/>
          </p:cNvSpPr>
          <p:nvPr/>
        </p:nvSpPr>
        <p:spPr>
          <a:xfrm xmlns:a="http://schemas.openxmlformats.org/drawingml/2006/main">
            <a:off x="2952750" y="39624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allowlisted commands + background jobs</a:t>
            </a:r>
          </a:p>
        </p:txBody>
      </p:sp>
      <p:sp>
        <p:nvSpPr>
          <p:cNvPr id="16" name="cap-left-4">
            <a:extLst xmlns:a="http://schemas.openxmlformats.org/drawingml/2006/main">
              <a:ext uri="{FF2B5EF4-FFF2-40B4-BE49-F238E27FC236}">
                <a16:creationId xmlns:a16="http://schemas.microsoft.com/office/drawing/2014/main" id="{48C8036D-5FAB-4A97-9E16-8E23100BA845}"/>
              </a:ext>
            </a:extLst>
          </p:cNvPr>
          <p:cNvSpPr>
            <a:spLocks xmlns:a="http://schemas.openxmlformats.org/drawingml/2006/main" noGrp="1"/>
          </p:cNvSpPr>
          <p:nvPr/>
        </p:nvSpPr>
        <p:spPr>
          <a:xfrm xmlns:a="http://schemas.openxmlformats.org/drawingml/2006/main">
            <a:off x="762000" y="44767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DA4AF"/>
            </a:solidFill>
            <a:prstDash val="solid"/>
          </a:ln>
        </p:spPr>
      </p:sp>
      <p:sp>
        <p:nvSpPr>
          <p:cNvPr id="17" name="">
            <a:extLst xmlns:a="http://schemas.openxmlformats.org/drawingml/2006/main">
              <a:ext uri="{FF2B5EF4-FFF2-40B4-BE49-F238E27FC236}">
                <a16:creationId xmlns:a16="http://schemas.microsoft.com/office/drawing/2014/main" id="{CE0E7512-1275-4748-AA53-EC815CB103C6}"/>
              </a:ext>
            </a:extLst>
          </p:cNvPr>
          <p:cNvSpPr>
            <a:spLocks xmlns:a="http://schemas.openxmlformats.org/drawingml/2006/main" noGrp="1"/>
          </p:cNvSpPr>
          <p:nvPr/>
        </p:nvSpPr>
        <p:spPr>
          <a:xfrm xmlns:a="http://schemas.openxmlformats.org/drawingml/2006/main">
            <a:off x="971550" y="45720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DA4AF"/>
                </a:solidFill>
                <a:latin typeface="Arial"/>
                <a:ea typeface="Arial"/>
                <a:cs typeface="Arial"/>
              </a:defRPr>
            </a:defPPr>
            <a:lvl1pPr>
              <a:defRPr sz="1350" b="1">
                <a:solidFill>
                  <a:srgbClr val="FDA4AF"/>
                </a:solidFill>
                <a:latin typeface="Arial"/>
                <a:ea typeface="Arial"/>
                <a:cs typeface="Arial"/>
              </a:defRPr>
            </a:lvl1pPr>
            <a:lvl2pPr>
              <a:defRPr sz="1350" b="1">
                <a:solidFill>
                  <a:srgbClr val="FDA4AF"/>
                </a:solidFill>
                <a:latin typeface="Arial"/>
                <a:ea typeface="Arial"/>
                <a:cs typeface="Arial"/>
              </a:defRPr>
            </a:lvl2pPr>
            <a:lvl3pPr>
              <a:defRPr sz="1350" b="1">
                <a:solidFill>
                  <a:srgbClr val="FDA4AF"/>
                </a:solidFill>
                <a:latin typeface="Arial"/>
                <a:ea typeface="Arial"/>
                <a:cs typeface="Arial"/>
              </a:defRPr>
            </a:lvl3pPr>
            <a:lvl4pPr>
              <a:defRPr sz="1350" b="1">
                <a:solidFill>
                  <a:srgbClr val="FDA4AF"/>
                </a:solidFill>
                <a:latin typeface="Arial"/>
                <a:ea typeface="Arial"/>
                <a:cs typeface="Arial"/>
              </a:defRPr>
            </a:lvl4pPr>
            <a:lvl5pPr>
              <a:defRPr sz="1350" b="1">
                <a:solidFill>
                  <a:srgbClr val="FDA4AF"/>
                </a:solidFill>
                <a:latin typeface="Arial"/>
                <a:ea typeface="Arial"/>
                <a:cs typeface="Arial"/>
              </a:defRPr>
            </a:lvl5pPr>
            <a:lvl6pPr>
              <a:defRPr sz="1350" b="1">
                <a:solidFill>
                  <a:srgbClr val="FDA4AF"/>
                </a:solidFill>
                <a:latin typeface="Arial"/>
                <a:ea typeface="Arial"/>
                <a:cs typeface="Arial"/>
              </a:defRPr>
            </a:lvl6pPr>
            <a:lvl7pPr>
              <a:defRPr sz="1350" b="1">
                <a:solidFill>
                  <a:srgbClr val="FDA4AF"/>
                </a:solidFill>
                <a:latin typeface="Arial"/>
                <a:ea typeface="Arial"/>
                <a:cs typeface="Arial"/>
              </a:defRPr>
            </a:lvl7pPr>
            <a:lvl8pPr>
              <a:defRPr sz="1350" b="1">
                <a:solidFill>
                  <a:srgbClr val="FDA4AF"/>
                </a:solidFill>
                <a:latin typeface="Arial"/>
                <a:ea typeface="Arial"/>
                <a:cs typeface="Arial"/>
              </a:defRPr>
            </a:lvl8pPr>
            <a:lvl9pPr>
              <a:defRPr sz="1350" b="1">
                <a:solidFill>
                  <a:srgbClr val="FDA4AF"/>
                </a:solidFill>
                <a:latin typeface="Arial"/>
                <a:ea typeface="Arial"/>
                <a:cs typeface="Arial"/>
              </a:defRPr>
            </a:lvl9pPr>
          </a:lstStyle>
          <a:p xmlns:a="http://schemas.openxmlformats.org/drawingml/2006/main">
            <a:pPr>
              <a:defRPr sz="1350" b="1">
                <a:solidFill>
                  <a:srgbClr val="FDA4AF"/>
                </a:solidFill>
                <a:latin typeface="Arial"/>
                <a:ea typeface="Arial"/>
                <a:cs typeface="Arial"/>
              </a:defRPr>
            </a:pPr>
            <a:r>
              <a:rPr sz="1350" b="1">
                <a:solidFill>
                  <a:srgbClr val="FDA4AF"/>
                </a:solidFill>
                <a:latin typeface="Arial"/>
                <a:ea typeface="Arial"/>
                <a:cs typeface="Arial"/>
              </a:rPr>
              <a:t>Operations</a:t>
            </a:r>
          </a:p>
        </p:txBody>
      </p:sp>
      <p:sp>
        <p:nvSpPr>
          <p:cNvPr id="18" name="">
            <a:extLst xmlns:a="http://schemas.openxmlformats.org/drawingml/2006/main">
              <a:ext uri="{FF2B5EF4-FFF2-40B4-BE49-F238E27FC236}">
                <a16:creationId xmlns:a16="http://schemas.microsoft.com/office/drawing/2014/main" id="{C628E76C-4EEB-432C-AA2E-4C11B6542874}"/>
              </a:ext>
            </a:extLst>
          </p:cNvPr>
          <p:cNvSpPr>
            <a:spLocks xmlns:a="http://schemas.openxmlformats.org/drawingml/2006/main" noGrp="1"/>
          </p:cNvSpPr>
          <p:nvPr/>
        </p:nvSpPr>
        <p:spPr>
          <a:xfrm xmlns:a="http://schemas.openxmlformats.org/drawingml/2006/main">
            <a:off x="2952750" y="45720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system info + timers + MCP bridge</a:t>
            </a:r>
          </a:p>
        </p:txBody>
      </p:sp>
      <p:sp>
        <p:nvSpPr>
          <p:cNvPr id="19" name="boundary-callout">
            <a:extLst xmlns:a="http://schemas.openxmlformats.org/drawingml/2006/main">
              <a:ext uri="{FF2B5EF4-FFF2-40B4-BE49-F238E27FC236}">
                <a16:creationId xmlns:a16="http://schemas.microsoft.com/office/drawing/2014/main" id="{B8DCB37D-9BB6-4916-A814-7C544BF40B1E}"/>
              </a:ext>
            </a:extLst>
          </p:cNvPr>
          <p:cNvSpPr>
            <a:spLocks xmlns:a="http://schemas.openxmlformats.org/drawingml/2006/main" noGrp="1"/>
          </p:cNvSpPr>
          <p:nvPr/>
        </p:nvSpPr>
        <p:spPr>
          <a:xfrm xmlns:a="http://schemas.openxmlformats.org/drawingml/2006/main">
            <a:off x="8667750" y="2038350"/>
            <a:ext cx="2857500" cy="2857500"/>
          </a:xfrm>
          <a:prstGeom xmlns:a="http://schemas.openxmlformats.org/drawingml/2006/main" prst="roundRect">
            <a:avLst>
              <a:gd name="adj" fmla="val 4000"/>
            </a:avLst>
          </a:prstGeom>
          <a:solidFill xmlns:a="http://schemas.openxmlformats.org/drawingml/2006/main">
            <a:srgbClr val="102A43"/>
          </a:solidFill>
          <a:ln xmlns:a="http://schemas.openxmlformats.org/drawingml/2006/main" w="9525">
            <a:solidFill>
              <a:srgbClr val="FCD34D"/>
            </a:solidFill>
            <a:prstDash val="solid"/>
          </a:ln>
        </p:spPr>
      </p:sp>
      <p:sp>
        <p:nvSpPr>
          <p:cNvPr id="20" name="">
            <a:extLst xmlns:a="http://schemas.openxmlformats.org/drawingml/2006/main">
              <a:ext uri="{FF2B5EF4-FFF2-40B4-BE49-F238E27FC236}">
                <a16:creationId xmlns:a16="http://schemas.microsoft.com/office/drawing/2014/main" id="{ABB9AAB1-AF54-45B2-AC4F-EF53E90D965A}"/>
              </a:ext>
            </a:extLst>
          </p:cNvPr>
          <p:cNvSpPr>
            <a:spLocks xmlns:a="http://schemas.openxmlformats.org/drawingml/2006/main" noGrp="1"/>
          </p:cNvSpPr>
          <p:nvPr/>
        </p:nvSpPr>
        <p:spPr>
          <a:xfrm xmlns:a="http://schemas.openxmlformats.org/drawingml/2006/main">
            <a:off x="8896350" y="2400300"/>
            <a:ext cx="2400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CD34D"/>
                </a:solidFill>
                <a:latin typeface="Arial"/>
                <a:ea typeface="Arial"/>
                <a:cs typeface="Arial"/>
              </a:defRPr>
            </a:defPPr>
            <a:lvl1pPr>
              <a:defRPr sz="2025" b="1">
                <a:solidFill>
                  <a:srgbClr val="FCD34D"/>
                </a:solidFill>
                <a:latin typeface="Arial"/>
                <a:ea typeface="Arial"/>
                <a:cs typeface="Arial"/>
              </a:defRPr>
            </a:lvl1pPr>
            <a:lvl2pPr>
              <a:defRPr sz="2025" b="1">
                <a:solidFill>
                  <a:srgbClr val="FCD34D"/>
                </a:solidFill>
                <a:latin typeface="Arial"/>
                <a:ea typeface="Arial"/>
                <a:cs typeface="Arial"/>
              </a:defRPr>
            </a:lvl2pPr>
            <a:lvl3pPr>
              <a:defRPr sz="2025" b="1">
                <a:solidFill>
                  <a:srgbClr val="FCD34D"/>
                </a:solidFill>
                <a:latin typeface="Arial"/>
                <a:ea typeface="Arial"/>
                <a:cs typeface="Arial"/>
              </a:defRPr>
            </a:lvl3pPr>
            <a:lvl4pPr>
              <a:defRPr sz="2025" b="1">
                <a:solidFill>
                  <a:srgbClr val="FCD34D"/>
                </a:solidFill>
                <a:latin typeface="Arial"/>
                <a:ea typeface="Arial"/>
                <a:cs typeface="Arial"/>
              </a:defRPr>
            </a:lvl4pPr>
            <a:lvl5pPr>
              <a:defRPr sz="2025" b="1">
                <a:solidFill>
                  <a:srgbClr val="FCD34D"/>
                </a:solidFill>
                <a:latin typeface="Arial"/>
                <a:ea typeface="Arial"/>
                <a:cs typeface="Arial"/>
              </a:defRPr>
            </a:lvl5pPr>
            <a:lvl6pPr>
              <a:defRPr sz="2025" b="1">
                <a:solidFill>
                  <a:srgbClr val="FCD34D"/>
                </a:solidFill>
                <a:latin typeface="Arial"/>
                <a:ea typeface="Arial"/>
                <a:cs typeface="Arial"/>
              </a:defRPr>
            </a:lvl6pPr>
            <a:lvl7pPr>
              <a:defRPr sz="2025" b="1">
                <a:solidFill>
                  <a:srgbClr val="FCD34D"/>
                </a:solidFill>
                <a:latin typeface="Arial"/>
                <a:ea typeface="Arial"/>
                <a:cs typeface="Arial"/>
              </a:defRPr>
            </a:lvl7pPr>
            <a:lvl8pPr>
              <a:defRPr sz="2025" b="1">
                <a:solidFill>
                  <a:srgbClr val="FCD34D"/>
                </a:solidFill>
                <a:latin typeface="Arial"/>
                <a:ea typeface="Arial"/>
                <a:cs typeface="Arial"/>
              </a:defRPr>
            </a:lvl8pPr>
            <a:lvl9pPr>
              <a:defRPr sz="2025" b="1">
                <a:solidFill>
                  <a:srgbClr val="FCD34D"/>
                </a:solidFill>
                <a:latin typeface="Arial"/>
                <a:ea typeface="Arial"/>
                <a:cs typeface="Arial"/>
              </a:defRPr>
            </a:lvl9pPr>
          </a:lstStyle>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PARITY ≠</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UNRESTRICTED</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SHELL</a:t>
            </a:r>
          </a:p>
        </p:txBody>
      </p:sp>
      <p:sp>
        <p:nvSpPr>
          <p:cNvPr id="21" name="">
            <a:extLst xmlns:a="http://schemas.openxmlformats.org/drawingml/2006/main">
              <a:ext uri="{FF2B5EF4-FFF2-40B4-BE49-F238E27FC236}">
                <a16:creationId xmlns:a16="http://schemas.microsoft.com/office/drawing/2014/main" id="{021DD84F-755F-4559-A9B8-A4E0CCE8AE4D}"/>
              </a:ext>
            </a:extLst>
          </p:cNvPr>
          <p:cNvSpPr>
            <a:spLocks xmlns:a="http://schemas.openxmlformats.org/drawingml/2006/main" noGrp="1"/>
          </p:cNvSpPr>
          <p:nvPr/>
        </p:nvSpPr>
        <p:spPr>
          <a:xfrm xmlns:a="http://schemas.openxmlformats.org/drawingml/2006/main">
            <a:off x="8991600" y="3752850"/>
            <a:ext cx="2209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Paths stay inside ME3.</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Secrets and model caches are</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blocked. Destructive patterns</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are rejected.</a:t>
            </a:r>
          </a:p>
        </p:txBody>
      </p:sp>
      <p:sp>
        <p:nvSpPr>
          <p:cNvPr id="22" name="">
            <a:extLst xmlns:a="http://schemas.openxmlformats.org/drawingml/2006/main">
              <a:ext uri="{FF2B5EF4-FFF2-40B4-BE49-F238E27FC236}">
                <a16:creationId xmlns:a16="http://schemas.microsoft.com/office/drawing/2014/main" id="{9E94840E-11AE-407E-BDB0-5E81B5110DE0}"/>
              </a:ext>
            </a:extLst>
          </p:cNvPr>
          <p:cNvSpPr>
            <a:spLocks xmlns:a="http://schemas.openxmlformats.org/drawingml/2006/main" noGrp="1"/>
          </p:cNvSpPr>
          <p:nvPr/>
        </p:nvSpPr>
        <p:spPr>
          <a:xfrm xmlns:a="http://schemas.openxmlformats.org/drawingml/2006/main">
            <a:off x="781050" y="54673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7FAFC"/>
                </a:solidFill>
                <a:latin typeface="Arial"/>
                <a:ea typeface="Arial"/>
                <a:cs typeface="Arial"/>
              </a:defRPr>
            </a:defPPr>
            <a:lvl1pPr>
              <a:defRPr sz="1500" b="1">
                <a:solidFill>
                  <a:srgbClr val="F7FAFC"/>
                </a:solidFill>
                <a:latin typeface="Arial"/>
                <a:ea typeface="Arial"/>
                <a:cs typeface="Arial"/>
              </a:defRPr>
            </a:lvl1pPr>
            <a:lvl2pPr>
              <a:defRPr sz="1500" b="1">
                <a:solidFill>
                  <a:srgbClr val="F7FAFC"/>
                </a:solidFill>
                <a:latin typeface="Arial"/>
                <a:ea typeface="Arial"/>
                <a:cs typeface="Arial"/>
              </a:defRPr>
            </a:lvl2pPr>
            <a:lvl3pPr>
              <a:defRPr sz="1500" b="1">
                <a:solidFill>
                  <a:srgbClr val="F7FAFC"/>
                </a:solidFill>
                <a:latin typeface="Arial"/>
                <a:ea typeface="Arial"/>
                <a:cs typeface="Arial"/>
              </a:defRPr>
            </a:lvl3pPr>
            <a:lvl4pPr>
              <a:defRPr sz="1500" b="1">
                <a:solidFill>
                  <a:srgbClr val="F7FAFC"/>
                </a:solidFill>
                <a:latin typeface="Arial"/>
                <a:ea typeface="Arial"/>
                <a:cs typeface="Arial"/>
              </a:defRPr>
            </a:lvl4pPr>
            <a:lvl5pPr>
              <a:defRPr sz="1500" b="1">
                <a:solidFill>
                  <a:srgbClr val="F7FAFC"/>
                </a:solidFill>
                <a:latin typeface="Arial"/>
                <a:ea typeface="Arial"/>
                <a:cs typeface="Arial"/>
              </a:defRPr>
            </a:lvl5pPr>
            <a:lvl6pPr>
              <a:defRPr sz="1500" b="1">
                <a:solidFill>
                  <a:srgbClr val="F7FAFC"/>
                </a:solidFill>
                <a:latin typeface="Arial"/>
                <a:ea typeface="Arial"/>
                <a:cs typeface="Arial"/>
              </a:defRPr>
            </a:lvl6pPr>
            <a:lvl7pPr>
              <a:defRPr sz="1500" b="1">
                <a:solidFill>
                  <a:srgbClr val="F7FAFC"/>
                </a:solidFill>
                <a:latin typeface="Arial"/>
                <a:ea typeface="Arial"/>
                <a:cs typeface="Arial"/>
              </a:defRPr>
            </a:lvl7pPr>
            <a:lvl8pPr>
              <a:defRPr sz="1500" b="1">
                <a:solidFill>
                  <a:srgbClr val="F7FAFC"/>
                </a:solidFill>
                <a:latin typeface="Arial"/>
                <a:ea typeface="Arial"/>
                <a:cs typeface="Arial"/>
              </a:defRPr>
            </a:lvl8pPr>
            <a:lvl9pPr>
              <a:defRPr sz="1500" b="1">
                <a:solidFill>
                  <a:srgbClr val="F7FAFC"/>
                </a:solidFill>
                <a:latin typeface="Arial"/>
                <a:ea typeface="Arial"/>
                <a:cs typeface="Arial"/>
              </a:defRPr>
            </a:lvl9pPr>
          </a:lstStyle>
          <a:p xmlns:a="http://schemas.openxmlformats.org/drawingml/2006/main">
            <a:pPr>
              <a:defRPr sz="1500" b="1">
                <a:solidFill>
                  <a:srgbClr val="F7FAFC"/>
                </a:solidFill>
                <a:latin typeface="Arial"/>
                <a:ea typeface="Arial"/>
                <a:cs typeface="Arial"/>
              </a:defRPr>
            </a:pPr>
            <a:r>
              <a:rPr sz="1500" b="1">
                <a:solidFill>
                  <a:srgbClr val="F7FAFC"/>
                </a:solidFill>
                <a:latin typeface="Arial"/>
                <a:ea typeface="Arial"/>
                <a:cs typeface="Arial"/>
              </a:rPr>
              <a:t>Capability is added as a typed tool with an observable result.</a:t>
            </a:r>
          </a:p>
        </p:txBody>
      </p:sp>
      <p:sp>
        <p:nvSpPr>
          <p:cNvPr id="23" name="">
            <a:extLst xmlns:a="http://schemas.openxmlformats.org/drawingml/2006/main">
              <a:ext uri="{FF2B5EF4-FFF2-40B4-BE49-F238E27FC236}">
                <a16:creationId xmlns:a16="http://schemas.microsoft.com/office/drawing/2014/main" id="{F976D0CC-5604-446F-BC0F-EAAFAA6D4361}"/>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5/7</a:t>
            </a:r>
          </a:p>
        </p:txBody>
      </p:sp>
    </p:spTree>
    <p:extLst>
      <p:ext uri="{BB962C8B-B14F-4D97-AF65-F5344CB8AC3E}">
        <p14:creationId xmlns:p14="http://schemas.microsoft.com/office/powerpoint/2010/main" val="1831135385"/>
      </p:ext>
    </p:extLst>
  </p:cSld>
</p:sld>
</file>

<file path=ppt/slides/slide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1343C7-B562-4CDA-A7AF-11C5664575F5}"/>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ED231482-C788-47EC-B346-12D4843A917D}"/>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The implementation is verified in layers</a:t>
            </a:r>
          </a:p>
        </p:txBody>
      </p:sp>
      <p:sp>
        <p:nvSpPr>
          <p:cNvPr id="3" name="">
            <a:extLst xmlns:a="http://schemas.openxmlformats.org/drawingml/2006/main">
              <a:ext uri="{FF2B5EF4-FFF2-40B4-BE49-F238E27FC236}">
                <a16:creationId xmlns:a16="http://schemas.microsoft.com/office/drawing/2014/main" id="{E77C7522-5CA4-4544-9701-6105A7738564}"/>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Each layer answers a different question; a local pass is not silently promoted to Pi or benchmark evidence.</a:t>
            </a:r>
          </a:p>
        </p:txBody>
      </p:sp>
      <p:sp>
        <p:nvSpPr>
          <p:cNvPr id="4" name="verified-now">
            <a:extLst xmlns:a="http://schemas.openxmlformats.org/drawingml/2006/main">
              <a:ext uri="{FF2B5EF4-FFF2-40B4-BE49-F238E27FC236}">
                <a16:creationId xmlns:a16="http://schemas.microsoft.com/office/drawing/2014/main" id="{2B4F63E0-680A-4E7B-9AC9-470BEBF184D7}"/>
              </a:ext>
            </a:extLst>
          </p:cNvPr>
          <p:cNvSpPr>
            <a:spLocks xmlns:a="http://schemas.openxmlformats.org/drawingml/2006/main" noGrp="1"/>
          </p:cNvSpPr>
          <p:nvPr/>
        </p:nvSpPr>
        <p:spPr>
          <a:xfrm xmlns:a="http://schemas.openxmlformats.org/drawingml/2006/main">
            <a:off x="723900" y="2038350"/>
            <a:ext cx="495300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A7F3D0"/>
            </a:solidFill>
            <a:prstDash val="solid"/>
          </a:ln>
        </p:spPr>
      </p:sp>
      <p:sp>
        <p:nvSpPr>
          <p:cNvPr id="5" name="">
            <a:extLst xmlns:a="http://schemas.openxmlformats.org/drawingml/2006/main">
              <a:ext uri="{FF2B5EF4-FFF2-40B4-BE49-F238E27FC236}">
                <a16:creationId xmlns:a16="http://schemas.microsoft.com/office/drawing/2014/main" id="{C43C17C8-B9B5-4B37-911B-75B8485C084E}"/>
              </a:ext>
            </a:extLst>
          </p:cNvPr>
          <p:cNvSpPr>
            <a:spLocks xmlns:a="http://schemas.openxmlformats.org/drawingml/2006/main" noGrp="1"/>
          </p:cNvSpPr>
          <p:nvPr/>
        </p:nvSpPr>
        <p:spPr>
          <a:xfrm xmlns:a="http://schemas.openxmlformats.org/drawingml/2006/main">
            <a:off x="102870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VERIFIED NOW</a:t>
            </a:r>
          </a:p>
        </p:txBody>
      </p:sp>
      <p:sp>
        <p:nvSpPr>
          <p:cNvPr id="6" name="">
            <a:extLst xmlns:a="http://schemas.openxmlformats.org/drawingml/2006/main">
              <a:ext uri="{FF2B5EF4-FFF2-40B4-BE49-F238E27FC236}">
                <a16:creationId xmlns:a16="http://schemas.microsoft.com/office/drawing/2014/main" id="{5F7B9EDA-7500-4565-8515-61334C3C5D78}"/>
              </a:ext>
            </a:extLst>
          </p:cNvPr>
          <p:cNvSpPr>
            <a:spLocks xmlns:a="http://schemas.openxmlformats.org/drawingml/2006/main" noGrp="1"/>
          </p:cNvSpPr>
          <p:nvPr/>
        </p:nvSpPr>
        <p:spPr>
          <a:xfrm xmlns:a="http://schemas.openxmlformats.org/drawingml/2006/main">
            <a:off x="1028700" y="27813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deployed (transfer hash verified against the release manifest)</a:t>
            </a:r>
          </a:p>
        </p:txBody>
      </p:sp>
      <p:sp>
        <p:nvSpPr>
          <p:cNvPr id="7" name="">
            <a:extLst xmlns:a="http://schemas.openxmlformats.org/drawingml/2006/main">
              <a:ext uri="{FF2B5EF4-FFF2-40B4-BE49-F238E27FC236}">
                <a16:creationId xmlns:a16="http://schemas.microsoft.com/office/drawing/2014/main" id="{4B8AD622-F11E-457E-98B7-53B89C494743}"/>
              </a:ext>
            </a:extLst>
          </p:cNvPr>
          <p:cNvSpPr>
            <a:spLocks xmlns:a="http://schemas.openxmlformats.org/drawingml/2006/main" noGrp="1"/>
          </p:cNvSpPr>
          <p:nvPr/>
        </p:nvSpPr>
        <p:spPr>
          <a:xfrm xmlns:a="http://schemas.openxmlformats.org/drawingml/2006/main">
            <a:off x="1028700" y="32289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--check passes; Qwen key provisioned (mode 600)</a:t>
            </a:r>
          </a:p>
        </p:txBody>
      </p:sp>
      <p:sp>
        <p:nvSpPr>
          <p:cNvPr id="8" name="">
            <a:extLst xmlns:a="http://schemas.openxmlformats.org/drawingml/2006/main">
              <a:ext uri="{FF2B5EF4-FFF2-40B4-BE49-F238E27FC236}">
                <a16:creationId xmlns:a16="http://schemas.microsoft.com/office/drawing/2014/main" id="{C53C7E84-D1AC-4103-87F9-7401C06436F5}"/>
              </a:ext>
            </a:extLst>
          </p:cNvPr>
          <p:cNvSpPr>
            <a:spLocks xmlns:a="http://schemas.openxmlformats.org/drawingml/2006/main" noGrp="1"/>
          </p:cNvSpPr>
          <p:nvPr/>
        </p:nvSpPr>
        <p:spPr>
          <a:xfrm xmlns:a="http://schemas.openxmlformats.org/drawingml/2006/main">
            <a:off x="1028700" y="36766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text E2E: Qwen built + served a web app, URL LAN-verified</a:t>
            </a:r>
          </a:p>
        </p:txBody>
      </p:sp>
      <p:sp>
        <p:nvSpPr>
          <p:cNvPr id="9" name="">
            <a:extLst xmlns:a="http://schemas.openxmlformats.org/drawingml/2006/main">
              <a:ext uri="{FF2B5EF4-FFF2-40B4-BE49-F238E27FC236}">
                <a16:creationId xmlns:a16="http://schemas.microsoft.com/office/drawing/2014/main" id="{0514FF94-E2F3-48F3-89E6-978F6AE53468}"/>
              </a:ext>
            </a:extLst>
          </p:cNvPr>
          <p:cNvSpPr>
            <a:spLocks xmlns:a="http://schemas.openxmlformats.org/drawingml/2006/main" noGrp="1"/>
          </p:cNvSpPr>
          <p:nvPr/>
        </p:nvSpPr>
        <p:spPr>
          <a:xfrm xmlns:a="http://schemas.openxmlformats.org/drawingml/2006/main">
            <a:off x="1028700" y="41243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Dev box: Qwen web-app file creation + read-back; 4 tooling tests</a:t>
            </a:r>
          </a:p>
        </p:txBody>
      </p:sp>
      <p:sp>
        <p:nvSpPr>
          <p:cNvPr id="10" name="">
            <a:extLst xmlns:a="http://schemas.openxmlformats.org/drawingml/2006/main">
              <a:ext uri="{FF2B5EF4-FFF2-40B4-BE49-F238E27FC236}">
                <a16:creationId xmlns:a16="http://schemas.microsoft.com/office/drawing/2014/main" id="{6E6923F6-A860-4DE8-8627-78DE386E92FD}"/>
              </a:ext>
            </a:extLst>
          </p:cNvPr>
          <p:cNvSpPr>
            <a:spLocks xmlns:a="http://schemas.openxmlformats.org/drawingml/2006/main" noGrp="1"/>
          </p:cNvSpPr>
          <p:nvPr/>
        </p:nvSpPr>
        <p:spPr>
          <a:xfrm xmlns:a="http://schemas.openxmlformats.org/drawingml/2006/main">
            <a:off x="1028700" y="45720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All 4 MCP services + PortAudio smoke + v1.5 contract checks</a:t>
            </a:r>
          </a:p>
        </p:txBody>
      </p:sp>
      <p:sp>
        <p:nvSpPr>
          <p:cNvPr id="11" name="next-gates">
            <a:extLst xmlns:a="http://schemas.openxmlformats.org/drawingml/2006/main">
              <a:ext uri="{FF2B5EF4-FFF2-40B4-BE49-F238E27FC236}">
                <a16:creationId xmlns:a16="http://schemas.microsoft.com/office/drawing/2014/main" id="{5F377040-C23E-44B5-9D3D-0EA483DD507C}"/>
              </a:ext>
            </a:extLst>
          </p:cNvPr>
          <p:cNvSpPr>
            <a:spLocks xmlns:a="http://schemas.openxmlformats.org/drawingml/2006/main" noGrp="1"/>
          </p:cNvSpPr>
          <p:nvPr/>
        </p:nvSpPr>
        <p:spPr>
          <a:xfrm xmlns:a="http://schemas.openxmlformats.org/drawingml/2006/main">
            <a:off x="6191250" y="2038350"/>
            <a:ext cx="527685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FCD34D"/>
            </a:solidFill>
            <a:prstDash val="solid"/>
          </a:ln>
        </p:spPr>
      </p:sp>
      <p:sp>
        <p:nvSpPr>
          <p:cNvPr id="12" name="">
            <a:extLst xmlns:a="http://schemas.openxmlformats.org/drawingml/2006/main">
              <a:ext uri="{FF2B5EF4-FFF2-40B4-BE49-F238E27FC236}">
                <a16:creationId xmlns:a16="http://schemas.microsoft.com/office/drawing/2014/main" id="{951C55E0-AEF4-4CEA-86FE-8A778ECA72D9}"/>
              </a:ext>
            </a:extLst>
          </p:cNvPr>
          <p:cNvSpPr>
            <a:spLocks xmlns:a="http://schemas.openxmlformats.org/drawingml/2006/main" noGrp="1"/>
          </p:cNvSpPr>
          <p:nvPr/>
        </p:nvSpPr>
        <p:spPr>
          <a:xfrm xmlns:a="http://schemas.openxmlformats.org/drawingml/2006/main">
            <a:off x="64960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REMAINING GATES</a:t>
            </a:r>
          </a:p>
        </p:txBody>
      </p:sp>
      <p:sp>
        <p:nvSpPr>
          <p:cNvPr id="13" name="">
            <a:extLst xmlns:a="http://schemas.openxmlformats.org/drawingml/2006/main">
              <a:ext uri="{FF2B5EF4-FFF2-40B4-BE49-F238E27FC236}">
                <a16:creationId xmlns:a16="http://schemas.microsoft.com/office/drawing/2014/main" id="{0AE318E2-C0E7-4AF1-8DA1-1BB9739B9D2C}"/>
              </a:ext>
            </a:extLst>
          </p:cNvPr>
          <p:cNvSpPr>
            <a:spLocks xmlns:a="http://schemas.openxmlformats.org/drawingml/2006/main" noGrp="1"/>
          </p:cNvSpPr>
          <p:nvPr/>
        </p:nvSpPr>
        <p:spPr>
          <a:xfrm xmlns:a="http://schemas.openxmlformats.org/drawingml/2006/main">
            <a:off x="6496050" y="27813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live audio run on installed hardware (0 audio devices now)</a:t>
            </a:r>
          </a:p>
        </p:txBody>
      </p:sp>
      <p:sp>
        <p:nvSpPr>
          <p:cNvPr id="14" name="">
            <a:extLst xmlns:a="http://schemas.openxmlformats.org/drawingml/2006/main">
              <a:ext uri="{FF2B5EF4-FFF2-40B4-BE49-F238E27FC236}">
                <a16:creationId xmlns:a16="http://schemas.microsoft.com/office/drawing/2014/main" id="{955B1452-34FD-4607-A5B4-C981246BB77D}"/>
              </a:ext>
            </a:extLst>
          </p:cNvPr>
          <p:cNvSpPr>
            <a:spLocks xmlns:a="http://schemas.openxmlformats.org/drawingml/2006/main" noGrp="1"/>
          </p:cNvSpPr>
          <p:nvPr/>
        </p:nvSpPr>
        <p:spPr>
          <a:xfrm xmlns:a="http://schemas.openxmlformats.org/drawingml/2006/main">
            <a:off x="6496050" y="33051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Clean, unaudited FULL-DUPLEX-BENCH v1.5 capture</a:t>
            </a:r>
          </a:p>
        </p:txBody>
      </p:sp>
      <p:sp>
        <p:nvSpPr>
          <p:cNvPr id="15" name="">
            <a:extLst xmlns:a="http://schemas.openxmlformats.org/drawingml/2006/main">
              <a:ext uri="{FF2B5EF4-FFF2-40B4-BE49-F238E27FC236}">
                <a16:creationId xmlns:a16="http://schemas.microsoft.com/office/drawing/2014/main" id="{190CB0D8-C1F1-40E2-839A-8FA6022D27DC}"/>
              </a:ext>
            </a:extLst>
          </p:cNvPr>
          <p:cNvSpPr>
            <a:spLocks xmlns:a="http://schemas.openxmlformats.org/drawingml/2006/main" noGrp="1"/>
          </p:cNvSpPr>
          <p:nvPr/>
        </p:nvSpPr>
        <p:spPr>
          <a:xfrm xmlns:a="http://schemas.openxmlformats.org/drawingml/2006/main">
            <a:off x="6496050" y="38290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HTTPS endpoint when an administrator provides one</a:t>
            </a:r>
          </a:p>
        </p:txBody>
      </p:sp>
      <p:sp>
        <p:nvSpPr>
          <p:cNvPr id="16" name="">
            <a:extLst xmlns:a="http://schemas.openxmlformats.org/drawingml/2006/main">
              <a:ext uri="{FF2B5EF4-FFF2-40B4-BE49-F238E27FC236}">
                <a16:creationId xmlns:a16="http://schemas.microsoft.com/office/drawing/2014/main" id="{71FCC0F2-921B-4725-8A6C-6EDFE40B1EA3}"/>
              </a:ext>
            </a:extLst>
          </p:cNvPr>
          <p:cNvSpPr>
            <a:spLocks xmlns:a="http://schemas.openxmlformats.org/drawingml/2006/main" noGrp="1"/>
          </p:cNvSpPr>
          <p:nvPr/>
        </p:nvSpPr>
        <p:spPr>
          <a:xfrm xmlns:a="http://schemas.openxmlformats.org/drawingml/2006/main">
            <a:off x="6496050" y="48577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7F3D0"/>
                </a:solidFill>
                <a:latin typeface="Arial"/>
                <a:ea typeface="Arial"/>
                <a:cs typeface="Arial"/>
              </a:defRPr>
            </a:defPPr>
            <a:lvl1pPr>
              <a:defRPr sz="1500" b="1">
                <a:solidFill>
                  <a:srgbClr val="A7F3D0"/>
                </a:solidFill>
                <a:latin typeface="Arial"/>
                <a:ea typeface="Arial"/>
                <a:cs typeface="Arial"/>
              </a:defRPr>
            </a:lvl1pPr>
            <a:lvl2pPr>
              <a:defRPr sz="1500" b="1">
                <a:solidFill>
                  <a:srgbClr val="A7F3D0"/>
                </a:solidFill>
                <a:latin typeface="Arial"/>
                <a:ea typeface="Arial"/>
                <a:cs typeface="Arial"/>
              </a:defRPr>
            </a:lvl2pPr>
            <a:lvl3pPr>
              <a:defRPr sz="1500" b="1">
                <a:solidFill>
                  <a:srgbClr val="A7F3D0"/>
                </a:solidFill>
                <a:latin typeface="Arial"/>
                <a:ea typeface="Arial"/>
                <a:cs typeface="Arial"/>
              </a:defRPr>
            </a:lvl3pPr>
            <a:lvl4pPr>
              <a:defRPr sz="1500" b="1">
                <a:solidFill>
                  <a:srgbClr val="A7F3D0"/>
                </a:solidFill>
                <a:latin typeface="Arial"/>
                <a:ea typeface="Arial"/>
                <a:cs typeface="Arial"/>
              </a:defRPr>
            </a:lvl4pPr>
            <a:lvl5pPr>
              <a:defRPr sz="1500" b="1">
                <a:solidFill>
                  <a:srgbClr val="A7F3D0"/>
                </a:solidFill>
                <a:latin typeface="Arial"/>
                <a:ea typeface="Arial"/>
                <a:cs typeface="Arial"/>
              </a:defRPr>
            </a:lvl5pPr>
            <a:lvl6pPr>
              <a:defRPr sz="1500" b="1">
                <a:solidFill>
                  <a:srgbClr val="A7F3D0"/>
                </a:solidFill>
                <a:latin typeface="Arial"/>
                <a:ea typeface="Arial"/>
                <a:cs typeface="Arial"/>
              </a:defRPr>
            </a:lvl6pPr>
            <a:lvl7pPr>
              <a:defRPr sz="1500" b="1">
                <a:solidFill>
                  <a:srgbClr val="A7F3D0"/>
                </a:solidFill>
                <a:latin typeface="Arial"/>
                <a:ea typeface="Arial"/>
                <a:cs typeface="Arial"/>
              </a:defRPr>
            </a:lvl7pPr>
            <a:lvl8pPr>
              <a:defRPr sz="1500" b="1">
                <a:solidFill>
                  <a:srgbClr val="A7F3D0"/>
                </a:solidFill>
                <a:latin typeface="Arial"/>
                <a:ea typeface="Arial"/>
                <a:cs typeface="Arial"/>
              </a:defRPr>
            </a:lvl8pPr>
            <a:lvl9pPr>
              <a:defRPr sz="1500" b="1">
                <a:solidFill>
                  <a:srgbClr val="A7F3D0"/>
                </a:solidFill>
                <a:latin typeface="Arial"/>
                <a:ea typeface="Arial"/>
                <a:cs typeface="Arial"/>
              </a:defRPr>
            </a:lvl9pPr>
          </a:lstStyle>
          <a:p xmlns:a="http://schemas.openxmlformats.org/drawingml/2006/main">
            <a:pPr>
              <a:defRPr sz="1500" b="1">
                <a:solidFill>
                  <a:srgbClr val="A7F3D0"/>
                </a:solidFill>
                <a:latin typeface="Arial"/>
                <a:ea typeface="Arial"/>
                <a:cs typeface="Arial"/>
              </a:defRPr>
            </a:pPr>
            <a:r>
              <a:rPr sz="1500" b="1">
                <a:solidFill>
                  <a:srgbClr val="A7F3D0"/>
                </a:solidFill>
                <a:latin typeface="Arial"/>
                <a:ea typeface="Arial"/>
                <a:cs typeface="Arial"/>
              </a:rPr>
              <a:t>No training run is in the critical path.</a:t>
            </a:r>
          </a:p>
        </p:txBody>
      </p:sp>
      <p:sp>
        <p:nvSpPr>
          <p:cNvPr id="17" name="">
            <a:extLst xmlns:a="http://schemas.openxmlformats.org/drawingml/2006/main">
              <a:ext uri="{FF2B5EF4-FFF2-40B4-BE49-F238E27FC236}">
                <a16:creationId xmlns:a16="http://schemas.microsoft.com/office/drawing/2014/main" id="{407DC0AD-BA28-48DA-9313-8C8FF3B1A859}"/>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6/7</a:t>
            </a:r>
          </a:p>
        </p:txBody>
      </p:sp>
    </p:spTree>
    <p:extLst>
      <p:ext uri="{BB962C8B-B14F-4D97-AF65-F5344CB8AC3E}">
        <p14:creationId xmlns:p14="http://schemas.microsoft.com/office/powerpoint/2010/main" val="195164306"/>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ose-rule">
            <a:extLst xmlns:a="http://schemas.openxmlformats.org/drawingml/2006/main">
              <a:ext uri="{FF2B5EF4-FFF2-40B4-BE49-F238E27FC236}">
                <a16:creationId xmlns:a16="http://schemas.microsoft.com/office/drawing/2014/main" id="{CCC7C9A3-5CEE-4BD6-B4F0-EC56376D2A3A}"/>
              </a:ext>
            </a:extLst>
          </p:cNvPr>
          <p:cNvSpPr>
            <a:spLocks xmlns:a="http://schemas.openxmlformats.org/drawingml/2006/main" noGrp="1"/>
          </p:cNvSpPr>
          <p:nvPr/>
        </p:nvSpPr>
        <p:spPr>
          <a:xfrm xmlns:a="http://schemas.openxmlformats.org/drawingml/2006/main">
            <a:off x="609600" y="609600"/>
            <a:ext cx="95250" cy="533400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1C765A-079E-4212-BD43-8A1BE6E279F7}"/>
              </a:ext>
            </a:extLst>
          </p:cNvPr>
          <p:cNvSpPr>
            <a:spLocks xmlns:a="http://schemas.openxmlformats.org/drawingml/2006/main" noGrp="1"/>
          </p:cNvSpPr>
          <p:nvPr/>
        </p:nvSpPr>
        <p:spPr>
          <a:xfrm xmlns:a="http://schemas.openxmlformats.org/drawingml/2006/main">
            <a:off x="1066800" y="93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THE TAKEAWAY</a:t>
            </a:r>
          </a:p>
        </p:txBody>
      </p:sp>
      <p:sp>
        <p:nvSpPr>
          <p:cNvPr id="3" name="">
            <a:extLst xmlns:a="http://schemas.openxmlformats.org/drawingml/2006/main">
              <a:ext uri="{FF2B5EF4-FFF2-40B4-BE49-F238E27FC236}">
                <a16:creationId xmlns:a16="http://schemas.microsoft.com/office/drawing/2014/main" id="{8B5D6890-30A1-4A08-8B5A-BF2CA249B96E}"/>
              </a:ext>
            </a:extLst>
          </p:cNvPr>
          <p:cNvSpPr>
            <a:spLocks xmlns:a="http://schemas.openxmlformats.org/drawingml/2006/main" noGrp="1"/>
          </p:cNvSpPr>
          <p:nvPr/>
        </p:nvSpPr>
        <p:spPr>
          <a:xfrm xmlns:a="http://schemas.openxmlformats.org/drawingml/2006/main">
            <a:off x="1066800" y="14668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7FAFC"/>
                </a:solidFill>
                <a:latin typeface="Arial"/>
                <a:ea typeface="Arial"/>
                <a:cs typeface="Arial"/>
              </a:defRPr>
            </a:defPPr>
            <a:lvl1pPr>
              <a:defRPr sz="3450" b="1">
                <a:solidFill>
                  <a:srgbClr val="F7FAFC"/>
                </a:solidFill>
                <a:latin typeface="Arial"/>
                <a:ea typeface="Arial"/>
                <a:cs typeface="Arial"/>
              </a:defRPr>
            </a:lvl1pPr>
            <a:lvl2pPr>
              <a:defRPr sz="3450" b="1">
                <a:solidFill>
                  <a:srgbClr val="F7FAFC"/>
                </a:solidFill>
                <a:latin typeface="Arial"/>
                <a:ea typeface="Arial"/>
                <a:cs typeface="Arial"/>
              </a:defRPr>
            </a:lvl2pPr>
            <a:lvl3pPr>
              <a:defRPr sz="3450" b="1">
                <a:solidFill>
                  <a:srgbClr val="F7FAFC"/>
                </a:solidFill>
                <a:latin typeface="Arial"/>
                <a:ea typeface="Arial"/>
                <a:cs typeface="Arial"/>
              </a:defRPr>
            </a:lvl3pPr>
            <a:lvl4pPr>
              <a:defRPr sz="3450" b="1">
                <a:solidFill>
                  <a:srgbClr val="F7FAFC"/>
                </a:solidFill>
                <a:latin typeface="Arial"/>
                <a:ea typeface="Arial"/>
                <a:cs typeface="Arial"/>
              </a:defRPr>
            </a:lvl4pPr>
            <a:lvl5pPr>
              <a:defRPr sz="3450" b="1">
                <a:solidFill>
                  <a:srgbClr val="F7FAFC"/>
                </a:solidFill>
                <a:latin typeface="Arial"/>
                <a:ea typeface="Arial"/>
                <a:cs typeface="Arial"/>
              </a:defRPr>
            </a:lvl5pPr>
            <a:lvl6pPr>
              <a:defRPr sz="3450" b="1">
                <a:solidFill>
                  <a:srgbClr val="F7FAFC"/>
                </a:solidFill>
                <a:latin typeface="Arial"/>
                <a:ea typeface="Arial"/>
                <a:cs typeface="Arial"/>
              </a:defRPr>
            </a:lvl6pPr>
            <a:lvl7pPr>
              <a:defRPr sz="3450" b="1">
                <a:solidFill>
                  <a:srgbClr val="F7FAFC"/>
                </a:solidFill>
                <a:latin typeface="Arial"/>
                <a:ea typeface="Arial"/>
                <a:cs typeface="Arial"/>
              </a:defRPr>
            </a:lvl7pPr>
            <a:lvl8pPr>
              <a:defRPr sz="3450" b="1">
                <a:solidFill>
                  <a:srgbClr val="F7FAFC"/>
                </a:solidFill>
                <a:latin typeface="Arial"/>
                <a:ea typeface="Arial"/>
                <a:cs typeface="Arial"/>
              </a:defRPr>
            </a:lvl8pPr>
            <a:lvl9pPr>
              <a:defRPr sz="3450" b="1">
                <a:solidFill>
                  <a:srgbClr val="F7FAFC"/>
                </a:solidFill>
                <a:latin typeface="Arial"/>
                <a:ea typeface="Arial"/>
                <a:cs typeface="Arial"/>
              </a:defRPr>
            </a:lvl9pPr>
          </a:lstStyle>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 voice agent becomes</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useful when it can act</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and show its work.</a:t>
            </a:r>
          </a:p>
        </p:txBody>
      </p:sp>
      <p:sp>
        <p:nvSpPr>
          <p:cNvPr id="4" name="">
            <a:extLst xmlns:a="http://schemas.openxmlformats.org/drawingml/2006/main">
              <a:ext uri="{FF2B5EF4-FFF2-40B4-BE49-F238E27FC236}">
                <a16:creationId xmlns:a16="http://schemas.microsoft.com/office/drawing/2014/main" id="{A944AE1E-0E28-4AE2-A22C-4188F76397EF}"/>
              </a:ext>
            </a:extLst>
          </p:cNvPr>
          <p:cNvSpPr>
            <a:spLocks xmlns:a="http://schemas.openxmlformats.org/drawingml/2006/main" noGrp="1"/>
          </p:cNvSpPr>
          <p:nvPr/>
        </p:nvSpPr>
        <p:spPr>
          <a:xfrm xmlns:a="http://schemas.openxmlformats.org/drawingml/2006/main">
            <a:off x="1104900" y="34099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A8B8CA"/>
                </a:solidFill>
                <a:latin typeface="Arial"/>
                <a:ea typeface="Arial"/>
                <a:cs typeface="Arial"/>
              </a:defRPr>
            </a:defPPr>
            <a:lvl1pPr>
              <a:defRPr sz="1650">
                <a:solidFill>
                  <a:srgbClr val="A8B8CA"/>
                </a:solidFill>
                <a:latin typeface="Arial"/>
                <a:ea typeface="Arial"/>
                <a:cs typeface="Arial"/>
              </a:defRPr>
            </a:lvl1pPr>
            <a:lvl2pPr>
              <a:defRPr sz="1650">
                <a:solidFill>
                  <a:srgbClr val="A8B8CA"/>
                </a:solidFill>
                <a:latin typeface="Arial"/>
                <a:ea typeface="Arial"/>
                <a:cs typeface="Arial"/>
              </a:defRPr>
            </a:lvl2pPr>
            <a:lvl3pPr>
              <a:defRPr sz="1650">
                <a:solidFill>
                  <a:srgbClr val="A8B8CA"/>
                </a:solidFill>
                <a:latin typeface="Arial"/>
                <a:ea typeface="Arial"/>
                <a:cs typeface="Arial"/>
              </a:defRPr>
            </a:lvl3pPr>
            <a:lvl4pPr>
              <a:defRPr sz="1650">
                <a:solidFill>
                  <a:srgbClr val="A8B8CA"/>
                </a:solidFill>
                <a:latin typeface="Arial"/>
                <a:ea typeface="Arial"/>
                <a:cs typeface="Arial"/>
              </a:defRPr>
            </a:lvl4pPr>
            <a:lvl5pPr>
              <a:defRPr sz="1650">
                <a:solidFill>
                  <a:srgbClr val="A8B8CA"/>
                </a:solidFill>
                <a:latin typeface="Arial"/>
                <a:ea typeface="Arial"/>
                <a:cs typeface="Arial"/>
              </a:defRPr>
            </a:lvl5pPr>
            <a:lvl6pPr>
              <a:defRPr sz="1650">
                <a:solidFill>
                  <a:srgbClr val="A8B8CA"/>
                </a:solidFill>
                <a:latin typeface="Arial"/>
                <a:ea typeface="Arial"/>
                <a:cs typeface="Arial"/>
              </a:defRPr>
            </a:lvl6pPr>
            <a:lvl7pPr>
              <a:defRPr sz="1650">
                <a:solidFill>
                  <a:srgbClr val="A8B8CA"/>
                </a:solidFill>
                <a:latin typeface="Arial"/>
                <a:ea typeface="Arial"/>
                <a:cs typeface="Arial"/>
              </a:defRPr>
            </a:lvl7pPr>
            <a:lvl8pPr>
              <a:defRPr sz="1650">
                <a:solidFill>
                  <a:srgbClr val="A8B8CA"/>
                </a:solidFill>
                <a:latin typeface="Arial"/>
                <a:ea typeface="Arial"/>
                <a:cs typeface="Arial"/>
              </a:defRPr>
            </a:lvl8pPr>
            <a:lvl9pPr>
              <a:defRPr sz="1650">
                <a:solidFill>
                  <a:srgbClr val="A8B8CA"/>
                </a:solidFill>
                <a:latin typeface="Arial"/>
                <a:ea typeface="Arial"/>
                <a:cs typeface="Arial"/>
              </a:defRPr>
            </a:lvl9pPr>
          </a:lstStyle>
          <a:p xmlns:a="http://schemas.openxmlformats.org/drawingml/2006/main">
            <a:pPr>
              <a:defRPr sz="1650">
                <a:solidFill>
                  <a:srgbClr val="A8B8CA"/>
                </a:solidFill>
                <a:latin typeface="Arial"/>
                <a:ea typeface="Arial"/>
                <a:cs typeface="Arial"/>
              </a:defRPr>
            </a:pPr>
            <a:r>
              <a:rPr sz="1650">
                <a:solidFill>
                  <a:srgbClr val="A8B8CA"/>
                </a:solidFill>
                <a:latin typeface="Arial"/>
                <a:ea typeface="Arial"/>
                <a:cs typeface="Arial"/>
              </a:rPr>
              <a:t>ME3 combines full-duplex audio, Qwen inference, typed tools, and verification into a deployable Raspberry Pi workflow.</a:t>
            </a:r>
          </a:p>
        </p:txBody>
      </p:sp>
      <p:sp>
        <p:nvSpPr>
          <p:cNvPr id="5" name="close-card">
            <a:extLst xmlns:a="http://schemas.openxmlformats.org/drawingml/2006/main">
              <a:ext uri="{FF2B5EF4-FFF2-40B4-BE49-F238E27FC236}">
                <a16:creationId xmlns:a16="http://schemas.microsoft.com/office/drawing/2014/main" id="{B29A9F0B-C2AE-40C5-8B8B-A101D0C6C72B}"/>
              </a:ext>
            </a:extLst>
          </p:cNvPr>
          <p:cNvSpPr>
            <a:spLocks xmlns:a="http://schemas.openxmlformats.org/drawingml/2006/main" noGrp="1"/>
          </p:cNvSpPr>
          <p:nvPr/>
        </p:nvSpPr>
        <p:spPr>
          <a:xfrm xmlns:a="http://schemas.openxmlformats.org/drawingml/2006/main">
            <a:off x="8572500" y="1524000"/>
            <a:ext cx="2381250" cy="2381250"/>
          </a:xfrm>
          <a:prstGeom xmlns:a="http://schemas.openxmlformats.org/drawingml/2006/main" prst="roundRect">
            <a:avLst>
              <a:gd name="adj" fmla="val 4800"/>
            </a:avLst>
          </a:prstGeom>
          <a:solidFill xmlns:a="http://schemas.openxmlformats.org/drawingml/2006/main">
            <a:srgbClr val="14324A"/>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B061F487-9704-4A59-82A4-E78459FE72A4}"/>
              </a:ext>
            </a:extLst>
          </p:cNvPr>
          <p:cNvSpPr>
            <a:spLocks xmlns:a="http://schemas.openxmlformats.org/drawingml/2006/main" noGrp="1"/>
          </p:cNvSpPr>
          <p:nvPr/>
        </p:nvSpPr>
        <p:spPr>
          <a:xfrm xmlns:a="http://schemas.openxmlformats.org/drawingml/2006/main">
            <a:off x="8896350" y="1857375"/>
            <a:ext cx="180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60A5FA"/>
                </a:solidFill>
                <a:latin typeface="Arial"/>
                <a:ea typeface="Arial"/>
                <a:cs typeface="Arial"/>
              </a:defRPr>
            </a:defPPr>
            <a:lvl1pPr>
              <a:defRPr sz="1875" b="1">
                <a:solidFill>
                  <a:srgbClr val="60A5FA"/>
                </a:solidFill>
                <a:latin typeface="Arial"/>
                <a:ea typeface="Arial"/>
                <a:cs typeface="Arial"/>
              </a:defRPr>
            </a:lvl1pPr>
            <a:lvl2pPr>
              <a:defRPr sz="1875" b="1">
                <a:solidFill>
                  <a:srgbClr val="60A5FA"/>
                </a:solidFill>
                <a:latin typeface="Arial"/>
                <a:ea typeface="Arial"/>
                <a:cs typeface="Arial"/>
              </a:defRPr>
            </a:lvl2pPr>
            <a:lvl3pPr>
              <a:defRPr sz="1875" b="1">
                <a:solidFill>
                  <a:srgbClr val="60A5FA"/>
                </a:solidFill>
                <a:latin typeface="Arial"/>
                <a:ea typeface="Arial"/>
                <a:cs typeface="Arial"/>
              </a:defRPr>
            </a:lvl3pPr>
            <a:lvl4pPr>
              <a:defRPr sz="1875" b="1">
                <a:solidFill>
                  <a:srgbClr val="60A5FA"/>
                </a:solidFill>
                <a:latin typeface="Arial"/>
                <a:ea typeface="Arial"/>
                <a:cs typeface="Arial"/>
              </a:defRPr>
            </a:lvl4pPr>
            <a:lvl5pPr>
              <a:defRPr sz="1875" b="1">
                <a:solidFill>
                  <a:srgbClr val="60A5FA"/>
                </a:solidFill>
                <a:latin typeface="Arial"/>
                <a:ea typeface="Arial"/>
                <a:cs typeface="Arial"/>
              </a:defRPr>
            </a:lvl5pPr>
            <a:lvl6pPr>
              <a:defRPr sz="1875" b="1">
                <a:solidFill>
                  <a:srgbClr val="60A5FA"/>
                </a:solidFill>
                <a:latin typeface="Arial"/>
                <a:ea typeface="Arial"/>
                <a:cs typeface="Arial"/>
              </a:defRPr>
            </a:lvl6pPr>
            <a:lvl7pPr>
              <a:defRPr sz="1875" b="1">
                <a:solidFill>
                  <a:srgbClr val="60A5FA"/>
                </a:solidFill>
                <a:latin typeface="Arial"/>
                <a:ea typeface="Arial"/>
                <a:cs typeface="Arial"/>
              </a:defRPr>
            </a:lvl7pPr>
            <a:lvl8pPr>
              <a:defRPr sz="1875" b="1">
                <a:solidFill>
                  <a:srgbClr val="60A5FA"/>
                </a:solidFill>
                <a:latin typeface="Arial"/>
                <a:ea typeface="Arial"/>
                <a:cs typeface="Arial"/>
              </a:defRPr>
            </a:lvl8pPr>
            <a:lvl9pPr>
              <a:defRPr sz="1875" b="1">
                <a:solidFill>
                  <a:srgbClr val="60A5FA"/>
                </a:solidFill>
                <a:latin typeface="Arial"/>
                <a:ea typeface="Arial"/>
                <a:cs typeface="Arial"/>
              </a:defRPr>
            </a:lvl9pPr>
          </a:lstStyle>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VOICE</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TOOLS</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16249A66-E8E8-4FA5-8796-3A82A6947877}"/>
              </a:ext>
            </a:extLst>
          </p:cNvPr>
          <p:cNvSpPr>
            <a:spLocks xmlns:a="http://schemas.openxmlformats.org/drawingml/2006/main" noGrp="1"/>
          </p:cNvSpPr>
          <p:nvPr/>
        </p:nvSpPr>
        <p:spPr>
          <a:xfrm xmlns:a="http://schemas.openxmlformats.org/drawingml/2006/main">
            <a:off x="1104900" y="514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A7F3D0"/>
                </a:solidFill>
                <a:latin typeface="Arial"/>
                <a:ea typeface="Arial"/>
                <a:cs typeface="Arial"/>
              </a:defRPr>
            </a:defPPr>
            <a:lvl1pPr>
              <a:defRPr sz="1425" b="1">
                <a:solidFill>
                  <a:srgbClr val="A7F3D0"/>
                </a:solidFill>
                <a:latin typeface="Arial"/>
                <a:ea typeface="Arial"/>
                <a:cs typeface="Arial"/>
              </a:defRPr>
            </a:lvl1pPr>
            <a:lvl2pPr>
              <a:defRPr sz="1425" b="1">
                <a:solidFill>
                  <a:srgbClr val="A7F3D0"/>
                </a:solidFill>
                <a:latin typeface="Arial"/>
                <a:ea typeface="Arial"/>
                <a:cs typeface="Arial"/>
              </a:defRPr>
            </a:lvl2pPr>
            <a:lvl3pPr>
              <a:defRPr sz="1425" b="1">
                <a:solidFill>
                  <a:srgbClr val="A7F3D0"/>
                </a:solidFill>
                <a:latin typeface="Arial"/>
                <a:ea typeface="Arial"/>
                <a:cs typeface="Arial"/>
              </a:defRPr>
            </a:lvl3pPr>
            <a:lvl4pPr>
              <a:defRPr sz="1425" b="1">
                <a:solidFill>
                  <a:srgbClr val="A7F3D0"/>
                </a:solidFill>
                <a:latin typeface="Arial"/>
                <a:ea typeface="Arial"/>
                <a:cs typeface="Arial"/>
              </a:defRPr>
            </a:lvl4pPr>
            <a:lvl5pPr>
              <a:defRPr sz="1425" b="1">
                <a:solidFill>
                  <a:srgbClr val="A7F3D0"/>
                </a:solidFill>
                <a:latin typeface="Arial"/>
                <a:ea typeface="Arial"/>
                <a:cs typeface="Arial"/>
              </a:defRPr>
            </a:lvl5pPr>
            <a:lvl6pPr>
              <a:defRPr sz="1425" b="1">
                <a:solidFill>
                  <a:srgbClr val="A7F3D0"/>
                </a:solidFill>
                <a:latin typeface="Arial"/>
                <a:ea typeface="Arial"/>
                <a:cs typeface="Arial"/>
              </a:defRPr>
            </a:lvl6pPr>
            <a:lvl7pPr>
              <a:defRPr sz="1425" b="1">
                <a:solidFill>
                  <a:srgbClr val="A7F3D0"/>
                </a:solidFill>
                <a:latin typeface="Arial"/>
                <a:ea typeface="Arial"/>
                <a:cs typeface="Arial"/>
              </a:defRPr>
            </a:lvl7pPr>
            <a:lvl8pPr>
              <a:defRPr sz="1425" b="1">
                <a:solidFill>
                  <a:srgbClr val="A7F3D0"/>
                </a:solidFill>
                <a:latin typeface="Arial"/>
                <a:ea typeface="Arial"/>
                <a:cs typeface="Arial"/>
              </a:defRPr>
            </a:lvl8pPr>
            <a:lvl9pPr>
              <a:defRPr sz="1425" b="1">
                <a:solidFill>
                  <a:srgbClr val="A7F3D0"/>
                </a:solidFill>
                <a:latin typeface="Arial"/>
                <a:ea typeface="Arial"/>
                <a:cs typeface="Arial"/>
              </a:defRPr>
            </a:lvl9pPr>
          </a:lstStyle>
          <a:p xmlns:a="http://schemas.openxmlformats.org/drawingml/2006/main">
            <a:pPr>
              <a:defRPr sz="1425" b="1">
                <a:solidFill>
                  <a:srgbClr val="A7F3D0"/>
                </a:solidFill>
                <a:latin typeface="Arial"/>
                <a:ea typeface="Arial"/>
                <a:cs typeface="Arial"/>
              </a:defRPr>
            </a:pPr>
            <a:r>
              <a:rPr sz="1425" b="1">
                <a:solidFill>
                  <a:srgbClr val="A7F3D0"/>
                </a:solidFill>
                <a:latin typeface="Arial"/>
                <a:ea typeface="Arial"/>
                <a:cs typeface="Arial"/>
              </a:rPr>
              <a:t>Next: Pi audio + clean benchmark</a:t>
            </a:r>
          </a:p>
        </p:txBody>
      </p:sp>
      <p:sp>
        <p:nvSpPr>
          <p:cNvPr id="8" name="">
            <a:extLst xmlns:a="http://schemas.openxmlformats.org/drawingml/2006/main">
              <a:ext uri="{FF2B5EF4-FFF2-40B4-BE49-F238E27FC236}">
                <a16:creationId xmlns:a16="http://schemas.microsoft.com/office/drawing/2014/main" id="{E208203D-B7AF-445F-8B18-DB1857614600}"/>
              </a:ext>
            </a:extLst>
          </p:cNvPr>
          <p:cNvSpPr>
            <a:spLocks xmlns:a="http://schemas.openxmlformats.org/drawingml/2006/main" noGrp="1"/>
          </p:cNvSpPr>
          <p:nvPr/>
        </p:nvSpPr>
        <p:spPr>
          <a:xfrm xmlns:a="http://schemas.openxmlformats.org/drawingml/2006/main">
            <a:off x="1104900" y="5619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Documentation: ELI5/deep manual • ACM two-column paper • source + receipts</a:t>
            </a:r>
          </a:p>
        </p:txBody>
      </p:sp>
      <p:sp>
        <p:nvSpPr>
          <p:cNvPr id="9" name="">
            <a:extLst xmlns:a="http://schemas.openxmlformats.org/drawingml/2006/main">
              <a:ext uri="{FF2B5EF4-FFF2-40B4-BE49-F238E27FC236}">
                <a16:creationId xmlns:a16="http://schemas.microsoft.com/office/drawing/2014/main" id="{501B442A-F667-4633-AD7F-860601308AD6}"/>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7/7</a:t>
            </a:r>
          </a:p>
        </p:txBody>
      </p:sp>
    </p:spTree>
    <p:extLst>
      <p:ext uri="{BB962C8B-B14F-4D97-AF65-F5344CB8AC3E}">
        <p14:creationId xmlns:p14="http://schemas.microsoft.com/office/powerpoint/2010/main" val="5877592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2026-10-24T17:39:25.5280000Z</dcterms:created>
  <dcterms:modified xsi:type="dcterms:W3CDTF">2026-10-24T17:39:25.5280000Z</dcterms:modified>
</coreProperties>
</file>