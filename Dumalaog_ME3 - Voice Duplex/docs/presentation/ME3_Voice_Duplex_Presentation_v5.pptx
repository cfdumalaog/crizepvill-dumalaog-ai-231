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512c6a0aef40b9" /><Relationship Type="http://schemas.openxmlformats.org/officeDocument/2006/relationships/extended-properties" Target="/docProps/app.xml" Id="Rb4d26d57acb24cbf" /><Relationship Type="http://schemas.openxmlformats.org/officeDocument/2006/relationships/officeDocument" Target="/ppt/presentation.xml" Id="Re299eb7b28594e0b" /></Relationships>
</file>

<file path=ppt/presentation.xml><?xml version="1.0" encoding="utf-8"?>
<p:presentation xmlns:p="http://schemas.openxmlformats.org/presentationml/2006/main">
  <p:sldMasterIdLst>
    <p:sldMasterId xmlns:r="http://schemas.openxmlformats.org/officeDocument/2006/relationships" id="2147483648" r:id="R6d0727979d534ec5"/>
  </p:sldMasterIdLst>
  <p:notesMasterIdLst>
    <p:notesMasterId xmlns:r="http://schemas.openxmlformats.org/officeDocument/2006/relationships" r:id="R327621bb0103418f"/>
  </p:notesMasterIdLst>
  <p:sldIdLst>
    <p:sldId xmlns:r="http://schemas.openxmlformats.org/officeDocument/2006/relationships" id="256" r:id="R0fa2a9bb14724bb7"/>
    <p:sldId xmlns:r="http://schemas.openxmlformats.org/officeDocument/2006/relationships" id="257" r:id="Reca5e0c732f94eeb"/>
    <p:sldId xmlns:r="http://schemas.openxmlformats.org/officeDocument/2006/relationships" id="258" r:id="R839c672f19194f81"/>
    <p:sldId xmlns:r="http://schemas.openxmlformats.org/officeDocument/2006/relationships" id="259" r:id="R72045f57bfc14b7a"/>
    <p:sldId xmlns:r="http://schemas.openxmlformats.org/officeDocument/2006/relationships" id="260" r:id="R150b054d926f488b"/>
    <p:sldId xmlns:r="http://schemas.openxmlformats.org/officeDocument/2006/relationships" id="261" r:id="R276501bca9904606"/>
    <p:sldId xmlns:r="http://schemas.openxmlformats.org/officeDocument/2006/relationships" id="262" r:id="R60bf9fc641f748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ce413fbab44317" /><Relationship Type="http://schemas.openxmlformats.org/officeDocument/2006/relationships/slideMaster" Target="/ppt/slideMasters/slideMaster1.xml" Id="R6d0727979d534ec5" /><Relationship Type="http://schemas.openxmlformats.org/officeDocument/2006/relationships/notesMaster" Target="/ppt/notesMasters/notesMaster1.xml" Id="R327621bb0103418f" /><Relationship Type="http://schemas.openxmlformats.org/officeDocument/2006/relationships/presProps" Target="/ppt/presProps.xml" Id="Rf524139ba4d04b01" /><Relationship Type="http://schemas.openxmlformats.org/officeDocument/2006/relationships/tableStyles" Target="/ppt/tableStyles.xml" Id="Ra14ec056e6c744fe" /><Relationship Type="http://schemas.openxmlformats.org/officeDocument/2006/relationships/slide" Target="/ppt/slides/slide1.xml" Id="R0fa2a9bb14724bb7" /><Relationship Type="http://schemas.openxmlformats.org/officeDocument/2006/relationships/slide" Target="/ppt/slides/slide2.xml" Id="Reca5e0c732f94eeb" /><Relationship Type="http://schemas.openxmlformats.org/officeDocument/2006/relationships/slide" Target="/ppt/slides/slide3.xml" Id="R839c672f19194f81" /><Relationship Type="http://schemas.openxmlformats.org/officeDocument/2006/relationships/slide" Target="/ppt/slides/slide4.xml" Id="R72045f57bfc14b7a" /><Relationship Type="http://schemas.openxmlformats.org/officeDocument/2006/relationships/slide" Target="/ppt/slides/slide5.xml" Id="R150b054d926f488b" /><Relationship Type="http://schemas.openxmlformats.org/officeDocument/2006/relationships/slide" Target="/ppt/slides/slide6.xml" Id="R276501bca9904606" /><Relationship Type="http://schemas.openxmlformats.org/officeDocument/2006/relationships/slide" Target="/ppt/slides/slide7.xml" Id="R60bf9fc641f748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dbe6835465c4c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2eb9390d9a4f7d" /><Relationship Type="http://schemas.openxmlformats.org/officeDocument/2006/relationships/notesMaster" Target="/ppt/notesMasters/notesMaster1.xml" Id="R09a71c788b8446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6d1a20e1024bf6" /><Relationship Type="http://schemas.openxmlformats.org/officeDocument/2006/relationships/notesMaster" Target="/ppt/notesMasters/notesMaster1.xml" Id="R1debcd101ce145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99b082a35143f0" /><Relationship Type="http://schemas.openxmlformats.org/officeDocument/2006/relationships/notesMaster" Target="/ppt/notesMasters/notesMaster1.xml" Id="R220d35d51c9b4c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0ef59b14004ad2" /><Relationship Type="http://schemas.openxmlformats.org/officeDocument/2006/relationships/notesMaster" Target="/ppt/notesMasters/notesMaster1.xml" Id="Rc122550ba93f45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999cdb28d941bd" /><Relationship Type="http://schemas.openxmlformats.org/officeDocument/2006/relationships/notesMaster" Target="/ppt/notesMasters/notesMaster1.xml" Id="R541626d7684b42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3bb3d5866f4316" /><Relationship Type="http://schemas.openxmlformats.org/officeDocument/2006/relationships/notesMaster" Target="/ppt/notesMasters/notesMaster1.xml" Id="Rbb57a33792454a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5ad5d37a034cf9" /><Relationship Type="http://schemas.openxmlformats.org/officeDocument/2006/relationships/notesMaster" Target="/ppt/notesMasters/notesMaster1.xml" Id="Rc7499dbd69974a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idea: ME3 is an action-capable voice interface. The model does not need to be trained for each task; it needs a disciplined tool surface and evidence that the requested work happened.</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important change from a voice chatbot is the middle: Qwen is not only writing an answer; it is choosing typed operations, receiving their results, and continuing until the task is complete or needs clarification.</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separate responsibilities. VAD, ASR, and TTS are local. Qwen is remote and performs inference. The registry owns what may happen. The final answer is grounded in structured tool results, not just model confidence.</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concrete capability the project needed. A spoken request can create real project files. The model then reads them back and reports what exists. The current demonstration is a local, dependency-free static web app; it does not silently publish to the internet.</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interpretation of parity. The objective is that useful tasks Onit can perform are represented by explicit tools: files, web, commands, jobs, system information, and the existing MCP services. That does not mean granting an always-listening Pi arbitrary shell access or hidden credentials.</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protects the evidence boundary. The Pi now runs the verified release with a provisioned, mode-600 Qwen key, and a text-mode Qwen run built and served a web app on the Pi (LAN-verified). The remaining gates are physical Pi audio and a clean captured v1.5 overlap evaluation; local Windows evidence is not promoted into either claim.</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user-visible promise: speak a request, let the model call bounded tools, and receive an answer backed by what the tools actually returned. The remaining work is hardware audio and benchmark evidence, not model training.</a:t>
            </a:r>
          </a:p>
          <a:p xmlns:a="http://schemas.openxmlformats.org/drawingml/2006/main">
            <a:r>
              <a:t/>
            </a:r>
          </a:p>
          <a:p xmlns:a="http://schemas.openxmlformats.org/drawingml/2006/main">
            <a:r>
              <a:t>[Sources]</a:t>
            </a:r>
          </a:p>
          <a:p xmlns:a="http://schemas.openxmlformats.org/drawingml/2006/main">
            <a:r>
              <a:t>AI 231/Dumalaog_ME3 - Voice Duplex/README.md</a:t>
            </a:r>
          </a:p>
          <a:p xmlns:a="http://schemas.openxmlformats.org/drawingml/2006/main">
            <a:r>
              <a:t>AI 231/Dumalaog_ME3 - Voice Duplex/docs/ME3_MANUAL_ELI5_AND_DEEP.md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87c04dc3ef46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ec66d3d39a43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b6b693f01240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c5af9e5c2e4a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04b3cd2c6345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4339c7a6dfb44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EB5DA5-6F08-4A31-BAB5-A18BE0A262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C2DAB5-6635-4194-BEA0-32F7F52817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026C0BC-51BC-4925-B77E-B3D3234AE6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65F01C-ECC6-4C58-9D0A-7188BFBD1E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1FAA8A8-82C3-4AB0-A804-E7006EADED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B96C42-050D-4E8B-B52E-5D01723BB0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DBC6AA-F287-490D-B22E-ECEC0D0063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2EB79B-D790-4F4E-A703-A1EAC378FE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AD7FED-9F1D-40EA-AEE7-3A6D536765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E4C6D4-4306-45D2-8E6A-A9A56796CD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ea7bf0818f490f" /><Relationship Type="http://schemas.openxmlformats.org/officeDocument/2006/relationships/slideLayout" Target="/ppt/slideLayouts/slideLayout1.xml" Id="Rb84c6613af8e4145" /><Relationship Type="http://schemas.openxmlformats.org/officeDocument/2006/relationships/slideLayout" Target="/ppt/slideLayouts/slideLayout2.xml" Id="Rc4cc9ba6647441de" /><Relationship Type="http://schemas.openxmlformats.org/officeDocument/2006/relationships/slideLayout" Target="/ppt/slideLayouts/slideLayout3.xml" Id="Rcc7b051b76fc4086" /><Relationship Type="http://schemas.openxmlformats.org/officeDocument/2006/relationships/slideLayout" Target="/ppt/slideLayouts/slideLayout4.xml" Id="Ra2efea962c094891" /><Relationship Type="http://schemas.openxmlformats.org/officeDocument/2006/relationships/slideLayout" Target="/ppt/slideLayouts/slideLayout5.xml" Id="Rfa9044eccfd94228" /><Relationship Type="http://schemas.openxmlformats.org/officeDocument/2006/relationships/slideLayout" Target="/ppt/slideLayouts/slideLayout6.xml" Id="Rfc3c100107e346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4c6613af8e4145"/>
    <p:sldLayoutId xmlns:r="http://schemas.openxmlformats.org/officeDocument/2006/relationships" id="2147483650" r:id="Rc4cc9ba6647441de"/>
    <p:sldLayoutId xmlns:r="http://schemas.openxmlformats.org/officeDocument/2006/relationships" id="2147483651" r:id="Rcc7b051b76fc4086"/>
    <p:sldLayoutId xmlns:r="http://schemas.openxmlformats.org/officeDocument/2006/relationships" id="2147483652" r:id="Ra2efea962c094891"/>
    <p:sldLayoutId xmlns:r="http://schemas.openxmlformats.org/officeDocument/2006/relationships" id="2147483653" r:id="Rfa9044eccfd94228"/>
    <p:sldLayoutId xmlns:r="http://schemas.openxmlformats.org/officeDocument/2006/relationships" id="2147483654" r:id="Rfc3c100107e346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273c037734409a" /><Relationship Type="http://schemas.openxmlformats.org/officeDocument/2006/relationships/notesSlide" Target="/ppt/notesSlides/notesSlide1.xml" Id="R3cc02678a3894d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6d1111dafe4a5e" /><Relationship Type="http://schemas.openxmlformats.org/officeDocument/2006/relationships/notesSlide" Target="/ppt/notesSlides/notesSlide2.xml" Id="R60a312c2b32e48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bdb5a533c94b92" /><Relationship Type="http://schemas.openxmlformats.org/officeDocument/2006/relationships/notesSlide" Target="/ppt/notesSlides/notesSlide3.xml" Id="R6a8bf8ec9a9041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fa7ec016dfc4a35" /><Relationship Type="http://schemas.openxmlformats.org/officeDocument/2006/relationships/notesSlide" Target="/ppt/notesSlides/notesSlide4.xml" Id="Rff805ee7e93540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68e9ab4c744647" /><Relationship Type="http://schemas.openxmlformats.org/officeDocument/2006/relationships/notesSlide" Target="/ppt/notesSlides/notesSlide5.xml" Id="Rb1df91bcfb8147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18ba4c99d174f09" /><Relationship Type="http://schemas.openxmlformats.org/officeDocument/2006/relationships/notesSlide" Target="/ppt/notesSlides/notesSlide6.xml" Id="Rc34cefc304a943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4f10170f0114019" /><Relationship Type="http://schemas.openxmlformats.org/officeDocument/2006/relationships/notesSlide" Target="/ppt/notesSlides/notesSlide7.xml" Id="R14f9fee7b07b41e7" /></Relationships>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1" name="cover-orbit">
            <a:extLst xmlns:a="http://schemas.openxmlformats.org/drawingml/2006/main">
              <a:ext uri="{FF2B5EF4-FFF2-40B4-BE49-F238E27FC236}">
                <a16:creationId xmlns:a16="http://schemas.microsoft.com/office/drawing/2014/main" id="{66385D14-3B92-4FA7-B610-E27E3E731C2F}"/>
              </a:ext>
            </a:extLst>
          </p:cNvPr>
          <p:cNvSpPr>
            <a:spLocks xmlns:a="http://schemas.openxmlformats.org/drawingml/2006/main" noGrp="1"/>
          </p:cNvSpPr>
          <p:nvPr/>
        </p:nvSpPr>
        <p:spPr>
          <a:xfrm xmlns:a="http://schemas.openxmlformats.org/drawingml/2006/main">
            <a:off x="7810500" y="190500"/>
            <a:ext cx="4000500" cy="40005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 name="cover-ring">
            <a:extLst xmlns:a="http://schemas.openxmlformats.org/drawingml/2006/main">
              <a:ext uri="{FF2B5EF4-FFF2-40B4-BE49-F238E27FC236}">
                <a16:creationId xmlns:a16="http://schemas.microsoft.com/office/drawing/2014/main" id="{5A4273C7-70B5-458F-BB8B-3391AE93A5AB}"/>
              </a:ext>
            </a:extLst>
          </p:cNvPr>
          <p:cNvSpPr>
            <a:spLocks xmlns:a="http://schemas.openxmlformats.org/drawingml/2006/main" noGrp="1"/>
          </p:cNvSpPr>
          <p:nvPr/>
        </p:nvSpPr>
        <p:spPr>
          <a:xfrm xmlns:a="http://schemas.openxmlformats.org/drawingml/2006/main">
            <a:off x="8477250" y="590550"/>
            <a:ext cx="2857500" cy="2857500"/>
          </a:xfrm>
          <a:prstGeom xmlns:a="http://schemas.openxmlformats.org/drawingml/2006/main" prst="ellipse">
            <a:avLst/>
          </a:prstGeom>
          <a:noFill xmlns:a="http://schemas.openxmlformats.org/drawingml/2006/main"/>
          <a:ln xmlns:a="http://schemas.openxmlformats.org/drawingml/2006/main" w="9525">
            <a:solidFill>
              <a:srgbClr val="5EEAD4"/>
            </a:solidFill>
            <a:prstDash val="solid"/>
          </a:ln>
        </p:spPr>
      </p:sp>
      <p:sp>
        <p:nvSpPr>
          <p:cNvPr id="3" name="cover-core">
            <a:extLst xmlns:a="http://schemas.openxmlformats.org/drawingml/2006/main">
              <a:ext uri="{FF2B5EF4-FFF2-40B4-BE49-F238E27FC236}">
                <a16:creationId xmlns:a16="http://schemas.microsoft.com/office/drawing/2014/main" id="{83104DE6-6714-4D3F-8F62-C2258D230697}"/>
              </a:ext>
            </a:extLst>
          </p:cNvPr>
          <p:cNvSpPr>
            <a:spLocks xmlns:a="http://schemas.openxmlformats.org/drawingml/2006/main" noGrp="1"/>
          </p:cNvSpPr>
          <p:nvPr/>
        </p:nvSpPr>
        <p:spPr>
          <a:xfrm xmlns:a="http://schemas.openxmlformats.org/drawingml/2006/main">
            <a:off x="9258300" y="1371600"/>
            <a:ext cx="1295400" cy="1295400"/>
          </a:xfrm>
          <a:prstGeom xmlns:a="http://schemas.openxmlformats.org/drawingml/2006/main" prst="ellipse">
            <a:avLst/>
          </a:prstGeom>
          <a:solidFill xmlns:a="http://schemas.openxmlformats.org/drawingml/2006/main">
            <a:srgbClr val="5EEAD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C87201-B69A-4C37-A0EE-BA6C7FC34FB8}"/>
              </a:ext>
            </a:extLst>
          </p:cNvPr>
          <p:cNvSpPr>
            <a:spLocks xmlns:a="http://schemas.openxmlformats.org/drawingml/2006/main" noGrp="1"/>
          </p:cNvSpPr>
          <p:nvPr/>
        </p:nvSpPr>
        <p:spPr>
          <a:xfrm xmlns:a="http://schemas.openxmlformats.org/drawingml/2006/main">
            <a:off x="685800" y="7048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1">
                <a:solidFill>
                  <a:srgbClr val="5EEAD4"/>
                </a:solidFill>
                <a:latin typeface="Arial"/>
                <a:ea typeface="Arial"/>
                <a:cs typeface="Arial"/>
              </a:defRPr>
            </a:defPPr>
            <a:lvl1pPr>
              <a:defRPr sz="1200" b="1">
                <a:solidFill>
                  <a:srgbClr val="5EEAD4"/>
                </a:solidFill>
                <a:latin typeface="Arial"/>
                <a:ea typeface="Arial"/>
                <a:cs typeface="Arial"/>
              </a:defRPr>
            </a:lvl1pPr>
            <a:lvl2pPr>
              <a:defRPr sz="1200" b="1">
                <a:solidFill>
                  <a:srgbClr val="5EEAD4"/>
                </a:solidFill>
                <a:latin typeface="Arial"/>
                <a:ea typeface="Arial"/>
                <a:cs typeface="Arial"/>
              </a:defRPr>
            </a:lvl2pPr>
            <a:lvl3pPr>
              <a:defRPr sz="1200" b="1">
                <a:solidFill>
                  <a:srgbClr val="5EEAD4"/>
                </a:solidFill>
                <a:latin typeface="Arial"/>
                <a:ea typeface="Arial"/>
                <a:cs typeface="Arial"/>
              </a:defRPr>
            </a:lvl3pPr>
            <a:lvl4pPr>
              <a:defRPr sz="1200" b="1">
                <a:solidFill>
                  <a:srgbClr val="5EEAD4"/>
                </a:solidFill>
                <a:latin typeface="Arial"/>
                <a:ea typeface="Arial"/>
                <a:cs typeface="Arial"/>
              </a:defRPr>
            </a:lvl4pPr>
            <a:lvl5pPr>
              <a:defRPr sz="1200" b="1">
                <a:solidFill>
                  <a:srgbClr val="5EEAD4"/>
                </a:solidFill>
                <a:latin typeface="Arial"/>
                <a:ea typeface="Arial"/>
                <a:cs typeface="Arial"/>
              </a:defRPr>
            </a:lvl5pPr>
            <a:lvl6pPr>
              <a:defRPr sz="1200" b="1">
                <a:solidFill>
                  <a:srgbClr val="5EEAD4"/>
                </a:solidFill>
                <a:latin typeface="Arial"/>
                <a:ea typeface="Arial"/>
                <a:cs typeface="Arial"/>
              </a:defRPr>
            </a:lvl6pPr>
            <a:lvl7pPr>
              <a:defRPr sz="1200" b="1">
                <a:solidFill>
                  <a:srgbClr val="5EEAD4"/>
                </a:solidFill>
                <a:latin typeface="Arial"/>
                <a:ea typeface="Arial"/>
                <a:cs typeface="Arial"/>
              </a:defRPr>
            </a:lvl7pPr>
            <a:lvl8pPr>
              <a:defRPr sz="1200" b="1">
                <a:solidFill>
                  <a:srgbClr val="5EEAD4"/>
                </a:solidFill>
                <a:latin typeface="Arial"/>
                <a:ea typeface="Arial"/>
                <a:cs typeface="Arial"/>
              </a:defRPr>
            </a:lvl8pPr>
            <a:lvl9pPr>
              <a:defRPr sz="1200" b="1">
                <a:solidFill>
                  <a:srgbClr val="5EEAD4"/>
                </a:solidFill>
                <a:latin typeface="Arial"/>
                <a:ea typeface="Arial"/>
                <a:cs typeface="Arial"/>
              </a:defRPr>
            </a:lvl9pPr>
          </a:lstStyle>
          <a:p xmlns:a="http://schemas.openxmlformats.org/drawingml/2006/main">
            <a:pPr>
              <a:defRPr sz="1200" b="1">
                <a:solidFill>
                  <a:srgbClr val="5EEAD4"/>
                </a:solidFill>
                <a:latin typeface="Arial"/>
                <a:ea typeface="Arial"/>
                <a:cs typeface="Arial"/>
              </a:defRPr>
            </a:pPr>
            <a:r>
              <a:rPr sz="1200" b="1">
                <a:solidFill>
                  <a:srgbClr val="5EEAD4"/>
                </a:solidFill>
                <a:latin typeface="Arial"/>
                <a:ea typeface="Arial"/>
                <a:cs typeface="Arial"/>
              </a:rPr>
              <a:t>ME3 VOICE DUPLEX</a:t>
            </a:r>
          </a:p>
        </p:txBody>
      </p:sp>
      <p:sp>
        <p:nvSpPr>
          <p:cNvPr id="5" name="">
            <a:extLst xmlns:a="http://schemas.openxmlformats.org/drawingml/2006/main">
              <a:ext uri="{FF2B5EF4-FFF2-40B4-BE49-F238E27FC236}">
                <a16:creationId xmlns:a16="http://schemas.microsoft.com/office/drawing/2014/main" id="{6A750ADF-7068-473A-8DCA-83F2AD5A5C37}"/>
              </a:ext>
            </a:extLst>
          </p:cNvPr>
          <p:cNvSpPr>
            <a:spLocks xmlns:a="http://schemas.openxmlformats.org/drawingml/2006/main" noGrp="1"/>
          </p:cNvSpPr>
          <p:nvPr/>
        </p:nvSpPr>
        <p:spPr>
          <a:xfrm xmlns:a="http://schemas.openxmlformats.org/drawingml/2006/main">
            <a:off x="685800" y="1381125"/>
            <a:ext cx="6286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050" b="1">
                <a:solidFill>
                  <a:srgbClr val="F7FAFC"/>
                </a:solidFill>
                <a:latin typeface="Arial"/>
                <a:ea typeface="Arial"/>
                <a:cs typeface="Arial"/>
              </a:defRPr>
            </a:defPPr>
            <a:lvl1pPr>
              <a:defRPr sz="4050" b="1">
                <a:solidFill>
                  <a:srgbClr val="F7FAFC"/>
                </a:solidFill>
                <a:latin typeface="Arial"/>
                <a:ea typeface="Arial"/>
                <a:cs typeface="Arial"/>
              </a:defRPr>
            </a:lvl1pPr>
            <a:lvl2pPr>
              <a:defRPr sz="4050" b="1">
                <a:solidFill>
                  <a:srgbClr val="F7FAFC"/>
                </a:solidFill>
                <a:latin typeface="Arial"/>
                <a:ea typeface="Arial"/>
                <a:cs typeface="Arial"/>
              </a:defRPr>
            </a:lvl2pPr>
            <a:lvl3pPr>
              <a:defRPr sz="4050" b="1">
                <a:solidFill>
                  <a:srgbClr val="F7FAFC"/>
                </a:solidFill>
                <a:latin typeface="Arial"/>
                <a:ea typeface="Arial"/>
                <a:cs typeface="Arial"/>
              </a:defRPr>
            </a:lvl3pPr>
            <a:lvl4pPr>
              <a:defRPr sz="4050" b="1">
                <a:solidFill>
                  <a:srgbClr val="F7FAFC"/>
                </a:solidFill>
                <a:latin typeface="Arial"/>
                <a:ea typeface="Arial"/>
                <a:cs typeface="Arial"/>
              </a:defRPr>
            </a:lvl4pPr>
            <a:lvl5pPr>
              <a:defRPr sz="4050" b="1">
                <a:solidFill>
                  <a:srgbClr val="F7FAFC"/>
                </a:solidFill>
                <a:latin typeface="Arial"/>
                <a:ea typeface="Arial"/>
                <a:cs typeface="Arial"/>
              </a:defRPr>
            </a:lvl5pPr>
            <a:lvl6pPr>
              <a:defRPr sz="4050" b="1">
                <a:solidFill>
                  <a:srgbClr val="F7FAFC"/>
                </a:solidFill>
                <a:latin typeface="Arial"/>
                <a:ea typeface="Arial"/>
                <a:cs typeface="Arial"/>
              </a:defRPr>
            </a:lvl6pPr>
            <a:lvl7pPr>
              <a:defRPr sz="4050" b="1">
                <a:solidFill>
                  <a:srgbClr val="F7FAFC"/>
                </a:solidFill>
                <a:latin typeface="Arial"/>
                <a:ea typeface="Arial"/>
                <a:cs typeface="Arial"/>
              </a:defRPr>
            </a:lvl7pPr>
            <a:lvl8pPr>
              <a:defRPr sz="4050" b="1">
                <a:solidFill>
                  <a:srgbClr val="F7FAFC"/>
                </a:solidFill>
                <a:latin typeface="Arial"/>
                <a:ea typeface="Arial"/>
                <a:cs typeface="Arial"/>
              </a:defRPr>
            </a:lvl8pPr>
            <a:lvl9pPr>
              <a:defRPr sz="4050" b="1">
                <a:solidFill>
                  <a:srgbClr val="F7FAFC"/>
                </a:solidFill>
                <a:latin typeface="Arial"/>
                <a:ea typeface="Arial"/>
                <a:cs typeface="Arial"/>
              </a:defRPr>
            </a:lvl9pPr>
          </a:lstStyle>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From voice request</a:t>
            </a:r>
          </a:p>
          <a:p xmlns:a="http://schemas.openxmlformats.org/drawingml/2006/main">
            <a:pPr>
              <a:defRPr sz="4050" b="1">
                <a:solidFill>
                  <a:srgbClr val="F7FAFC"/>
                </a:solidFill>
                <a:latin typeface="Arial"/>
                <a:ea typeface="Arial"/>
                <a:cs typeface="Arial"/>
              </a:defRPr>
            </a:pPr>
            <a:r>
              <a:rPr sz="4050" b="1">
                <a:solidFill>
                  <a:srgbClr val="F7FAFC"/>
                </a:solidFill>
                <a:latin typeface="Arial"/>
                <a:ea typeface="Arial"/>
                <a:cs typeface="Arial"/>
              </a:rPr>
              <a:t>to verified action</a:t>
            </a:r>
          </a:p>
        </p:txBody>
      </p:sp>
      <p:sp>
        <p:nvSpPr>
          <p:cNvPr id="6" name="">
            <a:extLst xmlns:a="http://schemas.openxmlformats.org/drawingml/2006/main">
              <a:ext uri="{FF2B5EF4-FFF2-40B4-BE49-F238E27FC236}">
                <a16:creationId xmlns:a16="http://schemas.microsoft.com/office/drawing/2014/main" id="{C0B4B470-97DB-44A8-9A85-304246A2D99B}"/>
              </a:ext>
            </a:extLst>
          </p:cNvPr>
          <p:cNvSpPr>
            <a:spLocks xmlns:a="http://schemas.openxmlformats.org/drawingml/2006/main" noGrp="1"/>
          </p:cNvSpPr>
          <p:nvPr/>
        </p:nvSpPr>
        <p:spPr>
          <a:xfrm xmlns:a="http://schemas.openxmlformats.org/drawingml/2006/main">
            <a:off x="723900" y="314325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a:solidFill>
                  <a:srgbClr val="A8B8CA"/>
                </a:solidFill>
                <a:latin typeface="Arial"/>
                <a:ea typeface="Arial"/>
                <a:cs typeface="Arial"/>
              </a:defRPr>
            </a:defPPr>
            <a:lvl1pPr>
              <a:defRPr sz="1800">
                <a:solidFill>
                  <a:srgbClr val="A8B8CA"/>
                </a:solidFill>
                <a:latin typeface="Arial"/>
                <a:ea typeface="Arial"/>
                <a:cs typeface="Arial"/>
              </a:defRPr>
            </a:lvl1pPr>
            <a:lvl2pPr>
              <a:defRPr sz="1800">
                <a:solidFill>
                  <a:srgbClr val="A8B8CA"/>
                </a:solidFill>
                <a:latin typeface="Arial"/>
                <a:ea typeface="Arial"/>
                <a:cs typeface="Arial"/>
              </a:defRPr>
            </a:lvl2pPr>
            <a:lvl3pPr>
              <a:defRPr sz="1800">
                <a:solidFill>
                  <a:srgbClr val="A8B8CA"/>
                </a:solidFill>
                <a:latin typeface="Arial"/>
                <a:ea typeface="Arial"/>
                <a:cs typeface="Arial"/>
              </a:defRPr>
            </a:lvl3pPr>
            <a:lvl4pPr>
              <a:defRPr sz="1800">
                <a:solidFill>
                  <a:srgbClr val="A8B8CA"/>
                </a:solidFill>
                <a:latin typeface="Arial"/>
                <a:ea typeface="Arial"/>
                <a:cs typeface="Arial"/>
              </a:defRPr>
            </a:lvl4pPr>
            <a:lvl5pPr>
              <a:defRPr sz="1800">
                <a:solidFill>
                  <a:srgbClr val="A8B8CA"/>
                </a:solidFill>
                <a:latin typeface="Arial"/>
                <a:ea typeface="Arial"/>
                <a:cs typeface="Arial"/>
              </a:defRPr>
            </a:lvl5pPr>
            <a:lvl6pPr>
              <a:defRPr sz="1800">
                <a:solidFill>
                  <a:srgbClr val="A8B8CA"/>
                </a:solidFill>
                <a:latin typeface="Arial"/>
                <a:ea typeface="Arial"/>
                <a:cs typeface="Arial"/>
              </a:defRPr>
            </a:lvl6pPr>
            <a:lvl7pPr>
              <a:defRPr sz="1800">
                <a:solidFill>
                  <a:srgbClr val="A8B8CA"/>
                </a:solidFill>
                <a:latin typeface="Arial"/>
                <a:ea typeface="Arial"/>
                <a:cs typeface="Arial"/>
              </a:defRPr>
            </a:lvl7pPr>
            <a:lvl8pPr>
              <a:defRPr sz="1800">
                <a:solidFill>
                  <a:srgbClr val="A8B8CA"/>
                </a:solidFill>
                <a:latin typeface="Arial"/>
                <a:ea typeface="Arial"/>
                <a:cs typeface="Arial"/>
              </a:defRPr>
            </a:lvl8pPr>
            <a:lvl9pPr>
              <a:defRPr sz="1800">
                <a:solidFill>
                  <a:srgbClr val="A8B8CA"/>
                </a:solidFill>
                <a:latin typeface="Arial"/>
                <a:ea typeface="Arial"/>
                <a:cs typeface="Arial"/>
              </a:defRPr>
            </a:lvl9pPr>
          </a:lstStyle>
          <a:p xmlns:a="http://schemas.openxmlformats.org/drawingml/2006/main">
            <a:pPr>
              <a:defRPr sz="1800">
                <a:solidFill>
                  <a:srgbClr val="A8B8CA"/>
                </a:solidFill>
                <a:latin typeface="Arial"/>
                <a:ea typeface="Arial"/>
                <a:cs typeface="Arial"/>
              </a:defRPr>
            </a:pPr>
            <a:r>
              <a:rPr sz="1800">
                <a:solidFill>
                  <a:srgbClr val="A8B8CA"/>
                </a:solidFill>
                <a:latin typeface="Arial"/>
                <a:ea typeface="Arial"/>
                <a:cs typeface="Arial"/>
              </a:rPr>
              <a:t>A Raspberry Pi full-duplex agent with a Qwen tool-using brain</a:t>
            </a:r>
          </a:p>
        </p:txBody>
      </p:sp>
      <p:sp>
        <p:nvSpPr>
          <p:cNvPr id="7" name="cover-callout">
            <a:extLst xmlns:a="http://schemas.openxmlformats.org/drawingml/2006/main">
              <a:ext uri="{FF2B5EF4-FFF2-40B4-BE49-F238E27FC236}">
                <a16:creationId xmlns:a16="http://schemas.microsoft.com/office/drawing/2014/main" id="{11C01E6F-BFE8-41AB-BB87-D2186B5F3242}"/>
              </a:ext>
            </a:extLst>
          </p:cNvPr>
          <p:cNvSpPr>
            <a:spLocks xmlns:a="http://schemas.openxmlformats.org/drawingml/2006/main" noGrp="1"/>
          </p:cNvSpPr>
          <p:nvPr/>
        </p:nvSpPr>
        <p:spPr>
          <a:xfrm xmlns:a="http://schemas.openxmlformats.org/drawingml/2006/main">
            <a:off x="723900" y="4095750"/>
            <a:ext cx="5429250" cy="762000"/>
          </a:xfrm>
          <a:prstGeom xmlns:a="http://schemas.openxmlformats.org/drawingml/2006/main" prst="roundRect">
            <a:avLst>
              <a:gd name="adj" fmla="val 15000"/>
            </a:avLst>
          </a:prstGeom>
          <a:solidFill xmlns:a="http://schemas.openxmlformats.org/drawingml/2006/main">
            <a:srgbClr val="1432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087B51-8A8E-4631-9858-D970F72C90AD}"/>
              </a:ext>
            </a:extLst>
          </p:cNvPr>
          <p:cNvSpPr>
            <a:spLocks xmlns:a="http://schemas.openxmlformats.org/drawingml/2006/main" noGrp="1"/>
          </p:cNvSpPr>
          <p:nvPr/>
        </p:nvSpPr>
        <p:spPr>
          <a:xfrm xmlns:a="http://schemas.openxmlformats.org/drawingml/2006/main">
            <a:off x="971550" y="42672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A7F3D0"/>
                </a:solidFill>
                <a:latin typeface="Arial"/>
                <a:ea typeface="Arial"/>
                <a:cs typeface="Arial"/>
              </a:defRPr>
            </a:defPPr>
            <a:lvl1pPr>
              <a:defRPr sz="1650" b="1">
                <a:solidFill>
                  <a:srgbClr val="A7F3D0"/>
                </a:solidFill>
                <a:latin typeface="Arial"/>
                <a:ea typeface="Arial"/>
                <a:cs typeface="Arial"/>
              </a:defRPr>
            </a:lvl1pPr>
            <a:lvl2pPr>
              <a:defRPr sz="1650" b="1">
                <a:solidFill>
                  <a:srgbClr val="A7F3D0"/>
                </a:solidFill>
                <a:latin typeface="Arial"/>
                <a:ea typeface="Arial"/>
                <a:cs typeface="Arial"/>
              </a:defRPr>
            </a:lvl2pPr>
            <a:lvl3pPr>
              <a:defRPr sz="1650" b="1">
                <a:solidFill>
                  <a:srgbClr val="A7F3D0"/>
                </a:solidFill>
                <a:latin typeface="Arial"/>
                <a:ea typeface="Arial"/>
                <a:cs typeface="Arial"/>
              </a:defRPr>
            </a:lvl3pPr>
            <a:lvl4pPr>
              <a:defRPr sz="1650" b="1">
                <a:solidFill>
                  <a:srgbClr val="A7F3D0"/>
                </a:solidFill>
                <a:latin typeface="Arial"/>
                <a:ea typeface="Arial"/>
                <a:cs typeface="Arial"/>
              </a:defRPr>
            </a:lvl4pPr>
            <a:lvl5pPr>
              <a:defRPr sz="1650" b="1">
                <a:solidFill>
                  <a:srgbClr val="A7F3D0"/>
                </a:solidFill>
                <a:latin typeface="Arial"/>
                <a:ea typeface="Arial"/>
                <a:cs typeface="Arial"/>
              </a:defRPr>
            </a:lvl5pPr>
            <a:lvl6pPr>
              <a:defRPr sz="1650" b="1">
                <a:solidFill>
                  <a:srgbClr val="A7F3D0"/>
                </a:solidFill>
                <a:latin typeface="Arial"/>
                <a:ea typeface="Arial"/>
                <a:cs typeface="Arial"/>
              </a:defRPr>
            </a:lvl6pPr>
            <a:lvl7pPr>
              <a:defRPr sz="1650" b="1">
                <a:solidFill>
                  <a:srgbClr val="A7F3D0"/>
                </a:solidFill>
                <a:latin typeface="Arial"/>
                <a:ea typeface="Arial"/>
                <a:cs typeface="Arial"/>
              </a:defRPr>
            </a:lvl7pPr>
            <a:lvl8pPr>
              <a:defRPr sz="1650" b="1">
                <a:solidFill>
                  <a:srgbClr val="A7F3D0"/>
                </a:solidFill>
                <a:latin typeface="Arial"/>
                <a:ea typeface="Arial"/>
                <a:cs typeface="Arial"/>
              </a:defRPr>
            </a:lvl8pPr>
            <a:lvl9pPr>
              <a:defRPr sz="1650" b="1">
                <a:solidFill>
                  <a:srgbClr val="A7F3D0"/>
                </a:solidFill>
                <a:latin typeface="Arial"/>
                <a:ea typeface="Arial"/>
                <a:cs typeface="Arial"/>
              </a:defRPr>
            </a:lvl9pPr>
          </a:lstStyle>
          <a:p xmlns:a="http://schemas.openxmlformats.org/drawingml/2006/main">
            <a:pPr>
              <a:defRPr sz="1650" b="1">
                <a:solidFill>
                  <a:srgbClr val="A7F3D0"/>
                </a:solidFill>
                <a:latin typeface="Arial"/>
                <a:ea typeface="Arial"/>
                <a:cs typeface="Arial"/>
              </a:defRPr>
            </a:pPr>
            <a:r>
              <a:rPr sz="1650" b="1">
                <a:solidFill>
                  <a:srgbClr val="A7F3D0"/>
                </a:solidFill>
                <a:latin typeface="Arial"/>
                <a:ea typeface="Arial"/>
                <a:cs typeface="Arial"/>
              </a:rPr>
              <a:t>No task-specific training required</a:t>
            </a:r>
          </a:p>
        </p:txBody>
      </p:sp>
      <p:sp>
        <p:nvSpPr>
          <p:cNvPr id="9" name="">
            <a:extLst xmlns:a="http://schemas.openxmlformats.org/drawingml/2006/main">
              <a:ext uri="{FF2B5EF4-FFF2-40B4-BE49-F238E27FC236}">
                <a16:creationId xmlns:a16="http://schemas.microsoft.com/office/drawing/2014/main" id="{360243B1-C231-4345-9F86-51CB0D41A150}"/>
              </a:ext>
            </a:extLst>
          </p:cNvPr>
          <p:cNvSpPr>
            <a:spLocks xmlns:a="http://schemas.openxmlformats.org/drawingml/2006/main" noGrp="1"/>
          </p:cNvSpPr>
          <p:nvPr/>
        </p:nvSpPr>
        <p:spPr>
          <a:xfrm xmlns:a="http://schemas.openxmlformats.org/drawingml/2006/main">
            <a:off x="971550" y="45529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Inference + typed tools + verification</a:t>
            </a:r>
          </a:p>
        </p:txBody>
      </p:sp>
      <p:sp>
        <p:nvSpPr>
          <p:cNvPr id="10" name="">
            <a:extLst xmlns:a="http://schemas.openxmlformats.org/drawingml/2006/main">
              <a:ext uri="{FF2B5EF4-FFF2-40B4-BE49-F238E27FC236}">
                <a16:creationId xmlns:a16="http://schemas.microsoft.com/office/drawing/2014/main" id="{D129D343-C8A2-4BA7-9D7F-FC68B8695A7F}"/>
              </a:ext>
            </a:extLst>
          </p:cNvPr>
          <p:cNvSpPr>
            <a:spLocks xmlns:a="http://schemas.openxmlformats.org/drawingml/2006/main" noGrp="1"/>
          </p:cNvSpPr>
          <p:nvPr/>
        </p:nvSpPr>
        <p:spPr>
          <a:xfrm xmlns:a="http://schemas.openxmlformats.org/drawingml/2006/main">
            <a:off x="723900" y="60007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A8B8CA"/>
                </a:solidFill>
                <a:latin typeface="Arial"/>
                <a:ea typeface="Arial"/>
                <a:cs typeface="Arial"/>
              </a:defRPr>
            </a:defPPr>
            <a:lvl1pPr>
              <a:defRPr sz="1050">
                <a:solidFill>
                  <a:srgbClr val="A8B8CA"/>
                </a:solidFill>
                <a:latin typeface="Arial"/>
                <a:ea typeface="Arial"/>
                <a:cs typeface="Arial"/>
              </a:defRPr>
            </a:lvl1pPr>
            <a:lvl2pPr>
              <a:defRPr sz="1050">
                <a:solidFill>
                  <a:srgbClr val="A8B8CA"/>
                </a:solidFill>
                <a:latin typeface="Arial"/>
                <a:ea typeface="Arial"/>
                <a:cs typeface="Arial"/>
              </a:defRPr>
            </a:lvl2pPr>
            <a:lvl3pPr>
              <a:defRPr sz="1050">
                <a:solidFill>
                  <a:srgbClr val="A8B8CA"/>
                </a:solidFill>
                <a:latin typeface="Arial"/>
                <a:ea typeface="Arial"/>
                <a:cs typeface="Arial"/>
              </a:defRPr>
            </a:lvl3pPr>
            <a:lvl4pPr>
              <a:defRPr sz="1050">
                <a:solidFill>
                  <a:srgbClr val="A8B8CA"/>
                </a:solidFill>
                <a:latin typeface="Arial"/>
                <a:ea typeface="Arial"/>
                <a:cs typeface="Arial"/>
              </a:defRPr>
            </a:lvl4pPr>
            <a:lvl5pPr>
              <a:defRPr sz="1050">
                <a:solidFill>
                  <a:srgbClr val="A8B8CA"/>
                </a:solidFill>
                <a:latin typeface="Arial"/>
                <a:ea typeface="Arial"/>
                <a:cs typeface="Arial"/>
              </a:defRPr>
            </a:lvl5pPr>
            <a:lvl6pPr>
              <a:defRPr sz="1050">
                <a:solidFill>
                  <a:srgbClr val="A8B8CA"/>
                </a:solidFill>
                <a:latin typeface="Arial"/>
                <a:ea typeface="Arial"/>
                <a:cs typeface="Arial"/>
              </a:defRPr>
            </a:lvl6pPr>
            <a:lvl7pPr>
              <a:defRPr sz="1050">
                <a:solidFill>
                  <a:srgbClr val="A8B8CA"/>
                </a:solidFill>
                <a:latin typeface="Arial"/>
                <a:ea typeface="Arial"/>
                <a:cs typeface="Arial"/>
              </a:defRPr>
            </a:lvl7pPr>
            <a:lvl8pPr>
              <a:defRPr sz="1050">
                <a:solidFill>
                  <a:srgbClr val="A8B8CA"/>
                </a:solidFill>
                <a:latin typeface="Arial"/>
                <a:ea typeface="Arial"/>
                <a:cs typeface="Arial"/>
              </a:defRPr>
            </a:lvl8pPr>
            <a:lvl9pPr>
              <a:defRPr sz="1050">
                <a:solidFill>
                  <a:srgbClr val="A8B8CA"/>
                </a:solidFill>
                <a:latin typeface="Arial"/>
                <a:ea typeface="Arial"/>
                <a:cs typeface="Arial"/>
              </a:defRPr>
            </a:lvl9pPr>
          </a:lstStyle>
          <a:p xmlns:a="http://schemas.openxmlformats.org/drawingml/2006/main">
            <a:pPr>
              <a:defRPr sz="1050">
                <a:solidFill>
                  <a:srgbClr val="A8B8CA"/>
                </a:solidFill>
                <a:latin typeface="Arial"/>
                <a:ea typeface="Arial"/>
                <a:cs typeface="Arial"/>
              </a:defRPr>
            </a:pPr>
            <a:r>
              <a:rPr sz="1050">
                <a:solidFill>
                  <a:srgbClr val="A8B8CA"/>
                </a:solidFill>
                <a:latin typeface="Arial"/>
                <a:ea typeface="Arial"/>
                <a:cs typeface="Arial"/>
              </a:rPr>
              <a:t>Crizepvill F. Dumalaog  •  Mapua University  •  2026</a:t>
            </a:r>
          </a:p>
        </p:txBody>
      </p:sp>
    </p:spTree>
    <p:extLst>
      <p:ext uri="{BB962C8B-B14F-4D97-AF65-F5344CB8AC3E}">
        <p14:creationId xmlns:p14="http://schemas.microsoft.com/office/powerpoint/2010/main" val="1380310376"/>
      </p:ext>
    </p:extLst>
  </p:cSld>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A6B9D44-498E-4EF2-9D34-3FCFCE71D9F2}"/>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THE EXPERIENCE</a:t>
            </a:r>
          </a:p>
        </p:txBody>
      </p:sp>
      <p:sp>
        <p:nvSpPr>
          <p:cNvPr id="2" name="">
            <a:extLst xmlns:a="http://schemas.openxmlformats.org/drawingml/2006/main">
              <a:ext uri="{FF2B5EF4-FFF2-40B4-BE49-F238E27FC236}">
                <a16:creationId xmlns:a16="http://schemas.microsoft.com/office/drawing/2014/main" id="{A5AF7F77-7C66-4F43-958D-0FEB56230A48}"/>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A spoken request becomes a checked result</a:t>
            </a:r>
          </a:p>
        </p:txBody>
      </p:sp>
      <p:sp>
        <p:nvSpPr>
          <p:cNvPr id="3" name="">
            <a:extLst xmlns:a="http://schemas.openxmlformats.org/drawingml/2006/main">
              <a:ext uri="{FF2B5EF4-FFF2-40B4-BE49-F238E27FC236}">
                <a16:creationId xmlns:a16="http://schemas.microsoft.com/office/drawing/2014/main" id="{0EEFE307-6E8A-4541-875F-9C1C4D32460E}"/>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user stays in conversation while the model reasons and acts through bounded tools.</a:t>
            </a:r>
          </a:p>
        </p:txBody>
      </p:sp>
      <p:cxnSp>
        <p:nvCxnSpPr>
          <p:cNvPr id="4" name="sequence-1">
            <a:extLst xmlns:a="http://schemas.openxmlformats.org/drawingml/2006/main">
              <a:ext uri="{FF2B5EF4-FFF2-40B4-BE49-F238E27FC236}">
                <a16:creationId xmlns:a16="http://schemas.microsoft.com/office/drawing/2014/main" id="{3023A846-2105-4AB4-A70C-91DF6AF08D8A}"/>
              </a:ext>
            </a:extLst>
          </p:cNvPr>
          <p:cNvCxnSpPr/>
          <p:nvPr/>
        </p:nvCxnSpPr>
        <p:spPr>
          <a:xfrm xmlns:a="http://schemas.openxmlformats.org/drawingml/2006/main">
            <a:off x="2247900" y="3143250"/>
            <a:ext cx="952500"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sequence-2">
            <a:extLst xmlns:a="http://schemas.openxmlformats.org/drawingml/2006/main">
              <a:ext uri="{FF2B5EF4-FFF2-40B4-BE49-F238E27FC236}">
                <a16:creationId xmlns:a16="http://schemas.microsoft.com/office/drawing/2014/main" id="{2DA8B89A-6646-49C5-B092-19F64C647C70}"/>
              </a:ext>
            </a:extLst>
          </p:cNvPr>
          <p:cNvCxnSpPr/>
          <p:nvPr/>
        </p:nvCxnSpPr>
        <p:spPr>
          <a:xfrm xmlns:a="http://schemas.openxmlformats.org/drawingml/2006/main">
            <a:off x="4819650" y="3143250"/>
            <a:ext cx="952500"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sequence-3">
            <a:extLst xmlns:a="http://schemas.openxmlformats.org/drawingml/2006/main">
              <a:ext uri="{FF2B5EF4-FFF2-40B4-BE49-F238E27FC236}">
                <a16:creationId xmlns:a16="http://schemas.microsoft.com/office/drawing/2014/main" id="{040408AE-2630-4065-8144-C3E4729FCAF2}"/>
              </a:ext>
            </a:extLst>
          </p:cNvPr>
          <p:cNvCxnSpPr/>
          <p:nvPr/>
        </p:nvCxnSpPr>
        <p:spPr>
          <a:xfrm xmlns:a="http://schemas.openxmlformats.org/drawingml/2006/main">
            <a:off x="7391400" y="3143250"/>
            <a:ext cx="952500" cy="0"/>
          </a:xfrm>
          <a:prstGeom xmlns:a="http://schemas.openxmlformats.org/drawingml/2006/main" prst="straightConnector1">
            <a:avLst/>
          </a:prstGeom>
          <a:ln xmlns:a="http://schemas.openxmlformats.org/drawingml/2006/main" w="19050">
            <a:solidFill>
              <a:srgbClr val="FCD34D"/>
            </a:solidFill>
            <a:prstDash val="solid"/>
            <a:tailEnd type="arrow" w="med" len="med"/>
          </a:ln>
        </p:spPr>
      </p:cxnSp>
      <p:sp>
        <p:nvSpPr>
          <p:cNvPr id="7" name="sequence-node-0">
            <a:extLst xmlns:a="http://schemas.openxmlformats.org/drawingml/2006/main">
              <a:ext uri="{FF2B5EF4-FFF2-40B4-BE49-F238E27FC236}">
                <a16:creationId xmlns:a16="http://schemas.microsoft.com/office/drawing/2014/main" id="{6D6BF709-4CB8-4EA4-8424-257258246E8F}"/>
              </a:ext>
            </a:extLst>
          </p:cNvPr>
          <p:cNvSpPr>
            <a:spLocks xmlns:a="http://schemas.openxmlformats.org/drawingml/2006/main" noGrp="1"/>
          </p:cNvSpPr>
          <p:nvPr/>
        </p:nvSpPr>
        <p:spPr>
          <a:xfrm xmlns:a="http://schemas.openxmlformats.org/drawingml/2006/main">
            <a:off x="7620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5EEAD4"/>
            </a:solidFill>
            <a:prstDash val="solid"/>
          </a:ln>
        </p:spPr>
      </p:sp>
      <p:sp>
        <p:nvSpPr>
          <p:cNvPr id="8" name="">
            <a:extLst xmlns:a="http://schemas.openxmlformats.org/drawingml/2006/main">
              <a:ext uri="{FF2B5EF4-FFF2-40B4-BE49-F238E27FC236}">
                <a16:creationId xmlns:a16="http://schemas.microsoft.com/office/drawing/2014/main" id="{A404C3E5-2218-4536-B469-E8CCE685B014}"/>
              </a:ext>
            </a:extLst>
          </p:cNvPr>
          <p:cNvSpPr>
            <a:spLocks xmlns:a="http://schemas.openxmlformats.org/drawingml/2006/main" noGrp="1"/>
          </p:cNvSpPr>
          <p:nvPr/>
        </p:nvSpPr>
        <p:spPr>
          <a:xfrm xmlns:a="http://schemas.openxmlformats.org/drawingml/2006/main">
            <a:off x="9334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FE1F3032-033D-4D2D-BC31-7211A55FF927}"/>
              </a:ext>
            </a:extLst>
          </p:cNvPr>
          <p:cNvSpPr>
            <a:spLocks xmlns:a="http://schemas.openxmlformats.org/drawingml/2006/main" noGrp="1"/>
          </p:cNvSpPr>
          <p:nvPr/>
        </p:nvSpPr>
        <p:spPr>
          <a:xfrm xmlns:a="http://schemas.openxmlformats.org/drawingml/2006/main">
            <a:off x="9334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Speak</a:t>
            </a:r>
          </a:p>
        </p:txBody>
      </p:sp>
      <p:sp>
        <p:nvSpPr>
          <p:cNvPr id="10" name="">
            <a:extLst xmlns:a="http://schemas.openxmlformats.org/drawingml/2006/main">
              <a:ext uri="{FF2B5EF4-FFF2-40B4-BE49-F238E27FC236}">
                <a16:creationId xmlns:a16="http://schemas.microsoft.com/office/drawing/2014/main" id="{FB96AC7A-7840-450F-BB06-06FE4E924A38}"/>
              </a:ext>
            </a:extLst>
          </p:cNvPr>
          <p:cNvSpPr>
            <a:spLocks xmlns:a="http://schemas.openxmlformats.org/drawingml/2006/main" noGrp="1"/>
          </p:cNvSpPr>
          <p:nvPr/>
        </p:nvSpPr>
        <p:spPr>
          <a:xfrm xmlns:a="http://schemas.openxmlformats.org/drawingml/2006/main">
            <a:off x="9334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“Build me a web app”</a:t>
            </a:r>
          </a:p>
        </p:txBody>
      </p:sp>
      <p:sp>
        <p:nvSpPr>
          <p:cNvPr id="11" name="sequence-node-1">
            <a:extLst xmlns:a="http://schemas.openxmlformats.org/drawingml/2006/main">
              <a:ext uri="{FF2B5EF4-FFF2-40B4-BE49-F238E27FC236}">
                <a16:creationId xmlns:a16="http://schemas.microsoft.com/office/drawing/2014/main" id="{A25347E6-22A8-40EE-8F25-DBBF91277FEC}"/>
              </a:ext>
            </a:extLst>
          </p:cNvPr>
          <p:cNvSpPr>
            <a:spLocks xmlns:a="http://schemas.openxmlformats.org/drawingml/2006/main" noGrp="1"/>
          </p:cNvSpPr>
          <p:nvPr/>
        </p:nvSpPr>
        <p:spPr>
          <a:xfrm xmlns:a="http://schemas.openxmlformats.org/drawingml/2006/main">
            <a:off x="33337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60A5FA"/>
            </a:solidFill>
            <a:prstDash val="solid"/>
          </a:ln>
        </p:spPr>
      </p:sp>
      <p:sp>
        <p:nvSpPr>
          <p:cNvPr id="12" name="">
            <a:extLst xmlns:a="http://schemas.openxmlformats.org/drawingml/2006/main">
              <a:ext uri="{FF2B5EF4-FFF2-40B4-BE49-F238E27FC236}">
                <a16:creationId xmlns:a16="http://schemas.microsoft.com/office/drawing/2014/main" id="{877DBE99-E216-4B1A-A109-9F52C13AD71B}"/>
              </a:ext>
            </a:extLst>
          </p:cNvPr>
          <p:cNvSpPr>
            <a:spLocks xmlns:a="http://schemas.openxmlformats.org/drawingml/2006/main" noGrp="1"/>
          </p:cNvSpPr>
          <p:nvPr/>
        </p:nvSpPr>
        <p:spPr>
          <a:xfrm xmlns:a="http://schemas.openxmlformats.org/drawingml/2006/main">
            <a:off x="35052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5F172F65-1910-4C44-A371-22246D184BC3}"/>
              </a:ext>
            </a:extLst>
          </p:cNvPr>
          <p:cNvSpPr>
            <a:spLocks xmlns:a="http://schemas.openxmlformats.org/drawingml/2006/main" noGrp="1"/>
          </p:cNvSpPr>
          <p:nvPr/>
        </p:nvSpPr>
        <p:spPr>
          <a:xfrm xmlns:a="http://schemas.openxmlformats.org/drawingml/2006/main">
            <a:off x="35052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EC707D82-16E2-4809-A912-CAA6684DF9DB}"/>
              </a:ext>
            </a:extLst>
          </p:cNvPr>
          <p:cNvSpPr>
            <a:spLocks xmlns:a="http://schemas.openxmlformats.org/drawingml/2006/main" noGrp="1"/>
          </p:cNvSpPr>
          <p:nvPr/>
        </p:nvSpPr>
        <p:spPr>
          <a:xfrm xmlns:a="http://schemas.openxmlformats.org/drawingml/2006/main">
            <a:off x="35052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Qwen selects tool calls</a:t>
            </a:r>
          </a:p>
        </p:txBody>
      </p:sp>
      <p:sp>
        <p:nvSpPr>
          <p:cNvPr id="15" name="sequence-node-2">
            <a:extLst xmlns:a="http://schemas.openxmlformats.org/drawingml/2006/main">
              <a:ext uri="{FF2B5EF4-FFF2-40B4-BE49-F238E27FC236}">
                <a16:creationId xmlns:a16="http://schemas.microsoft.com/office/drawing/2014/main" id="{6DD5CE0B-05AF-49BC-9E6D-382FB2D5940D}"/>
              </a:ext>
            </a:extLst>
          </p:cNvPr>
          <p:cNvSpPr>
            <a:spLocks xmlns:a="http://schemas.openxmlformats.org/drawingml/2006/main" noGrp="1"/>
          </p:cNvSpPr>
          <p:nvPr/>
        </p:nvSpPr>
        <p:spPr>
          <a:xfrm xmlns:a="http://schemas.openxmlformats.org/drawingml/2006/main">
            <a:off x="590550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FCD34D"/>
            </a:solidFill>
            <a:prstDash val="solid"/>
          </a:ln>
        </p:spPr>
      </p:sp>
      <p:sp>
        <p:nvSpPr>
          <p:cNvPr id="16" name="">
            <a:extLst xmlns:a="http://schemas.openxmlformats.org/drawingml/2006/main">
              <a:ext uri="{FF2B5EF4-FFF2-40B4-BE49-F238E27FC236}">
                <a16:creationId xmlns:a16="http://schemas.microsoft.com/office/drawing/2014/main" id="{5E29F88D-DCDC-4BEC-AB1D-0EF4B845A69B}"/>
              </a:ext>
            </a:extLst>
          </p:cNvPr>
          <p:cNvSpPr>
            <a:spLocks xmlns:a="http://schemas.openxmlformats.org/drawingml/2006/main" noGrp="1"/>
          </p:cNvSpPr>
          <p:nvPr/>
        </p:nvSpPr>
        <p:spPr>
          <a:xfrm xmlns:a="http://schemas.openxmlformats.org/drawingml/2006/main">
            <a:off x="607695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FD95DD6E-6FF8-42AB-A7A1-0F3556CD292B}"/>
              </a:ext>
            </a:extLst>
          </p:cNvPr>
          <p:cNvSpPr>
            <a:spLocks xmlns:a="http://schemas.openxmlformats.org/drawingml/2006/main" noGrp="1"/>
          </p:cNvSpPr>
          <p:nvPr/>
        </p:nvSpPr>
        <p:spPr>
          <a:xfrm xmlns:a="http://schemas.openxmlformats.org/drawingml/2006/main">
            <a:off x="607695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Act</a:t>
            </a:r>
          </a:p>
        </p:txBody>
      </p:sp>
      <p:sp>
        <p:nvSpPr>
          <p:cNvPr id="18" name="">
            <a:extLst xmlns:a="http://schemas.openxmlformats.org/drawingml/2006/main">
              <a:ext uri="{FF2B5EF4-FFF2-40B4-BE49-F238E27FC236}">
                <a16:creationId xmlns:a16="http://schemas.microsoft.com/office/drawing/2014/main" id="{00BEDEC8-552E-413A-AA90-EA167C54BBB6}"/>
              </a:ext>
            </a:extLst>
          </p:cNvPr>
          <p:cNvSpPr>
            <a:spLocks xmlns:a="http://schemas.openxmlformats.org/drawingml/2006/main" noGrp="1"/>
          </p:cNvSpPr>
          <p:nvPr/>
        </p:nvSpPr>
        <p:spPr>
          <a:xfrm xmlns:a="http://schemas.openxmlformats.org/drawingml/2006/main">
            <a:off x="607695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Files, web, commands, jobs</a:t>
            </a:r>
          </a:p>
        </p:txBody>
      </p:sp>
      <p:sp>
        <p:nvSpPr>
          <p:cNvPr id="19" name="sequence-node-3">
            <a:extLst xmlns:a="http://schemas.openxmlformats.org/drawingml/2006/main">
              <a:ext uri="{FF2B5EF4-FFF2-40B4-BE49-F238E27FC236}">
                <a16:creationId xmlns:a16="http://schemas.microsoft.com/office/drawing/2014/main" id="{23DAD8D1-C898-4BDA-AAF0-16AE6844BE6F}"/>
              </a:ext>
            </a:extLst>
          </p:cNvPr>
          <p:cNvSpPr>
            <a:spLocks xmlns:a="http://schemas.openxmlformats.org/drawingml/2006/main" noGrp="1"/>
          </p:cNvSpPr>
          <p:nvPr/>
        </p:nvSpPr>
        <p:spPr>
          <a:xfrm xmlns:a="http://schemas.openxmlformats.org/drawingml/2006/main">
            <a:off x="8477250" y="2381250"/>
            <a:ext cx="1809750" cy="1524000"/>
          </a:xfrm>
          <a:prstGeom xmlns:a="http://schemas.openxmlformats.org/drawingml/2006/main" prst="roundRect">
            <a:avLst>
              <a:gd name="adj" fmla="val 7500"/>
            </a:avLst>
          </a:prstGeom>
          <a:solidFill xmlns:a="http://schemas.openxmlformats.org/drawingml/2006/main">
            <a:srgbClr val="14324A"/>
          </a:solidFill>
          <a:ln xmlns:a="http://schemas.openxmlformats.org/drawingml/2006/main" w="9525">
            <a:solidFill>
              <a:srgbClr val="A7F3D0"/>
            </a:solidFill>
            <a:prstDash val="solid"/>
          </a:ln>
        </p:spPr>
      </p:sp>
      <p:sp>
        <p:nvSpPr>
          <p:cNvPr id="20" name="">
            <a:extLst xmlns:a="http://schemas.openxmlformats.org/drawingml/2006/main">
              <a:ext uri="{FF2B5EF4-FFF2-40B4-BE49-F238E27FC236}">
                <a16:creationId xmlns:a16="http://schemas.microsoft.com/office/drawing/2014/main" id="{2A17679D-4AC9-400F-8D3A-47BD4CD904D3}"/>
              </a:ext>
            </a:extLst>
          </p:cNvPr>
          <p:cNvSpPr>
            <a:spLocks xmlns:a="http://schemas.openxmlformats.org/drawingml/2006/main" noGrp="1"/>
          </p:cNvSpPr>
          <p:nvPr/>
        </p:nvSpPr>
        <p:spPr>
          <a:xfrm xmlns:a="http://schemas.openxmlformats.org/drawingml/2006/main">
            <a:off x="8648700" y="257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3A0FB326-5C84-430D-9509-3126E19BF849}"/>
              </a:ext>
            </a:extLst>
          </p:cNvPr>
          <p:cNvSpPr>
            <a:spLocks xmlns:a="http://schemas.openxmlformats.org/drawingml/2006/main" noGrp="1"/>
          </p:cNvSpPr>
          <p:nvPr/>
        </p:nvSpPr>
        <p:spPr>
          <a:xfrm xmlns:a="http://schemas.openxmlformats.org/drawingml/2006/main">
            <a:off x="8648700" y="2895600"/>
            <a:ext cx="142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7FAFC"/>
                </a:solidFill>
                <a:latin typeface="Arial"/>
                <a:ea typeface="Arial"/>
                <a:cs typeface="Arial"/>
              </a:defRPr>
            </a:defPPr>
            <a:lvl1pPr>
              <a:defRPr sz="1875" b="1">
                <a:solidFill>
                  <a:srgbClr val="F7FAFC"/>
                </a:solidFill>
                <a:latin typeface="Arial"/>
                <a:ea typeface="Arial"/>
                <a:cs typeface="Arial"/>
              </a:defRPr>
            </a:lvl1pPr>
            <a:lvl2pPr>
              <a:defRPr sz="1875" b="1">
                <a:solidFill>
                  <a:srgbClr val="F7FAFC"/>
                </a:solidFill>
                <a:latin typeface="Arial"/>
                <a:ea typeface="Arial"/>
                <a:cs typeface="Arial"/>
              </a:defRPr>
            </a:lvl2pPr>
            <a:lvl3pPr>
              <a:defRPr sz="1875" b="1">
                <a:solidFill>
                  <a:srgbClr val="F7FAFC"/>
                </a:solidFill>
                <a:latin typeface="Arial"/>
                <a:ea typeface="Arial"/>
                <a:cs typeface="Arial"/>
              </a:defRPr>
            </a:lvl3pPr>
            <a:lvl4pPr>
              <a:defRPr sz="1875" b="1">
                <a:solidFill>
                  <a:srgbClr val="F7FAFC"/>
                </a:solidFill>
                <a:latin typeface="Arial"/>
                <a:ea typeface="Arial"/>
                <a:cs typeface="Arial"/>
              </a:defRPr>
            </a:lvl4pPr>
            <a:lvl5pPr>
              <a:defRPr sz="1875" b="1">
                <a:solidFill>
                  <a:srgbClr val="F7FAFC"/>
                </a:solidFill>
                <a:latin typeface="Arial"/>
                <a:ea typeface="Arial"/>
                <a:cs typeface="Arial"/>
              </a:defRPr>
            </a:lvl5pPr>
            <a:lvl6pPr>
              <a:defRPr sz="1875" b="1">
                <a:solidFill>
                  <a:srgbClr val="F7FAFC"/>
                </a:solidFill>
                <a:latin typeface="Arial"/>
                <a:ea typeface="Arial"/>
                <a:cs typeface="Arial"/>
              </a:defRPr>
            </a:lvl6pPr>
            <a:lvl7pPr>
              <a:defRPr sz="1875" b="1">
                <a:solidFill>
                  <a:srgbClr val="F7FAFC"/>
                </a:solidFill>
                <a:latin typeface="Arial"/>
                <a:ea typeface="Arial"/>
                <a:cs typeface="Arial"/>
              </a:defRPr>
            </a:lvl7pPr>
            <a:lvl8pPr>
              <a:defRPr sz="1875" b="1">
                <a:solidFill>
                  <a:srgbClr val="F7FAFC"/>
                </a:solidFill>
                <a:latin typeface="Arial"/>
                <a:ea typeface="Arial"/>
                <a:cs typeface="Arial"/>
              </a:defRPr>
            </a:lvl8pPr>
            <a:lvl9pPr>
              <a:defRPr sz="1875" b="1">
                <a:solidFill>
                  <a:srgbClr val="F7FAFC"/>
                </a:solidFill>
                <a:latin typeface="Arial"/>
                <a:ea typeface="Arial"/>
                <a:cs typeface="Arial"/>
              </a:defRPr>
            </a:lvl9pPr>
          </a:lstStyle>
          <a:p xmlns:a="http://schemas.openxmlformats.org/drawingml/2006/main">
            <a:pPr>
              <a:defRPr sz="1875" b="1">
                <a:solidFill>
                  <a:srgbClr val="F7FAFC"/>
                </a:solidFill>
                <a:latin typeface="Arial"/>
                <a:ea typeface="Arial"/>
                <a:cs typeface="Arial"/>
              </a:defRPr>
            </a:pPr>
            <a:r>
              <a:rPr sz="1875" b="1">
                <a:solidFill>
                  <a:srgbClr val="F7FAFC"/>
                </a:solidFill>
                <a:latin typeface="Arial"/>
                <a:ea typeface="Arial"/>
                <a:cs typeface="Arial"/>
              </a:rPr>
              <a:t>Prove</a:t>
            </a:r>
          </a:p>
        </p:txBody>
      </p:sp>
      <p:sp>
        <p:nvSpPr>
          <p:cNvPr id="22" name="">
            <a:extLst xmlns:a="http://schemas.openxmlformats.org/drawingml/2006/main">
              <a:ext uri="{FF2B5EF4-FFF2-40B4-BE49-F238E27FC236}">
                <a16:creationId xmlns:a16="http://schemas.microsoft.com/office/drawing/2014/main" id="{45BF38AD-CFF9-46AC-82FF-060D107AC0BE}"/>
              </a:ext>
            </a:extLst>
          </p:cNvPr>
          <p:cNvSpPr>
            <a:spLocks xmlns:a="http://schemas.openxmlformats.org/drawingml/2006/main" noGrp="1"/>
          </p:cNvSpPr>
          <p:nvPr/>
        </p:nvSpPr>
        <p:spPr>
          <a:xfrm xmlns:a="http://schemas.openxmlformats.org/drawingml/2006/main">
            <a:off x="8648700" y="3295650"/>
            <a:ext cx="1447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Read-back + verification</a:t>
            </a:r>
          </a:p>
        </p:txBody>
      </p:sp>
      <p:sp>
        <p:nvSpPr>
          <p:cNvPr id="23" name="sequence-caption">
            <a:extLst xmlns:a="http://schemas.openxmlformats.org/drawingml/2006/main">
              <a:ext uri="{FF2B5EF4-FFF2-40B4-BE49-F238E27FC236}">
                <a16:creationId xmlns:a16="http://schemas.microsoft.com/office/drawing/2014/main" id="{CB3DEEAC-EE7B-446E-852A-2CB9B079DB64}"/>
              </a:ext>
            </a:extLst>
          </p:cNvPr>
          <p:cNvSpPr>
            <a:spLocks xmlns:a="http://schemas.openxmlformats.org/drawingml/2006/main" noGrp="1"/>
          </p:cNvSpPr>
          <p:nvPr/>
        </p:nvSpPr>
        <p:spPr>
          <a:xfrm xmlns:a="http://schemas.openxmlformats.org/drawingml/2006/main">
            <a:off x="1714500" y="4648200"/>
            <a:ext cx="8763000" cy="819150"/>
          </a:xfrm>
          <a:prstGeom xmlns:a="http://schemas.openxmlformats.org/drawingml/2006/main" prst="roundRect">
            <a:avLst>
              <a:gd name="adj" fmla="val 13953"/>
            </a:avLst>
          </a:prstGeom>
          <a:solidFill xmlns:a="http://schemas.openxmlformats.org/drawingml/2006/main">
            <a:srgbClr val="102A4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47644F1-5CB8-4CDE-BE3C-312892F2BCC3}"/>
              </a:ext>
            </a:extLst>
          </p:cNvPr>
          <p:cNvSpPr>
            <a:spLocks xmlns:a="http://schemas.openxmlformats.org/drawingml/2006/main" noGrp="1"/>
          </p:cNvSpPr>
          <p:nvPr/>
        </p:nvSpPr>
        <p:spPr>
          <a:xfrm xmlns:a="http://schemas.openxmlformats.org/drawingml/2006/main">
            <a:off x="2019300" y="4838700"/>
            <a:ext cx="828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F7FAFC"/>
                </a:solidFill>
                <a:latin typeface="Arial"/>
                <a:ea typeface="Arial"/>
                <a:cs typeface="Arial"/>
              </a:defRPr>
            </a:defPPr>
            <a:lvl1pPr>
              <a:defRPr sz="1725" b="1">
                <a:solidFill>
                  <a:srgbClr val="F7FAFC"/>
                </a:solidFill>
                <a:latin typeface="Arial"/>
                <a:ea typeface="Arial"/>
                <a:cs typeface="Arial"/>
              </a:defRPr>
            </a:lvl1pPr>
            <a:lvl2pPr>
              <a:defRPr sz="1725" b="1">
                <a:solidFill>
                  <a:srgbClr val="F7FAFC"/>
                </a:solidFill>
                <a:latin typeface="Arial"/>
                <a:ea typeface="Arial"/>
                <a:cs typeface="Arial"/>
              </a:defRPr>
            </a:lvl2pPr>
            <a:lvl3pPr>
              <a:defRPr sz="1725" b="1">
                <a:solidFill>
                  <a:srgbClr val="F7FAFC"/>
                </a:solidFill>
                <a:latin typeface="Arial"/>
                <a:ea typeface="Arial"/>
                <a:cs typeface="Arial"/>
              </a:defRPr>
            </a:lvl3pPr>
            <a:lvl4pPr>
              <a:defRPr sz="1725" b="1">
                <a:solidFill>
                  <a:srgbClr val="F7FAFC"/>
                </a:solidFill>
                <a:latin typeface="Arial"/>
                <a:ea typeface="Arial"/>
                <a:cs typeface="Arial"/>
              </a:defRPr>
            </a:lvl4pPr>
            <a:lvl5pPr>
              <a:defRPr sz="1725" b="1">
                <a:solidFill>
                  <a:srgbClr val="F7FAFC"/>
                </a:solidFill>
                <a:latin typeface="Arial"/>
                <a:ea typeface="Arial"/>
                <a:cs typeface="Arial"/>
              </a:defRPr>
            </a:lvl5pPr>
            <a:lvl6pPr>
              <a:defRPr sz="1725" b="1">
                <a:solidFill>
                  <a:srgbClr val="F7FAFC"/>
                </a:solidFill>
                <a:latin typeface="Arial"/>
                <a:ea typeface="Arial"/>
                <a:cs typeface="Arial"/>
              </a:defRPr>
            </a:lvl6pPr>
            <a:lvl7pPr>
              <a:defRPr sz="1725" b="1">
                <a:solidFill>
                  <a:srgbClr val="F7FAFC"/>
                </a:solidFill>
                <a:latin typeface="Arial"/>
                <a:ea typeface="Arial"/>
                <a:cs typeface="Arial"/>
              </a:defRPr>
            </a:lvl7pPr>
            <a:lvl8pPr>
              <a:defRPr sz="1725" b="1">
                <a:solidFill>
                  <a:srgbClr val="F7FAFC"/>
                </a:solidFill>
                <a:latin typeface="Arial"/>
                <a:ea typeface="Arial"/>
                <a:cs typeface="Arial"/>
              </a:defRPr>
            </a:lvl8pPr>
            <a:lvl9pPr>
              <a:defRPr sz="1725" b="1">
                <a:solidFill>
                  <a:srgbClr val="F7FAFC"/>
                </a:solidFill>
                <a:latin typeface="Arial"/>
                <a:ea typeface="Arial"/>
                <a:cs typeface="Arial"/>
              </a:defRPr>
            </a:lvl9pPr>
          </a:lstStyle>
          <a:p xmlns:a="http://schemas.openxmlformats.org/drawingml/2006/main">
            <a:pPr>
              <a:defRPr sz="1725" b="1">
                <a:solidFill>
                  <a:srgbClr val="F7FAFC"/>
                </a:solidFill>
                <a:latin typeface="Arial"/>
                <a:ea typeface="Arial"/>
                <a:cs typeface="Arial"/>
              </a:defRPr>
            </a:pPr>
            <a:r>
              <a:rPr sz="1725" b="1">
                <a:solidFill>
                  <a:srgbClr val="F7FAFC"/>
                </a:solidFill>
                <a:latin typeface="Arial"/>
                <a:ea typeface="Arial"/>
                <a:cs typeface="Arial"/>
              </a:rPr>
              <a:t>Full duplex means listening continues during playback.</a:t>
            </a:r>
          </a:p>
        </p:txBody>
      </p:sp>
      <p:sp>
        <p:nvSpPr>
          <p:cNvPr id="25" name="">
            <a:extLst xmlns:a="http://schemas.openxmlformats.org/drawingml/2006/main">
              <a:ext uri="{FF2B5EF4-FFF2-40B4-BE49-F238E27FC236}">
                <a16:creationId xmlns:a16="http://schemas.microsoft.com/office/drawing/2014/main" id="{4E9AC55F-7D87-4E38-A74F-CDD1D4CA3F72}"/>
              </a:ext>
            </a:extLst>
          </p:cNvPr>
          <p:cNvSpPr>
            <a:spLocks xmlns:a="http://schemas.openxmlformats.org/drawingml/2006/main" noGrp="1"/>
          </p:cNvSpPr>
          <p:nvPr/>
        </p:nvSpPr>
        <p:spPr>
          <a:xfrm xmlns:a="http://schemas.openxmlformats.org/drawingml/2006/main">
            <a:off x="2019300" y="5162550"/>
            <a:ext cx="828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Speech during TTS cancels playback and starts a new turn.</a:t>
            </a:r>
          </a:p>
        </p:txBody>
      </p:sp>
      <p:sp>
        <p:nvSpPr>
          <p:cNvPr id="26" name="">
            <a:extLst xmlns:a="http://schemas.openxmlformats.org/drawingml/2006/main">
              <a:ext uri="{FF2B5EF4-FFF2-40B4-BE49-F238E27FC236}">
                <a16:creationId xmlns:a16="http://schemas.microsoft.com/office/drawing/2014/main" id="{7600BF35-4F9B-4E03-A6A3-57D6EB09F38C}"/>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2/7</a:t>
            </a:r>
          </a:p>
        </p:txBody>
      </p:sp>
    </p:spTree>
    <p:extLst>
      <p:ext uri="{BB962C8B-B14F-4D97-AF65-F5344CB8AC3E}">
        <p14:creationId xmlns:p14="http://schemas.microsoft.com/office/powerpoint/2010/main" val="213184862"/>
      </p:ext>
    </p:extLst>
  </p:cSld>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166177F-464B-4713-BCDA-F8C3B24A4108}"/>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6DB33ED7-1CAC-48E3-B1DC-314A2FC521B3}"/>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Local speech, remote reasoning, owned actions</a:t>
            </a:r>
          </a:p>
        </p:txBody>
      </p:sp>
      <p:sp>
        <p:nvSpPr>
          <p:cNvPr id="3" name="">
            <a:extLst xmlns:a="http://schemas.openxmlformats.org/drawingml/2006/main">
              <a:ext uri="{FF2B5EF4-FFF2-40B4-BE49-F238E27FC236}">
                <a16:creationId xmlns:a16="http://schemas.microsoft.com/office/drawing/2014/main" id="{A5277ACB-471A-469B-87D2-B1F572A1EBA4}"/>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Speech stays local; Qwen reasons remotely; typed tools own side effects.</a:t>
            </a:r>
          </a:p>
        </p:txBody>
      </p:sp>
      <p:cxnSp>
        <p:nvCxnSpPr>
          <p:cNvPr id="4" name="arch-local-to-qwen">
            <a:extLst xmlns:a="http://schemas.openxmlformats.org/drawingml/2006/main">
              <a:ext uri="{FF2B5EF4-FFF2-40B4-BE49-F238E27FC236}">
                <a16:creationId xmlns:a16="http://schemas.microsoft.com/office/drawing/2014/main" id="{91B25D37-53FF-458E-B44F-172638AD0BA4}"/>
              </a:ext>
            </a:extLst>
          </p:cNvPr>
          <p:cNvCxnSpPr/>
          <p:nvPr/>
        </p:nvCxnSpPr>
        <p:spPr>
          <a:xfrm xmlns:a="http://schemas.openxmlformats.org/drawingml/2006/main">
            <a:off x="2333625" y="3181350"/>
            <a:ext cx="71437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cxnSp>
        <p:nvCxnSpPr>
          <p:cNvPr id="5" name="arch-qwen-to-tools">
            <a:extLst xmlns:a="http://schemas.openxmlformats.org/drawingml/2006/main">
              <a:ext uri="{FF2B5EF4-FFF2-40B4-BE49-F238E27FC236}">
                <a16:creationId xmlns:a16="http://schemas.microsoft.com/office/drawing/2014/main" id="{0A1E95E3-5F90-4C57-93FA-58248C37AB31}"/>
              </a:ext>
            </a:extLst>
          </p:cNvPr>
          <p:cNvCxnSpPr/>
          <p:nvPr/>
        </p:nvCxnSpPr>
        <p:spPr>
          <a:xfrm xmlns:a="http://schemas.openxmlformats.org/drawingml/2006/main">
            <a:off x="5381625" y="3181350"/>
            <a:ext cx="71437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cxnSp>
        <p:nvCxnSpPr>
          <p:cNvPr id="6" name="arch-tools-to-response">
            <a:extLst xmlns:a="http://schemas.openxmlformats.org/drawingml/2006/main">
              <a:ext uri="{FF2B5EF4-FFF2-40B4-BE49-F238E27FC236}">
                <a16:creationId xmlns:a16="http://schemas.microsoft.com/office/drawing/2014/main" id="{01737FF8-F7BB-4F6B-9ABC-59C5B943FF27}"/>
              </a:ext>
            </a:extLst>
          </p:cNvPr>
          <p:cNvCxnSpPr/>
          <p:nvPr/>
        </p:nvCxnSpPr>
        <p:spPr>
          <a:xfrm xmlns:a="http://schemas.openxmlformats.org/drawingml/2006/main">
            <a:off x="8429625" y="3181350"/>
            <a:ext cx="714375" cy="0"/>
          </a:xfrm>
          <a:prstGeom xmlns:a="http://schemas.openxmlformats.org/drawingml/2006/main" prst="straightConnector1">
            <a:avLst/>
          </a:prstGeom>
          <a:ln xmlns:a="http://schemas.openxmlformats.org/drawingml/2006/main" w="19050">
            <a:solidFill>
              <a:srgbClr val="A7F3D0"/>
            </a:solidFill>
            <a:prstDash val="solid"/>
            <a:tailEnd type="arrow" w="med" len="med"/>
          </a:ln>
        </p:spPr>
      </p:cxnSp>
      <p:sp>
        <p:nvSpPr>
          <p:cNvPr id="7" name="arch-node-0">
            <a:extLst xmlns:a="http://schemas.openxmlformats.org/drawingml/2006/main">
              <a:ext uri="{FF2B5EF4-FFF2-40B4-BE49-F238E27FC236}">
                <a16:creationId xmlns:a16="http://schemas.microsoft.com/office/drawing/2014/main" id="{3E488BB6-A0A9-45E3-A0C7-57FE55753DC9}"/>
              </a:ext>
            </a:extLst>
          </p:cNvPr>
          <p:cNvSpPr>
            <a:spLocks xmlns:a="http://schemas.openxmlformats.org/drawingml/2006/main" noGrp="1"/>
          </p:cNvSpPr>
          <p:nvPr/>
        </p:nvSpPr>
        <p:spPr>
          <a:xfrm xmlns:a="http://schemas.openxmlformats.org/drawingml/2006/main">
            <a:off x="666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5EEAD4"/>
            </a:solidFill>
            <a:prstDash val="solid"/>
          </a:ln>
        </p:spPr>
      </p:sp>
      <p:sp>
        <p:nvSpPr>
          <p:cNvPr id="8" name="arch-accent-0">
            <a:extLst xmlns:a="http://schemas.openxmlformats.org/drawingml/2006/main">
              <a:ext uri="{FF2B5EF4-FFF2-40B4-BE49-F238E27FC236}">
                <a16:creationId xmlns:a16="http://schemas.microsoft.com/office/drawing/2014/main" id="{B932DA89-6AB6-4618-AC4F-C5D5C9F6B4AA}"/>
              </a:ext>
            </a:extLst>
          </p:cNvPr>
          <p:cNvSpPr>
            <a:spLocks xmlns:a="http://schemas.openxmlformats.org/drawingml/2006/main" noGrp="1"/>
          </p:cNvSpPr>
          <p:nvPr/>
        </p:nvSpPr>
        <p:spPr>
          <a:xfrm xmlns:a="http://schemas.openxmlformats.org/drawingml/2006/main">
            <a:off x="857250" y="2514600"/>
            <a:ext cx="457200" cy="5715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E6DF31A-D9B9-4AA9-B6D8-A544E202922B}"/>
              </a:ext>
            </a:extLst>
          </p:cNvPr>
          <p:cNvSpPr>
            <a:spLocks xmlns:a="http://schemas.openxmlformats.org/drawingml/2006/main" noGrp="1"/>
          </p:cNvSpPr>
          <p:nvPr/>
        </p:nvSpPr>
        <p:spPr>
          <a:xfrm xmlns:a="http://schemas.openxmlformats.org/drawingml/2006/main">
            <a:off x="857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LOCAL AUDIO</a:t>
            </a:r>
          </a:p>
        </p:txBody>
      </p:sp>
      <p:sp>
        <p:nvSpPr>
          <p:cNvPr id="10" name="">
            <a:extLst xmlns:a="http://schemas.openxmlformats.org/drawingml/2006/main">
              <a:ext uri="{FF2B5EF4-FFF2-40B4-BE49-F238E27FC236}">
                <a16:creationId xmlns:a16="http://schemas.microsoft.com/office/drawing/2014/main" id="{DAAD68BC-F0CB-4689-9AD1-95AC11F85914}"/>
              </a:ext>
            </a:extLst>
          </p:cNvPr>
          <p:cNvSpPr>
            <a:spLocks xmlns:a="http://schemas.openxmlformats.org/drawingml/2006/main" noGrp="1"/>
          </p:cNvSpPr>
          <p:nvPr/>
        </p:nvSpPr>
        <p:spPr>
          <a:xfrm xmlns:a="http://schemas.openxmlformats.org/drawingml/2006/main">
            <a:off x="857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Mic → VAD → ASR</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TTS → speaker</a:t>
            </a:r>
          </a:p>
        </p:txBody>
      </p:sp>
      <p:sp>
        <p:nvSpPr>
          <p:cNvPr id="11" name="">
            <a:extLst xmlns:a="http://schemas.openxmlformats.org/drawingml/2006/main">
              <a:ext uri="{FF2B5EF4-FFF2-40B4-BE49-F238E27FC236}">
                <a16:creationId xmlns:a16="http://schemas.microsoft.com/office/drawing/2014/main" id="{4CA12E33-1D51-4449-ABAF-E219D63DEF7F}"/>
              </a:ext>
            </a:extLst>
          </p:cNvPr>
          <p:cNvSpPr>
            <a:spLocks xmlns:a="http://schemas.openxmlformats.org/drawingml/2006/main" noGrp="1"/>
          </p:cNvSpPr>
          <p:nvPr/>
        </p:nvSpPr>
        <p:spPr>
          <a:xfrm xmlns:a="http://schemas.openxmlformats.org/drawingml/2006/main">
            <a:off x="857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Pi / Windows</a:t>
            </a:r>
          </a:p>
        </p:txBody>
      </p:sp>
      <p:sp>
        <p:nvSpPr>
          <p:cNvPr id="12" name="arch-node-1">
            <a:extLst xmlns:a="http://schemas.openxmlformats.org/drawingml/2006/main">
              <a:ext uri="{FF2B5EF4-FFF2-40B4-BE49-F238E27FC236}">
                <a16:creationId xmlns:a16="http://schemas.microsoft.com/office/drawing/2014/main" id="{FA25A44D-8415-4A2B-A2D2-9FF8B24522B5}"/>
              </a:ext>
            </a:extLst>
          </p:cNvPr>
          <p:cNvSpPr>
            <a:spLocks xmlns:a="http://schemas.openxmlformats.org/drawingml/2006/main" noGrp="1"/>
          </p:cNvSpPr>
          <p:nvPr/>
        </p:nvSpPr>
        <p:spPr>
          <a:xfrm xmlns:a="http://schemas.openxmlformats.org/drawingml/2006/main">
            <a:off x="3714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60A5FA"/>
            </a:solidFill>
            <a:prstDash val="solid"/>
          </a:ln>
        </p:spPr>
      </p:sp>
      <p:sp>
        <p:nvSpPr>
          <p:cNvPr id="13" name="arch-accent-1">
            <a:extLst xmlns:a="http://schemas.openxmlformats.org/drawingml/2006/main">
              <a:ext uri="{FF2B5EF4-FFF2-40B4-BE49-F238E27FC236}">
                <a16:creationId xmlns:a16="http://schemas.microsoft.com/office/drawing/2014/main" id="{EFA4E550-F7DA-4032-9166-B7D87131E4F4}"/>
              </a:ext>
            </a:extLst>
          </p:cNvPr>
          <p:cNvSpPr>
            <a:spLocks xmlns:a="http://schemas.openxmlformats.org/drawingml/2006/main" noGrp="1"/>
          </p:cNvSpPr>
          <p:nvPr/>
        </p:nvSpPr>
        <p:spPr>
          <a:xfrm xmlns:a="http://schemas.openxmlformats.org/drawingml/2006/main">
            <a:off x="3905250" y="2514600"/>
            <a:ext cx="457200" cy="57150"/>
          </a:xfrm>
          <a:prstGeom xmlns:a="http://schemas.openxmlformats.org/drawingml/2006/main" prst="rect">
            <a:avLst/>
          </a:prstGeom>
          <a:solidFill xmlns:a="http://schemas.openxmlformats.org/drawingml/2006/main">
            <a:srgbClr val="60A5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B94A780-2620-4714-BC81-7DD45E7B7AC7}"/>
              </a:ext>
            </a:extLst>
          </p:cNvPr>
          <p:cNvSpPr>
            <a:spLocks xmlns:a="http://schemas.openxmlformats.org/drawingml/2006/main" noGrp="1"/>
          </p:cNvSpPr>
          <p:nvPr/>
        </p:nvSpPr>
        <p:spPr>
          <a:xfrm xmlns:a="http://schemas.openxmlformats.org/drawingml/2006/main">
            <a:off x="3905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QWEN BRAIN</a:t>
            </a:r>
          </a:p>
        </p:txBody>
      </p:sp>
      <p:sp>
        <p:nvSpPr>
          <p:cNvPr id="15" name="">
            <a:extLst xmlns:a="http://schemas.openxmlformats.org/drawingml/2006/main">
              <a:ext uri="{FF2B5EF4-FFF2-40B4-BE49-F238E27FC236}">
                <a16:creationId xmlns:a16="http://schemas.microsoft.com/office/drawing/2014/main" id="{D9F92995-BAB0-44D8-873D-9FF569D57952}"/>
              </a:ext>
            </a:extLst>
          </p:cNvPr>
          <p:cNvSpPr>
            <a:spLocks xmlns:a="http://schemas.openxmlformats.org/drawingml/2006/main" noGrp="1"/>
          </p:cNvSpPr>
          <p:nvPr/>
        </p:nvSpPr>
        <p:spPr>
          <a:xfrm xmlns:a="http://schemas.openxmlformats.org/drawingml/2006/main">
            <a:off x="3905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Chat completions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tool_choice = auto</a:t>
            </a:r>
          </a:p>
        </p:txBody>
      </p:sp>
      <p:sp>
        <p:nvSpPr>
          <p:cNvPr id="16" name="">
            <a:extLst xmlns:a="http://schemas.openxmlformats.org/drawingml/2006/main">
              <a:ext uri="{FF2B5EF4-FFF2-40B4-BE49-F238E27FC236}">
                <a16:creationId xmlns:a16="http://schemas.microsoft.com/office/drawing/2014/main" id="{A91516A0-9864-4ACC-BF73-725E9CE8A33C}"/>
              </a:ext>
            </a:extLst>
          </p:cNvPr>
          <p:cNvSpPr>
            <a:spLocks xmlns:a="http://schemas.openxmlformats.org/drawingml/2006/main" noGrp="1"/>
          </p:cNvSpPr>
          <p:nvPr/>
        </p:nvSpPr>
        <p:spPr>
          <a:xfrm xmlns:a="http://schemas.openxmlformats.org/drawingml/2006/main">
            <a:off x="3905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vLLM API</a:t>
            </a:r>
          </a:p>
        </p:txBody>
      </p:sp>
      <p:sp>
        <p:nvSpPr>
          <p:cNvPr id="17" name="arch-node-2">
            <a:extLst xmlns:a="http://schemas.openxmlformats.org/drawingml/2006/main">
              <a:ext uri="{FF2B5EF4-FFF2-40B4-BE49-F238E27FC236}">
                <a16:creationId xmlns:a16="http://schemas.microsoft.com/office/drawing/2014/main" id="{7BB704BC-48FA-4D6F-8139-61A42CAF5715}"/>
              </a:ext>
            </a:extLst>
          </p:cNvPr>
          <p:cNvSpPr>
            <a:spLocks xmlns:a="http://schemas.openxmlformats.org/drawingml/2006/main" noGrp="1"/>
          </p:cNvSpPr>
          <p:nvPr/>
        </p:nvSpPr>
        <p:spPr>
          <a:xfrm xmlns:a="http://schemas.openxmlformats.org/drawingml/2006/main">
            <a:off x="6762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FCD34D"/>
            </a:solidFill>
            <a:prstDash val="solid"/>
          </a:ln>
        </p:spPr>
      </p:sp>
      <p:sp>
        <p:nvSpPr>
          <p:cNvPr id="18" name="arch-accent-2">
            <a:extLst xmlns:a="http://schemas.openxmlformats.org/drawingml/2006/main">
              <a:ext uri="{FF2B5EF4-FFF2-40B4-BE49-F238E27FC236}">
                <a16:creationId xmlns:a16="http://schemas.microsoft.com/office/drawing/2014/main" id="{64651EC4-CDEC-46B3-9FB0-F3E5BB642C89}"/>
              </a:ext>
            </a:extLst>
          </p:cNvPr>
          <p:cNvSpPr>
            <a:spLocks xmlns:a="http://schemas.openxmlformats.org/drawingml/2006/main" noGrp="1"/>
          </p:cNvSpPr>
          <p:nvPr/>
        </p:nvSpPr>
        <p:spPr>
          <a:xfrm xmlns:a="http://schemas.openxmlformats.org/drawingml/2006/main">
            <a:off x="6953250" y="2514600"/>
            <a:ext cx="457200" cy="57150"/>
          </a:xfrm>
          <a:prstGeom xmlns:a="http://schemas.openxmlformats.org/drawingml/2006/main" prst="rect">
            <a:avLst/>
          </a:prstGeom>
          <a:solidFill xmlns:a="http://schemas.openxmlformats.org/drawingml/2006/main">
            <a:srgbClr val="FCD34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667B985-6E6E-45EC-AFA2-EC28337786A2}"/>
              </a:ext>
            </a:extLst>
          </p:cNvPr>
          <p:cNvSpPr>
            <a:spLocks xmlns:a="http://schemas.openxmlformats.org/drawingml/2006/main" noGrp="1"/>
          </p:cNvSpPr>
          <p:nvPr/>
        </p:nvSpPr>
        <p:spPr>
          <a:xfrm xmlns:a="http://schemas.openxmlformats.org/drawingml/2006/main">
            <a:off x="6953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TOOL REGISTRY</a:t>
            </a:r>
          </a:p>
        </p:txBody>
      </p:sp>
      <p:sp>
        <p:nvSpPr>
          <p:cNvPr id="20" name="">
            <a:extLst xmlns:a="http://schemas.openxmlformats.org/drawingml/2006/main">
              <a:ext uri="{FF2B5EF4-FFF2-40B4-BE49-F238E27FC236}">
                <a16:creationId xmlns:a16="http://schemas.microsoft.com/office/drawing/2014/main" id="{4BE6600D-6D4F-4CEB-8623-2B0AC82990ED}"/>
              </a:ext>
            </a:extLst>
          </p:cNvPr>
          <p:cNvSpPr>
            <a:spLocks xmlns:a="http://schemas.openxmlformats.org/drawingml/2006/main" noGrp="1"/>
          </p:cNvSpPr>
          <p:nvPr/>
        </p:nvSpPr>
        <p:spPr>
          <a:xfrm xmlns:a="http://schemas.openxmlformats.org/drawingml/2006/main">
            <a:off x="6953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Files • web • commands</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background tasks</a:t>
            </a:r>
          </a:p>
        </p:txBody>
      </p:sp>
      <p:sp>
        <p:nvSpPr>
          <p:cNvPr id="21" name="">
            <a:extLst xmlns:a="http://schemas.openxmlformats.org/drawingml/2006/main">
              <a:ext uri="{FF2B5EF4-FFF2-40B4-BE49-F238E27FC236}">
                <a16:creationId xmlns:a16="http://schemas.microsoft.com/office/drawing/2014/main" id="{A7FCCEEB-A7E8-49C2-896F-F0F34A986804}"/>
              </a:ext>
            </a:extLst>
          </p:cNvPr>
          <p:cNvSpPr>
            <a:spLocks xmlns:a="http://schemas.openxmlformats.org/drawingml/2006/main" noGrp="1"/>
          </p:cNvSpPr>
          <p:nvPr/>
        </p:nvSpPr>
        <p:spPr>
          <a:xfrm xmlns:a="http://schemas.openxmlformats.org/drawingml/2006/main">
            <a:off x="6953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ME3 policy</a:t>
            </a:r>
          </a:p>
        </p:txBody>
      </p:sp>
      <p:sp>
        <p:nvSpPr>
          <p:cNvPr id="22" name="arch-node-3">
            <a:extLst xmlns:a="http://schemas.openxmlformats.org/drawingml/2006/main">
              <a:ext uri="{FF2B5EF4-FFF2-40B4-BE49-F238E27FC236}">
                <a16:creationId xmlns:a16="http://schemas.microsoft.com/office/drawing/2014/main" id="{9B93AE2E-7CAB-4E55-9B09-68B83B67F8C3}"/>
              </a:ext>
            </a:extLst>
          </p:cNvPr>
          <p:cNvSpPr>
            <a:spLocks xmlns:a="http://schemas.openxmlformats.org/drawingml/2006/main" noGrp="1"/>
          </p:cNvSpPr>
          <p:nvPr/>
        </p:nvSpPr>
        <p:spPr>
          <a:xfrm xmlns:a="http://schemas.openxmlformats.org/drawingml/2006/main">
            <a:off x="9810750" y="2286000"/>
            <a:ext cx="1714500" cy="1809750"/>
          </a:xfrm>
          <a:prstGeom xmlns:a="http://schemas.openxmlformats.org/drawingml/2006/main" prst="roundRect">
            <a:avLst>
              <a:gd name="adj" fmla="val 6667"/>
            </a:avLst>
          </a:prstGeom>
          <a:solidFill xmlns:a="http://schemas.openxmlformats.org/drawingml/2006/main">
            <a:srgbClr val="14324A"/>
          </a:solidFill>
          <a:ln xmlns:a="http://schemas.openxmlformats.org/drawingml/2006/main" w="9525">
            <a:solidFill>
              <a:srgbClr val="A7F3D0"/>
            </a:solidFill>
            <a:prstDash val="solid"/>
          </a:ln>
        </p:spPr>
      </p:sp>
      <p:sp>
        <p:nvSpPr>
          <p:cNvPr id="23" name="arch-accent-3">
            <a:extLst xmlns:a="http://schemas.openxmlformats.org/drawingml/2006/main">
              <a:ext uri="{FF2B5EF4-FFF2-40B4-BE49-F238E27FC236}">
                <a16:creationId xmlns:a16="http://schemas.microsoft.com/office/drawing/2014/main" id="{4417CCC4-E414-47FF-8E0B-03981CBA0A65}"/>
              </a:ext>
            </a:extLst>
          </p:cNvPr>
          <p:cNvSpPr>
            <a:spLocks xmlns:a="http://schemas.openxmlformats.org/drawingml/2006/main" noGrp="1"/>
          </p:cNvSpPr>
          <p:nvPr/>
        </p:nvSpPr>
        <p:spPr>
          <a:xfrm xmlns:a="http://schemas.openxmlformats.org/drawingml/2006/main">
            <a:off x="10001250" y="2514600"/>
            <a:ext cx="457200" cy="57150"/>
          </a:xfrm>
          <a:prstGeom xmlns:a="http://schemas.openxmlformats.org/drawingml/2006/main" prst="rect">
            <a:avLst/>
          </a:prstGeom>
          <a:solidFill xmlns:a="http://schemas.openxmlformats.org/drawingml/2006/main">
            <a:srgbClr val="A7F3D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57FE129-6B7D-43B4-AE56-F5E2F53B3D2B}"/>
              </a:ext>
            </a:extLst>
          </p:cNvPr>
          <p:cNvSpPr>
            <a:spLocks xmlns:a="http://schemas.openxmlformats.org/drawingml/2006/main" noGrp="1"/>
          </p:cNvSpPr>
          <p:nvPr/>
        </p:nvSpPr>
        <p:spPr>
          <a:xfrm xmlns:a="http://schemas.openxmlformats.org/drawingml/2006/main">
            <a:off x="10001250" y="27432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EVIDENCE</a:t>
            </a:r>
          </a:p>
        </p:txBody>
      </p:sp>
      <p:sp>
        <p:nvSpPr>
          <p:cNvPr id="25" name="">
            <a:extLst xmlns:a="http://schemas.openxmlformats.org/drawingml/2006/main">
              <a:ext uri="{FF2B5EF4-FFF2-40B4-BE49-F238E27FC236}">
                <a16:creationId xmlns:a16="http://schemas.microsoft.com/office/drawing/2014/main" id="{710AFB85-C0D1-4107-B796-44BFF7986112}"/>
              </a:ext>
            </a:extLst>
          </p:cNvPr>
          <p:cNvSpPr>
            <a:spLocks xmlns:a="http://schemas.openxmlformats.org/drawingml/2006/main" noGrp="1"/>
          </p:cNvSpPr>
          <p:nvPr/>
        </p:nvSpPr>
        <p:spPr>
          <a:xfrm xmlns:a="http://schemas.openxmlformats.org/drawingml/2006/main">
            <a:off x="10001250" y="3143250"/>
            <a:ext cx="1371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F7FAFC"/>
                </a:solidFill>
                <a:latin typeface="Arial"/>
                <a:ea typeface="Arial"/>
                <a:cs typeface="Arial"/>
              </a:defRPr>
            </a:defPPr>
            <a:lvl1pPr>
              <a:defRPr sz="1275" b="1">
                <a:solidFill>
                  <a:srgbClr val="F7FAFC"/>
                </a:solidFill>
                <a:latin typeface="Arial"/>
                <a:ea typeface="Arial"/>
                <a:cs typeface="Arial"/>
              </a:defRPr>
            </a:lvl1pPr>
            <a:lvl2pPr>
              <a:defRPr sz="1275" b="1">
                <a:solidFill>
                  <a:srgbClr val="F7FAFC"/>
                </a:solidFill>
                <a:latin typeface="Arial"/>
                <a:ea typeface="Arial"/>
                <a:cs typeface="Arial"/>
              </a:defRPr>
            </a:lvl2pPr>
            <a:lvl3pPr>
              <a:defRPr sz="1275" b="1">
                <a:solidFill>
                  <a:srgbClr val="F7FAFC"/>
                </a:solidFill>
                <a:latin typeface="Arial"/>
                <a:ea typeface="Arial"/>
                <a:cs typeface="Arial"/>
              </a:defRPr>
            </a:lvl3pPr>
            <a:lvl4pPr>
              <a:defRPr sz="1275" b="1">
                <a:solidFill>
                  <a:srgbClr val="F7FAFC"/>
                </a:solidFill>
                <a:latin typeface="Arial"/>
                <a:ea typeface="Arial"/>
                <a:cs typeface="Arial"/>
              </a:defRPr>
            </a:lvl4pPr>
            <a:lvl5pPr>
              <a:defRPr sz="1275" b="1">
                <a:solidFill>
                  <a:srgbClr val="F7FAFC"/>
                </a:solidFill>
                <a:latin typeface="Arial"/>
                <a:ea typeface="Arial"/>
                <a:cs typeface="Arial"/>
              </a:defRPr>
            </a:lvl5pPr>
            <a:lvl6pPr>
              <a:defRPr sz="1275" b="1">
                <a:solidFill>
                  <a:srgbClr val="F7FAFC"/>
                </a:solidFill>
                <a:latin typeface="Arial"/>
                <a:ea typeface="Arial"/>
                <a:cs typeface="Arial"/>
              </a:defRPr>
            </a:lvl6pPr>
            <a:lvl7pPr>
              <a:defRPr sz="1275" b="1">
                <a:solidFill>
                  <a:srgbClr val="F7FAFC"/>
                </a:solidFill>
                <a:latin typeface="Arial"/>
                <a:ea typeface="Arial"/>
                <a:cs typeface="Arial"/>
              </a:defRPr>
            </a:lvl7pPr>
            <a:lvl8pPr>
              <a:defRPr sz="1275" b="1">
                <a:solidFill>
                  <a:srgbClr val="F7FAFC"/>
                </a:solidFill>
                <a:latin typeface="Arial"/>
                <a:ea typeface="Arial"/>
                <a:cs typeface="Arial"/>
              </a:defRPr>
            </a:lvl8pPr>
            <a:lvl9pPr>
              <a:defRPr sz="1275" b="1">
                <a:solidFill>
                  <a:srgbClr val="F7FAFC"/>
                </a:solidFill>
                <a:latin typeface="Arial"/>
                <a:ea typeface="Arial"/>
                <a:cs typeface="Arial"/>
              </a:defRPr>
            </a:lvl9pPr>
          </a:lstStyle>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Tool result →</a:t>
            </a:r>
          </a:p>
          <a:p xmlns:a="http://schemas.openxmlformats.org/drawingml/2006/main">
            <a:pPr>
              <a:defRPr sz="1275" b="1">
                <a:solidFill>
                  <a:srgbClr val="F7FAFC"/>
                </a:solidFill>
                <a:latin typeface="Arial"/>
                <a:ea typeface="Arial"/>
                <a:cs typeface="Arial"/>
              </a:defRPr>
            </a:pPr>
            <a:r>
              <a:rPr sz="1275" b="1">
                <a:solidFill>
                  <a:srgbClr val="F7FAFC"/>
                </a:solidFill>
                <a:latin typeface="Arial"/>
                <a:ea typeface="Arial"/>
                <a:cs typeface="Arial"/>
              </a:rPr>
              <a:t>spoken response</a:t>
            </a:r>
          </a:p>
        </p:txBody>
      </p:sp>
      <p:sp>
        <p:nvSpPr>
          <p:cNvPr id="26" name="">
            <a:extLst xmlns:a="http://schemas.openxmlformats.org/drawingml/2006/main">
              <a:ext uri="{FF2B5EF4-FFF2-40B4-BE49-F238E27FC236}">
                <a16:creationId xmlns:a16="http://schemas.microsoft.com/office/drawing/2014/main" id="{DA438EAA-0A19-4FCE-826B-A771D2927C84}"/>
              </a:ext>
            </a:extLst>
          </p:cNvPr>
          <p:cNvSpPr>
            <a:spLocks xmlns:a="http://schemas.openxmlformats.org/drawingml/2006/main" noGrp="1"/>
          </p:cNvSpPr>
          <p:nvPr/>
        </p:nvSpPr>
        <p:spPr>
          <a:xfrm xmlns:a="http://schemas.openxmlformats.org/drawingml/2006/main">
            <a:off x="10001250" y="3848100"/>
            <a:ext cx="1371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a:solidFill>
                  <a:srgbClr val="A8B8CA"/>
                </a:solidFill>
                <a:latin typeface="Arial"/>
                <a:ea typeface="Arial"/>
                <a:cs typeface="Arial"/>
              </a:defRPr>
            </a:defPPr>
            <a:lvl1pPr>
              <a:defRPr sz="975">
                <a:solidFill>
                  <a:srgbClr val="A8B8CA"/>
                </a:solidFill>
                <a:latin typeface="Arial"/>
                <a:ea typeface="Arial"/>
                <a:cs typeface="Arial"/>
              </a:defRPr>
            </a:lvl1pPr>
            <a:lvl2pPr>
              <a:defRPr sz="975">
                <a:solidFill>
                  <a:srgbClr val="A8B8CA"/>
                </a:solidFill>
                <a:latin typeface="Arial"/>
                <a:ea typeface="Arial"/>
                <a:cs typeface="Arial"/>
              </a:defRPr>
            </a:lvl2pPr>
            <a:lvl3pPr>
              <a:defRPr sz="975">
                <a:solidFill>
                  <a:srgbClr val="A8B8CA"/>
                </a:solidFill>
                <a:latin typeface="Arial"/>
                <a:ea typeface="Arial"/>
                <a:cs typeface="Arial"/>
              </a:defRPr>
            </a:lvl3pPr>
            <a:lvl4pPr>
              <a:defRPr sz="975">
                <a:solidFill>
                  <a:srgbClr val="A8B8CA"/>
                </a:solidFill>
                <a:latin typeface="Arial"/>
                <a:ea typeface="Arial"/>
                <a:cs typeface="Arial"/>
              </a:defRPr>
            </a:lvl4pPr>
            <a:lvl5pPr>
              <a:defRPr sz="975">
                <a:solidFill>
                  <a:srgbClr val="A8B8CA"/>
                </a:solidFill>
                <a:latin typeface="Arial"/>
                <a:ea typeface="Arial"/>
                <a:cs typeface="Arial"/>
              </a:defRPr>
            </a:lvl5pPr>
            <a:lvl6pPr>
              <a:defRPr sz="975">
                <a:solidFill>
                  <a:srgbClr val="A8B8CA"/>
                </a:solidFill>
                <a:latin typeface="Arial"/>
                <a:ea typeface="Arial"/>
                <a:cs typeface="Arial"/>
              </a:defRPr>
            </a:lvl6pPr>
            <a:lvl7pPr>
              <a:defRPr sz="975">
                <a:solidFill>
                  <a:srgbClr val="A8B8CA"/>
                </a:solidFill>
                <a:latin typeface="Arial"/>
                <a:ea typeface="Arial"/>
                <a:cs typeface="Arial"/>
              </a:defRPr>
            </a:lvl7pPr>
            <a:lvl8pPr>
              <a:defRPr sz="975">
                <a:solidFill>
                  <a:srgbClr val="A8B8CA"/>
                </a:solidFill>
                <a:latin typeface="Arial"/>
                <a:ea typeface="Arial"/>
                <a:cs typeface="Arial"/>
              </a:defRPr>
            </a:lvl8pPr>
            <a:lvl9pPr>
              <a:defRPr sz="975">
                <a:solidFill>
                  <a:srgbClr val="A8B8CA"/>
                </a:solidFill>
                <a:latin typeface="Arial"/>
                <a:ea typeface="Arial"/>
                <a:cs typeface="Arial"/>
              </a:defRPr>
            </a:lvl9pPr>
          </a:lstStyle>
          <a:p xmlns:a="http://schemas.openxmlformats.org/drawingml/2006/main">
            <a:pPr>
              <a:defRPr sz="975">
                <a:solidFill>
                  <a:srgbClr val="A8B8CA"/>
                </a:solidFill>
                <a:latin typeface="Arial"/>
                <a:ea typeface="Arial"/>
                <a:cs typeface="Arial"/>
              </a:defRPr>
            </a:pPr>
            <a:r>
              <a:rPr sz="975">
                <a:solidFill>
                  <a:srgbClr val="A8B8CA"/>
                </a:solidFill>
                <a:latin typeface="Arial"/>
                <a:ea typeface="Arial"/>
                <a:cs typeface="Arial"/>
              </a:rPr>
              <a:t>auditable</a:t>
            </a:r>
          </a:p>
        </p:txBody>
      </p:sp>
      <p:sp>
        <p:nvSpPr>
          <p:cNvPr id="27" name="arch-principle">
            <a:extLst xmlns:a="http://schemas.openxmlformats.org/drawingml/2006/main">
              <a:ext uri="{FF2B5EF4-FFF2-40B4-BE49-F238E27FC236}">
                <a16:creationId xmlns:a16="http://schemas.microsoft.com/office/drawing/2014/main" id="{55FB22F4-2885-48AF-A1E1-26087962C2FF}"/>
              </a:ext>
            </a:extLst>
          </p:cNvPr>
          <p:cNvSpPr>
            <a:spLocks xmlns:a="http://schemas.openxmlformats.org/drawingml/2006/main" noGrp="1"/>
          </p:cNvSpPr>
          <p:nvPr/>
        </p:nvSpPr>
        <p:spPr>
          <a:xfrm xmlns:a="http://schemas.openxmlformats.org/drawingml/2006/main">
            <a:off x="1619250" y="4762500"/>
            <a:ext cx="8953500" cy="685800"/>
          </a:xfrm>
          <a:prstGeom xmlns:a="http://schemas.openxmlformats.org/drawingml/2006/main" prst="roundRect">
            <a:avLst>
              <a:gd name="adj" fmla="val 16667"/>
            </a:avLst>
          </a:prstGeom>
          <a:solidFill xmlns:a="http://schemas.openxmlformats.org/drawingml/2006/main">
            <a:srgbClr val="102A4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9B5D3F3-7B67-478B-A558-753764A048A2}"/>
              </a:ext>
            </a:extLst>
          </p:cNvPr>
          <p:cNvSpPr>
            <a:spLocks xmlns:a="http://schemas.openxmlformats.org/drawingml/2006/main" noGrp="1"/>
          </p:cNvSpPr>
          <p:nvPr/>
        </p:nvSpPr>
        <p:spPr>
          <a:xfrm xmlns:a="http://schemas.openxmlformats.org/drawingml/2006/main">
            <a:off x="1952625" y="4953000"/>
            <a:ext cx="828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One bounded registry is shared by direct Qwen calls and MCP wrappers.</a:t>
            </a:r>
          </a:p>
        </p:txBody>
      </p:sp>
      <p:sp>
        <p:nvSpPr>
          <p:cNvPr id="29" name="">
            <a:extLst xmlns:a="http://schemas.openxmlformats.org/drawingml/2006/main">
              <a:ext uri="{FF2B5EF4-FFF2-40B4-BE49-F238E27FC236}">
                <a16:creationId xmlns:a16="http://schemas.microsoft.com/office/drawing/2014/main" id="{63E3A5B6-BAE9-4934-84FC-11FEE72A4714}"/>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3/7</a:t>
            </a:r>
          </a:p>
        </p:txBody>
      </p:sp>
    </p:spTree>
    <p:extLst>
      <p:ext uri="{BB962C8B-B14F-4D97-AF65-F5344CB8AC3E}">
        <p14:creationId xmlns:p14="http://schemas.microsoft.com/office/powerpoint/2010/main" val="1768254830"/>
      </p:ext>
    </p:extLst>
  </p:cSld>
</p:sld>
</file>

<file path=ppt/slides/slide4.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6FDBCC9-42DF-4426-8E5A-50716527DE49}"/>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TOOL CALL IN ACTION</a:t>
            </a:r>
          </a:p>
        </p:txBody>
      </p:sp>
      <p:sp>
        <p:nvSpPr>
          <p:cNvPr id="2" name="">
            <a:extLst xmlns:a="http://schemas.openxmlformats.org/drawingml/2006/main">
              <a:ext uri="{FF2B5EF4-FFF2-40B4-BE49-F238E27FC236}">
                <a16:creationId xmlns:a16="http://schemas.microsoft.com/office/drawing/2014/main" id="{84F7199B-44F1-46C5-9F68-5F7A41EB0428}"/>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“Build a web app” is an executable request</a:t>
            </a:r>
          </a:p>
        </p:txBody>
      </p:sp>
      <p:sp>
        <p:nvSpPr>
          <p:cNvPr id="3" name="">
            <a:extLst xmlns:a="http://schemas.openxmlformats.org/drawingml/2006/main">
              <a:ext uri="{FF2B5EF4-FFF2-40B4-BE49-F238E27FC236}">
                <a16:creationId xmlns:a16="http://schemas.microsoft.com/office/drawing/2014/main" id="{0FC5FEB2-EC42-4490-8B9B-32A53E6AADE7}"/>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The same loop can start from text; the voice path connects to the Pi audio pipeline.</a:t>
            </a:r>
          </a:p>
        </p:txBody>
      </p:sp>
      <p:sp>
        <p:nvSpPr>
          <p:cNvPr id="4" name="webapp-request">
            <a:extLst xmlns:a="http://schemas.openxmlformats.org/drawingml/2006/main">
              <a:ext uri="{FF2B5EF4-FFF2-40B4-BE49-F238E27FC236}">
                <a16:creationId xmlns:a16="http://schemas.microsoft.com/office/drawing/2014/main" id="{CCA59CFE-3C4B-4429-9810-A45723843AA3}"/>
              </a:ext>
            </a:extLst>
          </p:cNvPr>
          <p:cNvSpPr>
            <a:spLocks xmlns:a="http://schemas.openxmlformats.org/drawingml/2006/main" noGrp="1"/>
          </p:cNvSpPr>
          <p:nvPr/>
        </p:nvSpPr>
        <p:spPr>
          <a:xfrm xmlns:a="http://schemas.openxmlformats.org/drawingml/2006/main">
            <a:off x="666750" y="2095500"/>
            <a:ext cx="2762250" cy="2857500"/>
          </a:xfrm>
          <a:prstGeom xmlns:a="http://schemas.openxmlformats.org/drawingml/2006/main" prst="roundRect">
            <a:avLst>
              <a:gd name="adj" fmla="val 4138"/>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A0A4AA18-2984-479A-9E43-71ED392962B6}"/>
              </a:ext>
            </a:extLst>
          </p:cNvPr>
          <p:cNvSpPr>
            <a:spLocks xmlns:a="http://schemas.openxmlformats.org/drawingml/2006/main" noGrp="1"/>
          </p:cNvSpPr>
          <p:nvPr/>
        </p:nvSpPr>
        <p:spPr>
          <a:xfrm xmlns:a="http://schemas.openxmlformats.org/drawingml/2006/main">
            <a:off x="93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VOICE REQUEST</a:t>
            </a:r>
          </a:p>
        </p:txBody>
      </p:sp>
      <p:sp>
        <p:nvSpPr>
          <p:cNvPr id="6" name="">
            <a:extLst xmlns:a="http://schemas.openxmlformats.org/drawingml/2006/main">
              <a:ext uri="{FF2B5EF4-FFF2-40B4-BE49-F238E27FC236}">
                <a16:creationId xmlns:a16="http://schemas.microsoft.com/office/drawing/2014/main" id="{D4F23CA0-20A8-4206-AE29-8E95D3DADE8D}"/>
              </a:ext>
            </a:extLst>
          </p:cNvPr>
          <p:cNvSpPr>
            <a:spLocks xmlns:a="http://schemas.openxmlformats.org/drawingml/2006/main" noGrp="1"/>
          </p:cNvSpPr>
          <p:nvPr/>
        </p:nvSpPr>
        <p:spPr>
          <a:xfrm xmlns:a="http://schemas.openxmlformats.org/drawingml/2006/main">
            <a:off x="933450" y="2838450"/>
            <a:ext cx="2190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F7FAFC"/>
                </a:solidFill>
                <a:latin typeface="Arial"/>
                <a:ea typeface="Arial"/>
                <a:cs typeface="Arial"/>
              </a:defRPr>
            </a:defPPr>
            <a:lvl1pPr>
              <a:defRPr sz="2400" b="1">
                <a:solidFill>
                  <a:srgbClr val="F7FAFC"/>
                </a:solidFill>
                <a:latin typeface="Arial"/>
                <a:ea typeface="Arial"/>
                <a:cs typeface="Arial"/>
              </a:defRPr>
            </a:lvl1pPr>
            <a:lvl2pPr>
              <a:defRPr sz="2400" b="1">
                <a:solidFill>
                  <a:srgbClr val="F7FAFC"/>
                </a:solidFill>
                <a:latin typeface="Arial"/>
                <a:ea typeface="Arial"/>
                <a:cs typeface="Arial"/>
              </a:defRPr>
            </a:lvl2pPr>
            <a:lvl3pPr>
              <a:defRPr sz="2400" b="1">
                <a:solidFill>
                  <a:srgbClr val="F7FAFC"/>
                </a:solidFill>
                <a:latin typeface="Arial"/>
                <a:ea typeface="Arial"/>
                <a:cs typeface="Arial"/>
              </a:defRPr>
            </a:lvl3pPr>
            <a:lvl4pPr>
              <a:defRPr sz="2400" b="1">
                <a:solidFill>
                  <a:srgbClr val="F7FAFC"/>
                </a:solidFill>
                <a:latin typeface="Arial"/>
                <a:ea typeface="Arial"/>
                <a:cs typeface="Arial"/>
              </a:defRPr>
            </a:lvl4pPr>
            <a:lvl5pPr>
              <a:defRPr sz="2400" b="1">
                <a:solidFill>
                  <a:srgbClr val="F7FAFC"/>
                </a:solidFill>
                <a:latin typeface="Arial"/>
                <a:ea typeface="Arial"/>
                <a:cs typeface="Arial"/>
              </a:defRPr>
            </a:lvl5pPr>
            <a:lvl6pPr>
              <a:defRPr sz="2400" b="1">
                <a:solidFill>
                  <a:srgbClr val="F7FAFC"/>
                </a:solidFill>
                <a:latin typeface="Arial"/>
                <a:ea typeface="Arial"/>
                <a:cs typeface="Arial"/>
              </a:defRPr>
            </a:lvl6pPr>
            <a:lvl7pPr>
              <a:defRPr sz="2400" b="1">
                <a:solidFill>
                  <a:srgbClr val="F7FAFC"/>
                </a:solidFill>
                <a:latin typeface="Arial"/>
                <a:ea typeface="Arial"/>
                <a:cs typeface="Arial"/>
              </a:defRPr>
            </a:lvl7pPr>
            <a:lvl8pPr>
              <a:defRPr sz="2400" b="1">
                <a:solidFill>
                  <a:srgbClr val="F7FAFC"/>
                </a:solidFill>
                <a:latin typeface="Arial"/>
                <a:ea typeface="Arial"/>
                <a:cs typeface="Arial"/>
              </a:defRPr>
            </a:lvl8pPr>
            <a:lvl9pPr>
              <a:defRPr sz="2400" b="1">
                <a:solidFill>
                  <a:srgbClr val="F7FAFC"/>
                </a:solidFill>
                <a:latin typeface="Arial"/>
                <a:ea typeface="Arial"/>
                <a:cs typeface="Arial"/>
              </a:defRPr>
            </a:lvl9pPr>
          </a:lstStyle>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“Build a</a:t>
            </a:r>
          </a:p>
          <a:p xmlns:a="http://schemas.openxmlformats.org/drawingml/2006/main">
            <a:pPr>
              <a:defRPr sz="2400" b="1">
                <a:solidFill>
                  <a:srgbClr val="F7FAFC"/>
                </a:solidFill>
                <a:latin typeface="Arial"/>
                <a:ea typeface="Arial"/>
                <a:cs typeface="Arial"/>
              </a:defRPr>
            </a:pPr>
            <a:r>
              <a:rPr sz="2400" b="1">
                <a:solidFill>
                  <a:srgbClr val="F7FAFC"/>
                </a:solidFill>
                <a:latin typeface="Arial"/>
                <a:ea typeface="Arial"/>
                <a:cs typeface="Arial"/>
              </a:rPr>
              <a:t>web app.”</a:t>
            </a:r>
          </a:p>
        </p:txBody>
      </p:sp>
      <p:sp>
        <p:nvSpPr>
          <p:cNvPr id="7" name="">
            <a:extLst xmlns:a="http://schemas.openxmlformats.org/drawingml/2006/main">
              <a:ext uri="{FF2B5EF4-FFF2-40B4-BE49-F238E27FC236}">
                <a16:creationId xmlns:a16="http://schemas.microsoft.com/office/drawing/2014/main" id="{21F05089-4307-4178-BE7B-929B473924CA}"/>
              </a:ext>
            </a:extLst>
          </p:cNvPr>
          <p:cNvSpPr>
            <a:spLocks xmlns:a="http://schemas.openxmlformats.org/drawingml/2006/main" noGrp="1"/>
          </p:cNvSpPr>
          <p:nvPr/>
        </p:nvSpPr>
        <p:spPr>
          <a:xfrm xmlns:a="http://schemas.openxmlformats.org/drawingml/2006/main">
            <a:off x="933450" y="4095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a:solidFill>
                  <a:srgbClr val="A8B8CA"/>
                </a:solidFill>
                <a:latin typeface="Arial"/>
                <a:ea typeface="Arial"/>
                <a:cs typeface="Arial"/>
              </a:defRPr>
            </a:defPPr>
            <a:lvl1pPr>
              <a:defRPr sz="1275">
                <a:solidFill>
                  <a:srgbClr val="A8B8CA"/>
                </a:solidFill>
                <a:latin typeface="Arial"/>
                <a:ea typeface="Arial"/>
                <a:cs typeface="Arial"/>
              </a:defRPr>
            </a:lvl1pPr>
            <a:lvl2pPr>
              <a:defRPr sz="1275">
                <a:solidFill>
                  <a:srgbClr val="A8B8CA"/>
                </a:solidFill>
                <a:latin typeface="Arial"/>
                <a:ea typeface="Arial"/>
                <a:cs typeface="Arial"/>
              </a:defRPr>
            </a:lvl2pPr>
            <a:lvl3pPr>
              <a:defRPr sz="1275">
                <a:solidFill>
                  <a:srgbClr val="A8B8CA"/>
                </a:solidFill>
                <a:latin typeface="Arial"/>
                <a:ea typeface="Arial"/>
                <a:cs typeface="Arial"/>
              </a:defRPr>
            </a:lvl3pPr>
            <a:lvl4pPr>
              <a:defRPr sz="1275">
                <a:solidFill>
                  <a:srgbClr val="A8B8CA"/>
                </a:solidFill>
                <a:latin typeface="Arial"/>
                <a:ea typeface="Arial"/>
                <a:cs typeface="Arial"/>
              </a:defRPr>
            </a:lvl4pPr>
            <a:lvl5pPr>
              <a:defRPr sz="1275">
                <a:solidFill>
                  <a:srgbClr val="A8B8CA"/>
                </a:solidFill>
                <a:latin typeface="Arial"/>
                <a:ea typeface="Arial"/>
                <a:cs typeface="Arial"/>
              </a:defRPr>
            </a:lvl5pPr>
            <a:lvl6pPr>
              <a:defRPr sz="1275">
                <a:solidFill>
                  <a:srgbClr val="A8B8CA"/>
                </a:solidFill>
                <a:latin typeface="Arial"/>
                <a:ea typeface="Arial"/>
                <a:cs typeface="Arial"/>
              </a:defRPr>
            </a:lvl6pPr>
            <a:lvl7pPr>
              <a:defRPr sz="1275">
                <a:solidFill>
                  <a:srgbClr val="A8B8CA"/>
                </a:solidFill>
                <a:latin typeface="Arial"/>
                <a:ea typeface="Arial"/>
                <a:cs typeface="Arial"/>
              </a:defRPr>
            </a:lvl7pPr>
            <a:lvl8pPr>
              <a:defRPr sz="1275">
                <a:solidFill>
                  <a:srgbClr val="A8B8CA"/>
                </a:solidFill>
                <a:latin typeface="Arial"/>
                <a:ea typeface="Arial"/>
                <a:cs typeface="Arial"/>
              </a:defRPr>
            </a:lvl8pPr>
            <a:lvl9pPr>
              <a:defRPr sz="1275">
                <a:solidFill>
                  <a:srgbClr val="A8B8CA"/>
                </a:solidFill>
                <a:latin typeface="Arial"/>
                <a:ea typeface="Arial"/>
                <a:cs typeface="Arial"/>
              </a:defRPr>
            </a:lvl9pPr>
          </a:lstStyle>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Qwen turns intent</a:t>
            </a:r>
          </a:p>
          <a:p xmlns:a="http://schemas.openxmlformats.org/drawingml/2006/main">
            <a:pPr>
              <a:defRPr sz="1275">
                <a:solidFill>
                  <a:srgbClr val="A8B8CA"/>
                </a:solidFill>
                <a:latin typeface="Arial"/>
                <a:ea typeface="Arial"/>
                <a:cs typeface="Arial"/>
              </a:defRPr>
            </a:pPr>
            <a:r>
              <a:rPr sz="1275">
                <a:solidFill>
                  <a:srgbClr val="A8B8CA"/>
                </a:solidFill>
                <a:latin typeface="Arial"/>
                <a:ea typeface="Arial"/>
                <a:cs typeface="Arial"/>
              </a:rPr>
              <a:t>into tool calls.</a:t>
            </a:r>
          </a:p>
        </p:txBody>
      </p:sp>
      <p:cxnSp>
        <p:nvCxnSpPr>
          <p:cNvPr id="8" name="webapp-to-calls">
            <a:extLst xmlns:a="http://schemas.openxmlformats.org/drawingml/2006/main">
              <a:ext uri="{FF2B5EF4-FFF2-40B4-BE49-F238E27FC236}">
                <a16:creationId xmlns:a16="http://schemas.microsoft.com/office/drawing/2014/main" id="{D9F16F34-F88F-4D1C-9D63-EA2EB206EFC1}"/>
              </a:ext>
            </a:extLst>
          </p:cNvPr>
          <p:cNvCxnSpPr/>
          <p:nvPr/>
        </p:nvCxnSpPr>
        <p:spPr>
          <a:xfrm xmlns:a="http://schemas.openxmlformats.org/drawingml/2006/main">
            <a:off x="3429000" y="3486150"/>
            <a:ext cx="619125" cy="0"/>
          </a:xfrm>
          <a:prstGeom xmlns:a="http://schemas.openxmlformats.org/drawingml/2006/main" prst="straightConnector1">
            <a:avLst/>
          </a:prstGeom>
          <a:ln xmlns:a="http://schemas.openxmlformats.org/drawingml/2006/main" w="19050">
            <a:solidFill>
              <a:srgbClr val="5EEAD4"/>
            </a:solidFill>
            <a:prstDash val="solid"/>
            <a:tailEnd type="arrow" w="med" len="med"/>
          </a:ln>
        </p:spPr>
      </p:cxnSp>
      <p:sp>
        <p:nvSpPr>
          <p:cNvPr id="9" name="webapp-calls">
            <a:extLst xmlns:a="http://schemas.openxmlformats.org/drawingml/2006/main">
              <a:ext uri="{FF2B5EF4-FFF2-40B4-BE49-F238E27FC236}">
                <a16:creationId xmlns:a16="http://schemas.microsoft.com/office/drawing/2014/main" id="{F0E271C9-BA95-470F-85B9-73CD26442182}"/>
              </a:ext>
            </a:extLst>
          </p:cNvPr>
          <p:cNvSpPr>
            <a:spLocks xmlns:a="http://schemas.openxmlformats.org/drawingml/2006/main" noGrp="1"/>
          </p:cNvSpPr>
          <p:nvPr/>
        </p:nvSpPr>
        <p:spPr>
          <a:xfrm xmlns:a="http://schemas.openxmlformats.org/drawingml/2006/main">
            <a:off x="4191000" y="2095500"/>
            <a:ext cx="333375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60A5FA"/>
            </a:solidFill>
            <a:prstDash val="solid"/>
          </a:ln>
        </p:spPr>
      </p:sp>
      <p:sp>
        <p:nvSpPr>
          <p:cNvPr id="10" name="">
            <a:extLst xmlns:a="http://schemas.openxmlformats.org/drawingml/2006/main">
              <a:ext uri="{FF2B5EF4-FFF2-40B4-BE49-F238E27FC236}">
                <a16:creationId xmlns:a16="http://schemas.microsoft.com/office/drawing/2014/main" id="{CF541AE5-025E-46E1-A228-E6610C723AB3}"/>
              </a:ext>
            </a:extLst>
          </p:cNvPr>
          <p:cNvSpPr>
            <a:spLocks xmlns:a="http://schemas.openxmlformats.org/drawingml/2006/main" noGrp="1"/>
          </p:cNvSpPr>
          <p:nvPr/>
        </p:nvSpPr>
        <p:spPr>
          <a:xfrm xmlns:a="http://schemas.openxmlformats.org/drawingml/2006/main">
            <a:off x="445770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60A5FA"/>
                </a:solidFill>
                <a:latin typeface="Arial"/>
                <a:ea typeface="Arial"/>
                <a:cs typeface="Arial"/>
              </a:defRPr>
            </a:defPPr>
            <a:lvl1pPr>
              <a:defRPr sz="1050" b="1">
                <a:solidFill>
                  <a:srgbClr val="60A5FA"/>
                </a:solidFill>
                <a:latin typeface="Arial"/>
                <a:ea typeface="Arial"/>
                <a:cs typeface="Arial"/>
              </a:defRPr>
            </a:lvl1pPr>
            <a:lvl2pPr>
              <a:defRPr sz="1050" b="1">
                <a:solidFill>
                  <a:srgbClr val="60A5FA"/>
                </a:solidFill>
                <a:latin typeface="Arial"/>
                <a:ea typeface="Arial"/>
                <a:cs typeface="Arial"/>
              </a:defRPr>
            </a:lvl2pPr>
            <a:lvl3pPr>
              <a:defRPr sz="1050" b="1">
                <a:solidFill>
                  <a:srgbClr val="60A5FA"/>
                </a:solidFill>
                <a:latin typeface="Arial"/>
                <a:ea typeface="Arial"/>
                <a:cs typeface="Arial"/>
              </a:defRPr>
            </a:lvl3pPr>
            <a:lvl4pPr>
              <a:defRPr sz="1050" b="1">
                <a:solidFill>
                  <a:srgbClr val="60A5FA"/>
                </a:solidFill>
                <a:latin typeface="Arial"/>
                <a:ea typeface="Arial"/>
                <a:cs typeface="Arial"/>
              </a:defRPr>
            </a:lvl4pPr>
            <a:lvl5pPr>
              <a:defRPr sz="1050" b="1">
                <a:solidFill>
                  <a:srgbClr val="60A5FA"/>
                </a:solidFill>
                <a:latin typeface="Arial"/>
                <a:ea typeface="Arial"/>
                <a:cs typeface="Arial"/>
              </a:defRPr>
            </a:lvl5pPr>
            <a:lvl6pPr>
              <a:defRPr sz="1050" b="1">
                <a:solidFill>
                  <a:srgbClr val="60A5FA"/>
                </a:solidFill>
                <a:latin typeface="Arial"/>
                <a:ea typeface="Arial"/>
                <a:cs typeface="Arial"/>
              </a:defRPr>
            </a:lvl6pPr>
            <a:lvl7pPr>
              <a:defRPr sz="1050" b="1">
                <a:solidFill>
                  <a:srgbClr val="60A5FA"/>
                </a:solidFill>
                <a:latin typeface="Arial"/>
                <a:ea typeface="Arial"/>
                <a:cs typeface="Arial"/>
              </a:defRPr>
            </a:lvl7pPr>
            <a:lvl8pPr>
              <a:defRPr sz="1050" b="1">
                <a:solidFill>
                  <a:srgbClr val="60A5FA"/>
                </a:solidFill>
                <a:latin typeface="Arial"/>
                <a:ea typeface="Arial"/>
                <a:cs typeface="Arial"/>
              </a:defRPr>
            </a:lvl8pPr>
            <a:lvl9pPr>
              <a:defRPr sz="1050" b="1">
                <a:solidFill>
                  <a:srgbClr val="60A5FA"/>
                </a:solidFill>
                <a:latin typeface="Arial"/>
                <a:ea typeface="Arial"/>
                <a:cs typeface="Arial"/>
              </a:defRPr>
            </a:lvl9pPr>
          </a:lstStyle>
          <a:p xmlns:a="http://schemas.openxmlformats.org/drawingml/2006/main">
            <a:pPr>
              <a:defRPr sz="1050" b="1">
                <a:solidFill>
                  <a:srgbClr val="60A5FA"/>
                </a:solidFill>
                <a:latin typeface="Arial"/>
                <a:ea typeface="Arial"/>
                <a:cs typeface="Arial"/>
              </a:defRPr>
            </a:pPr>
            <a:r>
              <a:rPr sz="1050" b="1">
                <a:solidFill>
                  <a:srgbClr val="60A5FA"/>
                </a:solidFill>
                <a:latin typeface="Arial"/>
                <a:ea typeface="Arial"/>
                <a:cs typeface="Arial"/>
              </a:rPr>
              <a:t>TOOL LOOP</a:t>
            </a:r>
          </a:p>
        </p:txBody>
      </p:sp>
      <p:sp>
        <p:nvSpPr>
          <p:cNvPr id="11" name="">
            <a:extLst xmlns:a="http://schemas.openxmlformats.org/drawingml/2006/main">
              <a:ext uri="{FF2B5EF4-FFF2-40B4-BE49-F238E27FC236}">
                <a16:creationId xmlns:a16="http://schemas.microsoft.com/office/drawing/2014/main" id="{FFBF8CE6-05D3-4055-AD49-B2495091CD4A}"/>
              </a:ext>
            </a:extLst>
          </p:cNvPr>
          <p:cNvSpPr>
            <a:spLocks xmlns:a="http://schemas.openxmlformats.org/drawingml/2006/main" noGrp="1"/>
          </p:cNvSpPr>
          <p:nvPr/>
        </p:nvSpPr>
        <p:spPr>
          <a:xfrm xmlns:a="http://schemas.openxmlformats.org/drawingml/2006/main">
            <a:off x="4457700" y="2857500"/>
            <a:ext cx="247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F7FAFC"/>
                </a:solidFill>
                <a:latin typeface="Arial"/>
                <a:ea typeface="Arial"/>
                <a:cs typeface="Arial"/>
              </a:defRPr>
            </a:defPPr>
            <a:lvl1pPr>
              <a:defRPr sz="1800" b="1">
                <a:solidFill>
                  <a:srgbClr val="F7FAFC"/>
                </a:solidFill>
                <a:latin typeface="Arial"/>
                <a:ea typeface="Arial"/>
                <a:cs typeface="Arial"/>
              </a:defRPr>
            </a:lvl1pPr>
            <a:lvl2pPr>
              <a:defRPr sz="1800" b="1">
                <a:solidFill>
                  <a:srgbClr val="F7FAFC"/>
                </a:solidFill>
                <a:latin typeface="Arial"/>
                <a:ea typeface="Arial"/>
                <a:cs typeface="Arial"/>
              </a:defRPr>
            </a:lvl2pPr>
            <a:lvl3pPr>
              <a:defRPr sz="1800" b="1">
                <a:solidFill>
                  <a:srgbClr val="F7FAFC"/>
                </a:solidFill>
                <a:latin typeface="Arial"/>
                <a:ea typeface="Arial"/>
                <a:cs typeface="Arial"/>
              </a:defRPr>
            </a:lvl3pPr>
            <a:lvl4pPr>
              <a:defRPr sz="1800" b="1">
                <a:solidFill>
                  <a:srgbClr val="F7FAFC"/>
                </a:solidFill>
                <a:latin typeface="Arial"/>
                <a:ea typeface="Arial"/>
                <a:cs typeface="Arial"/>
              </a:defRPr>
            </a:lvl4pPr>
            <a:lvl5pPr>
              <a:defRPr sz="1800" b="1">
                <a:solidFill>
                  <a:srgbClr val="F7FAFC"/>
                </a:solidFill>
                <a:latin typeface="Arial"/>
                <a:ea typeface="Arial"/>
                <a:cs typeface="Arial"/>
              </a:defRPr>
            </a:lvl5pPr>
            <a:lvl6pPr>
              <a:defRPr sz="1800" b="1">
                <a:solidFill>
                  <a:srgbClr val="F7FAFC"/>
                </a:solidFill>
                <a:latin typeface="Arial"/>
                <a:ea typeface="Arial"/>
                <a:cs typeface="Arial"/>
              </a:defRPr>
            </a:lvl6pPr>
            <a:lvl7pPr>
              <a:defRPr sz="1800" b="1">
                <a:solidFill>
                  <a:srgbClr val="F7FAFC"/>
                </a:solidFill>
                <a:latin typeface="Arial"/>
                <a:ea typeface="Arial"/>
                <a:cs typeface="Arial"/>
              </a:defRPr>
            </a:lvl7pPr>
            <a:lvl8pPr>
              <a:defRPr sz="1800" b="1">
                <a:solidFill>
                  <a:srgbClr val="F7FAFC"/>
                </a:solidFill>
                <a:latin typeface="Arial"/>
                <a:ea typeface="Arial"/>
                <a:cs typeface="Arial"/>
              </a:defRPr>
            </a:lvl8pPr>
            <a:lvl9pPr>
              <a:defRPr sz="1800" b="1">
                <a:solidFill>
                  <a:srgbClr val="F7FAFC"/>
                </a:solidFill>
                <a:latin typeface="Arial"/>
                <a:ea typeface="Arial"/>
                <a:cs typeface="Arial"/>
              </a:defRPr>
            </a:lvl9pPr>
          </a:lstStyle>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list_files</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write_file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read_file</a:t>
            </a:r>
          </a:p>
          <a:p xmlns:a="http://schemas.openxmlformats.org/drawingml/2006/main">
            <a:pPr>
              <a:defRPr sz="1800" b="1">
                <a:solidFill>
                  <a:srgbClr val="F7FAFC"/>
                </a:solidFill>
                <a:latin typeface="Arial"/>
                <a:ea typeface="Arial"/>
                <a:cs typeface="Arial"/>
              </a:defRPr>
            </a:pPr>
            <a:r>
              <a:rPr sz="1800" b="1">
                <a:solidFill>
                  <a:srgbClr val="F7FAFC"/>
                </a:solidFill>
                <a:latin typeface="Arial"/>
                <a:ea typeface="Arial"/>
                <a:cs typeface="Arial"/>
              </a:rPr>
              <a:t>run_command</a:t>
            </a:r>
          </a:p>
        </p:txBody>
      </p:sp>
      <p:sp>
        <p:nvSpPr>
          <p:cNvPr id="12" name="">
            <a:extLst xmlns:a="http://schemas.openxmlformats.org/drawingml/2006/main">
              <a:ext uri="{FF2B5EF4-FFF2-40B4-BE49-F238E27FC236}">
                <a16:creationId xmlns:a16="http://schemas.microsoft.com/office/drawing/2014/main" id="{CC246336-7AC2-453B-8956-10A55D714C48}"/>
              </a:ext>
            </a:extLst>
          </p:cNvPr>
          <p:cNvSpPr>
            <a:spLocks xmlns:a="http://schemas.openxmlformats.org/drawingml/2006/main" noGrp="1"/>
          </p:cNvSpPr>
          <p:nvPr/>
        </p:nvSpPr>
        <p:spPr>
          <a:xfrm xmlns:a="http://schemas.openxmlformats.org/drawingml/2006/main">
            <a:off x="4457700" y="44386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Each call returns JSON evidence.</a:t>
            </a:r>
          </a:p>
        </p:txBody>
      </p:sp>
      <p:cxnSp>
        <p:nvCxnSpPr>
          <p:cNvPr id="13" name="calls-to-files">
            <a:extLst xmlns:a="http://schemas.openxmlformats.org/drawingml/2006/main">
              <a:ext uri="{FF2B5EF4-FFF2-40B4-BE49-F238E27FC236}">
                <a16:creationId xmlns:a16="http://schemas.microsoft.com/office/drawing/2014/main" id="{FA7054B4-ABD5-4BCF-A62F-335964306C49}"/>
              </a:ext>
            </a:extLst>
          </p:cNvPr>
          <p:cNvCxnSpPr/>
          <p:nvPr/>
        </p:nvCxnSpPr>
        <p:spPr>
          <a:xfrm xmlns:a="http://schemas.openxmlformats.org/drawingml/2006/main">
            <a:off x="7524750" y="3486150"/>
            <a:ext cx="619125" cy="0"/>
          </a:xfrm>
          <a:prstGeom xmlns:a="http://schemas.openxmlformats.org/drawingml/2006/main" prst="straightConnector1">
            <a:avLst/>
          </a:prstGeom>
          <a:ln xmlns:a="http://schemas.openxmlformats.org/drawingml/2006/main" w="19050">
            <a:solidFill>
              <a:srgbClr val="60A5FA"/>
            </a:solidFill>
            <a:prstDash val="solid"/>
            <a:tailEnd type="arrow" w="med" len="med"/>
          </a:ln>
        </p:spPr>
      </p:cxnSp>
      <p:sp>
        <p:nvSpPr>
          <p:cNvPr id="14" name="webapp-result">
            <a:extLst xmlns:a="http://schemas.openxmlformats.org/drawingml/2006/main">
              <a:ext uri="{FF2B5EF4-FFF2-40B4-BE49-F238E27FC236}">
                <a16:creationId xmlns:a16="http://schemas.microsoft.com/office/drawing/2014/main" id="{2CE7DCA6-DF5D-4DEE-8066-3D730379215D}"/>
              </a:ext>
            </a:extLst>
          </p:cNvPr>
          <p:cNvSpPr>
            <a:spLocks xmlns:a="http://schemas.openxmlformats.org/drawingml/2006/main" noGrp="1"/>
          </p:cNvSpPr>
          <p:nvPr/>
        </p:nvSpPr>
        <p:spPr>
          <a:xfrm xmlns:a="http://schemas.openxmlformats.org/drawingml/2006/main">
            <a:off x="8286750" y="2095500"/>
            <a:ext cx="3238500" cy="2857500"/>
          </a:xfrm>
          <a:prstGeom xmlns:a="http://schemas.openxmlformats.org/drawingml/2006/main" prst="roundRect">
            <a:avLst>
              <a:gd name="adj" fmla="val 4000"/>
            </a:avLst>
          </a:prstGeom>
          <a:solidFill xmlns:a="http://schemas.openxmlformats.org/drawingml/2006/main">
            <a:srgbClr val="14324A"/>
          </a:solidFill>
          <a:ln xmlns:a="http://schemas.openxmlformats.org/drawingml/2006/main" w="9525">
            <a:solidFill>
              <a:srgbClr val="A7F3D0"/>
            </a:solidFill>
            <a:prstDash val="solid"/>
          </a:ln>
        </p:spPr>
      </p:sp>
      <p:sp>
        <p:nvSpPr>
          <p:cNvPr id="15" name="">
            <a:extLst xmlns:a="http://schemas.openxmlformats.org/drawingml/2006/main">
              <a:ext uri="{FF2B5EF4-FFF2-40B4-BE49-F238E27FC236}">
                <a16:creationId xmlns:a16="http://schemas.microsoft.com/office/drawing/2014/main" id="{AA1627A3-BCCA-4DC5-B7AC-3EDFBC9355D9}"/>
              </a:ext>
            </a:extLst>
          </p:cNvPr>
          <p:cNvSpPr>
            <a:spLocks xmlns:a="http://schemas.openxmlformats.org/drawingml/2006/main" noGrp="1"/>
          </p:cNvSpPr>
          <p:nvPr/>
        </p:nvSpPr>
        <p:spPr>
          <a:xfrm xmlns:a="http://schemas.openxmlformats.org/drawingml/2006/main">
            <a:off x="8553450" y="2362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PROJECT RESULT</a:t>
            </a:r>
          </a:p>
        </p:txBody>
      </p:sp>
      <p:sp>
        <p:nvSpPr>
          <p:cNvPr id="16" name="">
            <a:extLst xmlns:a="http://schemas.openxmlformats.org/drawingml/2006/main">
              <a:ext uri="{FF2B5EF4-FFF2-40B4-BE49-F238E27FC236}">
                <a16:creationId xmlns:a16="http://schemas.microsoft.com/office/drawing/2014/main" id="{65CF4743-CF5C-483E-8779-DDC76E07B48D}"/>
              </a:ext>
            </a:extLst>
          </p:cNvPr>
          <p:cNvSpPr>
            <a:spLocks xmlns:a="http://schemas.openxmlformats.org/drawingml/2006/main" noGrp="1"/>
          </p:cNvSpPr>
          <p:nvPr/>
        </p:nvSpPr>
        <p:spPr>
          <a:xfrm xmlns:a="http://schemas.openxmlformats.org/drawingml/2006/main">
            <a:off x="8553450" y="2819400"/>
            <a:ext cx="2571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F7FAFC"/>
                </a:solidFill>
                <a:latin typeface="Arial"/>
                <a:ea typeface="Arial"/>
                <a:cs typeface="Arial"/>
              </a:defRPr>
            </a:defPPr>
            <a:lvl1pPr>
              <a:defRPr sz="1575" b="1">
                <a:solidFill>
                  <a:srgbClr val="F7FAFC"/>
                </a:solidFill>
                <a:latin typeface="Arial"/>
                <a:ea typeface="Arial"/>
                <a:cs typeface="Arial"/>
              </a:defRPr>
            </a:lvl1pPr>
            <a:lvl2pPr>
              <a:defRPr sz="1575" b="1">
                <a:solidFill>
                  <a:srgbClr val="F7FAFC"/>
                </a:solidFill>
                <a:latin typeface="Arial"/>
                <a:ea typeface="Arial"/>
                <a:cs typeface="Arial"/>
              </a:defRPr>
            </a:lvl2pPr>
            <a:lvl3pPr>
              <a:defRPr sz="1575" b="1">
                <a:solidFill>
                  <a:srgbClr val="F7FAFC"/>
                </a:solidFill>
                <a:latin typeface="Arial"/>
                <a:ea typeface="Arial"/>
                <a:cs typeface="Arial"/>
              </a:defRPr>
            </a:lvl3pPr>
            <a:lvl4pPr>
              <a:defRPr sz="1575" b="1">
                <a:solidFill>
                  <a:srgbClr val="F7FAFC"/>
                </a:solidFill>
                <a:latin typeface="Arial"/>
                <a:ea typeface="Arial"/>
                <a:cs typeface="Arial"/>
              </a:defRPr>
            </a:lvl4pPr>
            <a:lvl5pPr>
              <a:defRPr sz="1575" b="1">
                <a:solidFill>
                  <a:srgbClr val="F7FAFC"/>
                </a:solidFill>
                <a:latin typeface="Arial"/>
                <a:ea typeface="Arial"/>
                <a:cs typeface="Arial"/>
              </a:defRPr>
            </a:lvl5pPr>
            <a:lvl6pPr>
              <a:defRPr sz="1575" b="1">
                <a:solidFill>
                  <a:srgbClr val="F7FAFC"/>
                </a:solidFill>
                <a:latin typeface="Arial"/>
                <a:ea typeface="Arial"/>
                <a:cs typeface="Arial"/>
              </a:defRPr>
            </a:lvl6pPr>
            <a:lvl7pPr>
              <a:defRPr sz="1575" b="1">
                <a:solidFill>
                  <a:srgbClr val="F7FAFC"/>
                </a:solidFill>
                <a:latin typeface="Arial"/>
                <a:ea typeface="Arial"/>
                <a:cs typeface="Arial"/>
              </a:defRPr>
            </a:lvl7pPr>
            <a:lvl8pPr>
              <a:defRPr sz="1575" b="1">
                <a:solidFill>
                  <a:srgbClr val="F7FAFC"/>
                </a:solidFill>
                <a:latin typeface="Arial"/>
                <a:ea typeface="Arial"/>
                <a:cs typeface="Arial"/>
              </a:defRPr>
            </a:lvl8pPr>
            <a:lvl9pPr>
              <a:defRPr sz="1575" b="1">
                <a:solidFill>
                  <a:srgbClr val="F7FAFC"/>
                </a:solidFill>
                <a:latin typeface="Arial"/>
                <a:ea typeface="Arial"/>
                <a:cs typeface="Arial"/>
              </a:defRPr>
            </a:lvl9pPr>
          </a:lstStyle>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agent_workspace/</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voice_webapp/</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index.html</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styles.css</a:t>
            </a:r>
          </a:p>
          <a:p xmlns:a="http://schemas.openxmlformats.org/drawingml/2006/main">
            <a:pPr>
              <a:defRPr sz="1575" b="1">
                <a:solidFill>
                  <a:srgbClr val="F7FAFC"/>
                </a:solidFill>
                <a:latin typeface="Arial"/>
                <a:ea typeface="Arial"/>
                <a:cs typeface="Arial"/>
              </a:defRPr>
            </a:pPr>
            <a:r>
              <a:rPr sz="1575" b="1">
                <a:solidFill>
                  <a:srgbClr val="F7FAFC"/>
                </a:solidFill>
                <a:latin typeface="Arial"/>
                <a:ea typeface="Arial"/>
                <a:cs typeface="Arial"/>
              </a:rPr>
              <a:t>    app.js</a:t>
            </a:r>
          </a:p>
        </p:txBody>
      </p:sp>
      <p:sp>
        <p:nvSpPr>
          <p:cNvPr id="17" name="">
            <a:extLst xmlns:a="http://schemas.openxmlformats.org/drawingml/2006/main">
              <a:ext uri="{FF2B5EF4-FFF2-40B4-BE49-F238E27FC236}">
                <a16:creationId xmlns:a16="http://schemas.microsoft.com/office/drawing/2014/main" id="{567EDB0B-99F1-41C4-A495-BF1910A5895D}"/>
              </a:ext>
            </a:extLst>
          </p:cNvPr>
          <p:cNvSpPr>
            <a:spLocks xmlns:a="http://schemas.openxmlformats.org/drawingml/2006/main" noGrp="1"/>
          </p:cNvSpPr>
          <p:nvPr/>
        </p:nvSpPr>
        <p:spPr>
          <a:xfrm xmlns:a="http://schemas.openxmlformats.org/drawingml/2006/main">
            <a:off x="8553450" y="44577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Verified by a later list + read pass.</a:t>
            </a:r>
          </a:p>
        </p:txBody>
      </p:sp>
      <p:sp>
        <p:nvSpPr>
          <p:cNvPr id="18" name="">
            <a:extLst xmlns:a="http://schemas.openxmlformats.org/drawingml/2006/main">
              <a:ext uri="{FF2B5EF4-FFF2-40B4-BE49-F238E27FC236}">
                <a16:creationId xmlns:a16="http://schemas.microsoft.com/office/drawing/2014/main" id="{C6FD926E-11DB-4B45-8570-38DA72EB2592}"/>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4/7</a:t>
            </a:r>
          </a:p>
        </p:txBody>
      </p:sp>
    </p:spTree>
    <p:extLst>
      <p:ext uri="{BB962C8B-B14F-4D97-AF65-F5344CB8AC3E}">
        <p14:creationId xmlns:p14="http://schemas.microsoft.com/office/powerpoint/2010/main" val="1992949285"/>
      </p:ext>
    </p:extLst>
  </p:cSld>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8BE2F77-9F48-405A-9BBD-AE77F6708729}"/>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CAPABILITY BOUNDARY</a:t>
            </a:r>
          </a:p>
        </p:txBody>
      </p:sp>
      <p:sp>
        <p:nvSpPr>
          <p:cNvPr id="2" name="">
            <a:extLst xmlns:a="http://schemas.openxmlformats.org/drawingml/2006/main">
              <a:ext uri="{FF2B5EF4-FFF2-40B4-BE49-F238E27FC236}">
                <a16:creationId xmlns:a16="http://schemas.microsoft.com/office/drawing/2014/main" id="{025A38A0-F313-4B3C-A5B0-DE50D452404A}"/>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Onit-like usefulness through typed, reviewable tools</a:t>
            </a:r>
          </a:p>
        </p:txBody>
      </p:sp>
      <p:sp>
        <p:nvSpPr>
          <p:cNvPr id="3" name="">
            <a:extLst xmlns:a="http://schemas.openxmlformats.org/drawingml/2006/main">
              <a:ext uri="{FF2B5EF4-FFF2-40B4-BE49-F238E27FC236}">
                <a16:creationId xmlns:a16="http://schemas.microsoft.com/office/drawing/2014/main" id="{84A6EDC1-1561-4E57-BB32-9CAEC37D1BD8}"/>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Broad task coverage, with a safer default surface for an always-listening device.</a:t>
            </a:r>
          </a:p>
        </p:txBody>
      </p:sp>
      <p:sp>
        <p:nvSpPr>
          <p:cNvPr id="4" name="cap-left-0">
            <a:extLst xmlns:a="http://schemas.openxmlformats.org/drawingml/2006/main">
              <a:ext uri="{FF2B5EF4-FFF2-40B4-BE49-F238E27FC236}">
                <a16:creationId xmlns:a16="http://schemas.microsoft.com/office/drawing/2014/main" id="{7578CE02-6C37-4A3C-99D0-B9AC9979B45A}"/>
              </a:ext>
            </a:extLst>
          </p:cNvPr>
          <p:cNvSpPr>
            <a:spLocks xmlns:a="http://schemas.openxmlformats.org/drawingml/2006/main" noGrp="1"/>
          </p:cNvSpPr>
          <p:nvPr/>
        </p:nvSpPr>
        <p:spPr>
          <a:xfrm xmlns:a="http://schemas.openxmlformats.org/drawingml/2006/main">
            <a:off x="762000" y="20383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5EEAD4"/>
            </a:solidFill>
            <a:prstDash val="solid"/>
          </a:ln>
        </p:spPr>
      </p:sp>
      <p:sp>
        <p:nvSpPr>
          <p:cNvPr id="5" name="">
            <a:extLst xmlns:a="http://schemas.openxmlformats.org/drawingml/2006/main">
              <a:ext uri="{FF2B5EF4-FFF2-40B4-BE49-F238E27FC236}">
                <a16:creationId xmlns:a16="http://schemas.microsoft.com/office/drawing/2014/main" id="{F26EE632-1094-4AAF-82F0-CF254E396DC3}"/>
              </a:ext>
            </a:extLst>
          </p:cNvPr>
          <p:cNvSpPr>
            <a:spLocks xmlns:a="http://schemas.openxmlformats.org/drawingml/2006/main" noGrp="1"/>
          </p:cNvSpPr>
          <p:nvPr/>
        </p:nvSpPr>
        <p:spPr>
          <a:xfrm xmlns:a="http://schemas.openxmlformats.org/drawingml/2006/main">
            <a:off x="971550" y="21336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5EEAD4"/>
                </a:solidFill>
                <a:latin typeface="Arial"/>
                <a:ea typeface="Arial"/>
                <a:cs typeface="Arial"/>
              </a:defRPr>
            </a:defPPr>
            <a:lvl1pPr>
              <a:defRPr sz="1350" b="1">
                <a:solidFill>
                  <a:srgbClr val="5EEAD4"/>
                </a:solidFill>
                <a:latin typeface="Arial"/>
                <a:ea typeface="Arial"/>
                <a:cs typeface="Arial"/>
              </a:defRPr>
            </a:lvl1pPr>
            <a:lvl2pPr>
              <a:defRPr sz="1350" b="1">
                <a:solidFill>
                  <a:srgbClr val="5EEAD4"/>
                </a:solidFill>
                <a:latin typeface="Arial"/>
                <a:ea typeface="Arial"/>
                <a:cs typeface="Arial"/>
              </a:defRPr>
            </a:lvl2pPr>
            <a:lvl3pPr>
              <a:defRPr sz="1350" b="1">
                <a:solidFill>
                  <a:srgbClr val="5EEAD4"/>
                </a:solidFill>
                <a:latin typeface="Arial"/>
                <a:ea typeface="Arial"/>
                <a:cs typeface="Arial"/>
              </a:defRPr>
            </a:lvl3pPr>
            <a:lvl4pPr>
              <a:defRPr sz="1350" b="1">
                <a:solidFill>
                  <a:srgbClr val="5EEAD4"/>
                </a:solidFill>
                <a:latin typeface="Arial"/>
                <a:ea typeface="Arial"/>
                <a:cs typeface="Arial"/>
              </a:defRPr>
            </a:lvl4pPr>
            <a:lvl5pPr>
              <a:defRPr sz="1350" b="1">
                <a:solidFill>
                  <a:srgbClr val="5EEAD4"/>
                </a:solidFill>
                <a:latin typeface="Arial"/>
                <a:ea typeface="Arial"/>
                <a:cs typeface="Arial"/>
              </a:defRPr>
            </a:lvl5pPr>
            <a:lvl6pPr>
              <a:defRPr sz="1350" b="1">
                <a:solidFill>
                  <a:srgbClr val="5EEAD4"/>
                </a:solidFill>
                <a:latin typeface="Arial"/>
                <a:ea typeface="Arial"/>
                <a:cs typeface="Arial"/>
              </a:defRPr>
            </a:lvl6pPr>
            <a:lvl7pPr>
              <a:defRPr sz="1350" b="1">
                <a:solidFill>
                  <a:srgbClr val="5EEAD4"/>
                </a:solidFill>
                <a:latin typeface="Arial"/>
                <a:ea typeface="Arial"/>
                <a:cs typeface="Arial"/>
              </a:defRPr>
            </a:lvl7pPr>
            <a:lvl8pPr>
              <a:defRPr sz="1350" b="1">
                <a:solidFill>
                  <a:srgbClr val="5EEAD4"/>
                </a:solidFill>
                <a:latin typeface="Arial"/>
                <a:ea typeface="Arial"/>
                <a:cs typeface="Arial"/>
              </a:defRPr>
            </a:lvl8pPr>
            <a:lvl9pPr>
              <a:defRPr sz="1350" b="1">
                <a:solidFill>
                  <a:srgbClr val="5EEAD4"/>
                </a:solidFill>
                <a:latin typeface="Arial"/>
                <a:ea typeface="Arial"/>
                <a:cs typeface="Arial"/>
              </a:defRPr>
            </a:lvl9pPr>
          </a:lstStyle>
          <a:p xmlns:a="http://schemas.openxmlformats.org/drawingml/2006/main">
            <a:pPr>
              <a:defRPr sz="1350" b="1">
                <a:solidFill>
                  <a:srgbClr val="5EEAD4"/>
                </a:solidFill>
                <a:latin typeface="Arial"/>
                <a:ea typeface="Arial"/>
                <a:cs typeface="Arial"/>
              </a:defRPr>
            </a:pPr>
            <a:r>
              <a:rPr sz="1350" b="1">
                <a:solidFill>
                  <a:srgbClr val="5EEAD4"/>
                </a:solidFill>
                <a:latin typeface="Arial"/>
                <a:ea typeface="Arial"/>
                <a:cs typeface="Arial"/>
              </a:rPr>
              <a:t>Conversation</a:t>
            </a:r>
          </a:p>
        </p:txBody>
      </p:sp>
      <p:sp>
        <p:nvSpPr>
          <p:cNvPr id="6" name="">
            <a:extLst xmlns:a="http://schemas.openxmlformats.org/drawingml/2006/main">
              <a:ext uri="{FF2B5EF4-FFF2-40B4-BE49-F238E27FC236}">
                <a16:creationId xmlns:a16="http://schemas.microsoft.com/office/drawing/2014/main" id="{3BABA963-AC32-4107-BB78-5CDFC96DD9A2}"/>
              </a:ext>
            </a:extLst>
          </p:cNvPr>
          <p:cNvSpPr>
            <a:spLocks xmlns:a="http://schemas.openxmlformats.org/drawingml/2006/main" noGrp="1"/>
          </p:cNvSpPr>
          <p:nvPr/>
        </p:nvSpPr>
        <p:spPr>
          <a:xfrm xmlns:a="http://schemas.openxmlformats.org/drawingml/2006/main">
            <a:off x="2952750" y="21336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Qwen chat + multi-step tool loop</a:t>
            </a:r>
          </a:p>
        </p:txBody>
      </p:sp>
      <p:sp>
        <p:nvSpPr>
          <p:cNvPr id="7" name="cap-left-1">
            <a:extLst xmlns:a="http://schemas.openxmlformats.org/drawingml/2006/main">
              <a:ext uri="{FF2B5EF4-FFF2-40B4-BE49-F238E27FC236}">
                <a16:creationId xmlns:a16="http://schemas.microsoft.com/office/drawing/2014/main" id="{9803824C-7E4B-489B-BF0B-DB8005F6E217}"/>
              </a:ext>
            </a:extLst>
          </p:cNvPr>
          <p:cNvSpPr>
            <a:spLocks xmlns:a="http://schemas.openxmlformats.org/drawingml/2006/main" noGrp="1"/>
          </p:cNvSpPr>
          <p:nvPr/>
        </p:nvSpPr>
        <p:spPr>
          <a:xfrm xmlns:a="http://schemas.openxmlformats.org/drawingml/2006/main">
            <a:off x="762000" y="26479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60A5FA"/>
            </a:solidFill>
            <a:prstDash val="solid"/>
          </a:ln>
        </p:spPr>
      </p:sp>
      <p:sp>
        <p:nvSpPr>
          <p:cNvPr id="8" name="">
            <a:extLst xmlns:a="http://schemas.openxmlformats.org/drawingml/2006/main">
              <a:ext uri="{FF2B5EF4-FFF2-40B4-BE49-F238E27FC236}">
                <a16:creationId xmlns:a16="http://schemas.microsoft.com/office/drawing/2014/main" id="{A26D0F3B-9186-4C21-B8B0-DD76F77FA2DE}"/>
              </a:ext>
            </a:extLst>
          </p:cNvPr>
          <p:cNvSpPr>
            <a:spLocks xmlns:a="http://schemas.openxmlformats.org/drawingml/2006/main" noGrp="1"/>
          </p:cNvSpPr>
          <p:nvPr/>
        </p:nvSpPr>
        <p:spPr>
          <a:xfrm xmlns:a="http://schemas.openxmlformats.org/drawingml/2006/main">
            <a:off x="971550" y="27432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60A5FA"/>
                </a:solidFill>
                <a:latin typeface="Arial"/>
                <a:ea typeface="Arial"/>
                <a:cs typeface="Arial"/>
              </a:defRPr>
            </a:defPPr>
            <a:lvl1pPr>
              <a:defRPr sz="1350" b="1">
                <a:solidFill>
                  <a:srgbClr val="60A5FA"/>
                </a:solidFill>
                <a:latin typeface="Arial"/>
                <a:ea typeface="Arial"/>
                <a:cs typeface="Arial"/>
              </a:defRPr>
            </a:lvl1pPr>
            <a:lvl2pPr>
              <a:defRPr sz="1350" b="1">
                <a:solidFill>
                  <a:srgbClr val="60A5FA"/>
                </a:solidFill>
                <a:latin typeface="Arial"/>
                <a:ea typeface="Arial"/>
                <a:cs typeface="Arial"/>
              </a:defRPr>
            </a:lvl2pPr>
            <a:lvl3pPr>
              <a:defRPr sz="1350" b="1">
                <a:solidFill>
                  <a:srgbClr val="60A5FA"/>
                </a:solidFill>
                <a:latin typeface="Arial"/>
                <a:ea typeface="Arial"/>
                <a:cs typeface="Arial"/>
              </a:defRPr>
            </a:lvl3pPr>
            <a:lvl4pPr>
              <a:defRPr sz="1350" b="1">
                <a:solidFill>
                  <a:srgbClr val="60A5FA"/>
                </a:solidFill>
                <a:latin typeface="Arial"/>
                <a:ea typeface="Arial"/>
                <a:cs typeface="Arial"/>
              </a:defRPr>
            </a:lvl4pPr>
            <a:lvl5pPr>
              <a:defRPr sz="1350" b="1">
                <a:solidFill>
                  <a:srgbClr val="60A5FA"/>
                </a:solidFill>
                <a:latin typeface="Arial"/>
                <a:ea typeface="Arial"/>
                <a:cs typeface="Arial"/>
              </a:defRPr>
            </a:lvl5pPr>
            <a:lvl6pPr>
              <a:defRPr sz="1350" b="1">
                <a:solidFill>
                  <a:srgbClr val="60A5FA"/>
                </a:solidFill>
                <a:latin typeface="Arial"/>
                <a:ea typeface="Arial"/>
                <a:cs typeface="Arial"/>
              </a:defRPr>
            </a:lvl6pPr>
            <a:lvl7pPr>
              <a:defRPr sz="1350" b="1">
                <a:solidFill>
                  <a:srgbClr val="60A5FA"/>
                </a:solidFill>
                <a:latin typeface="Arial"/>
                <a:ea typeface="Arial"/>
                <a:cs typeface="Arial"/>
              </a:defRPr>
            </a:lvl7pPr>
            <a:lvl8pPr>
              <a:defRPr sz="1350" b="1">
                <a:solidFill>
                  <a:srgbClr val="60A5FA"/>
                </a:solidFill>
                <a:latin typeface="Arial"/>
                <a:ea typeface="Arial"/>
                <a:cs typeface="Arial"/>
              </a:defRPr>
            </a:lvl8pPr>
            <a:lvl9pPr>
              <a:defRPr sz="1350" b="1">
                <a:solidFill>
                  <a:srgbClr val="60A5FA"/>
                </a:solidFill>
                <a:latin typeface="Arial"/>
                <a:ea typeface="Arial"/>
                <a:cs typeface="Arial"/>
              </a:defRPr>
            </a:lvl9pPr>
          </a:lstStyle>
          <a:p xmlns:a="http://schemas.openxmlformats.org/drawingml/2006/main">
            <a:pPr>
              <a:defRPr sz="1350" b="1">
                <a:solidFill>
                  <a:srgbClr val="60A5FA"/>
                </a:solidFill>
                <a:latin typeface="Arial"/>
                <a:ea typeface="Arial"/>
                <a:cs typeface="Arial"/>
              </a:defRPr>
            </a:pPr>
            <a:r>
              <a:rPr sz="1350" b="1">
                <a:solidFill>
                  <a:srgbClr val="60A5FA"/>
                </a:solidFill>
                <a:latin typeface="Arial"/>
                <a:ea typeface="Arial"/>
                <a:cs typeface="Arial"/>
              </a:rPr>
              <a:t>Project work</a:t>
            </a:r>
          </a:p>
        </p:txBody>
      </p:sp>
      <p:sp>
        <p:nvSpPr>
          <p:cNvPr id="9" name="">
            <a:extLst xmlns:a="http://schemas.openxmlformats.org/drawingml/2006/main">
              <a:ext uri="{FF2B5EF4-FFF2-40B4-BE49-F238E27FC236}">
                <a16:creationId xmlns:a16="http://schemas.microsoft.com/office/drawing/2014/main" id="{3DEBFADB-C9E8-48ED-8254-CC95854F9161}"/>
              </a:ext>
            </a:extLst>
          </p:cNvPr>
          <p:cNvSpPr>
            <a:spLocks xmlns:a="http://schemas.openxmlformats.org/drawingml/2006/main" noGrp="1"/>
          </p:cNvSpPr>
          <p:nvPr/>
        </p:nvSpPr>
        <p:spPr>
          <a:xfrm xmlns:a="http://schemas.openxmlformats.org/drawingml/2006/main">
            <a:off x="2952750" y="27432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list / read / write / search files</a:t>
            </a:r>
          </a:p>
        </p:txBody>
      </p:sp>
      <p:sp>
        <p:nvSpPr>
          <p:cNvPr id="10" name="cap-left-2">
            <a:extLst xmlns:a="http://schemas.openxmlformats.org/drawingml/2006/main">
              <a:ext uri="{FF2B5EF4-FFF2-40B4-BE49-F238E27FC236}">
                <a16:creationId xmlns:a16="http://schemas.microsoft.com/office/drawing/2014/main" id="{03BC240C-6B09-4A51-83E2-9CD983CCFF7A}"/>
              </a:ext>
            </a:extLst>
          </p:cNvPr>
          <p:cNvSpPr>
            <a:spLocks xmlns:a="http://schemas.openxmlformats.org/drawingml/2006/main" noGrp="1"/>
          </p:cNvSpPr>
          <p:nvPr/>
        </p:nvSpPr>
        <p:spPr>
          <a:xfrm xmlns:a="http://schemas.openxmlformats.org/drawingml/2006/main">
            <a:off x="762000" y="32575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A7F3D0"/>
            </a:solidFill>
            <a:prstDash val="solid"/>
          </a:ln>
        </p:spPr>
      </p:sp>
      <p:sp>
        <p:nvSpPr>
          <p:cNvPr id="11" name="">
            <a:extLst xmlns:a="http://schemas.openxmlformats.org/drawingml/2006/main">
              <a:ext uri="{FF2B5EF4-FFF2-40B4-BE49-F238E27FC236}">
                <a16:creationId xmlns:a16="http://schemas.microsoft.com/office/drawing/2014/main" id="{0ACF27D5-5478-4F73-9A09-84FF2AEC22E7}"/>
              </a:ext>
            </a:extLst>
          </p:cNvPr>
          <p:cNvSpPr>
            <a:spLocks xmlns:a="http://schemas.openxmlformats.org/drawingml/2006/main" noGrp="1"/>
          </p:cNvSpPr>
          <p:nvPr/>
        </p:nvSpPr>
        <p:spPr>
          <a:xfrm xmlns:a="http://schemas.openxmlformats.org/drawingml/2006/main">
            <a:off x="971550" y="33528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A7F3D0"/>
                </a:solidFill>
                <a:latin typeface="Arial"/>
                <a:ea typeface="Arial"/>
                <a:cs typeface="Arial"/>
              </a:defRPr>
            </a:defPPr>
            <a:lvl1pPr>
              <a:defRPr sz="1350" b="1">
                <a:solidFill>
                  <a:srgbClr val="A7F3D0"/>
                </a:solidFill>
                <a:latin typeface="Arial"/>
                <a:ea typeface="Arial"/>
                <a:cs typeface="Arial"/>
              </a:defRPr>
            </a:lvl1pPr>
            <a:lvl2pPr>
              <a:defRPr sz="1350" b="1">
                <a:solidFill>
                  <a:srgbClr val="A7F3D0"/>
                </a:solidFill>
                <a:latin typeface="Arial"/>
                <a:ea typeface="Arial"/>
                <a:cs typeface="Arial"/>
              </a:defRPr>
            </a:lvl2pPr>
            <a:lvl3pPr>
              <a:defRPr sz="1350" b="1">
                <a:solidFill>
                  <a:srgbClr val="A7F3D0"/>
                </a:solidFill>
                <a:latin typeface="Arial"/>
                <a:ea typeface="Arial"/>
                <a:cs typeface="Arial"/>
              </a:defRPr>
            </a:lvl3pPr>
            <a:lvl4pPr>
              <a:defRPr sz="1350" b="1">
                <a:solidFill>
                  <a:srgbClr val="A7F3D0"/>
                </a:solidFill>
                <a:latin typeface="Arial"/>
                <a:ea typeface="Arial"/>
                <a:cs typeface="Arial"/>
              </a:defRPr>
            </a:lvl4pPr>
            <a:lvl5pPr>
              <a:defRPr sz="1350" b="1">
                <a:solidFill>
                  <a:srgbClr val="A7F3D0"/>
                </a:solidFill>
                <a:latin typeface="Arial"/>
                <a:ea typeface="Arial"/>
                <a:cs typeface="Arial"/>
              </a:defRPr>
            </a:lvl5pPr>
            <a:lvl6pPr>
              <a:defRPr sz="1350" b="1">
                <a:solidFill>
                  <a:srgbClr val="A7F3D0"/>
                </a:solidFill>
                <a:latin typeface="Arial"/>
                <a:ea typeface="Arial"/>
                <a:cs typeface="Arial"/>
              </a:defRPr>
            </a:lvl6pPr>
            <a:lvl7pPr>
              <a:defRPr sz="1350" b="1">
                <a:solidFill>
                  <a:srgbClr val="A7F3D0"/>
                </a:solidFill>
                <a:latin typeface="Arial"/>
                <a:ea typeface="Arial"/>
                <a:cs typeface="Arial"/>
              </a:defRPr>
            </a:lvl7pPr>
            <a:lvl8pPr>
              <a:defRPr sz="1350" b="1">
                <a:solidFill>
                  <a:srgbClr val="A7F3D0"/>
                </a:solidFill>
                <a:latin typeface="Arial"/>
                <a:ea typeface="Arial"/>
                <a:cs typeface="Arial"/>
              </a:defRPr>
            </a:lvl8pPr>
            <a:lvl9pPr>
              <a:defRPr sz="1350" b="1">
                <a:solidFill>
                  <a:srgbClr val="A7F3D0"/>
                </a:solidFill>
                <a:latin typeface="Arial"/>
                <a:ea typeface="Arial"/>
                <a:cs typeface="Arial"/>
              </a:defRPr>
            </a:lvl9pPr>
          </a:lstStyle>
          <a:p xmlns:a="http://schemas.openxmlformats.org/drawingml/2006/main">
            <a:pPr>
              <a:defRPr sz="1350" b="1">
                <a:solidFill>
                  <a:srgbClr val="A7F3D0"/>
                </a:solidFill>
                <a:latin typeface="Arial"/>
                <a:ea typeface="Arial"/>
                <a:cs typeface="Arial"/>
              </a:defRPr>
            </a:pPr>
            <a:r>
              <a:rPr sz="1350" b="1">
                <a:solidFill>
                  <a:srgbClr val="A7F3D0"/>
                </a:solidFill>
                <a:latin typeface="Arial"/>
                <a:ea typeface="Arial"/>
                <a:cs typeface="Arial"/>
              </a:rPr>
              <a:t>Web</a:t>
            </a:r>
          </a:p>
        </p:txBody>
      </p:sp>
      <p:sp>
        <p:nvSpPr>
          <p:cNvPr id="12" name="">
            <a:extLst xmlns:a="http://schemas.openxmlformats.org/drawingml/2006/main">
              <a:ext uri="{FF2B5EF4-FFF2-40B4-BE49-F238E27FC236}">
                <a16:creationId xmlns:a16="http://schemas.microsoft.com/office/drawing/2014/main" id="{9AF2104B-196D-41A7-9379-A3803E9F4B60}"/>
              </a:ext>
            </a:extLst>
          </p:cNvPr>
          <p:cNvSpPr>
            <a:spLocks xmlns:a="http://schemas.openxmlformats.org/drawingml/2006/main" noGrp="1"/>
          </p:cNvSpPr>
          <p:nvPr/>
        </p:nvSpPr>
        <p:spPr>
          <a:xfrm xmlns:a="http://schemas.openxmlformats.org/drawingml/2006/main">
            <a:off x="2952750" y="33528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public URL fetch + web search</a:t>
            </a:r>
          </a:p>
        </p:txBody>
      </p:sp>
      <p:sp>
        <p:nvSpPr>
          <p:cNvPr id="13" name="cap-left-3">
            <a:extLst xmlns:a="http://schemas.openxmlformats.org/drawingml/2006/main">
              <a:ext uri="{FF2B5EF4-FFF2-40B4-BE49-F238E27FC236}">
                <a16:creationId xmlns:a16="http://schemas.microsoft.com/office/drawing/2014/main" id="{19BD04BB-4BB7-4529-9278-B65A7CD3B8C8}"/>
              </a:ext>
            </a:extLst>
          </p:cNvPr>
          <p:cNvSpPr>
            <a:spLocks xmlns:a="http://schemas.openxmlformats.org/drawingml/2006/main" noGrp="1"/>
          </p:cNvSpPr>
          <p:nvPr/>
        </p:nvSpPr>
        <p:spPr>
          <a:xfrm xmlns:a="http://schemas.openxmlformats.org/drawingml/2006/main">
            <a:off x="762000" y="38671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CD34D"/>
            </a:solidFill>
            <a:prstDash val="solid"/>
          </a:ln>
        </p:spPr>
      </p:sp>
      <p:sp>
        <p:nvSpPr>
          <p:cNvPr id="14" name="">
            <a:extLst xmlns:a="http://schemas.openxmlformats.org/drawingml/2006/main">
              <a:ext uri="{FF2B5EF4-FFF2-40B4-BE49-F238E27FC236}">
                <a16:creationId xmlns:a16="http://schemas.microsoft.com/office/drawing/2014/main" id="{2D492906-E079-423A-9154-01CF0E57271D}"/>
              </a:ext>
            </a:extLst>
          </p:cNvPr>
          <p:cNvSpPr>
            <a:spLocks xmlns:a="http://schemas.openxmlformats.org/drawingml/2006/main" noGrp="1"/>
          </p:cNvSpPr>
          <p:nvPr/>
        </p:nvSpPr>
        <p:spPr>
          <a:xfrm xmlns:a="http://schemas.openxmlformats.org/drawingml/2006/main">
            <a:off x="971550" y="39624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CD34D"/>
                </a:solidFill>
                <a:latin typeface="Arial"/>
                <a:ea typeface="Arial"/>
                <a:cs typeface="Arial"/>
              </a:defRPr>
            </a:defPPr>
            <a:lvl1pPr>
              <a:defRPr sz="1350" b="1">
                <a:solidFill>
                  <a:srgbClr val="FCD34D"/>
                </a:solidFill>
                <a:latin typeface="Arial"/>
                <a:ea typeface="Arial"/>
                <a:cs typeface="Arial"/>
              </a:defRPr>
            </a:lvl1pPr>
            <a:lvl2pPr>
              <a:defRPr sz="1350" b="1">
                <a:solidFill>
                  <a:srgbClr val="FCD34D"/>
                </a:solidFill>
                <a:latin typeface="Arial"/>
                <a:ea typeface="Arial"/>
                <a:cs typeface="Arial"/>
              </a:defRPr>
            </a:lvl2pPr>
            <a:lvl3pPr>
              <a:defRPr sz="1350" b="1">
                <a:solidFill>
                  <a:srgbClr val="FCD34D"/>
                </a:solidFill>
                <a:latin typeface="Arial"/>
                <a:ea typeface="Arial"/>
                <a:cs typeface="Arial"/>
              </a:defRPr>
            </a:lvl3pPr>
            <a:lvl4pPr>
              <a:defRPr sz="1350" b="1">
                <a:solidFill>
                  <a:srgbClr val="FCD34D"/>
                </a:solidFill>
                <a:latin typeface="Arial"/>
                <a:ea typeface="Arial"/>
                <a:cs typeface="Arial"/>
              </a:defRPr>
            </a:lvl4pPr>
            <a:lvl5pPr>
              <a:defRPr sz="1350" b="1">
                <a:solidFill>
                  <a:srgbClr val="FCD34D"/>
                </a:solidFill>
                <a:latin typeface="Arial"/>
                <a:ea typeface="Arial"/>
                <a:cs typeface="Arial"/>
              </a:defRPr>
            </a:lvl5pPr>
            <a:lvl6pPr>
              <a:defRPr sz="1350" b="1">
                <a:solidFill>
                  <a:srgbClr val="FCD34D"/>
                </a:solidFill>
                <a:latin typeface="Arial"/>
                <a:ea typeface="Arial"/>
                <a:cs typeface="Arial"/>
              </a:defRPr>
            </a:lvl6pPr>
            <a:lvl7pPr>
              <a:defRPr sz="1350" b="1">
                <a:solidFill>
                  <a:srgbClr val="FCD34D"/>
                </a:solidFill>
                <a:latin typeface="Arial"/>
                <a:ea typeface="Arial"/>
                <a:cs typeface="Arial"/>
              </a:defRPr>
            </a:lvl7pPr>
            <a:lvl8pPr>
              <a:defRPr sz="1350" b="1">
                <a:solidFill>
                  <a:srgbClr val="FCD34D"/>
                </a:solidFill>
                <a:latin typeface="Arial"/>
                <a:ea typeface="Arial"/>
                <a:cs typeface="Arial"/>
              </a:defRPr>
            </a:lvl8pPr>
            <a:lvl9pPr>
              <a:defRPr sz="1350" b="1">
                <a:solidFill>
                  <a:srgbClr val="FCD34D"/>
                </a:solidFill>
                <a:latin typeface="Arial"/>
                <a:ea typeface="Arial"/>
                <a:cs typeface="Arial"/>
              </a:defRPr>
            </a:lvl9pPr>
          </a:lstStyle>
          <a:p xmlns:a="http://schemas.openxmlformats.org/drawingml/2006/main">
            <a:pPr>
              <a:defRPr sz="1350" b="1">
                <a:solidFill>
                  <a:srgbClr val="FCD34D"/>
                </a:solidFill>
                <a:latin typeface="Arial"/>
                <a:ea typeface="Arial"/>
                <a:cs typeface="Arial"/>
              </a:defRPr>
            </a:pPr>
            <a:r>
              <a:rPr sz="1350" b="1">
                <a:solidFill>
                  <a:srgbClr val="FCD34D"/>
                </a:solidFill>
                <a:latin typeface="Arial"/>
                <a:ea typeface="Arial"/>
                <a:cs typeface="Arial"/>
              </a:rPr>
              <a:t>Execution</a:t>
            </a:r>
          </a:p>
        </p:txBody>
      </p:sp>
      <p:sp>
        <p:nvSpPr>
          <p:cNvPr id="15" name="">
            <a:extLst xmlns:a="http://schemas.openxmlformats.org/drawingml/2006/main">
              <a:ext uri="{FF2B5EF4-FFF2-40B4-BE49-F238E27FC236}">
                <a16:creationId xmlns:a16="http://schemas.microsoft.com/office/drawing/2014/main" id="{1DCAA1A0-0D57-440F-B82F-89C0FE6AE543}"/>
              </a:ext>
            </a:extLst>
          </p:cNvPr>
          <p:cNvSpPr>
            <a:spLocks xmlns:a="http://schemas.openxmlformats.org/drawingml/2006/main" noGrp="1"/>
          </p:cNvSpPr>
          <p:nvPr/>
        </p:nvSpPr>
        <p:spPr>
          <a:xfrm xmlns:a="http://schemas.openxmlformats.org/drawingml/2006/main">
            <a:off x="2952750" y="39624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allowlisted commands + background jobs</a:t>
            </a:r>
          </a:p>
        </p:txBody>
      </p:sp>
      <p:sp>
        <p:nvSpPr>
          <p:cNvPr id="16" name="cap-left-4">
            <a:extLst xmlns:a="http://schemas.openxmlformats.org/drawingml/2006/main">
              <a:ext uri="{FF2B5EF4-FFF2-40B4-BE49-F238E27FC236}">
                <a16:creationId xmlns:a16="http://schemas.microsoft.com/office/drawing/2014/main" id="{6B279ABE-DD1F-4F9C-A82B-BD09EF518E72}"/>
              </a:ext>
            </a:extLst>
          </p:cNvPr>
          <p:cNvSpPr>
            <a:spLocks xmlns:a="http://schemas.openxmlformats.org/drawingml/2006/main" noGrp="1"/>
          </p:cNvSpPr>
          <p:nvPr/>
        </p:nvSpPr>
        <p:spPr>
          <a:xfrm xmlns:a="http://schemas.openxmlformats.org/drawingml/2006/main">
            <a:off x="762000" y="4476750"/>
            <a:ext cx="1809750" cy="419100"/>
          </a:xfrm>
          <a:prstGeom xmlns:a="http://schemas.openxmlformats.org/drawingml/2006/main" prst="roundRect">
            <a:avLst>
              <a:gd name="adj" fmla="val 27273"/>
            </a:avLst>
          </a:prstGeom>
          <a:solidFill xmlns:a="http://schemas.openxmlformats.org/drawingml/2006/main">
            <a:srgbClr val="14324A"/>
          </a:solidFill>
          <a:ln xmlns:a="http://schemas.openxmlformats.org/drawingml/2006/main" w="9525">
            <a:solidFill>
              <a:srgbClr val="FDA4AF"/>
            </a:solidFill>
            <a:prstDash val="solid"/>
          </a:ln>
        </p:spPr>
      </p:sp>
      <p:sp>
        <p:nvSpPr>
          <p:cNvPr id="17" name="">
            <a:extLst xmlns:a="http://schemas.openxmlformats.org/drawingml/2006/main">
              <a:ext uri="{FF2B5EF4-FFF2-40B4-BE49-F238E27FC236}">
                <a16:creationId xmlns:a16="http://schemas.microsoft.com/office/drawing/2014/main" id="{22711AA4-8527-447D-BE9E-D20B05186979}"/>
              </a:ext>
            </a:extLst>
          </p:cNvPr>
          <p:cNvSpPr>
            <a:spLocks xmlns:a="http://schemas.openxmlformats.org/drawingml/2006/main" noGrp="1"/>
          </p:cNvSpPr>
          <p:nvPr/>
        </p:nvSpPr>
        <p:spPr>
          <a:xfrm xmlns:a="http://schemas.openxmlformats.org/drawingml/2006/main">
            <a:off x="971550" y="4572000"/>
            <a:ext cx="1381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FDA4AF"/>
                </a:solidFill>
                <a:latin typeface="Arial"/>
                <a:ea typeface="Arial"/>
                <a:cs typeface="Arial"/>
              </a:defRPr>
            </a:defPPr>
            <a:lvl1pPr>
              <a:defRPr sz="1350" b="1">
                <a:solidFill>
                  <a:srgbClr val="FDA4AF"/>
                </a:solidFill>
                <a:latin typeface="Arial"/>
                <a:ea typeface="Arial"/>
                <a:cs typeface="Arial"/>
              </a:defRPr>
            </a:lvl1pPr>
            <a:lvl2pPr>
              <a:defRPr sz="1350" b="1">
                <a:solidFill>
                  <a:srgbClr val="FDA4AF"/>
                </a:solidFill>
                <a:latin typeface="Arial"/>
                <a:ea typeface="Arial"/>
                <a:cs typeface="Arial"/>
              </a:defRPr>
            </a:lvl2pPr>
            <a:lvl3pPr>
              <a:defRPr sz="1350" b="1">
                <a:solidFill>
                  <a:srgbClr val="FDA4AF"/>
                </a:solidFill>
                <a:latin typeface="Arial"/>
                <a:ea typeface="Arial"/>
                <a:cs typeface="Arial"/>
              </a:defRPr>
            </a:lvl3pPr>
            <a:lvl4pPr>
              <a:defRPr sz="1350" b="1">
                <a:solidFill>
                  <a:srgbClr val="FDA4AF"/>
                </a:solidFill>
                <a:latin typeface="Arial"/>
                <a:ea typeface="Arial"/>
                <a:cs typeface="Arial"/>
              </a:defRPr>
            </a:lvl4pPr>
            <a:lvl5pPr>
              <a:defRPr sz="1350" b="1">
                <a:solidFill>
                  <a:srgbClr val="FDA4AF"/>
                </a:solidFill>
                <a:latin typeface="Arial"/>
                <a:ea typeface="Arial"/>
                <a:cs typeface="Arial"/>
              </a:defRPr>
            </a:lvl5pPr>
            <a:lvl6pPr>
              <a:defRPr sz="1350" b="1">
                <a:solidFill>
                  <a:srgbClr val="FDA4AF"/>
                </a:solidFill>
                <a:latin typeface="Arial"/>
                <a:ea typeface="Arial"/>
                <a:cs typeface="Arial"/>
              </a:defRPr>
            </a:lvl6pPr>
            <a:lvl7pPr>
              <a:defRPr sz="1350" b="1">
                <a:solidFill>
                  <a:srgbClr val="FDA4AF"/>
                </a:solidFill>
                <a:latin typeface="Arial"/>
                <a:ea typeface="Arial"/>
                <a:cs typeface="Arial"/>
              </a:defRPr>
            </a:lvl7pPr>
            <a:lvl8pPr>
              <a:defRPr sz="1350" b="1">
                <a:solidFill>
                  <a:srgbClr val="FDA4AF"/>
                </a:solidFill>
                <a:latin typeface="Arial"/>
                <a:ea typeface="Arial"/>
                <a:cs typeface="Arial"/>
              </a:defRPr>
            </a:lvl8pPr>
            <a:lvl9pPr>
              <a:defRPr sz="1350" b="1">
                <a:solidFill>
                  <a:srgbClr val="FDA4AF"/>
                </a:solidFill>
                <a:latin typeface="Arial"/>
                <a:ea typeface="Arial"/>
                <a:cs typeface="Arial"/>
              </a:defRPr>
            </a:lvl9pPr>
          </a:lstStyle>
          <a:p xmlns:a="http://schemas.openxmlformats.org/drawingml/2006/main">
            <a:pPr>
              <a:defRPr sz="1350" b="1">
                <a:solidFill>
                  <a:srgbClr val="FDA4AF"/>
                </a:solidFill>
                <a:latin typeface="Arial"/>
                <a:ea typeface="Arial"/>
                <a:cs typeface="Arial"/>
              </a:defRPr>
            </a:pPr>
            <a:r>
              <a:rPr sz="1350" b="1">
                <a:solidFill>
                  <a:srgbClr val="FDA4AF"/>
                </a:solidFill>
                <a:latin typeface="Arial"/>
                <a:ea typeface="Arial"/>
                <a:cs typeface="Arial"/>
              </a:rPr>
              <a:t>Operations</a:t>
            </a:r>
          </a:p>
        </p:txBody>
      </p:sp>
      <p:sp>
        <p:nvSpPr>
          <p:cNvPr id="18" name="">
            <a:extLst xmlns:a="http://schemas.openxmlformats.org/drawingml/2006/main">
              <a:ext uri="{FF2B5EF4-FFF2-40B4-BE49-F238E27FC236}">
                <a16:creationId xmlns:a16="http://schemas.microsoft.com/office/drawing/2014/main" id="{256456F9-DB1A-48BF-8975-E4400EAE2227}"/>
              </a:ext>
            </a:extLst>
          </p:cNvPr>
          <p:cNvSpPr>
            <a:spLocks xmlns:a="http://schemas.openxmlformats.org/drawingml/2006/main" noGrp="1"/>
          </p:cNvSpPr>
          <p:nvPr/>
        </p:nvSpPr>
        <p:spPr>
          <a:xfrm xmlns:a="http://schemas.openxmlformats.org/drawingml/2006/main">
            <a:off x="2952750" y="4572000"/>
            <a:ext cx="5334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system info + timers + MCP bridge</a:t>
            </a:r>
          </a:p>
        </p:txBody>
      </p:sp>
      <p:sp>
        <p:nvSpPr>
          <p:cNvPr id="19" name="boundary-callout">
            <a:extLst xmlns:a="http://schemas.openxmlformats.org/drawingml/2006/main">
              <a:ext uri="{FF2B5EF4-FFF2-40B4-BE49-F238E27FC236}">
                <a16:creationId xmlns:a16="http://schemas.microsoft.com/office/drawing/2014/main" id="{FE5E84F2-E126-46B1-B5B8-744B798F6627}"/>
              </a:ext>
            </a:extLst>
          </p:cNvPr>
          <p:cNvSpPr>
            <a:spLocks xmlns:a="http://schemas.openxmlformats.org/drawingml/2006/main" noGrp="1"/>
          </p:cNvSpPr>
          <p:nvPr/>
        </p:nvSpPr>
        <p:spPr>
          <a:xfrm xmlns:a="http://schemas.openxmlformats.org/drawingml/2006/main">
            <a:off x="8667750" y="2038350"/>
            <a:ext cx="2857500" cy="2857500"/>
          </a:xfrm>
          <a:prstGeom xmlns:a="http://schemas.openxmlformats.org/drawingml/2006/main" prst="roundRect">
            <a:avLst>
              <a:gd name="adj" fmla="val 4000"/>
            </a:avLst>
          </a:prstGeom>
          <a:solidFill xmlns:a="http://schemas.openxmlformats.org/drawingml/2006/main">
            <a:srgbClr val="102A43"/>
          </a:solidFill>
          <a:ln xmlns:a="http://schemas.openxmlformats.org/drawingml/2006/main" w="9525">
            <a:solidFill>
              <a:srgbClr val="FCD34D"/>
            </a:solidFill>
            <a:prstDash val="solid"/>
          </a:ln>
        </p:spPr>
      </p:sp>
      <p:sp>
        <p:nvSpPr>
          <p:cNvPr id="20" name="">
            <a:extLst xmlns:a="http://schemas.openxmlformats.org/drawingml/2006/main">
              <a:ext uri="{FF2B5EF4-FFF2-40B4-BE49-F238E27FC236}">
                <a16:creationId xmlns:a16="http://schemas.microsoft.com/office/drawing/2014/main" id="{EA697B48-2F57-4C64-B84E-BB45CD72D1ED}"/>
              </a:ext>
            </a:extLst>
          </p:cNvPr>
          <p:cNvSpPr>
            <a:spLocks xmlns:a="http://schemas.openxmlformats.org/drawingml/2006/main" noGrp="1"/>
          </p:cNvSpPr>
          <p:nvPr/>
        </p:nvSpPr>
        <p:spPr>
          <a:xfrm xmlns:a="http://schemas.openxmlformats.org/drawingml/2006/main">
            <a:off x="8896350" y="2400300"/>
            <a:ext cx="2400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FCD34D"/>
                </a:solidFill>
                <a:latin typeface="Arial"/>
                <a:ea typeface="Arial"/>
                <a:cs typeface="Arial"/>
              </a:defRPr>
            </a:defPPr>
            <a:lvl1pPr>
              <a:defRPr sz="2025" b="1">
                <a:solidFill>
                  <a:srgbClr val="FCD34D"/>
                </a:solidFill>
                <a:latin typeface="Arial"/>
                <a:ea typeface="Arial"/>
                <a:cs typeface="Arial"/>
              </a:defRPr>
            </a:lvl1pPr>
            <a:lvl2pPr>
              <a:defRPr sz="2025" b="1">
                <a:solidFill>
                  <a:srgbClr val="FCD34D"/>
                </a:solidFill>
                <a:latin typeface="Arial"/>
                <a:ea typeface="Arial"/>
                <a:cs typeface="Arial"/>
              </a:defRPr>
            </a:lvl2pPr>
            <a:lvl3pPr>
              <a:defRPr sz="2025" b="1">
                <a:solidFill>
                  <a:srgbClr val="FCD34D"/>
                </a:solidFill>
                <a:latin typeface="Arial"/>
                <a:ea typeface="Arial"/>
                <a:cs typeface="Arial"/>
              </a:defRPr>
            </a:lvl3pPr>
            <a:lvl4pPr>
              <a:defRPr sz="2025" b="1">
                <a:solidFill>
                  <a:srgbClr val="FCD34D"/>
                </a:solidFill>
                <a:latin typeface="Arial"/>
                <a:ea typeface="Arial"/>
                <a:cs typeface="Arial"/>
              </a:defRPr>
            </a:lvl4pPr>
            <a:lvl5pPr>
              <a:defRPr sz="2025" b="1">
                <a:solidFill>
                  <a:srgbClr val="FCD34D"/>
                </a:solidFill>
                <a:latin typeface="Arial"/>
                <a:ea typeface="Arial"/>
                <a:cs typeface="Arial"/>
              </a:defRPr>
            </a:lvl5pPr>
            <a:lvl6pPr>
              <a:defRPr sz="2025" b="1">
                <a:solidFill>
                  <a:srgbClr val="FCD34D"/>
                </a:solidFill>
                <a:latin typeface="Arial"/>
                <a:ea typeface="Arial"/>
                <a:cs typeface="Arial"/>
              </a:defRPr>
            </a:lvl6pPr>
            <a:lvl7pPr>
              <a:defRPr sz="2025" b="1">
                <a:solidFill>
                  <a:srgbClr val="FCD34D"/>
                </a:solidFill>
                <a:latin typeface="Arial"/>
                <a:ea typeface="Arial"/>
                <a:cs typeface="Arial"/>
              </a:defRPr>
            </a:lvl7pPr>
            <a:lvl8pPr>
              <a:defRPr sz="2025" b="1">
                <a:solidFill>
                  <a:srgbClr val="FCD34D"/>
                </a:solidFill>
                <a:latin typeface="Arial"/>
                <a:ea typeface="Arial"/>
                <a:cs typeface="Arial"/>
              </a:defRPr>
            </a:lvl8pPr>
            <a:lvl9pPr>
              <a:defRPr sz="2025" b="1">
                <a:solidFill>
                  <a:srgbClr val="FCD34D"/>
                </a:solidFill>
                <a:latin typeface="Arial"/>
                <a:ea typeface="Arial"/>
                <a:cs typeface="Arial"/>
              </a:defRPr>
            </a:lvl9pPr>
          </a:lstStyle>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PARITY ≠</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UNRESTRICTED</a:t>
            </a:r>
          </a:p>
          <a:p xmlns:a="http://schemas.openxmlformats.org/drawingml/2006/main">
            <a:pPr>
              <a:defRPr sz="2025" b="1">
                <a:solidFill>
                  <a:srgbClr val="FCD34D"/>
                </a:solidFill>
                <a:latin typeface="Arial"/>
                <a:ea typeface="Arial"/>
                <a:cs typeface="Arial"/>
              </a:defRPr>
            </a:pPr>
            <a:r>
              <a:rPr sz="2025" b="1">
                <a:solidFill>
                  <a:srgbClr val="FCD34D"/>
                </a:solidFill>
                <a:latin typeface="Arial"/>
                <a:ea typeface="Arial"/>
                <a:cs typeface="Arial"/>
              </a:rPr>
              <a:t>SHELL</a:t>
            </a:r>
          </a:p>
        </p:txBody>
      </p:sp>
      <p:sp>
        <p:nvSpPr>
          <p:cNvPr id="21" name="">
            <a:extLst xmlns:a="http://schemas.openxmlformats.org/drawingml/2006/main">
              <a:ext uri="{FF2B5EF4-FFF2-40B4-BE49-F238E27FC236}">
                <a16:creationId xmlns:a16="http://schemas.microsoft.com/office/drawing/2014/main" id="{6041411E-B9BC-4BB9-A7D5-3773BA274DBA}"/>
              </a:ext>
            </a:extLst>
          </p:cNvPr>
          <p:cNvSpPr>
            <a:spLocks xmlns:a="http://schemas.openxmlformats.org/drawingml/2006/main" noGrp="1"/>
          </p:cNvSpPr>
          <p:nvPr/>
        </p:nvSpPr>
        <p:spPr>
          <a:xfrm xmlns:a="http://schemas.openxmlformats.org/drawingml/2006/main">
            <a:off x="8991600" y="3752850"/>
            <a:ext cx="2209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Paths stay inside ME3.</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Secrets and model caches are</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blocked. Destructive patterns</a:t>
            </a:r>
          </a:p>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are rejected.</a:t>
            </a:r>
          </a:p>
        </p:txBody>
      </p:sp>
      <p:sp>
        <p:nvSpPr>
          <p:cNvPr id="22" name="">
            <a:extLst xmlns:a="http://schemas.openxmlformats.org/drawingml/2006/main">
              <a:ext uri="{FF2B5EF4-FFF2-40B4-BE49-F238E27FC236}">
                <a16:creationId xmlns:a16="http://schemas.microsoft.com/office/drawing/2014/main" id="{BB5289F8-DF93-4950-8776-250409E15E57}"/>
              </a:ext>
            </a:extLst>
          </p:cNvPr>
          <p:cNvSpPr>
            <a:spLocks xmlns:a="http://schemas.openxmlformats.org/drawingml/2006/main" noGrp="1"/>
          </p:cNvSpPr>
          <p:nvPr/>
        </p:nvSpPr>
        <p:spPr>
          <a:xfrm xmlns:a="http://schemas.openxmlformats.org/drawingml/2006/main">
            <a:off x="781050" y="546735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F7FAFC"/>
                </a:solidFill>
                <a:latin typeface="Arial"/>
                <a:ea typeface="Arial"/>
                <a:cs typeface="Arial"/>
              </a:defRPr>
            </a:defPPr>
            <a:lvl1pPr>
              <a:defRPr sz="1500" b="1">
                <a:solidFill>
                  <a:srgbClr val="F7FAFC"/>
                </a:solidFill>
                <a:latin typeface="Arial"/>
                <a:ea typeface="Arial"/>
                <a:cs typeface="Arial"/>
              </a:defRPr>
            </a:lvl1pPr>
            <a:lvl2pPr>
              <a:defRPr sz="1500" b="1">
                <a:solidFill>
                  <a:srgbClr val="F7FAFC"/>
                </a:solidFill>
                <a:latin typeface="Arial"/>
                <a:ea typeface="Arial"/>
                <a:cs typeface="Arial"/>
              </a:defRPr>
            </a:lvl2pPr>
            <a:lvl3pPr>
              <a:defRPr sz="1500" b="1">
                <a:solidFill>
                  <a:srgbClr val="F7FAFC"/>
                </a:solidFill>
                <a:latin typeface="Arial"/>
                <a:ea typeface="Arial"/>
                <a:cs typeface="Arial"/>
              </a:defRPr>
            </a:lvl3pPr>
            <a:lvl4pPr>
              <a:defRPr sz="1500" b="1">
                <a:solidFill>
                  <a:srgbClr val="F7FAFC"/>
                </a:solidFill>
                <a:latin typeface="Arial"/>
                <a:ea typeface="Arial"/>
                <a:cs typeface="Arial"/>
              </a:defRPr>
            </a:lvl4pPr>
            <a:lvl5pPr>
              <a:defRPr sz="1500" b="1">
                <a:solidFill>
                  <a:srgbClr val="F7FAFC"/>
                </a:solidFill>
                <a:latin typeface="Arial"/>
                <a:ea typeface="Arial"/>
                <a:cs typeface="Arial"/>
              </a:defRPr>
            </a:lvl5pPr>
            <a:lvl6pPr>
              <a:defRPr sz="1500" b="1">
                <a:solidFill>
                  <a:srgbClr val="F7FAFC"/>
                </a:solidFill>
                <a:latin typeface="Arial"/>
                <a:ea typeface="Arial"/>
                <a:cs typeface="Arial"/>
              </a:defRPr>
            </a:lvl6pPr>
            <a:lvl7pPr>
              <a:defRPr sz="1500" b="1">
                <a:solidFill>
                  <a:srgbClr val="F7FAFC"/>
                </a:solidFill>
                <a:latin typeface="Arial"/>
                <a:ea typeface="Arial"/>
                <a:cs typeface="Arial"/>
              </a:defRPr>
            </a:lvl7pPr>
            <a:lvl8pPr>
              <a:defRPr sz="1500" b="1">
                <a:solidFill>
                  <a:srgbClr val="F7FAFC"/>
                </a:solidFill>
                <a:latin typeface="Arial"/>
                <a:ea typeface="Arial"/>
                <a:cs typeface="Arial"/>
              </a:defRPr>
            </a:lvl8pPr>
            <a:lvl9pPr>
              <a:defRPr sz="1500" b="1">
                <a:solidFill>
                  <a:srgbClr val="F7FAFC"/>
                </a:solidFill>
                <a:latin typeface="Arial"/>
                <a:ea typeface="Arial"/>
                <a:cs typeface="Arial"/>
              </a:defRPr>
            </a:lvl9pPr>
          </a:lstStyle>
          <a:p xmlns:a="http://schemas.openxmlformats.org/drawingml/2006/main">
            <a:pPr>
              <a:defRPr sz="1500" b="1">
                <a:solidFill>
                  <a:srgbClr val="F7FAFC"/>
                </a:solidFill>
                <a:latin typeface="Arial"/>
                <a:ea typeface="Arial"/>
                <a:cs typeface="Arial"/>
              </a:defRPr>
            </a:pPr>
            <a:r>
              <a:rPr sz="1500" b="1">
                <a:solidFill>
                  <a:srgbClr val="F7FAFC"/>
                </a:solidFill>
                <a:latin typeface="Arial"/>
                <a:ea typeface="Arial"/>
                <a:cs typeface="Arial"/>
              </a:rPr>
              <a:t>Capability is added as a typed tool with an observable result.</a:t>
            </a:r>
          </a:p>
        </p:txBody>
      </p:sp>
      <p:sp>
        <p:nvSpPr>
          <p:cNvPr id="23" name="">
            <a:extLst xmlns:a="http://schemas.openxmlformats.org/drawingml/2006/main">
              <a:ext uri="{FF2B5EF4-FFF2-40B4-BE49-F238E27FC236}">
                <a16:creationId xmlns:a16="http://schemas.microsoft.com/office/drawing/2014/main" id="{AF8BB1B9-BA2F-4008-B27E-B7DCD877669E}"/>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5/7</a:t>
            </a:r>
          </a:p>
        </p:txBody>
      </p:sp>
    </p:spTree>
    <p:extLst>
      <p:ext uri="{BB962C8B-B14F-4D97-AF65-F5344CB8AC3E}">
        <p14:creationId xmlns:p14="http://schemas.microsoft.com/office/powerpoint/2010/main" val="63110456"/>
      </p:ext>
    </p:extLst>
  </p:cSld>
</p:sld>
</file>

<file path=ppt/slides/slide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1080EF8-D4B4-400C-9BBD-B7D00AF5803F}"/>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EEAD4"/>
                </a:solidFill>
                <a:latin typeface="Arial"/>
                <a:ea typeface="Arial"/>
                <a:cs typeface="Arial"/>
              </a:defRPr>
            </a:defPPr>
            <a:lvl1pPr>
              <a:defRPr sz="975" b="1">
                <a:solidFill>
                  <a:srgbClr val="5EEAD4"/>
                </a:solidFill>
                <a:latin typeface="Arial"/>
                <a:ea typeface="Arial"/>
                <a:cs typeface="Arial"/>
              </a:defRPr>
            </a:lvl1pPr>
            <a:lvl2pPr>
              <a:defRPr sz="975" b="1">
                <a:solidFill>
                  <a:srgbClr val="5EEAD4"/>
                </a:solidFill>
                <a:latin typeface="Arial"/>
                <a:ea typeface="Arial"/>
                <a:cs typeface="Arial"/>
              </a:defRPr>
            </a:lvl2pPr>
            <a:lvl3pPr>
              <a:defRPr sz="975" b="1">
                <a:solidFill>
                  <a:srgbClr val="5EEAD4"/>
                </a:solidFill>
                <a:latin typeface="Arial"/>
                <a:ea typeface="Arial"/>
                <a:cs typeface="Arial"/>
              </a:defRPr>
            </a:lvl3pPr>
            <a:lvl4pPr>
              <a:defRPr sz="975" b="1">
                <a:solidFill>
                  <a:srgbClr val="5EEAD4"/>
                </a:solidFill>
                <a:latin typeface="Arial"/>
                <a:ea typeface="Arial"/>
                <a:cs typeface="Arial"/>
              </a:defRPr>
            </a:lvl4pPr>
            <a:lvl5pPr>
              <a:defRPr sz="975" b="1">
                <a:solidFill>
                  <a:srgbClr val="5EEAD4"/>
                </a:solidFill>
                <a:latin typeface="Arial"/>
                <a:ea typeface="Arial"/>
                <a:cs typeface="Arial"/>
              </a:defRPr>
            </a:lvl5pPr>
            <a:lvl6pPr>
              <a:defRPr sz="975" b="1">
                <a:solidFill>
                  <a:srgbClr val="5EEAD4"/>
                </a:solidFill>
                <a:latin typeface="Arial"/>
                <a:ea typeface="Arial"/>
                <a:cs typeface="Arial"/>
              </a:defRPr>
            </a:lvl6pPr>
            <a:lvl7pPr>
              <a:defRPr sz="975" b="1">
                <a:solidFill>
                  <a:srgbClr val="5EEAD4"/>
                </a:solidFill>
                <a:latin typeface="Arial"/>
                <a:ea typeface="Arial"/>
                <a:cs typeface="Arial"/>
              </a:defRPr>
            </a:lvl7pPr>
            <a:lvl8pPr>
              <a:defRPr sz="975" b="1">
                <a:solidFill>
                  <a:srgbClr val="5EEAD4"/>
                </a:solidFill>
                <a:latin typeface="Arial"/>
                <a:ea typeface="Arial"/>
                <a:cs typeface="Arial"/>
              </a:defRPr>
            </a:lvl8pPr>
            <a:lvl9pPr>
              <a:defRPr sz="975" b="1">
                <a:solidFill>
                  <a:srgbClr val="5EEAD4"/>
                </a:solidFill>
                <a:latin typeface="Arial"/>
                <a:ea typeface="Arial"/>
                <a:cs typeface="Arial"/>
              </a:defRPr>
            </a:lvl9pPr>
          </a:lstStyle>
          <a:p xmlns:a="http://schemas.openxmlformats.org/drawingml/2006/main">
            <a:pPr>
              <a:defRPr sz="975" b="1">
                <a:solidFill>
                  <a:srgbClr val="5EEAD4"/>
                </a:solidFill>
                <a:latin typeface="Arial"/>
                <a:ea typeface="Arial"/>
                <a:cs typeface="Arial"/>
              </a:defRPr>
            </a:pPr>
            <a:r>
              <a:rPr sz="975" b="1">
                <a:solidFill>
                  <a:srgbClr val="5EEAD4"/>
                </a:solidFill>
                <a:latin typeface="Arial"/>
                <a:ea typeface="Arial"/>
                <a:cs typeface="Arial"/>
              </a:rPr>
              <a:t>EVIDENCE</a:t>
            </a:r>
          </a:p>
        </p:txBody>
      </p:sp>
      <p:sp>
        <p:nvSpPr>
          <p:cNvPr id="2" name="">
            <a:extLst xmlns:a="http://schemas.openxmlformats.org/drawingml/2006/main">
              <a:ext uri="{FF2B5EF4-FFF2-40B4-BE49-F238E27FC236}">
                <a16:creationId xmlns:a16="http://schemas.microsoft.com/office/drawing/2014/main" id="{EE869E4A-1B71-4EF2-9E1A-2F1BFBAFCF8F}"/>
              </a:ext>
            </a:extLst>
          </p:cNvPr>
          <p:cNvSpPr>
            <a:spLocks xmlns:a="http://schemas.openxmlformats.org/drawingml/2006/main" noGrp="1"/>
          </p:cNvSpPr>
          <p:nvPr/>
        </p:nvSpPr>
        <p:spPr>
          <a:xfrm xmlns:a="http://schemas.openxmlformats.org/drawingml/2006/main">
            <a:off x="609600" y="7239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7FAFC"/>
                </a:solidFill>
                <a:latin typeface="Arial"/>
                <a:ea typeface="Arial"/>
                <a:cs typeface="Arial"/>
              </a:defRPr>
            </a:defPPr>
            <a:lvl1pPr>
              <a:defRPr sz="2700" b="1">
                <a:solidFill>
                  <a:srgbClr val="F7FAFC"/>
                </a:solidFill>
                <a:latin typeface="Arial"/>
                <a:ea typeface="Arial"/>
                <a:cs typeface="Arial"/>
              </a:defRPr>
            </a:lvl1pPr>
            <a:lvl2pPr>
              <a:defRPr sz="2700" b="1">
                <a:solidFill>
                  <a:srgbClr val="F7FAFC"/>
                </a:solidFill>
                <a:latin typeface="Arial"/>
                <a:ea typeface="Arial"/>
                <a:cs typeface="Arial"/>
              </a:defRPr>
            </a:lvl2pPr>
            <a:lvl3pPr>
              <a:defRPr sz="2700" b="1">
                <a:solidFill>
                  <a:srgbClr val="F7FAFC"/>
                </a:solidFill>
                <a:latin typeface="Arial"/>
                <a:ea typeface="Arial"/>
                <a:cs typeface="Arial"/>
              </a:defRPr>
            </a:lvl3pPr>
            <a:lvl4pPr>
              <a:defRPr sz="2700" b="1">
                <a:solidFill>
                  <a:srgbClr val="F7FAFC"/>
                </a:solidFill>
                <a:latin typeface="Arial"/>
                <a:ea typeface="Arial"/>
                <a:cs typeface="Arial"/>
              </a:defRPr>
            </a:lvl4pPr>
            <a:lvl5pPr>
              <a:defRPr sz="2700" b="1">
                <a:solidFill>
                  <a:srgbClr val="F7FAFC"/>
                </a:solidFill>
                <a:latin typeface="Arial"/>
                <a:ea typeface="Arial"/>
                <a:cs typeface="Arial"/>
              </a:defRPr>
            </a:lvl5pPr>
            <a:lvl6pPr>
              <a:defRPr sz="2700" b="1">
                <a:solidFill>
                  <a:srgbClr val="F7FAFC"/>
                </a:solidFill>
                <a:latin typeface="Arial"/>
                <a:ea typeface="Arial"/>
                <a:cs typeface="Arial"/>
              </a:defRPr>
            </a:lvl6pPr>
            <a:lvl7pPr>
              <a:defRPr sz="2700" b="1">
                <a:solidFill>
                  <a:srgbClr val="F7FAFC"/>
                </a:solidFill>
                <a:latin typeface="Arial"/>
                <a:ea typeface="Arial"/>
                <a:cs typeface="Arial"/>
              </a:defRPr>
            </a:lvl7pPr>
            <a:lvl8pPr>
              <a:defRPr sz="2700" b="1">
                <a:solidFill>
                  <a:srgbClr val="F7FAFC"/>
                </a:solidFill>
                <a:latin typeface="Arial"/>
                <a:ea typeface="Arial"/>
                <a:cs typeface="Arial"/>
              </a:defRPr>
            </a:lvl8pPr>
            <a:lvl9pPr>
              <a:defRPr sz="2700" b="1">
                <a:solidFill>
                  <a:srgbClr val="F7FAFC"/>
                </a:solidFill>
                <a:latin typeface="Arial"/>
                <a:ea typeface="Arial"/>
                <a:cs typeface="Arial"/>
              </a:defRPr>
            </a:lvl9pPr>
          </a:lstStyle>
          <a:p xmlns:a="http://schemas.openxmlformats.org/drawingml/2006/main">
            <a:pPr>
              <a:defRPr sz="2700" b="1">
                <a:solidFill>
                  <a:srgbClr val="F7FAFC"/>
                </a:solidFill>
                <a:latin typeface="Arial"/>
                <a:ea typeface="Arial"/>
                <a:cs typeface="Arial"/>
              </a:defRPr>
            </a:pPr>
            <a:r>
              <a:rPr sz="2700" b="1">
                <a:solidFill>
                  <a:srgbClr val="F7FAFC"/>
                </a:solidFill>
                <a:latin typeface="Arial"/>
                <a:ea typeface="Arial"/>
                <a:cs typeface="Arial"/>
              </a:rPr>
              <a:t>The implementation is verified in layers</a:t>
            </a:r>
          </a:p>
        </p:txBody>
      </p:sp>
      <p:sp>
        <p:nvSpPr>
          <p:cNvPr id="3" name="">
            <a:extLst xmlns:a="http://schemas.openxmlformats.org/drawingml/2006/main">
              <a:ext uri="{FF2B5EF4-FFF2-40B4-BE49-F238E27FC236}">
                <a16:creationId xmlns:a16="http://schemas.microsoft.com/office/drawing/2014/main" id="{E456FE4E-83C7-4FD2-AD41-D4C328A73FE4}"/>
              </a:ext>
            </a:extLst>
          </p:cNvPr>
          <p:cNvSpPr>
            <a:spLocks xmlns:a="http://schemas.openxmlformats.org/drawingml/2006/main" noGrp="1"/>
          </p:cNvSpPr>
          <p:nvPr/>
        </p:nvSpPr>
        <p:spPr>
          <a:xfrm xmlns:a="http://schemas.openxmlformats.org/drawingml/2006/main">
            <a:off x="609600" y="13335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A8B8CA"/>
                </a:solidFill>
                <a:latin typeface="Arial"/>
                <a:ea typeface="Arial"/>
                <a:cs typeface="Arial"/>
              </a:defRPr>
            </a:defPPr>
            <a:lvl1pPr>
              <a:defRPr sz="1425">
                <a:solidFill>
                  <a:srgbClr val="A8B8CA"/>
                </a:solidFill>
                <a:latin typeface="Arial"/>
                <a:ea typeface="Arial"/>
                <a:cs typeface="Arial"/>
              </a:defRPr>
            </a:lvl1pPr>
            <a:lvl2pPr>
              <a:defRPr sz="1425">
                <a:solidFill>
                  <a:srgbClr val="A8B8CA"/>
                </a:solidFill>
                <a:latin typeface="Arial"/>
                <a:ea typeface="Arial"/>
                <a:cs typeface="Arial"/>
              </a:defRPr>
            </a:lvl2pPr>
            <a:lvl3pPr>
              <a:defRPr sz="1425">
                <a:solidFill>
                  <a:srgbClr val="A8B8CA"/>
                </a:solidFill>
                <a:latin typeface="Arial"/>
                <a:ea typeface="Arial"/>
                <a:cs typeface="Arial"/>
              </a:defRPr>
            </a:lvl3pPr>
            <a:lvl4pPr>
              <a:defRPr sz="1425">
                <a:solidFill>
                  <a:srgbClr val="A8B8CA"/>
                </a:solidFill>
                <a:latin typeface="Arial"/>
                <a:ea typeface="Arial"/>
                <a:cs typeface="Arial"/>
              </a:defRPr>
            </a:lvl4pPr>
            <a:lvl5pPr>
              <a:defRPr sz="1425">
                <a:solidFill>
                  <a:srgbClr val="A8B8CA"/>
                </a:solidFill>
                <a:latin typeface="Arial"/>
                <a:ea typeface="Arial"/>
                <a:cs typeface="Arial"/>
              </a:defRPr>
            </a:lvl5pPr>
            <a:lvl6pPr>
              <a:defRPr sz="1425">
                <a:solidFill>
                  <a:srgbClr val="A8B8CA"/>
                </a:solidFill>
                <a:latin typeface="Arial"/>
                <a:ea typeface="Arial"/>
                <a:cs typeface="Arial"/>
              </a:defRPr>
            </a:lvl6pPr>
            <a:lvl7pPr>
              <a:defRPr sz="1425">
                <a:solidFill>
                  <a:srgbClr val="A8B8CA"/>
                </a:solidFill>
                <a:latin typeface="Arial"/>
                <a:ea typeface="Arial"/>
                <a:cs typeface="Arial"/>
              </a:defRPr>
            </a:lvl7pPr>
            <a:lvl8pPr>
              <a:defRPr sz="1425">
                <a:solidFill>
                  <a:srgbClr val="A8B8CA"/>
                </a:solidFill>
                <a:latin typeface="Arial"/>
                <a:ea typeface="Arial"/>
                <a:cs typeface="Arial"/>
              </a:defRPr>
            </a:lvl8pPr>
            <a:lvl9pPr>
              <a:defRPr sz="1425">
                <a:solidFill>
                  <a:srgbClr val="A8B8CA"/>
                </a:solidFill>
                <a:latin typeface="Arial"/>
                <a:ea typeface="Arial"/>
                <a:cs typeface="Arial"/>
              </a:defRPr>
            </a:lvl9pPr>
          </a:lstStyle>
          <a:p xmlns:a="http://schemas.openxmlformats.org/drawingml/2006/main">
            <a:pPr>
              <a:defRPr sz="1425">
                <a:solidFill>
                  <a:srgbClr val="A8B8CA"/>
                </a:solidFill>
                <a:latin typeface="Arial"/>
                <a:ea typeface="Arial"/>
                <a:cs typeface="Arial"/>
              </a:defRPr>
            </a:pPr>
            <a:r>
              <a:rPr sz="1425">
                <a:solidFill>
                  <a:srgbClr val="A8B8CA"/>
                </a:solidFill>
                <a:latin typeface="Arial"/>
                <a:ea typeface="Arial"/>
                <a:cs typeface="Arial"/>
              </a:rPr>
              <a:t>Each layer answers a different question; a local pass is not silently promoted to Pi or benchmark evidence.</a:t>
            </a:r>
          </a:p>
        </p:txBody>
      </p:sp>
      <p:sp>
        <p:nvSpPr>
          <p:cNvPr id="4" name="verified-now">
            <a:extLst xmlns:a="http://schemas.openxmlformats.org/drawingml/2006/main">
              <a:ext uri="{FF2B5EF4-FFF2-40B4-BE49-F238E27FC236}">
                <a16:creationId xmlns:a16="http://schemas.microsoft.com/office/drawing/2014/main" id="{44D514E8-9EB8-4197-A791-6635174CF7D0}"/>
              </a:ext>
            </a:extLst>
          </p:cNvPr>
          <p:cNvSpPr>
            <a:spLocks xmlns:a="http://schemas.openxmlformats.org/drawingml/2006/main" noGrp="1"/>
          </p:cNvSpPr>
          <p:nvPr/>
        </p:nvSpPr>
        <p:spPr>
          <a:xfrm xmlns:a="http://schemas.openxmlformats.org/drawingml/2006/main">
            <a:off x="723900" y="2038350"/>
            <a:ext cx="495300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A7F3D0"/>
            </a:solidFill>
            <a:prstDash val="solid"/>
          </a:ln>
        </p:spPr>
      </p:sp>
      <p:sp>
        <p:nvSpPr>
          <p:cNvPr id="5" name="">
            <a:extLst xmlns:a="http://schemas.openxmlformats.org/drawingml/2006/main">
              <a:ext uri="{FF2B5EF4-FFF2-40B4-BE49-F238E27FC236}">
                <a16:creationId xmlns:a16="http://schemas.microsoft.com/office/drawing/2014/main" id="{3F6CC869-713F-4234-A157-F09D8260A50C}"/>
              </a:ext>
            </a:extLst>
          </p:cNvPr>
          <p:cNvSpPr>
            <a:spLocks xmlns:a="http://schemas.openxmlformats.org/drawingml/2006/main" noGrp="1"/>
          </p:cNvSpPr>
          <p:nvPr/>
        </p:nvSpPr>
        <p:spPr>
          <a:xfrm xmlns:a="http://schemas.openxmlformats.org/drawingml/2006/main">
            <a:off x="102870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7F3D0"/>
                </a:solidFill>
                <a:latin typeface="Arial"/>
                <a:ea typeface="Arial"/>
                <a:cs typeface="Arial"/>
              </a:defRPr>
            </a:defPPr>
            <a:lvl1pPr>
              <a:defRPr sz="1050" b="1">
                <a:solidFill>
                  <a:srgbClr val="A7F3D0"/>
                </a:solidFill>
                <a:latin typeface="Arial"/>
                <a:ea typeface="Arial"/>
                <a:cs typeface="Arial"/>
              </a:defRPr>
            </a:lvl1pPr>
            <a:lvl2pPr>
              <a:defRPr sz="1050" b="1">
                <a:solidFill>
                  <a:srgbClr val="A7F3D0"/>
                </a:solidFill>
                <a:latin typeface="Arial"/>
                <a:ea typeface="Arial"/>
                <a:cs typeface="Arial"/>
              </a:defRPr>
            </a:lvl2pPr>
            <a:lvl3pPr>
              <a:defRPr sz="1050" b="1">
                <a:solidFill>
                  <a:srgbClr val="A7F3D0"/>
                </a:solidFill>
                <a:latin typeface="Arial"/>
                <a:ea typeface="Arial"/>
                <a:cs typeface="Arial"/>
              </a:defRPr>
            </a:lvl3pPr>
            <a:lvl4pPr>
              <a:defRPr sz="1050" b="1">
                <a:solidFill>
                  <a:srgbClr val="A7F3D0"/>
                </a:solidFill>
                <a:latin typeface="Arial"/>
                <a:ea typeface="Arial"/>
                <a:cs typeface="Arial"/>
              </a:defRPr>
            </a:lvl4pPr>
            <a:lvl5pPr>
              <a:defRPr sz="1050" b="1">
                <a:solidFill>
                  <a:srgbClr val="A7F3D0"/>
                </a:solidFill>
                <a:latin typeface="Arial"/>
                <a:ea typeface="Arial"/>
                <a:cs typeface="Arial"/>
              </a:defRPr>
            </a:lvl5pPr>
            <a:lvl6pPr>
              <a:defRPr sz="1050" b="1">
                <a:solidFill>
                  <a:srgbClr val="A7F3D0"/>
                </a:solidFill>
                <a:latin typeface="Arial"/>
                <a:ea typeface="Arial"/>
                <a:cs typeface="Arial"/>
              </a:defRPr>
            </a:lvl6pPr>
            <a:lvl7pPr>
              <a:defRPr sz="1050" b="1">
                <a:solidFill>
                  <a:srgbClr val="A7F3D0"/>
                </a:solidFill>
                <a:latin typeface="Arial"/>
                <a:ea typeface="Arial"/>
                <a:cs typeface="Arial"/>
              </a:defRPr>
            </a:lvl7pPr>
            <a:lvl8pPr>
              <a:defRPr sz="1050" b="1">
                <a:solidFill>
                  <a:srgbClr val="A7F3D0"/>
                </a:solidFill>
                <a:latin typeface="Arial"/>
                <a:ea typeface="Arial"/>
                <a:cs typeface="Arial"/>
              </a:defRPr>
            </a:lvl8pPr>
            <a:lvl9pPr>
              <a:defRPr sz="1050" b="1">
                <a:solidFill>
                  <a:srgbClr val="A7F3D0"/>
                </a:solidFill>
                <a:latin typeface="Arial"/>
                <a:ea typeface="Arial"/>
                <a:cs typeface="Arial"/>
              </a:defRPr>
            </a:lvl9pPr>
          </a:lstStyle>
          <a:p xmlns:a="http://schemas.openxmlformats.org/drawingml/2006/main">
            <a:pPr>
              <a:defRPr sz="1050" b="1">
                <a:solidFill>
                  <a:srgbClr val="A7F3D0"/>
                </a:solidFill>
                <a:latin typeface="Arial"/>
                <a:ea typeface="Arial"/>
                <a:cs typeface="Arial"/>
              </a:defRPr>
            </a:pPr>
            <a:r>
              <a:rPr sz="1050" b="1">
                <a:solidFill>
                  <a:srgbClr val="A7F3D0"/>
                </a:solidFill>
                <a:latin typeface="Arial"/>
                <a:ea typeface="Arial"/>
                <a:cs typeface="Arial"/>
              </a:rPr>
              <a:t>VERIFIED NOW</a:t>
            </a:r>
          </a:p>
        </p:txBody>
      </p:sp>
      <p:sp>
        <p:nvSpPr>
          <p:cNvPr id="6" name="">
            <a:extLst xmlns:a="http://schemas.openxmlformats.org/drawingml/2006/main">
              <a:ext uri="{FF2B5EF4-FFF2-40B4-BE49-F238E27FC236}">
                <a16:creationId xmlns:a16="http://schemas.microsoft.com/office/drawing/2014/main" id="{D0E6C1CB-AC36-4260-AA01-BF0EE3B10F5A}"/>
              </a:ext>
            </a:extLst>
          </p:cNvPr>
          <p:cNvSpPr>
            <a:spLocks xmlns:a="http://schemas.openxmlformats.org/drawingml/2006/main" noGrp="1"/>
          </p:cNvSpPr>
          <p:nvPr/>
        </p:nvSpPr>
        <p:spPr>
          <a:xfrm xmlns:a="http://schemas.openxmlformats.org/drawingml/2006/main">
            <a:off x="1028700" y="27813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deployed (release 164608, transfer hash verified)</a:t>
            </a:r>
          </a:p>
        </p:txBody>
      </p:sp>
      <p:sp>
        <p:nvSpPr>
          <p:cNvPr id="7" name="">
            <a:extLst xmlns:a="http://schemas.openxmlformats.org/drawingml/2006/main">
              <a:ext uri="{FF2B5EF4-FFF2-40B4-BE49-F238E27FC236}">
                <a16:creationId xmlns:a16="http://schemas.microsoft.com/office/drawing/2014/main" id="{92F636F1-8A23-434D-8978-2D7485708731}"/>
              </a:ext>
            </a:extLst>
          </p:cNvPr>
          <p:cNvSpPr>
            <a:spLocks xmlns:a="http://schemas.openxmlformats.org/drawingml/2006/main" noGrp="1"/>
          </p:cNvSpPr>
          <p:nvPr/>
        </p:nvSpPr>
        <p:spPr>
          <a:xfrm xmlns:a="http://schemas.openxmlformats.org/drawingml/2006/main">
            <a:off x="1028700" y="322897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--check passes; Qwen key provisioned (mode 600)</a:t>
            </a:r>
          </a:p>
        </p:txBody>
      </p:sp>
      <p:sp>
        <p:nvSpPr>
          <p:cNvPr id="8" name="">
            <a:extLst xmlns:a="http://schemas.openxmlformats.org/drawingml/2006/main">
              <a:ext uri="{FF2B5EF4-FFF2-40B4-BE49-F238E27FC236}">
                <a16:creationId xmlns:a16="http://schemas.microsoft.com/office/drawing/2014/main" id="{32740D3B-2CFE-4BC3-A6B8-3CBA3CB76819}"/>
              </a:ext>
            </a:extLst>
          </p:cNvPr>
          <p:cNvSpPr>
            <a:spLocks xmlns:a="http://schemas.openxmlformats.org/drawingml/2006/main" noGrp="1"/>
          </p:cNvSpPr>
          <p:nvPr/>
        </p:nvSpPr>
        <p:spPr>
          <a:xfrm xmlns:a="http://schemas.openxmlformats.org/drawingml/2006/main">
            <a:off x="1028700" y="367665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text E2E: Qwen built + served a web app, URL LAN-verified</a:t>
            </a:r>
          </a:p>
        </p:txBody>
      </p:sp>
      <p:sp>
        <p:nvSpPr>
          <p:cNvPr id="9" name="">
            <a:extLst xmlns:a="http://schemas.openxmlformats.org/drawingml/2006/main">
              <a:ext uri="{FF2B5EF4-FFF2-40B4-BE49-F238E27FC236}">
                <a16:creationId xmlns:a16="http://schemas.microsoft.com/office/drawing/2014/main" id="{DC6CA949-3FDB-46F7-9ADF-D3CC35023917}"/>
              </a:ext>
            </a:extLst>
          </p:cNvPr>
          <p:cNvSpPr>
            <a:spLocks xmlns:a="http://schemas.openxmlformats.org/drawingml/2006/main" noGrp="1"/>
          </p:cNvSpPr>
          <p:nvPr/>
        </p:nvSpPr>
        <p:spPr>
          <a:xfrm xmlns:a="http://schemas.openxmlformats.org/drawingml/2006/main">
            <a:off x="1028700" y="4124325"/>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Dev box: Qwen web-app file creation + read-back; 4 tooling tests</a:t>
            </a:r>
          </a:p>
        </p:txBody>
      </p:sp>
      <p:sp>
        <p:nvSpPr>
          <p:cNvPr id="10" name="">
            <a:extLst xmlns:a="http://schemas.openxmlformats.org/drawingml/2006/main">
              <a:ext uri="{FF2B5EF4-FFF2-40B4-BE49-F238E27FC236}">
                <a16:creationId xmlns:a16="http://schemas.microsoft.com/office/drawing/2014/main" id="{D706D2F4-0A2E-42F2-87DC-B9A971EE331D}"/>
              </a:ext>
            </a:extLst>
          </p:cNvPr>
          <p:cNvSpPr>
            <a:spLocks xmlns:a="http://schemas.openxmlformats.org/drawingml/2006/main" noGrp="1"/>
          </p:cNvSpPr>
          <p:nvPr/>
        </p:nvSpPr>
        <p:spPr>
          <a:xfrm xmlns:a="http://schemas.openxmlformats.org/drawingml/2006/main">
            <a:off x="1028700" y="4572000"/>
            <a:ext cx="4191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All 4 MCP services + PortAudio smoke + v1.5 contract checks</a:t>
            </a:r>
          </a:p>
        </p:txBody>
      </p:sp>
      <p:sp>
        <p:nvSpPr>
          <p:cNvPr id="11" name="next-gates">
            <a:extLst xmlns:a="http://schemas.openxmlformats.org/drawingml/2006/main">
              <a:ext uri="{FF2B5EF4-FFF2-40B4-BE49-F238E27FC236}">
                <a16:creationId xmlns:a16="http://schemas.microsoft.com/office/drawing/2014/main" id="{E2050CB4-147F-4B5A-8A46-ABCD9016A4BF}"/>
              </a:ext>
            </a:extLst>
          </p:cNvPr>
          <p:cNvSpPr>
            <a:spLocks xmlns:a="http://schemas.openxmlformats.org/drawingml/2006/main" noGrp="1"/>
          </p:cNvSpPr>
          <p:nvPr/>
        </p:nvSpPr>
        <p:spPr>
          <a:xfrm xmlns:a="http://schemas.openxmlformats.org/drawingml/2006/main">
            <a:off x="6191250" y="2038350"/>
            <a:ext cx="5276850" cy="3429000"/>
          </a:xfrm>
          <a:prstGeom xmlns:a="http://schemas.openxmlformats.org/drawingml/2006/main" prst="roundRect">
            <a:avLst>
              <a:gd name="adj" fmla="val 3333"/>
            </a:avLst>
          </a:prstGeom>
          <a:solidFill xmlns:a="http://schemas.openxmlformats.org/drawingml/2006/main">
            <a:srgbClr val="14324A"/>
          </a:solidFill>
          <a:ln xmlns:a="http://schemas.openxmlformats.org/drawingml/2006/main" w="9525">
            <a:solidFill>
              <a:srgbClr val="FCD34D"/>
            </a:solidFill>
            <a:prstDash val="solid"/>
          </a:ln>
        </p:spPr>
      </p:sp>
      <p:sp>
        <p:nvSpPr>
          <p:cNvPr id="12" name="">
            <a:extLst xmlns:a="http://schemas.openxmlformats.org/drawingml/2006/main">
              <a:ext uri="{FF2B5EF4-FFF2-40B4-BE49-F238E27FC236}">
                <a16:creationId xmlns:a16="http://schemas.microsoft.com/office/drawing/2014/main" id="{CEA69267-0369-43E1-9AED-E6F2C58C1AD3}"/>
              </a:ext>
            </a:extLst>
          </p:cNvPr>
          <p:cNvSpPr>
            <a:spLocks xmlns:a="http://schemas.openxmlformats.org/drawingml/2006/main" noGrp="1"/>
          </p:cNvSpPr>
          <p:nvPr/>
        </p:nvSpPr>
        <p:spPr>
          <a:xfrm xmlns:a="http://schemas.openxmlformats.org/drawingml/2006/main">
            <a:off x="6496050" y="23241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FCD34D"/>
                </a:solidFill>
                <a:latin typeface="Arial"/>
                <a:ea typeface="Arial"/>
                <a:cs typeface="Arial"/>
              </a:defRPr>
            </a:defPPr>
            <a:lvl1pPr>
              <a:defRPr sz="1050" b="1">
                <a:solidFill>
                  <a:srgbClr val="FCD34D"/>
                </a:solidFill>
                <a:latin typeface="Arial"/>
                <a:ea typeface="Arial"/>
                <a:cs typeface="Arial"/>
              </a:defRPr>
            </a:lvl1pPr>
            <a:lvl2pPr>
              <a:defRPr sz="1050" b="1">
                <a:solidFill>
                  <a:srgbClr val="FCD34D"/>
                </a:solidFill>
                <a:latin typeface="Arial"/>
                <a:ea typeface="Arial"/>
                <a:cs typeface="Arial"/>
              </a:defRPr>
            </a:lvl2pPr>
            <a:lvl3pPr>
              <a:defRPr sz="1050" b="1">
                <a:solidFill>
                  <a:srgbClr val="FCD34D"/>
                </a:solidFill>
                <a:latin typeface="Arial"/>
                <a:ea typeface="Arial"/>
                <a:cs typeface="Arial"/>
              </a:defRPr>
            </a:lvl3pPr>
            <a:lvl4pPr>
              <a:defRPr sz="1050" b="1">
                <a:solidFill>
                  <a:srgbClr val="FCD34D"/>
                </a:solidFill>
                <a:latin typeface="Arial"/>
                <a:ea typeface="Arial"/>
                <a:cs typeface="Arial"/>
              </a:defRPr>
            </a:lvl4pPr>
            <a:lvl5pPr>
              <a:defRPr sz="1050" b="1">
                <a:solidFill>
                  <a:srgbClr val="FCD34D"/>
                </a:solidFill>
                <a:latin typeface="Arial"/>
                <a:ea typeface="Arial"/>
                <a:cs typeface="Arial"/>
              </a:defRPr>
            </a:lvl5pPr>
            <a:lvl6pPr>
              <a:defRPr sz="1050" b="1">
                <a:solidFill>
                  <a:srgbClr val="FCD34D"/>
                </a:solidFill>
                <a:latin typeface="Arial"/>
                <a:ea typeface="Arial"/>
                <a:cs typeface="Arial"/>
              </a:defRPr>
            </a:lvl6pPr>
            <a:lvl7pPr>
              <a:defRPr sz="1050" b="1">
                <a:solidFill>
                  <a:srgbClr val="FCD34D"/>
                </a:solidFill>
                <a:latin typeface="Arial"/>
                <a:ea typeface="Arial"/>
                <a:cs typeface="Arial"/>
              </a:defRPr>
            </a:lvl7pPr>
            <a:lvl8pPr>
              <a:defRPr sz="1050" b="1">
                <a:solidFill>
                  <a:srgbClr val="FCD34D"/>
                </a:solidFill>
                <a:latin typeface="Arial"/>
                <a:ea typeface="Arial"/>
                <a:cs typeface="Arial"/>
              </a:defRPr>
            </a:lvl8pPr>
            <a:lvl9pPr>
              <a:defRPr sz="1050" b="1">
                <a:solidFill>
                  <a:srgbClr val="FCD34D"/>
                </a:solidFill>
                <a:latin typeface="Arial"/>
                <a:ea typeface="Arial"/>
                <a:cs typeface="Arial"/>
              </a:defRPr>
            </a:lvl9pPr>
          </a:lstStyle>
          <a:p xmlns:a="http://schemas.openxmlformats.org/drawingml/2006/main">
            <a:pPr>
              <a:defRPr sz="1050" b="1">
                <a:solidFill>
                  <a:srgbClr val="FCD34D"/>
                </a:solidFill>
                <a:latin typeface="Arial"/>
                <a:ea typeface="Arial"/>
                <a:cs typeface="Arial"/>
              </a:defRPr>
            </a:pPr>
            <a:r>
              <a:rPr sz="1050" b="1">
                <a:solidFill>
                  <a:srgbClr val="FCD34D"/>
                </a:solidFill>
                <a:latin typeface="Arial"/>
                <a:ea typeface="Arial"/>
                <a:cs typeface="Arial"/>
              </a:rPr>
              <a:t>REMAINING GATES</a:t>
            </a:r>
          </a:p>
        </p:txBody>
      </p:sp>
      <p:sp>
        <p:nvSpPr>
          <p:cNvPr id="13" name="">
            <a:extLst xmlns:a="http://schemas.openxmlformats.org/drawingml/2006/main">
              <a:ext uri="{FF2B5EF4-FFF2-40B4-BE49-F238E27FC236}">
                <a16:creationId xmlns:a16="http://schemas.microsoft.com/office/drawing/2014/main" id="{B9AB26CE-8613-4C1B-ABB8-29AFEA00DCD6}"/>
              </a:ext>
            </a:extLst>
          </p:cNvPr>
          <p:cNvSpPr>
            <a:spLocks xmlns:a="http://schemas.openxmlformats.org/drawingml/2006/main" noGrp="1"/>
          </p:cNvSpPr>
          <p:nvPr/>
        </p:nvSpPr>
        <p:spPr>
          <a:xfrm xmlns:a="http://schemas.openxmlformats.org/drawingml/2006/main">
            <a:off x="6496050" y="278130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Pi live audio run on installed hardware (0 audio devices now)</a:t>
            </a:r>
          </a:p>
        </p:txBody>
      </p:sp>
      <p:sp>
        <p:nvSpPr>
          <p:cNvPr id="14" name="">
            <a:extLst xmlns:a="http://schemas.openxmlformats.org/drawingml/2006/main">
              <a:ext uri="{FF2B5EF4-FFF2-40B4-BE49-F238E27FC236}">
                <a16:creationId xmlns:a16="http://schemas.microsoft.com/office/drawing/2014/main" id="{A4810F6F-90BF-4D56-9D6F-B9BAB1BF4D16}"/>
              </a:ext>
            </a:extLst>
          </p:cNvPr>
          <p:cNvSpPr>
            <a:spLocks xmlns:a="http://schemas.openxmlformats.org/drawingml/2006/main" noGrp="1"/>
          </p:cNvSpPr>
          <p:nvPr/>
        </p:nvSpPr>
        <p:spPr>
          <a:xfrm xmlns:a="http://schemas.openxmlformats.org/drawingml/2006/main">
            <a:off x="6496050" y="3305175"/>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Clean, unaudited FULL-DUPLEX-BENCH v1.5 capture</a:t>
            </a:r>
          </a:p>
        </p:txBody>
      </p:sp>
      <p:sp>
        <p:nvSpPr>
          <p:cNvPr id="15" name="">
            <a:extLst xmlns:a="http://schemas.openxmlformats.org/drawingml/2006/main">
              <a:ext uri="{FF2B5EF4-FFF2-40B4-BE49-F238E27FC236}">
                <a16:creationId xmlns:a16="http://schemas.microsoft.com/office/drawing/2014/main" id="{8ACBDE0F-95D7-43FE-9C0D-4294B2717F34}"/>
              </a:ext>
            </a:extLst>
          </p:cNvPr>
          <p:cNvSpPr>
            <a:spLocks xmlns:a="http://schemas.openxmlformats.org/drawingml/2006/main" noGrp="1"/>
          </p:cNvSpPr>
          <p:nvPr/>
        </p:nvSpPr>
        <p:spPr>
          <a:xfrm xmlns:a="http://schemas.openxmlformats.org/drawingml/2006/main">
            <a:off x="6496050" y="3829050"/>
            <a:ext cx="45148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F7FAFC"/>
                </a:solidFill>
                <a:latin typeface="Arial"/>
                <a:ea typeface="Arial"/>
                <a:cs typeface="Arial"/>
              </a:defRPr>
            </a:defPPr>
            <a:lvl1pPr>
              <a:defRPr sz="1350">
                <a:solidFill>
                  <a:srgbClr val="F7FAFC"/>
                </a:solidFill>
                <a:latin typeface="Arial"/>
                <a:ea typeface="Arial"/>
                <a:cs typeface="Arial"/>
              </a:defRPr>
            </a:lvl1pPr>
            <a:lvl2pPr>
              <a:defRPr sz="1350">
                <a:solidFill>
                  <a:srgbClr val="F7FAFC"/>
                </a:solidFill>
                <a:latin typeface="Arial"/>
                <a:ea typeface="Arial"/>
                <a:cs typeface="Arial"/>
              </a:defRPr>
            </a:lvl2pPr>
            <a:lvl3pPr>
              <a:defRPr sz="1350">
                <a:solidFill>
                  <a:srgbClr val="F7FAFC"/>
                </a:solidFill>
                <a:latin typeface="Arial"/>
                <a:ea typeface="Arial"/>
                <a:cs typeface="Arial"/>
              </a:defRPr>
            </a:lvl3pPr>
            <a:lvl4pPr>
              <a:defRPr sz="1350">
                <a:solidFill>
                  <a:srgbClr val="F7FAFC"/>
                </a:solidFill>
                <a:latin typeface="Arial"/>
                <a:ea typeface="Arial"/>
                <a:cs typeface="Arial"/>
              </a:defRPr>
            </a:lvl4pPr>
            <a:lvl5pPr>
              <a:defRPr sz="1350">
                <a:solidFill>
                  <a:srgbClr val="F7FAFC"/>
                </a:solidFill>
                <a:latin typeface="Arial"/>
                <a:ea typeface="Arial"/>
                <a:cs typeface="Arial"/>
              </a:defRPr>
            </a:lvl5pPr>
            <a:lvl6pPr>
              <a:defRPr sz="1350">
                <a:solidFill>
                  <a:srgbClr val="F7FAFC"/>
                </a:solidFill>
                <a:latin typeface="Arial"/>
                <a:ea typeface="Arial"/>
                <a:cs typeface="Arial"/>
              </a:defRPr>
            </a:lvl6pPr>
            <a:lvl7pPr>
              <a:defRPr sz="1350">
                <a:solidFill>
                  <a:srgbClr val="F7FAFC"/>
                </a:solidFill>
                <a:latin typeface="Arial"/>
                <a:ea typeface="Arial"/>
                <a:cs typeface="Arial"/>
              </a:defRPr>
            </a:lvl7pPr>
            <a:lvl8pPr>
              <a:defRPr sz="1350">
                <a:solidFill>
                  <a:srgbClr val="F7FAFC"/>
                </a:solidFill>
                <a:latin typeface="Arial"/>
                <a:ea typeface="Arial"/>
                <a:cs typeface="Arial"/>
              </a:defRPr>
            </a:lvl8pPr>
            <a:lvl9pPr>
              <a:defRPr sz="1350">
                <a:solidFill>
                  <a:srgbClr val="F7FAFC"/>
                </a:solidFill>
                <a:latin typeface="Arial"/>
                <a:ea typeface="Arial"/>
                <a:cs typeface="Arial"/>
              </a:defRPr>
            </a:lvl9pPr>
          </a:lstStyle>
          <a:p xmlns:a="http://schemas.openxmlformats.org/drawingml/2006/main">
            <a:pPr>
              <a:defRPr sz="1350">
                <a:solidFill>
                  <a:srgbClr val="F7FAFC"/>
                </a:solidFill>
                <a:latin typeface="Arial"/>
                <a:ea typeface="Arial"/>
                <a:cs typeface="Arial"/>
              </a:defRPr>
            </a:pPr>
            <a:r>
              <a:rPr sz="1350">
                <a:solidFill>
                  <a:srgbClr val="F7FAFC"/>
                </a:solidFill>
                <a:latin typeface="Arial"/>
                <a:ea typeface="Arial"/>
                <a:cs typeface="Arial"/>
              </a:rPr>
              <a:t>•  HTTPS endpoint when an administrator provides one</a:t>
            </a:r>
          </a:p>
        </p:txBody>
      </p:sp>
      <p:sp>
        <p:nvSpPr>
          <p:cNvPr id="16" name="">
            <a:extLst xmlns:a="http://schemas.openxmlformats.org/drawingml/2006/main">
              <a:ext uri="{FF2B5EF4-FFF2-40B4-BE49-F238E27FC236}">
                <a16:creationId xmlns:a16="http://schemas.microsoft.com/office/drawing/2014/main" id="{C4563D94-B42E-4B98-852C-7A3486A350A2}"/>
              </a:ext>
            </a:extLst>
          </p:cNvPr>
          <p:cNvSpPr>
            <a:spLocks xmlns:a="http://schemas.openxmlformats.org/drawingml/2006/main" noGrp="1"/>
          </p:cNvSpPr>
          <p:nvPr/>
        </p:nvSpPr>
        <p:spPr>
          <a:xfrm xmlns:a="http://schemas.openxmlformats.org/drawingml/2006/main">
            <a:off x="6496050" y="48577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7F3D0"/>
                </a:solidFill>
                <a:latin typeface="Arial"/>
                <a:ea typeface="Arial"/>
                <a:cs typeface="Arial"/>
              </a:defRPr>
            </a:defPPr>
            <a:lvl1pPr>
              <a:defRPr sz="1500" b="1">
                <a:solidFill>
                  <a:srgbClr val="A7F3D0"/>
                </a:solidFill>
                <a:latin typeface="Arial"/>
                <a:ea typeface="Arial"/>
                <a:cs typeface="Arial"/>
              </a:defRPr>
            </a:lvl1pPr>
            <a:lvl2pPr>
              <a:defRPr sz="1500" b="1">
                <a:solidFill>
                  <a:srgbClr val="A7F3D0"/>
                </a:solidFill>
                <a:latin typeface="Arial"/>
                <a:ea typeface="Arial"/>
                <a:cs typeface="Arial"/>
              </a:defRPr>
            </a:lvl2pPr>
            <a:lvl3pPr>
              <a:defRPr sz="1500" b="1">
                <a:solidFill>
                  <a:srgbClr val="A7F3D0"/>
                </a:solidFill>
                <a:latin typeface="Arial"/>
                <a:ea typeface="Arial"/>
                <a:cs typeface="Arial"/>
              </a:defRPr>
            </a:lvl3pPr>
            <a:lvl4pPr>
              <a:defRPr sz="1500" b="1">
                <a:solidFill>
                  <a:srgbClr val="A7F3D0"/>
                </a:solidFill>
                <a:latin typeface="Arial"/>
                <a:ea typeface="Arial"/>
                <a:cs typeface="Arial"/>
              </a:defRPr>
            </a:lvl4pPr>
            <a:lvl5pPr>
              <a:defRPr sz="1500" b="1">
                <a:solidFill>
                  <a:srgbClr val="A7F3D0"/>
                </a:solidFill>
                <a:latin typeface="Arial"/>
                <a:ea typeface="Arial"/>
                <a:cs typeface="Arial"/>
              </a:defRPr>
            </a:lvl5pPr>
            <a:lvl6pPr>
              <a:defRPr sz="1500" b="1">
                <a:solidFill>
                  <a:srgbClr val="A7F3D0"/>
                </a:solidFill>
                <a:latin typeface="Arial"/>
                <a:ea typeface="Arial"/>
                <a:cs typeface="Arial"/>
              </a:defRPr>
            </a:lvl6pPr>
            <a:lvl7pPr>
              <a:defRPr sz="1500" b="1">
                <a:solidFill>
                  <a:srgbClr val="A7F3D0"/>
                </a:solidFill>
                <a:latin typeface="Arial"/>
                <a:ea typeface="Arial"/>
                <a:cs typeface="Arial"/>
              </a:defRPr>
            </a:lvl7pPr>
            <a:lvl8pPr>
              <a:defRPr sz="1500" b="1">
                <a:solidFill>
                  <a:srgbClr val="A7F3D0"/>
                </a:solidFill>
                <a:latin typeface="Arial"/>
                <a:ea typeface="Arial"/>
                <a:cs typeface="Arial"/>
              </a:defRPr>
            </a:lvl8pPr>
            <a:lvl9pPr>
              <a:defRPr sz="1500" b="1">
                <a:solidFill>
                  <a:srgbClr val="A7F3D0"/>
                </a:solidFill>
                <a:latin typeface="Arial"/>
                <a:ea typeface="Arial"/>
                <a:cs typeface="Arial"/>
              </a:defRPr>
            </a:lvl9pPr>
          </a:lstStyle>
          <a:p xmlns:a="http://schemas.openxmlformats.org/drawingml/2006/main">
            <a:pPr>
              <a:defRPr sz="1500" b="1">
                <a:solidFill>
                  <a:srgbClr val="A7F3D0"/>
                </a:solidFill>
                <a:latin typeface="Arial"/>
                <a:ea typeface="Arial"/>
                <a:cs typeface="Arial"/>
              </a:defRPr>
            </a:pPr>
            <a:r>
              <a:rPr sz="1500" b="1">
                <a:solidFill>
                  <a:srgbClr val="A7F3D0"/>
                </a:solidFill>
                <a:latin typeface="Arial"/>
                <a:ea typeface="Arial"/>
                <a:cs typeface="Arial"/>
              </a:rPr>
              <a:t>No training run is in the critical path.</a:t>
            </a:r>
          </a:p>
        </p:txBody>
      </p:sp>
      <p:sp>
        <p:nvSpPr>
          <p:cNvPr id="17" name="">
            <a:extLst xmlns:a="http://schemas.openxmlformats.org/drawingml/2006/main">
              <a:ext uri="{FF2B5EF4-FFF2-40B4-BE49-F238E27FC236}">
                <a16:creationId xmlns:a16="http://schemas.microsoft.com/office/drawing/2014/main" id="{3FC74015-0B37-4909-8E07-9DA1E07235CC}"/>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6/7</a:t>
            </a:r>
          </a:p>
        </p:txBody>
      </p:sp>
    </p:spTree>
    <p:extLst>
      <p:ext uri="{BB962C8B-B14F-4D97-AF65-F5344CB8AC3E}">
        <p14:creationId xmlns:p14="http://schemas.microsoft.com/office/powerpoint/2010/main" val="881373570"/>
      </p:ext>
    </p:extLst>
  </p:cSld>
</p:sld>
</file>

<file path=ppt/slides/slide7.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10" name="close-rule">
            <a:extLst xmlns:a="http://schemas.openxmlformats.org/drawingml/2006/main">
              <a:ext uri="{FF2B5EF4-FFF2-40B4-BE49-F238E27FC236}">
                <a16:creationId xmlns:a16="http://schemas.microsoft.com/office/drawing/2014/main" id="{6EB30743-3A83-4154-990A-4946EE798641}"/>
              </a:ext>
            </a:extLst>
          </p:cNvPr>
          <p:cNvSpPr>
            <a:spLocks xmlns:a="http://schemas.openxmlformats.org/drawingml/2006/main" noGrp="1"/>
          </p:cNvSpPr>
          <p:nvPr/>
        </p:nvSpPr>
        <p:spPr>
          <a:xfrm xmlns:a="http://schemas.openxmlformats.org/drawingml/2006/main">
            <a:off x="609600" y="609600"/>
            <a:ext cx="95250" cy="5334000"/>
          </a:xfrm>
          <a:prstGeom xmlns:a="http://schemas.openxmlformats.org/drawingml/2006/main" prst="rect">
            <a:avLst/>
          </a:prstGeom>
          <a:solidFill xmlns:a="http://schemas.openxmlformats.org/drawingml/2006/main">
            <a:srgbClr val="5EEAD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1E990D-6962-42F9-94F2-873D1F523929}"/>
              </a:ext>
            </a:extLst>
          </p:cNvPr>
          <p:cNvSpPr>
            <a:spLocks xmlns:a="http://schemas.openxmlformats.org/drawingml/2006/main" noGrp="1"/>
          </p:cNvSpPr>
          <p:nvPr/>
        </p:nvSpPr>
        <p:spPr>
          <a:xfrm xmlns:a="http://schemas.openxmlformats.org/drawingml/2006/main">
            <a:off x="1066800" y="933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EEAD4"/>
                </a:solidFill>
                <a:latin typeface="Arial"/>
                <a:ea typeface="Arial"/>
                <a:cs typeface="Arial"/>
              </a:defRPr>
            </a:defPPr>
            <a:lvl1pPr>
              <a:defRPr sz="1050" b="1">
                <a:solidFill>
                  <a:srgbClr val="5EEAD4"/>
                </a:solidFill>
                <a:latin typeface="Arial"/>
                <a:ea typeface="Arial"/>
                <a:cs typeface="Arial"/>
              </a:defRPr>
            </a:lvl1pPr>
            <a:lvl2pPr>
              <a:defRPr sz="1050" b="1">
                <a:solidFill>
                  <a:srgbClr val="5EEAD4"/>
                </a:solidFill>
                <a:latin typeface="Arial"/>
                <a:ea typeface="Arial"/>
                <a:cs typeface="Arial"/>
              </a:defRPr>
            </a:lvl2pPr>
            <a:lvl3pPr>
              <a:defRPr sz="1050" b="1">
                <a:solidFill>
                  <a:srgbClr val="5EEAD4"/>
                </a:solidFill>
                <a:latin typeface="Arial"/>
                <a:ea typeface="Arial"/>
                <a:cs typeface="Arial"/>
              </a:defRPr>
            </a:lvl3pPr>
            <a:lvl4pPr>
              <a:defRPr sz="1050" b="1">
                <a:solidFill>
                  <a:srgbClr val="5EEAD4"/>
                </a:solidFill>
                <a:latin typeface="Arial"/>
                <a:ea typeface="Arial"/>
                <a:cs typeface="Arial"/>
              </a:defRPr>
            </a:lvl4pPr>
            <a:lvl5pPr>
              <a:defRPr sz="1050" b="1">
                <a:solidFill>
                  <a:srgbClr val="5EEAD4"/>
                </a:solidFill>
                <a:latin typeface="Arial"/>
                <a:ea typeface="Arial"/>
                <a:cs typeface="Arial"/>
              </a:defRPr>
            </a:lvl5pPr>
            <a:lvl6pPr>
              <a:defRPr sz="1050" b="1">
                <a:solidFill>
                  <a:srgbClr val="5EEAD4"/>
                </a:solidFill>
                <a:latin typeface="Arial"/>
                <a:ea typeface="Arial"/>
                <a:cs typeface="Arial"/>
              </a:defRPr>
            </a:lvl6pPr>
            <a:lvl7pPr>
              <a:defRPr sz="1050" b="1">
                <a:solidFill>
                  <a:srgbClr val="5EEAD4"/>
                </a:solidFill>
                <a:latin typeface="Arial"/>
                <a:ea typeface="Arial"/>
                <a:cs typeface="Arial"/>
              </a:defRPr>
            </a:lvl7pPr>
            <a:lvl8pPr>
              <a:defRPr sz="1050" b="1">
                <a:solidFill>
                  <a:srgbClr val="5EEAD4"/>
                </a:solidFill>
                <a:latin typeface="Arial"/>
                <a:ea typeface="Arial"/>
                <a:cs typeface="Arial"/>
              </a:defRPr>
            </a:lvl8pPr>
            <a:lvl9pPr>
              <a:defRPr sz="1050" b="1">
                <a:solidFill>
                  <a:srgbClr val="5EEAD4"/>
                </a:solidFill>
                <a:latin typeface="Arial"/>
                <a:ea typeface="Arial"/>
                <a:cs typeface="Arial"/>
              </a:defRPr>
            </a:lvl9pPr>
          </a:lstStyle>
          <a:p xmlns:a="http://schemas.openxmlformats.org/drawingml/2006/main">
            <a:pPr>
              <a:defRPr sz="1050" b="1">
                <a:solidFill>
                  <a:srgbClr val="5EEAD4"/>
                </a:solidFill>
                <a:latin typeface="Arial"/>
                <a:ea typeface="Arial"/>
                <a:cs typeface="Arial"/>
              </a:defRPr>
            </a:pPr>
            <a:r>
              <a:rPr sz="1050" b="1">
                <a:solidFill>
                  <a:srgbClr val="5EEAD4"/>
                </a:solidFill>
                <a:latin typeface="Arial"/>
                <a:ea typeface="Arial"/>
                <a:cs typeface="Arial"/>
              </a:rPr>
              <a:t>THE TAKEAWAY</a:t>
            </a:r>
          </a:p>
        </p:txBody>
      </p:sp>
      <p:sp>
        <p:nvSpPr>
          <p:cNvPr id="3" name="">
            <a:extLst xmlns:a="http://schemas.openxmlformats.org/drawingml/2006/main">
              <a:ext uri="{FF2B5EF4-FFF2-40B4-BE49-F238E27FC236}">
                <a16:creationId xmlns:a16="http://schemas.microsoft.com/office/drawing/2014/main" id="{B9457CD6-CD61-47A7-88FD-C4CF33A4D4E4}"/>
              </a:ext>
            </a:extLst>
          </p:cNvPr>
          <p:cNvSpPr>
            <a:spLocks xmlns:a="http://schemas.openxmlformats.org/drawingml/2006/main" noGrp="1"/>
          </p:cNvSpPr>
          <p:nvPr/>
        </p:nvSpPr>
        <p:spPr>
          <a:xfrm xmlns:a="http://schemas.openxmlformats.org/drawingml/2006/main">
            <a:off x="1066800" y="146685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F7FAFC"/>
                </a:solidFill>
                <a:latin typeface="Arial"/>
                <a:ea typeface="Arial"/>
                <a:cs typeface="Arial"/>
              </a:defRPr>
            </a:defPPr>
            <a:lvl1pPr>
              <a:defRPr sz="3450" b="1">
                <a:solidFill>
                  <a:srgbClr val="F7FAFC"/>
                </a:solidFill>
                <a:latin typeface="Arial"/>
                <a:ea typeface="Arial"/>
                <a:cs typeface="Arial"/>
              </a:defRPr>
            </a:lvl1pPr>
            <a:lvl2pPr>
              <a:defRPr sz="3450" b="1">
                <a:solidFill>
                  <a:srgbClr val="F7FAFC"/>
                </a:solidFill>
                <a:latin typeface="Arial"/>
                <a:ea typeface="Arial"/>
                <a:cs typeface="Arial"/>
              </a:defRPr>
            </a:lvl2pPr>
            <a:lvl3pPr>
              <a:defRPr sz="3450" b="1">
                <a:solidFill>
                  <a:srgbClr val="F7FAFC"/>
                </a:solidFill>
                <a:latin typeface="Arial"/>
                <a:ea typeface="Arial"/>
                <a:cs typeface="Arial"/>
              </a:defRPr>
            </a:lvl3pPr>
            <a:lvl4pPr>
              <a:defRPr sz="3450" b="1">
                <a:solidFill>
                  <a:srgbClr val="F7FAFC"/>
                </a:solidFill>
                <a:latin typeface="Arial"/>
                <a:ea typeface="Arial"/>
                <a:cs typeface="Arial"/>
              </a:defRPr>
            </a:lvl4pPr>
            <a:lvl5pPr>
              <a:defRPr sz="3450" b="1">
                <a:solidFill>
                  <a:srgbClr val="F7FAFC"/>
                </a:solidFill>
                <a:latin typeface="Arial"/>
                <a:ea typeface="Arial"/>
                <a:cs typeface="Arial"/>
              </a:defRPr>
            </a:lvl5pPr>
            <a:lvl6pPr>
              <a:defRPr sz="3450" b="1">
                <a:solidFill>
                  <a:srgbClr val="F7FAFC"/>
                </a:solidFill>
                <a:latin typeface="Arial"/>
                <a:ea typeface="Arial"/>
                <a:cs typeface="Arial"/>
              </a:defRPr>
            </a:lvl6pPr>
            <a:lvl7pPr>
              <a:defRPr sz="3450" b="1">
                <a:solidFill>
                  <a:srgbClr val="F7FAFC"/>
                </a:solidFill>
                <a:latin typeface="Arial"/>
                <a:ea typeface="Arial"/>
                <a:cs typeface="Arial"/>
              </a:defRPr>
            </a:lvl7pPr>
            <a:lvl8pPr>
              <a:defRPr sz="3450" b="1">
                <a:solidFill>
                  <a:srgbClr val="F7FAFC"/>
                </a:solidFill>
                <a:latin typeface="Arial"/>
                <a:ea typeface="Arial"/>
                <a:cs typeface="Arial"/>
              </a:defRPr>
            </a:lvl8pPr>
            <a:lvl9pPr>
              <a:defRPr sz="3450" b="1">
                <a:solidFill>
                  <a:srgbClr val="F7FAFC"/>
                </a:solidFill>
                <a:latin typeface="Arial"/>
                <a:ea typeface="Arial"/>
                <a:cs typeface="Arial"/>
              </a:defRPr>
            </a:lvl9pPr>
          </a:lstStyle>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 voice agent becomes</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useful when it can act</a:t>
            </a:r>
          </a:p>
          <a:p xmlns:a="http://schemas.openxmlformats.org/drawingml/2006/main">
            <a:pPr>
              <a:defRPr sz="3450" b="1">
                <a:solidFill>
                  <a:srgbClr val="F7FAFC"/>
                </a:solidFill>
                <a:latin typeface="Arial"/>
                <a:ea typeface="Arial"/>
                <a:cs typeface="Arial"/>
              </a:defRPr>
            </a:pPr>
            <a:r>
              <a:rPr sz="3450" b="1">
                <a:solidFill>
                  <a:srgbClr val="F7FAFC"/>
                </a:solidFill>
                <a:latin typeface="Arial"/>
                <a:ea typeface="Arial"/>
                <a:cs typeface="Arial"/>
              </a:rPr>
              <a:t>and show its work.</a:t>
            </a:r>
          </a:p>
        </p:txBody>
      </p:sp>
      <p:sp>
        <p:nvSpPr>
          <p:cNvPr id="4" name="">
            <a:extLst xmlns:a="http://schemas.openxmlformats.org/drawingml/2006/main">
              <a:ext uri="{FF2B5EF4-FFF2-40B4-BE49-F238E27FC236}">
                <a16:creationId xmlns:a16="http://schemas.microsoft.com/office/drawing/2014/main" id="{096208DB-587F-404A-9F0C-C71634A86108}"/>
              </a:ext>
            </a:extLst>
          </p:cNvPr>
          <p:cNvSpPr>
            <a:spLocks xmlns:a="http://schemas.openxmlformats.org/drawingml/2006/main" noGrp="1"/>
          </p:cNvSpPr>
          <p:nvPr/>
        </p:nvSpPr>
        <p:spPr>
          <a:xfrm xmlns:a="http://schemas.openxmlformats.org/drawingml/2006/main">
            <a:off x="1104900" y="3409950"/>
            <a:ext cx="666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a:solidFill>
                  <a:srgbClr val="A8B8CA"/>
                </a:solidFill>
                <a:latin typeface="Arial"/>
                <a:ea typeface="Arial"/>
                <a:cs typeface="Arial"/>
              </a:defRPr>
            </a:defPPr>
            <a:lvl1pPr>
              <a:defRPr sz="1650">
                <a:solidFill>
                  <a:srgbClr val="A8B8CA"/>
                </a:solidFill>
                <a:latin typeface="Arial"/>
                <a:ea typeface="Arial"/>
                <a:cs typeface="Arial"/>
              </a:defRPr>
            </a:lvl1pPr>
            <a:lvl2pPr>
              <a:defRPr sz="1650">
                <a:solidFill>
                  <a:srgbClr val="A8B8CA"/>
                </a:solidFill>
                <a:latin typeface="Arial"/>
                <a:ea typeface="Arial"/>
                <a:cs typeface="Arial"/>
              </a:defRPr>
            </a:lvl2pPr>
            <a:lvl3pPr>
              <a:defRPr sz="1650">
                <a:solidFill>
                  <a:srgbClr val="A8B8CA"/>
                </a:solidFill>
                <a:latin typeface="Arial"/>
                <a:ea typeface="Arial"/>
                <a:cs typeface="Arial"/>
              </a:defRPr>
            </a:lvl3pPr>
            <a:lvl4pPr>
              <a:defRPr sz="1650">
                <a:solidFill>
                  <a:srgbClr val="A8B8CA"/>
                </a:solidFill>
                <a:latin typeface="Arial"/>
                <a:ea typeface="Arial"/>
                <a:cs typeface="Arial"/>
              </a:defRPr>
            </a:lvl4pPr>
            <a:lvl5pPr>
              <a:defRPr sz="1650">
                <a:solidFill>
                  <a:srgbClr val="A8B8CA"/>
                </a:solidFill>
                <a:latin typeface="Arial"/>
                <a:ea typeface="Arial"/>
                <a:cs typeface="Arial"/>
              </a:defRPr>
            </a:lvl5pPr>
            <a:lvl6pPr>
              <a:defRPr sz="1650">
                <a:solidFill>
                  <a:srgbClr val="A8B8CA"/>
                </a:solidFill>
                <a:latin typeface="Arial"/>
                <a:ea typeface="Arial"/>
                <a:cs typeface="Arial"/>
              </a:defRPr>
            </a:lvl6pPr>
            <a:lvl7pPr>
              <a:defRPr sz="1650">
                <a:solidFill>
                  <a:srgbClr val="A8B8CA"/>
                </a:solidFill>
                <a:latin typeface="Arial"/>
                <a:ea typeface="Arial"/>
                <a:cs typeface="Arial"/>
              </a:defRPr>
            </a:lvl7pPr>
            <a:lvl8pPr>
              <a:defRPr sz="1650">
                <a:solidFill>
                  <a:srgbClr val="A8B8CA"/>
                </a:solidFill>
                <a:latin typeface="Arial"/>
                <a:ea typeface="Arial"/>
                <a:cs typeface="Arial"/>
              </a:defRPr>
            </a:lvl8pPr>
            <a:lvl9pPr>
              <a:defRPr sz="1650">
                <a:solidFill>
                  <a:srgbClr val="A8B8CA"/>
                </a:solidFill>
                <a:latin typeface="Arial"/>
                <a:ea typeface="Arial"/>
                <a:cs typeface="Arial"/>
              </a:defRPr>
            </a:lvl9pPr>
          </a:lstStyle>
          <a:p xmlns:a="http://schemas.openxmlformats.org/drawingml/2006/main">
            <a:pPr>
              <a:defRPr sz="1650">
                <a:solidFill>
                  <a:srgbClr val="A8B8CA"/>
                </a:solidFill>
                <a:latin typeface="Arial"/>
                <a:ea typeface="Arial"/>
                <a:cs typeface="Arial"/>
              </a:defRPr>
            </a:pPr>
            <a:r>
              <a:rPr sz="1650">
                <a:solidFill>
                  <a:srgbClr val="A8B8CA"/>
                </a:solidFill>
                <a:latin typeface="Arial"/>
                <a:ea typeface="Arial"/>
                <a:cs typeface="Arial"/>
              </a:rPr>
              <a:t>ME3 combines full-duplex audio, Qwen inference, typed tools, and verification into a deployable Raspberry Pi workflow.</a:t>
            </a:r>
          </a:p>
        </p:txBody>
      </p:sp>
      <p:sp>
        <p:nvSpPr>
          <p:cNvPr id="5" name="close-card">
            <a:extLst xmlns:a="http://schemas.openxmlformats.org/drawingml/2006/main">
              <a:ext uri="{FF2B5EF4-FFF2-40B4-BE49-F238E27FC236}">
                <a16:creationId xmlns:a16="http://schemas.microsoft.com/office/drawing/2014/main" id="{36C098E6-10F0-48EB-A177-D0263EC0C997}"/>
              </a:ext>
            </a:extLst>
          </p:cNvPr>
          <p:cNvSpPr>
            <a:spLocks xmlns:a="http://schemas.openxmlformats.org/drawingml/2006/main" noGrp="1"/>
          </p:cNvSpPr>
          <p:nvPr/>
        </p:nvSpPr>
        <p:spPr>
          <a:xfrm xmlns:a="http://schemas.openxmlformats.org/drawingml/2006/main">
            <a:off x="8572500" y="1524000"/>
            <a:ext cx="2381250" cy="2381250"/>
          </a:xfrm>
          <a:prstGeom xmlns:a="http://schemas.openxmlformats.org/drawingml/2006/main" prst="roundRect">
            <a:avLst>
              <a:gd name="adj" fmla="val 4800"/>
            </a:avLst>
          </a:prstGeom>
          <a:solidFill xmlns:a="http://schemas.openxmlformats.org/drawingml/2006/main">
            <a:srgbClr val="14324A"/>
          </a:solidFill>
          <a:ln xmlns:a="http://schemas.openxmlformats.org/drawingml/2006/main" w="9525">
            <a:solidFill>
              <a:srgbClr val="60A5FA"/>
            </a:solidFill>
            <a:prstDash val="solid"/>
          </a:ln>
        </p:spPr>
      </p:sp>
      <p:sp>
        <p:nvSpPr>
          <p:cNvPr id="6" name="">
            <a:extLst xmlns:a="http://schemas.openxmlformats.org/drawingml/2006/main">
              <a:ext uri="{FF2B5EF4-FFF2-40B4-BE49-F238E27FC236}">
                <a16:creationId xmlns:a16="http://schemas.microsoft.com/office/drawing/2014/main" id="{8F19D40E-D43A-4BA9-9AE1-AE9EE58D4A1E}"/>
              </a:ext>
            </a:extLst>
          </p:cNvPr>
          <p:cNvSpPr>
            <a:spLocks xmlns:a="http://schemas.openxmlformats.org/drawingml/2006/main" noGrp="1"/>
          </p:cNvSpPr>
          <p:nvPr/>
        </p:nvSpPr>
        <p:spPr>
          <a:xfrm xmlns:a="http://schemas.openxmlformats.org/drawingml/2006/main">
            <a:off x="8896350" y="1857375"/>
            <a:ext cx="180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60A5FA"/>
                </a:solidFill>
                <a:latin typeface="Arial"/>
                <a:ea typeface="Arial"/>
                <a:cs typeface="Arial"/>
              </a:defRPr>
            </a:defPPr>
            <a:lvl1pPr>
              <a:defRPr sz="1875" b="1">
                <a:solidFill>
                  <a:srgbClr val="60A5FA"/>
                </a:solidFill>
                <a:latin typeface="Arial"/>
                <a:ea typeface="Arial"/>
                <a:cs typeface="Arial"/>
              </a:defRPr>
            </a:lvl1pPr>
            <a:lvl2pPr>
              <a:defRPr sz="1875" b="1">
                <a:solidFill>
                  <a:srgbClr val="60A5FA"/>
                </a:solidFill>
                <a:latin typeface="Arial"/>
                <a:ea typeface="Arial"/>
                <a:cs typeface="Arial"/>
              </a:defRPr>
            </a:lvl2pPr>
            <a:lvl3pPr>
              <a:defRPr sz="1875" b="1">
                <a:solidFill>
                  <a:srgbClr val="60A5FA"/>
                </a:solidFill>
                <a:latin typeface="Arial"/>
                <a:ea typeface="Arial"/>
                <a:cs typeface="Arial"/>
              </a:defRPr>
            </a:lvl3pPr>
            <a:lvl4pPr>
              <a:defRPr sz="1875" b="1">
                <a:solidFill>
                  <a:srgbClr val="60A5FA"/>
                </a:solidFill>
                <a:latin typeface="Arial"/>
                <a:ea typeface="Arial"/>
                <a:cs typeface="Arial"/>
              </a:defRPr>
            </a:lvl4pPr>
            <a:lvl5pPr>
              <a:defRPr sz="1875" b="1">
                <a:solidFill>
                  <a:srgbClr val="60A5FA"/>
                </a:solidFill>
                <a:latin typeface="Arial"/>
                <a:ea typeface="Arial"/>
                <a:cs typeface="Arial"/>
              </a:defRPr>
            </a:lvl5pPr>
            <a:lvl6pPr>
              <a:defRPr sz="1875" b="1">
                <a:solidFill>
                  <a:srgbClr val="60A5FA"/>
                </a:solidFill>
                <a:latin typeface="Arial"/>
                <a:ea typeface="Arial"/>
                <a:cs typeface="Arial"/>
              </a:defRPr>
            </a:lvl6pPr>
            <a:lvl7pPr>
              <a:defRPr sz="1875" b="1">
                <a:solidFill>
                  <a:srgbClr val="60A5FA"/>
                </a:solidFill>
                <a:latin typeface="Arial"/>
                <a:ea typeface="Arial"/>
                <a:cs typeface="Arial"/>
              </a:defRPr>
            </a:lvl7pPr>
            <a:lvl8pPr>
              <a:defRPr sz="1875" b="1">
                <a:solidFill>
                  <a:srgbClr val="60A5FA"/>
                </a:solidFill>
                <a:latin typeface="Arial"/>
                <a:ea typeface="Arial"/>
                <a:cs typeface="Arial"/>
              </a:defRPr>
            </a:lvl8pPr>
            <a:lvl9pPr>
              <a:defRPr sz="1875" b="1">
                <a:solidFill>
                  <a:srgbClr val="60A5FA"/>
                </a:solidFill>
                <a:latin typeface="Arial"/>
                <a:ea typeface="Arial"/>
                <a:cs typeface="Arial"/>
              </a:defRPr>
            </a:lvl9pPr>
          </a:lstStyle>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VOICE</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TOOLS</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a:t>
            </a:r>
          </a:p>
          <a:p xmlns:a="http://schemas.openxmlformats.org/drawingml/2006/main">
            <a:pPr>
              <a:defRPr sz="1875" b="1">
                <a:solidFill>
                  <a:srgbClr val="60A5FA"/>
                </a:solidFill>
                <a:latin typeface="Arial"/>
                <a:ea typeface="Arial"/>
                <a:cs typeface="Arial"/>
              </a:defRPr>
            </a:pPr>
            <a:r>
              <a:rPr sz="1875" b="1">
                <a:solidFill>
                  <a:srgbClr val="60A5FA"/>
                </a:solidFill>
                <a:latin typeface="Arial"/>
                <a:ea typeface="Arial"/>
                <a:cs typeface="Arial"/>
              </a:rPr>
              <a:t>EVIDENCE</a:t>
            </a:r>
          </a:p>
        </p:txBody>
      </p:sp>
      <p:sp>
        <p:nvSpPr>
          <p:cNvPr id="7" name="">
            <a:extLst xmlns:a="http://schemas.openxmlformats.org/drawingml/2006/main">
              <a:ext uri="{FF2B5EF4-FFF2-40B4-BE49-F238E27FC236}">
                <a16:creationId xmlns:a16="http://schemas.microsoft.com/office/drawing/2014/main" id="{7B931512-4FBD-4F34-8FC7-E1E7D5536D86}"/>
              </a:ext>
            </a:extLst>
          </p:cNvPr>
          <p:cNvSpPr>
            <a:spLocks xmlns:a="http://schemas.openxmlformats.org/drawingml/2006/main" noGrp="1"/>
          </p:cNvSpPr>
          <p:nvPr/>
        </p:nvSpPr>
        <p:spPr>
          <a:xfrm xmlns:a="http://schemas.openxmlformats.org/drawingml/2006/main">
            <a:off x="1104900" y="514350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A7F3D0"/>
                </a:solidFill>
                <a:latin typeface="Arial"/>
                <a:ea typeface="Arial"/>
                <a:cs typeface="Arial"/>
              </a:defRPr>
            </a:defPPr>
            <a:lvl1pPr>
              <a:defRPr sz="1425" b="1">
                <a:solidFill>
                  <a:srgbClr val="A7F3D0"/>
                </a:solidFill>
                <a:latin typeface="Arial"/>
                <a:ea typeface="Arial"/>
                <a:cs typeface="Arial"/>
              </a:defRPr>
            </a:lvl1pPr>
            <a:lvl2pPr>
              <a:defRPr sz="1425" b="1">
                <a:solidFill>
                  <a:srgbClr val="A7F3D0"/>
                </a:solidFill>
                <a:latin typeface="Arial"/>
                <a:ea typeface="Arial"/>
                <a:cs typeface="Arial"/>
              </a:defRPr>
            </a:lvl2pPr>
            <a:lvl3pPr>
              <a:defRPr sz="1425" b="1">
                <a:solidFill>
                  <a:srgbClr val="A7F3D0"/>
                </a:solidFill>
                <a:latin typeface="Arial"/>
                <a:ea typeface="Arial"/>
                <a:cs typeface="Arial"/>
              </a:defRPr>
            </a:lvl3pPr>
            <a:lvl4pPr>
              <a:defRPr sz="1425" b="1">
                <a:solidFill>
                  <a:srgbClr val="A7F3D0"/>
                </a:solidFill>
                <a:latin typeface="Arial"/>
                <a:ea typeface="Arial"/>
                <a:cs typeface="Arial"/>
              </a:defRPr>
            </a:lvl4pPr>
            <a:lvl5pPr>
              <a:defRPr sz="1425" b="1">
                <a:solidFill>
                  <a:srgbClr val="A7F3D0"/>
                </a:solidFill>
                <a:latin typeface="Arial"/>
                <a:ea typeface="Arial"/>
                <a:cs typeface="Arial"/>
              </a:defRPr>
            </a:lvl5pPr>
            <a:lvl6pPr>
              <a:defRPr sz="1425" b="1">
                <a:solidFill>
                  <a:srgbClr val="A7F3D0"/>
                </a:solidFill>
                <a:latin typeface="Arial"/>
                <a:ea typeface="Arial"/>
                <a:cs typeface="Arial"/>
              </a:defRPr>
            </a:lvl6pPr>
            <a:lvl7pPr>
              <a:defRPr sz="1425" b="1">
                <a:solidFill>
                  <a:srgbClr val="A7F3D0"/>
                </a:solidFill>
                <a:latin typeface="Arial"/>
                <a:ea typeface="Arial"/>
                <a:cs typeface="Arial"/>
              </a:defRPr>
            </a:lvl7pPr>
            <a:lvl8pPr>
              <a:defRPr sz="1425" b="1">
                <a:solidFill>
                  <a:srgbClr val="A7F3D0"/>
                </a:solidFill>
                <a:latin typeface="Arial"/>
                <a:ea typeface="Arial"/>
                <a:cs typeface="Arial"/>
              </a:defRPr>
            </a:lvl8pPr>
            <a:lvl9pPr>
              <a:defRPr sz="1425" b="1">
                <a:solidFill>
                  <a:srgbClr val="A7F3D0"/>
                </a:solidFill>
                <a:latin typeface="Arial"/>
                <a:ea typeface="Arial"/>
                <a:cs typeface="Arial"/>
              </a:defRPr>
            </a:lvl9pPr>
          </a:lstStyle>
          <a:p xmlns:a="http://schemas.openxmlformats.org/drawingml/2006/main">
            <a:pPr>
              <a:defRPr sz="1425" b="1">
                <a:solidFill>
                  <a:srgbClr val="A7F3D0"/>
                </a:solidFill>
                <a:latin typeface="Arial"/>
                <a:ea typeface="Arial"/>
                <a:cs typeface="Arial"/>
              </a:defRPr>
            </a:pPr>
            <a:r>
              <a:rPr sz="1425" b="1">
                <a:solidFill>
                  <a:srgbClr val="A7F3D0"/>
                </a:solidFill>
                <a:latin typeface="Arial"/>
                <a:ea typeface="Arial"/>
                <a:cs typeface="Arial"/>
              </a:rPr>
              <a:t>Next: Pi audio + clean benchmark</a:t>
            </a:r>
          </a:p>
        </p:txBody>
      </p:sp>
      <p:sp>
        <p:nvSpPr>
          <p:cNvPr id="8" name="">
            <a:extLst xmlns:a="http://schemas.openxmlformats.org/drawingml/2006/main">
              <a:ext uri="{FF2B5EF4-FFF2-40B4-BE49-F238E27FC236}">
                <a16:creationId xmlns:a16="http://schemas.microsoft.com/office/drawing/2014/main" id="{798C16A1-36F8-4036-8059-73163E5BAEBD}"/>
              </a:ext>
            </a:extLst>
          </p:cNvPr>
          <p:cNvSpPr>
            <a:spLocks xmlns:a="http://schemas.openxmlformats.org/drawingml/2006/main" noGrp="1"/>
          </p:cNvSpPr>
          <p:nvPr/>
        </p:nvSpPr>
        <p:spPr>
          <a:xfrm xmlns:a="http://schemas.openxmlformats.org/drawingml/2006/main">
            <a:off x="1104900" y="56197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a:solidFill>
                  <a:srgbClr val="A8B8CA"/>
                </a:solidFill>
                <a:latin typeface="Arial"/>
                <a:ea typeface="Arial"/>
                <a:cs typeface="Arial"/>
              </a:defRPr>
            </a:defPPr>
            <a:lvl1pPr>
              <a:defRPr sz="1200">
                <a:solidFill>
                  <a:srgbClr val="A8B8CA"/>
                </a:solidFill>
                <a:latin typeface="Arial"/>
                <a:ea typeface="Arial"/>
                <a:cs typeface="Arial"/>
              </a:defRPr>
            </a:lvl1pPr>
            <a:lvl2pPr>
              <a:defRPr sz="1200">
                <a:solidFill>
                  <a:srgbClr val="A8B8CA"/>
                </a:solidFill>
                <a:latin typeface="Arial"/>
                <a:ea typeface="Arial"/>
                <a:cs typeface="Arial"/>
              </a:defRPr>
            </a:lvl2pPr>
            <a:lvl3pPr>
              <a:defRPr sz="1200">
                <a:solidFill>
                  <a:srgbClr val="A8B8CA"/>
                </a:solidFill>
                <a:latin typeface="Arial"/>
                <a:ea typeface="Arial"/>
                <a:cs typeface="Arial"/>
              </a:defRPr>
            </a:lvl3pPr>
            <a:lvl4pPr>
              <a:defRPr sz="1200">
                <a:solidFill>
                  <a:srgbClr val="A8B8CA"/>
                </a:solidFill>
                <a:latin typeface="Arial"/>
                <a:ea typeface="Arial"/>
                <a:cs typeface="Arial"/>
              </a:defRPr>
            </a:lvl4pPr>
            <a:lvl5pPr>
              <a:defRPr sz="1200">
                <a:solidFill>
                  <a:srgbClr val="A8B8CA"/>
                </a:solidFill>
                <a:latin typeface="Arial"/>
                <a:ea typeface="Arial"/>
                <a:cs typeface="Arial"/>
              </a:defRPr>
            </a:lvl5pPr>
            <a:lvl6pPr>
              <a:defRPr sz="1200">
                <a:solidFill>
                  <a:srgbClr val="A8B8CA"/>
                </a:solidFill>
                <a:latin typeface="Arial"/>
                <a:ea typeface="Arial"/>
                <a:cs typeface="Arial"/>
              </a:defRPr>
            </a:lvl6pPr>
            <a:lvl7pPr>
              <a:defRPr sz="1200">
                <a:solidFill>
                  <a:srgbClr val="A8B8CA"/>
                </a:solidFill>
                <a:latin typeface="Arial"/>
                <a:ea typeface="Arial"/>
                <a:cs typeface="Arial"/>
              </a:defRPr>
            </a:lvl7pPr>
            <a:lvl8pPr>
              <a:defRPr sz="1200">
                <a:solidFill>
                  <a:srgbClr val="A8B8CA"/>
                </a:solidFill>
                <a:latin typeface="Arial"/>
                <a:ea typeface="Arial"/>
                <a:cs typeface="Arial"/>
              </a:defRPr>
            </a:lvl8pPr>
            <a:lvl9pPr>
              <a:defRPr sz="1200">
                <a:solidFill>
                  <a:srgbClr val="A8B8CA"/>
                </a:solidFill>
                <a:latin typeface="Arial"/>
                <a:ea typeface="Arial"/>
                <a:cs typeface="Arial"/>
              </a:defRPr>
            </a:lvl9pPr>
          </a:lstStyle>
          <a:p xmlns:a="http://schemas.openxmlformats.org/drawingml/2006/main">
            <a:pPr>
              <a:defRPr sz="1200">
                <a:solidFill>
                  <a:srgbClr val="A8B8CA"/>
                </a:solidFill>
                <a:latin typeface="Arial"/>
                <a:ea typeface="Arial"/>
                <a:cs typeface="Arial"/>
              </a:defRPr>
            </a:pPr>
            <a:r>
              <a:rPr sz="1200">
                <a:solidFill>
                  <a:srgbClr val="A8B8CA"/>
                </a:solidFill>
                <a:latin typeface="Arial"/>
                <a:ea typeface="Arial"/>
                <a:cs typeface="Arial"/>
              </a:rPr>
              <a:t>Documentation: ELI5/deep manual • ACM two-column paper • source + receipts</a:t>
            </a:r>
          </a:p>
        </p:txBody>
      </p:sp>
      <p:sp>
        <p:nvSpPr>
          <p:cNvPr id="9" name="">
            <a:extLst xmlns:a="http://schemas.openxmlformats.org/drawingml/2006/main">
              <a:ext uri="{FF2B5EF4-FFF2-40B4-BE49-F238E27FC236}">
                <a16:creationId xmlns:a16="http://schemas.microsoft.com/office/drawing/2014/main" id="{FFFDA364-DD82-44E7-9E70-16D68D78EE8B}"/>
              </a:ext>
            </a:extLst>
          </p:cNvPr>
          <p:cNvSpPr>
            <a:spLocks xmlns:a="http://schemas.openxmlformats.org/drawingml/2006/main" noGrp="1"/>
          </p:cNvSpPr>
          <p:nvPr/>
        </p:nvSpPr>
        <p:spPr>
          <a:xfrm xmlns:a="http://schemas.openxmlformats.org/drawingml/2006/main">
            <a:off x="6096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A8B8CA"/>
                </a:solidFill>
                <a:latin typeface="Arial"/>
                <a:ea typeface="Arial"/>
                <a:cs typeface="Arial"/>
              </a:defRPr>
            </a:defPPr>
            <a:lvl1pPr>
              <a:defRPr sz="825" b="1">
                <a:solidFill>
                  <a:srgbClr val="A8B8CA"/>
                </a:solidFill>
                <a:latin typeface="Arial"/>
                <a:ea typeface="Arial"/>
                <a:cs typeface="Arial"/>
              </a:defRPr>
            </a:lvl1pPr>
            <a:lvl2pPr>
              <a:defRPr sz="825" b="1">
                <a:solidFill>
                  <a:srgbClr val="A8B8CA"/>
                </a:solidFill>
                <a:latin typeface="Arial"/>
                <a:ea typeface="Arial"/>
                <a:cs typeface="Arial"/>
              </a:defRPr>
            </a:lvl2pPr>
            <a:lvl3pPr>
              <a:defRPr sz="825" b="1">
                <a:solidFill>
                  <a:srgbClr val="A8B8CA"/>
                </a:solidFill>
                <a:latin typeface="Arial"/>
                <a:ea typeface="Arial"/>
                <a:cs typeface="Arial"/>
              </a:defRPr>
            </a:lvl3pPr>
            <a:lvl4pPr>
              <a:defRPr sz="825" b="1">
                <a:solidFill>
                  <a:srgbClr val="A8B8CA"/>
                </a:solidFill>
                <a:latin typeface="Arial"/>
                <a:ea typeface="Arial"/>
                <a:cs typeface="Arial"/>
              </a:defRPr>
            </a:lvl4pPr>
            <a:lvl5pPr>
              <a:defRPr sz="825" b="1">
                <a:solidFill>
                  <a:srgbClr val="A8B8CA"/>
                </a:solidFill>
                <a:latin typeface="Arial"/>
                <a:ea typeface="Arial"/>
                <a:cs typeface="Arial"/>
              </a:defRPr>
            </a:lvl5pPr>
            <a:lvl6pPr>
              <a:defRPr sz="825" b="1">
                <a:solidFill>
                  <a:srgbClr val="A8B8CA"/>
                </a:solidFill>
                <a:latin typeface="Arial"/>
                <a:ea typeface="Arial"/>
                <a:cs typeface="Arial"/>
              </a:defRPr>
            </a:lvl6pPr>
            <a:lvl7pPr>
              <a:defRPr sz="825" b="1">
                <a:solidFill>
                  <a:srgbClr val="A8B8CA"/>
                </a:solidFill>
                <a:latin typeface="Arial"/>
                <a:ea typeface="Arial"/>
                <a:cs typeface="Arial"/>
              </a:defRPr>
            </a:lvl7pPr>
            <a:lvl8pPr>
              <a:defRPr sz="825" b="1">
                <a:solidFill>
                  <a:srgbClr val="A8B8CA"/>
                </a:solidFill>
                <a:latin typeface="Arial"/>
                <a:ea typeface="Arial"/>
                <a:cs typeface="Arial"/>
              </a:defRPr>
            </a:lvl8pPr>
            <a:lvl9pPr>
              <a:defRPr sz="825" b="1">
                <a:solidFill>
                  <a:srgbClr val="A8B8CA"/>
                </a:solidFill>
                <a:latin typeface="Arial"/>
                <a:ea typeface="Arial"/>
                <a:cs typeface="Arial"/>
              </a:defRPr>
            </a:lvl9pPr>
          </a:lstStyle>
          <a:p xmlns:a="http://schemas.openxmlformats.org/drawingml/2006/main">
            <a:pPr>
              <a:defRPr sz="825" b="1">
                <a:solidFill>
                  <a:srgbClr val="A8B8CA"/>
                </a:solidFill>
                <a:latin typeface="Arial"/>
                <a:ea typeface="Arial"/>
                <a:cs typeface="Arial"/>
              </a:defRPr>
            </a:pPr>
            <a:r>
              <a:rPr sz="825" b="1">
                <a:solidFill>
                  <a:srgbClr val="A8B8CA"/>
                </a:solidFill>
                <a:latin typeface="Arial"/>
                <a:ea typeface="Arial"/>
                <a:cs typeface="Arial"/>
              </a:rPr>
              <a:t>ME3 VOICE DUPLEX  •  QWEN TOOL BRAIN  •  7/7</a:t>
            </a:r>
          </a:p>
        </p:txBody>
      </p:sp>
    </p:spTree>
    <p:extLst>
      <p:ext uri="{BB962C8B-B14F-4D97-AF65-F5344CB8AC3E}">
        <p14:creationId xmlns:p14="http://schemas.microsoft.com/office/powerpoint/2010/main" val="2266266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2026-10-24T17:26:34.9960000Z</dcterms:created>
  <dcterms:modified xsi:type="dcterms:W3CDTF">2026-10-24T17:26:34.9960000Z</dcterms:modified>
</coreProperties>
</file>