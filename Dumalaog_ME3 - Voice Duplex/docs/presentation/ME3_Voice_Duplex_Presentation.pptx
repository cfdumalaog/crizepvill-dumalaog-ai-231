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161b8a95024e1b" /><Relationship Type="http://schemas.openxmlformats.org/officeDocument/2006/relationships/extended-properties" Target="/docProps/app.xml" Id="R265b3da73b154e77" /><Relationship Type="http://schemas.openxmlformats.org/officeDocument/2006/relationships/officeDocument" Target="/ppt/presentation.xml" Id="R8aca6afa31074fa7" /></Relationships>
</file>

<file path=ppt/presentation.xml><?xml version="1.0" encoding="utf-8"?>
<p:presentation xmlns:p="http://schemas.openxmlformats.org/presentationml/2006/main">
  <p:sldMasterIdLst>
    <p:sldMasterId xmlns:r="http://schemas.openxmlformats.org/officeDocument/2006/relationships" id="2147483648" r:id="R1c762d604e2348fc"/>
  </p:sldMasterIdLst>
  <p:notesMasterIdLst>
    <p:notesMasterId xmlns:r="http://schemas.openxmlformats.org/officeDocument/2006/relationships" r:id="R322c87c982f84b82"/>
  </p:notesMasterIdLst>
  <p:sldIdLst>
    <p:sldId xmlns:r="http://schemas.openxmlformats.org/officeDocument/2006/relationships" id="256" r:id="R522509ccbdfb4ef1"/>
    <p:sldId xmlns:r="http://schemas.openxmlformats.org/officeDocument/2006/relationships" id="257" r:id="Rcddb38fe1ebb4186"/>
    <p:sldId xmlns:r="http://schemas.openxmlformats.org/officeDocument/2006/relationships" id="258" r:id="R2d25312e6cd54d5c"/>
    <p:sldId xmlns:r="http://schemas.openxmlformats.org/officeDocument/2006/relationships" id="259" r:id="R7dd218aae00249b1"/>
    <p:sldId xmlns:r="http://schemas.openxmlformats.org/officeDocument/2006/relationships" id="260" r:id="R06c070aad56141ca"/>
    <p:sldId xmlns:r="http://schemas.openxmlformats.org/officeDocument/2006/relationships" id="261" r:id="R74a175a276b146ba"/>
    <p:sldId xmlns:r="http://schemas.openxmlformats.org/officeDocument/2006/relationships" id="262" r:id="R89d37d34f55242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e9f4ee43b6423d" /><Relationship Type="http://schemas.openxmlformats.org/officeDocument/2006/relationships/slideMaster" Target="/ppt/slideMasters/slideMaster1.xml" Id="R1c762d604e2348fc" /><Relationship Type="http://schemas.openxmlformats.org/officeDocument/2006/relationships/notesMaster" Target="/ppt/notesMasters/notesMaster1.xml" Id="R322c87c982f84b82" /><Relationship Type="http://schemas.openxmlformats.org/officeDocument/2006/relationships/presProps" Target="/ppt/presProps.xml" Id="R33987901edc6452e" /><Relationship Type="http://schemas.openxmlformats.org/officeDocument/2006/relationships/tableStyles" Target="/ppt/tableStyles.xml" Id="R328f60fb3f02494a" /><Relationship Type="http://schemas.openxmlformats.org/officeDocument/2006/relationships/slide" Target="/ppt/slides/slide1.xml" Id="R522509ccbdfb4ef1" /><Relationship Type="http://schemas.openxmlformats.org/officeDocument/2006/relationships/slide" Target="/ppt/slides/slide2.xml" Id="Rcddb38fe1ebb4186" /><Relationship Type="http://schemas.openxmlformats.org/officeDocument/2006/relationships/slide" Target="/ppt/slides/slide3.xml" Id="R2d25312e6cd54d5c" /><Relationship Type="http://schemas.openxmlformats.org/officeDocument/2006/relationships/slide" Target="/ppt/slides/slide4.xml" Id="R7dd218aae00249b1" /><Relationship Type="http://schemas.openxmlformats.org/officeDocument/2006/relationships/slide" Target="/ppt/slides/slide5.xml" Id="R06c070aad56141ca" /><Relationship Type="http://schemas.openxmlformats.org/officeDocument/2006/relationships/slide" Target="/ppt/slides/slide6.xml" Id="R74a175a276b146ba" /><Relationship Type="http://schemas.openxmlformats.org/officeDocument/2006/relationships/slide" Target="/ppt/slides/slide7.xml" Id="R89d37d34f55242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c855b21dac4c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858fb7c59c46fc" /><Relationship Type="http://schemas.openxmlformats.org/officeDocument/2006/relationships/notesMaster" Target="/ppt/notesMasters/notesMaster1.xml" Id="Rb46eb5b3a20845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d48b2fc1cc4e2b" /><Relationship Type="http://schemas.openxmlformats.org/officeDocument/2006/relationships/notesMaster" Target="/ppt/notesMasters/notesMaster1.xml" Id="R7c70395811804e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ff95607b63426a" /><Relationship Type="http://schemas.openxmlformats.org/officeDocument/2006/relationships/notesMaster" Target="/ppt/notesMasters/notesMaster1.xml" Id="R628be92df7cc44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cc871fe1e84e45" /><Relationship Type="http://schemas.openxmlformats.org/officeDocument/2006/relationships/notesMaster" Target="/ppt/notesMasters/notesMaster1.xml" Id="Re55c86f9065d42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9ddd3f08af4618" /><Relationship Type="http://schemas.openxmlformats.org/officeDocument/2006/relationships/notesMaster" Target="/ppt/notesMasters/notesMaster1.xml" Id="R34887d27e9e240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9dad4c9dd549f3" /><Relationship Type="http://schemas.openxmlformats.org/officeDocument/2006/relationships/notesMaster" Target="/ppt/notesMasters/notesMaster1.xml" Id="Rfa641fb8cf0a49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2ac972ca8548cb" /><Relationship Type="http://schemas.openxmlformats.org/officeDocument/2006/relationships/notesMaster" Target="/ppt/notesMasters/notesMaster1.xml" Id="R92f91eae290844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idea: ME3 is an action-capable voice interface. The model does not need to be trained for each task; it needs a disciplined tool surface and evidence that the requested work happened.</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important change from a voice chatbot is the middle: Qwen is not only writing an answer; it is choosing typed operations, receiving their results, and continuing until the task is complete or needs clarification.</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responsibilities. VAD, ASR, and TTS are local. Qwen is remote and performs inference. The registry owns what may happen. The final answer is grounded in structured tool results, not just model confidence.</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capability the project needed. A spoken request can create real project files. The model then reads them back and reports what exists. The current demonstration is a local, dependency-free static web app; it does not silently publish to the internet.</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interpretation of parity. The objective is that useful tasks Onit can perform are represented by explicit tools: files, web, commands, jobs, system information, and the existing MCP services. That does not mean granting an always-listening Pi arbitrary shell access or hidden credentials.</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the evidence boundary. We have real local evidence for the Qwen tool loop and the four MCP services. A Pi installation and an overlap benchmark are separate claims. The next gate is a live hardware run with a securely configured runtime key.</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user-visible promise: speak a request, let the model call bounded tools, and receive an answer backed by what the tools actually returned. The remaining work is hardware audio and benchmark evidence, not model training.</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5da6b8a6e847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b3dcd550ef4b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c662838bbc4d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d20759d6514b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f339c2120540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d162875dde49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B8405A-7D0B-4CCA-9CCD-53E7EB759E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33B210-A9F1-4E05-B6D1-65142DE252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EA00D8-6495-4E72-989F-F618023625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FF433F-EF50-454A-8DA0-9B92CF6446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A3A8CC-406E-4EB3-9F99-E81DC9F3DD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DAAEEF-1B58-4843-848F-CB1D90047A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46646A-ADDB-4290-93DC-8D093B2E6E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3FFC88-1EE9-4C56-AED1-8BBD3C83991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2E4937-D176-4F5A-8C14-30B823D160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30216D-1B01-4090-A536-56D721DC20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2502a10da044f8" /><Relationship Type="http://schemas.openxmlformats.org/officeDocument/2006/relationships/slideLayout" Target="/ppt/slideLayouts/slideLayout1.xml" Id="Rdea93822389b4b80" /><Relationship Type="http://schemas.openxmlformats.org/officeDocument/2006/relationships/slideLayout" Target="/ppt/slideLayouts/slideLayout2.xml" Id="R4a3e3cab31f74dcd" /><Relationship Type="http://schemas.openxmlformats.org/officeDocument/2006/relationships/slideLayout" Target="/ppt/slideLayouts/slideLayout3.xml" Id="R479aef6d0dab4eb2" /><Relationship Type="http://schemas.openxmlformats.org/officeDocument/2006/relationships/slideLayout" Target="/ppt/slideLayouts/slideLayout4.xml" Id="R658763c0901a4653" /><Relationship Type="http://schemas.openxmlformats.org/officeDocument/2006/relationships/slideLayout" Target="/ppt/slideLayouts/slideLayout5.xml" Id="Rd1bfc8fee0f047e4" /><Relationship Type="http://schemas.openxmlformats.org/officeDocument/2006/relationships/slideLayout" Target="/ppt/slideLayouts/slideLayout6.xml" Id="Rd830ea8642394d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a93822389b4b80"/>
    <p:sldLayoutId xmlns:r="http://schemas.openxmlformats.org/officeDocument/2006/relationships" id="2147483650" r:id="R4a3e3cab31f74dcd"/>
    <p:sldLayoutId xmlns:r="http://schemas.openxmlformats.org/officeDocument/2006/relationships" id="2147483651" r:id="R479aef6d0dab4eb2"/>
    <p:sldLayoutId xmlns:r="http://schemas.openxmlformats.org/officeDocument/2006/relationships" id="2147483652" r:id="R658763c0901a4653"/>
    <p:sldLayoutId xmlns:r="http://schemas.openxmlformats.org/officeDocument/2006/relationships" id="2147483653" r:id="Rd1bfc8fee0f047e4"/>
    <p:sldLayoutId xmlns:r="http://schemas.openxmlformats.org/officeDocument/2006/relationships" id="2147483654" r:id="Rd830ea8642394d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27f377c33547e3" /><Relationship Type="http://schemas.openxmlformats.org/officeDocument/2006/relationships/notesSlide" Target="/ppt/notesSlides/notesSlide1.xml" Id="R77643a20f9da4e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724550cf2d410a" /><Relationship Type="http://schemas.openxmlformats.org/officeDocument/2006/relationships/notesSlide" Target="/ppt/notesSlides/notesSlide2.xml" Id="R95da96d32d564d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b4e172b2e3460c" /><Relationship Type="http://schemas.openxmlformats.org/officeDocument/2006/relationships/notesSlide" Target="/ppt/notesSlides/notesSlide3.xml" Id="Rcd1a52b7c36b48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9cf5d9028444a1" /><Relationship Type="http://schemas.openxmlformats.org/officeDocument/2006/relationships/notesSlide" Target="/ppt/notesSlides/notesSlide4.xml" Id="R0e25a9d8851048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e1dfd3787e4185" /><Relationship Type="http://schemas.openxmlformats.org/officeDocument/2006/relationships/notesSlide" Target="/ppt/notesSlides/notesSlide5.xml" Id="R17be1a0197c946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eddd9ca4b24809" /><Relationship Type="http://schemas.openxmlformats.org/officeDocument/2006/relationships/notesSlide" Target="/ppt/notesSlides/notesSlide6.xml" Id="R89bd03bfcc8340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ad7923efbe4010" /><Relationship Type="http://schemas.openxmlformats.org/officeDocument/2006/relationships/notesSlide" Target="/ppt/notesSlides/notesSlide7.xml" Id="Rf23da522bfa74c46" /></Relationships>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1" name="cover-orbit">
            <a:extLst xmlns:a="http://schemas.openxmlformats.org/drawingml/2006/main">
              <a:ext uri="{FF2B5EF4-FFF2-40B4-BE49-F238E27FC236}">
                <a16:creationId xmlns:a16="http://schemas.microsoft.com/office/drawing/2014/main" id="{30D0C68D-BF44-4AF8-9E87-61464EDF4293}"/>
              </a:ext>
            </a:extLst>
          </p:cNvPr>
          <p:cNvSpPr>
            <a:spLocks xmlns:a="http://schemas.openxmlformats.org/drawingml/2006/main" noGrp="1"/>
          </p:cNvSpPr>
          <p:nvPr/>
        </p:nvSpPr>
        <p:spPr>
          <a:xfrm xmlns:a="http://schemas.openxmlformats.org/drawingml/2006/main">
            <a:off x="7810500" y="-762000"/>
            <a:ext cx="4953000" cy="49530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 name="cover-ring">
            <a:extLst xmlns:a="http://schemas.openxmlformats.org/drawingml/2006/main">
              <a:ext uri="{FF2B5EF4-FFF2-40B4-BE49-F238E27FC236}">
                <a16:creationId xmlns:a16="http://schemas.microsoft.com/office/drawing/2014/main" id="{129322F0-70C4-4FD5-B7E3-E1631BA907E7}"/>
              </a:ext>
            </a:extLst>
          </p:cNvPr>
          <p:cNvSpPr>
            <a:spLocks xmlns:a="http://schemas.openxmlformats.org/drawingml/2006/main" noGrp="1"/>
          </p:cNvSpPr>
          <p:nvPr/>
        </p:nvSpPr>
        <p:spPr>
          <a:xfrm xmlns:a="http://schemas.openxmlformats.org/drawingml/2006/main">
            <a:off x="8667750" y="114300"/>
            <a:ext cx="3048000" cy="3048000"/>
          </a:xfrm>
          <a:prstGeom xmlns:a="http://schemas.openxmlformats.org/drawingml/2006/main" prst="ellipse">
            <a:avLst/>
          </a:prstGeom>
          <a:noFill xmlns:a="http://schemas.openxmlformats.org/drawingml/2006/main"/>
          <a:ln xmlns:a="http://schemas.openxmlformats.org/drawingml/2006/main" w="9525">
            <a:solidFill>
              <a:srgbClr val="5EEAD4"/>
            </a:solidFill>
            <a:prstDash val="solid"/>
          </a:ln>
        </p:spPr>
      </p:sp>
      <p:sp>
        <p:nvSpPr>
          <p:cNvPr id="3" name="cover-core">
            <a:extLst xmlns:a="http://schemas.openxmlformats.org/drawingml/2006/main">
              <a:ext uri="{FF2B5EF4-FFF2-40B4-BE49-F238E27FC236}">
                <a16:creationId xmlns:a16="http://schemas.microsoft.com/office/drawing/2014/main" id="{D5D7B91D-6536-4349-B668-310E8ED65A40}"/>
              </a:ext>
            </a:extLst>
          </p:cNvPr>
          <p:cNvSpPr>
            <a:spLocks xmlns:a="http://schemas.openxmlformats.org/drawingml/2006/main" noGrp="1"/>
          </p:cNvSpPr>
          <p:nvPr/>
        </p:nvSpPr>
        <p:spPr>
          <a:xfrm xmlns:a="http://schemas.openxmlformats.org/drawingml/2006/main">
            <a:off x="9544050" y="990600"/>
            <a:ext cx="1295400" cy="1295400"/>
          </a:xfrm>
          <a:prstGeom xmlns:a="http://schemas.openxmlformats.org/drawingml/2006/main" prst="ellipse">
            <a:avLst/>
          </a:prstGeom>
          <a:solidFill xmlns:a="http://schemas.openxmlformats.org/drawingml/2006/main">
            <a:srgbClr val="5EEAD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34100B-F7AF-440E-80DB-E73BF0766E92}"/>
              </a:ext>
            </a:extLst>
          </p:cNvPr>
          <p:cNvSpPr>
            <a:spLocks xmlns:a="http://schemas.openxmlformats.org/drawingml/2006/main" noGrp="1"/>
          </p:cNvSpPr>
          <p:nvPr/>
        </p:nvSpPr>
        <p:spPr>
          <a:xfrm xmlns:a="http://schemas.openxmlformats.org/drawingml/2006/main">
            <a:off x="685800" y="704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5EEAD4"/>
                </a:solidFill>
                <a:latin typeface="Arial"/>
                <a:ea typeface="Arial"/>
                <a:cs typeface="Arial"/>
              </a:defRPr>
            </a:defPPr>
            <a:lvl1pPr>
              <a:defRPr sz="1200" b="1">
                <a:solidFill>
                  <a:srgbClr val="5EEAD4"/>
                </a:solidFill>
                <a:latin typeface="Arial"/>
                <a:ea typeface="Arial"/>
                <a:cs typeface="Arial"/>
              </a:defRPr>
            </a:lvl1pPr>
            <a:lvl2pPr>
              <a:defRPr sz="1200" b="1">
                <a:solidFill>
                  <a:srgbClr val="5EEAD4"/>
                </a:solidFill>
                <a:latin typeface="Arial"/>
                <a:ea typeface="Arial"/>
                <a:cs typeface="Arial"/>
              </a:defRPr>
            </a:lvl2pPr>
            <a:lvl3pPr>
              <a:defRPr sz="1200" b="1">
                <a:solidFill>
                  <a:srgbClr val="5EEAD4"/>
                </a:solidFill>
                <a:latin typeface="Arial"/>
                <a:ea typeface="Arial"/>
                <a:cs typeface="Arial"/>
              </a:defRPr>
            </a:lvl3pPr>
            <a:lvl4pPr>
              <a:defRPr sz="1200" b="1">
                <a:solidFill>
                  <a:srgbClr val="5EEAD4"/>
                </a:solidFill>
                <a:latin typeface="Arial"/>
                <a:ea typeface="Arial"/>
                <a:cs typeface="Arial"/>
              </a:defRPr>
            </a:lvl4pPr>
            <a:lvl5pPr>
              <a:defRPr sz="1200" b="1">
                <a:solidFill>
                  <a:srgbClr val="5EEAD4"/>
                </a:solidFill>
                <a:latin typeface="Arial"/>
                <a:ea typeface="Arial"/>
                <a:cs typeface="Arial"/>
              </a:defRPr>
            </a:lvl5pPr>
            <a:lvl6pPr>
              <a:defRPr sz="1200" b="1">
                <a:solidFill>
                  <a:srgbClr val="5EEAD4"/>
                </a:solidFill>
                <a:latin typeface="Arial"/>
                <a:ea typeface="Arial"/>
                <a:cs typeface="Arial"/>
              </a:defRPr>
            </a:lvl6pPr>
            <a:lvl7pPr>
              <a:defRPr sz="1200" b="1">
                <a:solidFill>
                  <a:srgbClr val="5EEAD4"/>
                </a:solidFill>
                <a:latin typeface="Arial"/>
                <a:ea typeface="Arial"/>
                <a:cs typeface="Arial"/>
              </a:defRPr>
            </a:lvl7pPr>
            <a:lvl8pPr>
              <a:defRPr sz="1200" b="1">
                <a:solidFill>
                  <a:srgbClr val="5EEAD4"/>
                </a:solidFill>
                <a:latin typeface="Arial"/>
                <a:ea typeface="Arial"/>
                <a:cs typeface="Arial"/>
              </a:defRPr>
            </a:lvl8pPr>
            <a:lvl9pPr>
              <a:defRPr sz="1200" b="1">
                <a:solidFill>
                  <a:srgbClr val="5EEAD4"/>
                </a:solidFill>
                <a:latin typeface="Arial"/>
                <a:ea typeface="Arial"/>
                <a:cs typeface="Arial"/>
              </a:defRPr>
            </a:lvl9pPr>
          </a:lstStyle>
          <a:p xmlns:a="http://schemas.openxmlformats.org/drawingml/2006/main">
            <a:pPr>
              <a:defRPr sz="1200" b="1">
                <a:solidFill>
                  <a:srgbClr val="5EEAD4"/>
                </a:solidFill>
                <a:latin typeface="Arial"/>
                <a:ea typeface="Arial"/>
                <a:cs typeface="Arial"/>
              </a:defRPr>
            </a:pPr>
            <a:r>
              <a:rPr sz="1200" b="1">
                <a:solidFill>
                  <a:srgbClr val="5EEAD4"/>
                </a:solidFill>
                <a:latin typeface="Arial"/>
                <a:ea typeface="Arial"/>
                <a:cs typeface="Arial"/>
              </a:rPr>
              <a:t>ME3 VOICE DUPLEX</a:t>
            </a:r>
          </a:p>
        </p:txBody>
      </p:sp>
      <p:sp>
        <p:nvSpPr>
          <p:cNvPr id="5" name="">
            <a:extLst xmlns:a="http://schemas.openxmlformats.org/drawingml/2006/main">
              <a:ext uri="{FF2B5EF4-FFF2-40B4-BE49-F238E27FC236}">
                <a16:creationId xmlns:a16="http://schemas.microsoft.com/office/drawing/2014/main" id="{5DF74233-D84E-4305-BA27-A17CC31A7B24}"/>
              </a:ext>
            </a:extLst>
          </p:cNvPr>
          <p:cNvSpPr>
            <a:spLocks xmlns:a="http://schemas.openxmlformats.org/drawingml/2006/main" noGrp="1"/>
          </p:cNvSpPr>
          <p:nvPr/>
        </p:nvSpPr>
        <p:spPr>
          <a:xfrm xmlns:a="http://schemas.openxmlformats.org/drawingml/2006/main">
            <a:off x="685800" y="1381125"/>
            <a:ext cx="6286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AFC"/>
                </a:solidFill>
                <a:latin typeface="Arial"/>
                <a:ea typeface="Arial"/>
                <a:cs typeface="Arial"/>
              </a:defRPr>
            </a:defPPr>
            <a:lvl1pPr>
              <a:defRPr sz="4050" b="1">
                <a:solidFill>
                  <a:srgbClr val="F7FAFC"/>
                </a:solidFill>
                <a:latin typeface="Arial"/>
                <a:ea typeface="Arial"/>
                <a:cs typeface="Arial"/>
              </a:defRPr>
            </a:lvl1pPr>
            <a:lvl2pPr>
              <a:defRPr sz="4050" b="1">
                <a:solidFill>
                  <a:srgbClr val="F7FAFC"/>
                </a:solidFill>
                <a:latin typeface="Arial"/>
                <a:ea typeface="Arial"/>
                <a:cs typeface="Arial"/>
              </a:defRPr>
            </a:lvl2pPr>
            <a:lvl3pPr>
              <a:defRPr sz="4050" b="1">
                <a:solidFill>
                  <a:srgbClr val="F7FAFC"/>
                </a:solidFill>
                <a:latin typeface="Arial"/>
                <a:ea typeface="Arial"/>
                <a:cs typeface="Arial"/>
              </a:defRPr>
            </a:lvl3pPr>
            <a:lvl4pPr>
              <a:defRPr sz="4050" b="1">
                <a:solidFill>
                  <a:srgbClr val="F7FAFC"/>
                </a:solidFill>
                <a:latin typeface="Arial"/>
                <a:ea typeface="Arial"/>
                <a:cs typeface="Arial"/>
              </a:defRPr>
            </a:lvl4pPr>
            <a:lvl5pPr>
              <a:defRPr sz="4050" b="1">
                <a:solidFill>
                  <a:srgbClr val="F7FAFC"/>
                </a:solidFill>
                <a:latin typeface="Arial"/>
                <a:ea typeface="Arial"/>
                <a:cs typeface="Arial"/>
              </a:defRPr>
            </a:lvl5pPr>
            <a:lvl6pPr>
              <a:defRPr sz="4050" b="1">
                <a:solidFill>
                  <a:srgbClr val="F7FAFC"/>
                </a:solidFill>
                <a:latin typeface="Arial"/>
                <a:ea typeface="Arial"/>
                <a:cs typeface="Arial"/>
              </a:defRPr>
            </a:lvl6pPr>
            <a:lvl7pPr>
              <a:defRPr sz="4050" b="1">
                <a:solidFill>
                  <a:srgbClr val="F7FAFC"/>
                </a:solidFill>
                <a:latin typeface="Arial"/>
                <a:ea typeface="Arial"/>
                <a:cs typeface="Arial"/>
              </a:defRPr>
            </a:lvl7pPr>
            <a:lvl8pPr>
              <a:defRPr sz="4050" b="1">
                <a:solidFill>
                  <a:srgbClr val="F7FAFC"/>
                </a:solidFill>
                <a:latin typeface="Arial"/>
                <a:ea typeface="Arial"/>
                <a:cs typeface="Arial"/>
              </a:defRPr>
            </a:lvl8pPr>
            <a:lvl9pPr>
              <a:defRPr sz="4050" b="1">
                <a:solidFill>
                  <a:srgbClr val="F7FAFC"/>
                </a:solidFill>
                <a:latin typeface="Arial"/>
                <a:ea typeface="Arial"/>
                <a:cs typeface="Arial"/>
              </a:defRPr>
            </a:lvl9pPr>
          </a:lstStyle>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From voice request</a:t>
            </a:r>
          </a:p>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to verified action</a:t>
            </a:r>
          </a:p>
        </p:txBody>
      </p:sp>
      <p:sp>
        <p:nvSpPr>
          <p:cNvPr id="6" name="">
            <a:extLst xmlns:a="http://schemas.openxmlformats.org/drawingml/2006/main">
              <a:ext uri="{FF2B5EF4-FFF2-40B4-BE49-F238E27FC236}">
                <a16:creationId xmlns:a16="http://schemas.microsoft.com/office/drawing/2014/main" id="{89A22D9C-2477-40DF-BCE2-8C39FF47FBB6}"/>
              </a:ext>
            </a:extLst>
          </p:cNvPr>
          <p:cNvSpPr>
            <a:spLocks xmlns:a="http://schemas.openxmlformats.org/drawingml/2006/main" noGrp="1"/>
          </p:cNvSpPr>
          <p:nvPr/>
        </p:nvSpPr>
        <p:spPr>
          <a:xfrm xmlns:a="http://schemas.openxmlformats.org/drawingml/2006/main">
            <a:off x="723900" y="3143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a:solidFill>
                  <a:srgbClr val="A8B8CA"/>
                </a:solidFill>
                <a:latin typeface="Arial"/>
                <a:ea typeface="Arial"/>
                <a:cs typeface="Arial"/>
              </a:defRPr>
            </a:defPPr>
            <a:lvl1pPr>
              <a:defRPr sz="1800">
                <a:solidFill>
                  <a:srgbClr val="A8B8CA"/>
                </a:solidFill>
                <a:latin typeface="Arial"/>
                <a:ea typeface="Arial"/>
                <a:cs typeface="Arial"/>
              </a:defRPr>
            </a:lvl1pPr>
            <a:lvl2pPr>
              <a:defRPr sz="1800">
                <a:solidFill>
                  <a:srgbClr val="A8B8CA"/>
                </a:solidFill>
                <a:latin typeface="Arial"/>
                <a:ea typeface="Arial"/>
                <a:cs typeface="Arial"/>
              </a:defRPr>
            </a:lvl2pPr>
            <a:lvl3pPr>
              <a:defRPr sz="1800">
                <a:solidFill>
                  <a:srgbClr val="A8B8CA"/>
                </a:solidFill>
                <a:latin typeface="Arial"/>
                <a:ea typeface="Arial"/>
                <a:cs typeface="Arial"/>
              </a:defRPr>
            </a:lvl3pPr>
            <a:lvl4pPr>
              <a:defRPr sz="1800">
                <a:solidFill>
                  <a:srgbClr val="A8B8CA"/>
                </a:solidFill>
                <a:latin typeface="Arial"/>
                <a:ea typeface="Arial"/>
                <a:cs typeface="Arial"/>
              </a:defRPr>
            </a:lvl4pPr>
            <a:lvl5pPr>
              <a:defRPr sz="1800">
                <a:solidFill>
                  <a:srgbClr val="A8B8CA"/>
                </a:solidFill>
                <a:latin typeface="Arial"/>
                <a:ea typeface="Arial"/>
                <a:cs typeface="Arial"/>
              </a:defRPr>
            </a:lvl5pPr>
            <a:lvl6pPr>
              <a:defRPr sz="1800">
                <a:solidFill>
                  <a:srgbClr val="A8B8CA"/>
                </a:solidFill>
                <a:latin typeface="Arial"/>
                <a:ea typeface="Arial"/>
                <a:cs typeface="Arial"/>
              </a:defRPr>
            </a:lvl6pPr>
            <a:lvl7pPr>
              <a:defRPr sz="1800">
                <a:solidFill>
                  <a:srgbClr val="A8B8CA"/>
                </a:solidFill>
                <a:latin typeface="Arial"/>
                <a:ea typeface="Arial"/>
                <a:cs typeface="Arial"/>
              </a:defRPr>
            </a:lvl7pPr>
            <a:lvl8pPr>
              <a:defRPr sz="1800">
                <a:solidFill>
                  <a:srgbClr val="A8B8CA"/>
                </a:solidFill>
                <a:latin typeface="Arial"/>
                <a:ea typeface="Arial"/>
                <a:cs typeface="Arial"/>
              </a:defRPr>
            </a:lvl8pPr>
            <a:lvl9pPr>
              <a:defRPr sz="1800">
                <a:solidFill>
                  <a:srgbClr val="A8B8CA"/>
                </a:solidFill>
                <a:latin typeface="Arial"/>
                <a:ea typeface="Arial"/>
                <a:cs typeface="Arial"/>
              </a:defRPr>
            </a:lvl9pPr>
          </a:lstStyle>
          <a:p xmlns:a="http://schemas.openxmlformats.org/drawingml/2006/main">
            <a:pPr>
              <a:defRPr sz="1800">
                <a:solidFill>
                  <a:srgbClr val="A8B8CA"/>
                </a:solidFill>
                <a:latin typeface="Arial"/>
                <a:ea typeface="Arial"/>
                <a:cs typeface="Arial"/>
              </a:defRPr>
            </a:pPr>
            <a:r>
              <a:rPr sz="1800">
                <a:solidFill>
                  <a:srgbClr val="A8B8CA"/>
                </a:solidFill>
                <a:latin typeface="Arial"/>
                <a:ea typeface="Arial"/>
                <a:cs typeface="Arial"/>
              </a:rPr>
              <a:t>A Raspberry Pi full-duplex agent with a Qwen tool-using brain</a:t>
            </a:r>
          </a:p>
        </p:txBody>
      </p:sp>
      <p:sp>
        <p:nvSpPr>
          <p:cNvPr id="7" name="cover-callout">
            <a:extLst xmlns:a="http://schemas.openxmlformats.org/drawingml/2006/main">
              <a:ext uri="{FF2B5EF4-FFF2-40B4-BE49-F238E27FC236}">
                <a16:creationId xmlns:a16="http://schemas.microsoft.com/office/drawing/2014/main" id="{B77C25F4-07BC-4EA7-80F7-2E105811C717}"/>
              </a:ext>
            </a:extLst>
          </p:cNvPr>
          <p:cNvSpPr>
            <a:spLocks xmlns:a="http://schemas.openxmlformats.org/drawingml/2006/main" noGrp="1"/>
          </p:cNvSpPr>
          <p:nvPr/>
        </p:nvSpPr>
        <p:spPr>
          <a:xfrm xmlns:a="http://schemas.openxmlformats.org/drawingml/2006/main">
            <a:off x="723900" y="4095750"/>
            <a:ext cx="5429250" cy="762000"/>
          </a:xfrm>
          <a:prstGeom xmlns:a="http://schemas.openxmlformats.org/drawingml/2006/main" prst="roundRect">
            <a:avLst>
              <a:gd name="adj" fmla="val 15000"/>
            </a:avLst>
          </a:prstGeom>
          <a:solidFill xmlns:a="http://schemas.openxmlformats.org/drawingml/2006/main">
            <a:srgbClr val="143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C761E25-5378-454A-9E14-943DEE50B181}"/>
              </a:ext>
            </a:extLst>
          </p:cNvPr>
          <p:cNvSpPr>
            <a:spLocks xmlns:a="http://schemas.openxmlformats.org/drawingml/2006/main" noGrp="1"/>
          </p:cNvSpPr>
          <p:nvPr/>
        </p:nvSpPr>
        <p:spPr>
          <a:xfrm xmlns:a="http://schemas.openxmlformats.org/drawingml/2006/main">
            <a:off x="971550" y="42672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A7F3D0"/>
                </a:solidFill>
                <a:latin typeface="Arial"/>
                <a:ea typeface="Arial"/>
                <a:cs typeface="Arial"/>
              </a:defRPr>
            </a:defPPr>
            <a:lvl1pPr>
              <a:defRPr sz="1650" b="1">
                <a:solidFill>
                  <a:srgbClr val="A7F3D0"/>
                </a:solidFill>
                <a:latin typeface="Arial"/>
                <a:ea typeface="Arial"/>
                <a:cs typeface="Arial"/>
              </a:defRPr>
            </a:lvl1pPr>
            <a:lvl2pPr>
              <a:defRPr sz="1650" b="1">
                <a:solidFill>
                  <a:srgbClr val="A7F3D0"/>
                </a:solidFill>
                <a:latin typeface="Arial"/>
                <a:ea typeface="Arial"/>
                <a:cs typeface="Arial"/>
              </a:defRPr>
            </a:lvl2pPr>
            <a:lvl3pPr>
              <a:defRPr sz="1650" b="1">
                <a:solidFill>
                  <a:srgbClr val="A7F3D0"/>
                </a:solidFill>
                <a:latin typeface="Arial"/>
                <a:ea typeface="Arial"/>
                <a:cs typeface="Arial"/>
              </a:defRPr>
            </a:lvl3pPr>
            <a:lvl4pPr>
              <a:defRPr sz="1650" b="1">
                <a:solidFill>
                  <a:srgbClr val="A7F3D0"/>
                </a:solidFill>
                <a:latin typeface="Arial"/>
                <a:ea typeface="Arial"/>
                <a:cs typeface="Arial"/>
              </a:defRPr>
            </a:lvl4pPr>
            <a:lvl5pPr>
              <a:defRPr sz="1650" b="1">
                <a:solidFill>
                  <a:srgbClr val="A7F3D0"/>
                </a:solidFill>
                <a:latin typeface="Arial"/>
                <a:ea typeface="Arial"/>
                <a:cs typeface="Arial"/>
              </a:defRPr>
            </a:lvl5pPr>
            <a:lvl6pPr>
              <a:defRPr sz="1650" b="1">
                <a:solidFill>
                  <a:srgbClr val="A7F3D0"/>
                </a:solidFill>
                <a:latin typeface="Arial"/>
                <a:ea typeface="Arial"/>
                <a:cs typeface="Arial"/>
              </a:defRPr>
            </a:lvl6pPr>
            <a:lvl7pPr>
              <a:defRPr sz="1650" b="1">
                <a:solidFill>
                  <a:srgbClr val="A7F3D0"/>
                </a:solidFill>
                <a:latin typeface="Arial"/>
                <a:ea typeface="Arial"/>
                <a:cs typeface="Arial"/>
              </a:defRPr>
            </a:lvl7pPr>
            <a:lvl8pPr>
              <a:defRPr sz="1650" b="1">
                <a:solidFill>
                  <a:srgbClr val="A7F3D0"/>
                </a:solidFill>
                <a:latin typeface="Arial"/>
                <a:ea typeface="Arial"/>
                <a:cs typeface="Arial"/>
              </a:defRPr>
            </a:lvl8pPr>
            <a:lvl9pPr>
              <a:defRPr sz="1650" b="1">
                <a:solidFill>
                  <a:srgbClr val="A7F3D0"/>
                </a:solidFill>
                <a:latin typeface="Arial"/>
                <a:ea typeface="Arial"/>
                <a:cs typeface="Arial"/>
              </a:defRPr>
            </a:lvl9pPr>
          </a:lstStyle>
          <a:p xmlns:a="http://schemas.openxmlformats.org/drawingml/2006/main">
            <a:pPr>
              <a:defRPr sz="1650" b="1">
                <a:solidFill>
                  <a:srgbClr val="A7F3D0"/>
                </a:solidFill>
                <a:latin typeface="Arial"/>
                <a:ea typeface="Arial"/>
                <a:cs typeface="Arial"/>
              </a:defRPr>
            </a:pPr>
            <a:r>
              <a:rPr sz="1650" b="1">
                <a:solidFill>
                  <a:srgbClr val="A7F3D0"/>
                </a:solidFill>
                <a:latin typeface="Arial"/>
                <a:ea typeface="Arial"/>
                <a:cs typeface="Arial"/>
              </a:rPr>
              <a:t>No task-specific training required</a:t>
            </a:r>
          </a:p>
        </p:txBody>
      </p:sp>
      <p:sp>
        <p:nvSpPr>
          <p:cNvPr id="9" name="">
            <a:extLst xmlns:a="http://schemas.openxmlformats.org/drawingml/2006/main">
              <a:ext uri="{FF2B5EF4-FFF2-40B4-BE49-F238E27FC236}">
                <a16:creationId xmlns:a16="http://schemas.microsoft.com/office/drawing/2014/main" id="{4CB14125-8EA7-48F7-AD11-B138929AC8D4}"/>
              </a:ext>
            </a:extLst>
          </p:cNvPr>
          <p:cNvSpPr>
            <a:spLocks xmlns:a="http://schemas.openxmlformats.org/drawingml/2006/main" noGrp="1"/>
          </p:cNvSpPr>
          <p:nvPr/>
        </p:nvSpPr>
        <p:spPr>
          <a:xfrm xmlns:a="http://schemas.openxmlformats.org/drawingml/2006/main">
            <a:off x="971550" y="45529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Inference + typed tools + verification</a:t>
            </a:r>
          </a:p>
        </p:txBody>
      </p:sp>
      <p:sp>
        <p:nvSpPr>
          <p:cNvPr id="10" name="">
            <a:extLst xmlns:a="http://schemas.openxmlformats.org/drawingml/2006/main">
              <a:ext uri="{FF2B5EF4-FFF2-40B4-BE49-F238E27FC236}">
                <a16:creationId xmlns:a16="http://schemas.microsoft.com/office/drawing/2014/main" id="{C5816B56-FF0A-42E5-BCF6-CE5CE8C352AF}"/>
              </a:ext>
            </a:extLst>
          </p:cNvPr>
          <p:cNvSpPr>
            <a:spLocks xmlns:a="http://schemas.openxmlformats.org/drawingml/2006/main" noGrp="1"/>
          </p:cNvSpPr>
          <p:nvPr/>
        </p:nvSpPr>
        <p:spPr>
          <a:xfrm xmlns:a="http://schemas.openxmlformats.org/drawingml/2006/main">
            <a:off x="723900" y="6000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Crizepvill F. Dumalaog  •  Mapua University  •  2026</a:t>
            </a:r>
          </a:p>
        </p:txBody>
      </p:sp>
    </p:spTree>
    <p:extLst>
      <p:ext uri="{BB962C8B-B14F-4D97-AF65-F5344CB8AC3E}">
        <p14:creationId xmlns:p14="http://schemas.microsoft.com/office/powerpoint/2010/main" val="676313092"/>
      </p:ext>
    </p:extLst>
  </p:cSld>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F809145-7AEE-41B7-ACFC-6BD9D5E8D4A8}"/>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THE EXPERIENCE</a:t>
            </a:r>
          </a:p>
        </p:txBody>
      </p:sp>
      <p:sp>
        <p:nvSpPr>
          <p:cNvPr id="2" name="">
            <a:extLst xmlns:a="http://schemas.openxmlformats.org/drawingml/2006/main">
              <a:ext uri="{FF2B5EF4-FFF2-40B4-BE49-F238E27FC236}">
                <a16:creationId xmlns:a16="http://schemas.microsoft.com/office/drawing/2014/main" id="{030CBDBA-8BCD-490C-99E8-8308E96AD72F}"/>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A spoken request becomes a checked result</a:t>
            </a:r>
          </a:p>
        </p:txBody>
      </p:sp>
      <p:sp>
        <p:nvSpPr>
          <p:cNvPr id="3" name="">
            <a:extLst xmlns:a="http://schemas.openxmlformats.org/drawingml/2006/main">
              <a:ext uri="{FF2B5EF4-FFF2-40B4-BE49-F238E27FC236}">
                <a16:creationId xmlns:a16="http://schemas.microsoft.com/office/drawing/2014/main" id="{CC2C2808-0F9A-40CE-B37E-CFEEE84E236F}"/>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user stays in conversation while the model reasons and acts through bounded tools.</a:t>
            </a:r>
          </a:p>
        </p:txBody>
      </p:sp>
      <p:cxnSp>
        <p:nvCxnSpPr>
          <p:cNvPr id="4" name="sequence-1">
            <a:extLst xmlns:a="http://schemas.openxmlformats.org/drawingml/2006/main">
              <a:ext uri="{FF2B5EF4-FFF2-40B4-BE49-F238E27FC236}">
                <a16:creationId xmlns:a16="http://schemas.microsoft.com/office/drawing/2014/main" id="{06D1E0A2-50A2-44A4-BA00-E7E75A61DB02}"/>
              </a:ext>
            </a:extLst>
          </p:cNvPr>
          <p:cNvCxnSpPr/>
          <p:nvPr/>
        </p:nvCxnSpPr>
        <p:spPr>
          <a:xfrm xmlns:a="http://schemas.openxmlformats.org/drawingml/2006/main">
            <a:off x="2247900" y="3143250"/>
            <a:ext cx="952500"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sequence-2">
            <a:extLst xmlns:a="http://schemas.openxmlformats.org/drawingml/2006/main">
              <a:ext uri="{FF2B5EF4-FFF2-40B4-BE49-F238E27FC236}">
                <a16:creationId xmlns:a16="http://schemas.microsoft.com/office/drawing/2014/main" id="{3B65E7FC-A34B-4662-B006-2DDD912C1B53}"/>
              </a:ext>
            </a:extLst>
          </p:cNvPr>
          <p:cNvCxnSpPr/>
          <p:nvPr/>
        </p:nvCxnSpPr>
        <p:spPr>
          <a:xfrm xmlns:a="http://schemas.openxmlformats.org/drawingml/2006/main">
            <a:off x="4819650" y="3143250"/>
            <a:ext cx="952500"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sequence-3">
            <a:extLst xmlns:a="http://schemas.openxmlformats.org/drawingml/2006/main">
              <a:ext uri="{FF2B5EF4-FFF2-40B4-BE49-F238E27FC236}">
                <a16:creationId xmlns:a16="http://schemas.microsoft.com/office/drawing/2014/main" id="{E3DBA989-94C5-4101-8B8B-7258460C56D0}"/>
              </a:ext>
            </a:extLst>
          </p:cNvPr>
          <p:cNvCxnSpPr/>
          <p:nvPr/>
        </p:nvCxnSpPr>
        <p:spPr>
          <a:xfrm xmlns:a="http://schemas.openxmlformats.org/drawingml/2006/main">
            <a:off x="7391400" y="3143250"/>
            <a:ext cx="952500" cy="0"/>
          </a:xfrm>
          <a:prstGeom xmlns:a="http://schemas.openxmlformats.org/drawingml/2006/main" prst="straightConnector1">
            <a:avLst/>
          </a:prstGeom>
          <a:ln xmlns:a="http://schemas.openxmlformats.org/drawingml/2006/main" w="19050">
            <a:solidFill>
              <a:srgbClr val="FCD34D"/>
            </a:solidFill>
            <a:prstDash val="solid"/>
            <a:tailEnd type="arrow" w="med" len="med"/>
          </a:ln>
        </p:spPr>
      </p:cxnSp>
      <p:sp>
        <p:nvSpPr>
          <p:cNvPr id="7" name="sequence-node-0">
            <a:extLst xmlns:a="http://schemas.openxmlformats.org/drawingml/2006/main">
              <a:ext uri="{FF2B5EF4-FFF2-40B4-BE49-F238E27FC236}">
                <a16:creationId xmlns:a16="http://schemas.microsoft.com/office/drawing/2014/main" id="{5759371F-A09C-4FC1-B42B-C05F0F1CE179}"/>
              </a:ext>
            </a:extLst>
          </p:cNvPr>
          <p:cNvSpPr>
            <a:spLocks xmlns:a="http://schemas.openxmlformats.org/drawingml/2006/main" noGrp="1"/>
          </p:cNvSpPr>
          <p:nvPr/>
        </p:nvSpPr>
        <p:spPr>
          <a:xfrm xmlns:a="http://schemas.openxmlformats.org/drawingml/2006/main">
            <a:off x="7620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5EEAD4"/>
            </a:solidFill>
            <a:prstDash val="solid"/>
          </a:ln>
        </p:spPr>
      </p:sp>
      <p:sp>
        <p:nvSpPr>
          <p:cNvPr id="8" name="">
            <a:extLst xmlns:a="http://schemas.openxmlformats.org/drawingml/2006/main">
              <a:ext uri="{FF2B5EF4-FFF2-40B4-BE49-F238E27FC236}">
                <a16:creationId xmlns:a16="http://schemas.microsoft.com/office/drawing/2014/main" id="{4C6F0741-7623-44D2-98FF-29B1F6C4335B}"/>
              </a:ext>
            </a:extLst>
          </p:cNvPr>
          <p:cNvSpPr>
            <a:spLocks xmlns:a="http://schemas.openxmlformats.org/drawingml/2006/main" noGrp="1"/>
          </p:cNvSpPr>
          <p:nvPr/>
        </p:nvSpPr>
        <p:spPr>
          <a:xfrm xmlns:a="http://schemas.openxmlformats.org/drawingml/2006/main">
            <a:off x="9334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7AC76942-4ABA-4F46-9213-8C8907342A31}"/>
              </a:ext>
            </a:extLst>
          </p:cNvPr>
          <p:cNvSpPr>
            <a:spLocks xmlns:a="http://schemas.openxmlformats.org/drawingml/2006/main" noGrp="1"/>
          </p:cNvSpPr>
          <p:nvPr/>
        </p:nvSpPr>
        <p:spPr>
          <a:xfrm xmlns:a="http://schemas.openxmlformats.org/drawingml/2006/main">
            <a:off x="9334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Speak</a:t>
            </a:r>
          </a:p>
        </p:txBody>
      </p:sp>
      <p:sp>
        <p:nvSpPr>
          <p:cNvPr id="10" name="">
            <a:extLst xmlns:a="http://schemas.openxmlformats.org/drawingml/2006/main">
              <a:ext uri="{FF2B5EF4-FFF2-40B4-BE49-F238E27FC236}">
                <a16:creationId xmlns:a16="http://schemas.microsoft.com/office/drawing/2014/main" id="{660860F5-F3B7-463B-B0E7-576E78CFBDE8}"/>
              </a:ext>
            </a:extLst>
          </p:cNvPr>
          <p:cNvSpPr>
            <a:spLocks xmlns:a="http://schemas.openxmlformats.org/drawingml/2006/main" noGrp="1"/>
          </p:cNvSpPr>
          <p:nvPr/>
        </p:nvSpPr>
        <p:spPr>
          <a:xfrm xmlns:a="http://schemas.openxmlformats.org/drawingml/2006/main">
            <a:off x="9334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“Build me a web app”</a:t>
            </a:r>
          </a:p>
        </p:txBody>
      </p:sp>
      <p:sp>
        <p:nvSpPr>
          <p:cNvPr id="11" name="sequence-node-1">
            <a:extLst xmlns:a="http://schemas.openxmlformats.org/drawingml/2006/main">
              <a:ext uri="{FF2B5EF4-FFF2-40B4-BE49-F238E27FC236}">
                <a16:creationId xmlns:a16="http://schemas.microsoft.com/office/drawing/2014/main" id="{559B9079-9068-4396-8E30-E7552C6A55C3}"/>
              </a:ext>
            </a:extLst>
          </p:cNvPr>
          <p:cNvSpPr>
            <a:spLocks xmlns:a="http://schemas.openxmlformats.org/drawingml/2006/main" noGrp="1"/>
          </p:cNvSpPr>
          <p:nvPr/>
        </p:nvSpPr>
        <p:spPr>
          <a:xfrm xmlns:a="http://schemas.openxmlformats.org/drawingml/2006/main">
            <a:off x="33337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60A5FA"/>
            </a:solidFill>
            <a:prstDash val="solid"/>
          </a:ln>
        </p:spPr>
      </p:sp>
      <p:sp>
        <p:nvSpPr>
          <p:cNvPr id="12" name="">
            <a:extLst xmlns:a="http://schemas.openxmlformats.org/drawingml/2006/main">
              <a:ext uri="{FF2B5EF4-FFF2-40B4-BE49-F238E27FC236}">
                <a16:creationId xmlns:a16="http://schemas.microsoft.com/office/drawing/2014/main" id="{5466D228-325B-4271-9BB0-CF806359F3D9}"/>
              </a:ext>
            </a:extLst>
          </p:cNvPr>
          <p:cNvSpPr>
            <a:spLocks xmlns:a="http://schemas.openxmlformats.org/drawingml/2006/main" noGrp="1"/>
          </p:cNvSpPr>
          <p:nvPr/>
        </p:nvSpPr>
        <p:spPr>
          <a:xfrm xmlns:a="http://schemas.openxmlformats.org/drawingml/2006/main">
            <a:off x="35052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0A7DCF86-5414-488A-8AAD-E97FC387DD32}"/>
              </a:ext>
            </a:extLst>
          </p:cNvPr>
          <p:cNvSpPr>
            <a:spLocks xmlns:a="http://schemas.openxmlformats.org/drawingml/2006/main" noGrp="1"/>
          </p:cNvSpPr>
          <p:nvPr/>
        </p:nvSpPr>
        <p:spPr>
          <a:xfrm xmlns:a="http://schemas.openxmlformats.org/drawingml/2006/main">
            <a:off x="35052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CE106287-1ED0-40F4-841F-74C703C2094F}"/>
              </a:ext>
            </a:extLst>
          </p:cNvPr>
          <p:cNvSpPr>
            <a:spLocks xmlns:a="http://schemas.openxmlformats.org/drawingml/2006/main" noGrp="1"/>
          </p:cNvSpPr>
          <p:nvPr/>
        </p:nvSpPr>
        <p:spPr>
          <a:xfrm xmlns:a="http://schemas.openxmlformats.org/drawingml/2006/main">
            <a:off x="35052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Qwen selects tool calls</a:t>
            </a:r>
          </a:p>
        </p:txBody>
      </p:sp>
      <p:sp>
        <p:nvSpPr>
          <p:cNvPr id="15" name="sequence-node-2">
            <a:extLst xmlns:a="http://schemas.openxmlformats.org/drawingml/2006/main">
              <a:ext uri="{FF2B5EF4-FFF2-40B4-BE49-F238E27FC236}">
                <a16:creationId xmlns:a16="http://schemas.microsoft.com/office/drawing/2014/main" id="{B5B3BCB2-81DE-423A-B961-E12E3CB6A79C}"/>
              </a:ext>
            </a:extLst>
          </p:cNvPr>
          <p:cNvSpPr>
            <a:spLocks xmlns:a="http://schemas.openxmlformats.org/drawingml/2006/main" noGrp="1"/>
          </p:cNvSpPr>
          <p:nvPr/>
        </p:nvSpPr>
        <p:spPr>
          <a:xfrm xmlns:a="http://schemas.openxmlformats.org/drawingml/2006/main">
            <a:off x="59055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FCD34D"/>
            </a:solidFill>
            <a:prstDash val="solid"/>
          </a:ln>
        </p:spPr>
      </p:sp>
      <p:sp>
        <p:nvSpPr>
          <p:cNvPr id="16" name="">
            <a:extLst xmlns:a="http://schemas.openxmlformats.org/drawingml/2006/main">
              <a:ext uri="{FF2B5EF4-FFF2-40B4-BE49-F238E27FC236}">
                <a16:creationId xmlns:a16="http://schemas.microsoft.com/office/drawing/2014/main" id="{6A32B435-544C-4BF2-98CC-1B03D4B9AFB2}"/>
              </a:ext>
            </a:extLst>
          </p:cNvPr>
          <p:cNvSpPr>
            <a:spLocks xmlns:a="http://schemas.openxmlformats.org/drawingml/2006/main" noGrp="1"/>
          </p:cNvSpPr>
          <p:nvPr/>
        </p:nvSpPr>
        <p:spPr>
          <a:xfrm xmlns:a="http://schemas.openxmlformats.org/drawingml/2006/main">
            <a:off x="60769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3E11C01A-6DB1-4F29-B1F4-03C4F9F91C60}"/>
              </a:ext>
            </a:extLst>
          </p:cNvPr>
          <p:cNvSpPr>
            <a:spLocks xmlns:a="http://schemas.openxmlformats.org/drawingml/2006/main" noGrp="1"/>
          </p:cNvSpPr>
          <p:nvPr/>
        </p:nvSpPr>
        <p:spPr>
          <a:xfrm xmlns:a="http://schemas.openxmlformats.org/drawingml/2006/main">
            <a:off x="60769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Act</a:t>
            </a:r>
          </a:p>
        </p:txBody>
      </p:sp>
      <p:sp>
        <p:nvSpPr>
          <p:cNvPr id="18" name="">
            <a:extLst xmlns:a="http://schemas.openxmlformats.org/drawingml/2006/main">
              <a:ext uri="{FF2B5EF4-FFF2-40B4-BE49-F238E27FC236}">
                <a16:creationId xmlns:a16="http://schemas.microsoft.com/office/drawing/2014/main" id="{F788F805-B1A4-4D5B-9B5E-011FA058568D}"/>
              </a:ext>
            </a:extLst>
          </p:cNvPr>
          <p:cNvSpPr>
            <a:spLocks xmlns:a="http://schemas.openxmlformats.org/drawingml/2006/main" noGrp="1"/>
          </p:cNvSpPr>
          <p:nvPr/>
        </p:nvSpPr>
        <p:spPr>
          <a:xfrm xmlns:a="http://schemas.openxmlformats.org/drawingml/2006/main">
            <a:off x="60769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Files, web, commands, jobs</a:t>
            </a:r>
          </a:p>
        </p:txBody>
      </p:sp>
      <p:sp>
        <p:nvSpPr>
          <p:cNvPr id="19" name="sequence-node-3">
            <a:extLst xmlns:a="http://schemas.openxmlformats.org/drawingml/2006/main">
              <a:ext uri="{FF2B5EF4-FFF2-40B4-BE49-F238E27FC236}">
                <a16:creationId xmlns:a16="http://schemas.microsoft.com/office/drawing/2014/main" id="{AEDAFC63-B118-42F1-A5C8-0F370A2048A3}"/>
              </a:ext>
            </a:extLst>
          </p:cNvPr>
          <p:cNvSpPr>
            <a:spLocks xmlns:a="http://schemas.openxmlformats.org/drawingml/2006/main" noGrp="1"/>
          </p:cNvSpPr>
          <p:nvPr/>
        </p:nvSpPr>
        <p:spPr>
          <a:xfrm xmlns:a="http://schemas.openxmlformats.org/drawingml/2006/main">
            <a:off x="84772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A7F3D0"/>
            </a:solidFill>
            <a:prstDash val="solid"/>
          </a:ln>
        </p:spPr>
      </p:sp>
      <p:sp>
        <p:nvSpPr>
          <p:cNvPr id="20" name="">
            <a:extLst xmlns:a="http://schemas.openxmlformats.org/drawingml/2006/main">
              <a:ext uri="{FF2B5EF4-FFF2-40B4-BE49-F238E27FC236}">
                <a16:creationId xmlns:a16="http://schemas.microsoft.com/office/drawing/2014/main" id="{06203D7C-5334-47DD-9728-5208DDC6F793}"/>
              </a:ext>
            </a:extLst>
          </p:cNvPr>
          <p:cNvSpPr>
            <a:spLocks xmlns:a="http://schemas.openxmlformats.org/drawingml/2006/main" noGrp="1"/>
          </p:cNvSpPr>
          <p:nvPr/>
        </p:nvSpPr>
        <p:spPr>
          <a:xfrm xmlns:a="http://schemas.openxmlformats.org/drawingml/2006/main">
            <a:off x="86487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CC4318B1-76EB-4C96-8F3F-E9D16E055E5B}"/>
              </a:ext>
            </a:extLst>
          </p:cNvPr>
          <p:cNvSpPr>
            <a:spLocks xmlns:a="http://schemas.openxmlformats.org/drawingml/2006/main" noGrp="1"/>
          </p:cNvSpPr>
          <p:nvPr/>
        </p:nvSpPr>
        <p:spPr>
          <a:xfrm xmlns:a="http://schemas.openxmlformats.org/drawingml/2006/main">
            <a:off x="86487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Prove</a:t>
            </a:r>
          </a:p>
        </p:txBody>
      </p:sp>
      <p:sp>
        <p:nvSpPr>
          <p:cNvPr id="22" name="">
            <a:extLst xmlns:a="http://schemas.openxmlformats.org/drawingml/2006/main">
              <a:ext uri="{FF2B5EF4-FFF2-40B4-BE49-F238E27FC236}">
                <a16:creationId xmlns:a16="http://schemas.microsoft.com/office/drawing/2014/main" id="{212196AC-EB0C-4154-91C9-CD7B3721C5AF}"/>
              </a:ext>
            </a:extLst>
          </p:cNvPr>
          <p:cNvSpPr>
            <a:spLocks xmlns:a="http://schemas.openxmlformats.org/drawingml/2006/main" noGrp="1"/>
          </p:cNvSpPr>
          <p:nvPr/>
        </p:nvSpPr>
        <p:spPr>
          <a:xfrm xmlns:a="http://schemas.openxmlformats.org/drawingml/2006/main">
            <a:off x="86487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Read-back + verification</a:t>
            </a:r>
          </a:p>
        </p:txBody>
      </p:sp>
      <p:sp>
        <p:nvSpPr>
          <p:cNvPr id="23" name="sequence-caption">
            <a:extLst xmlns:a="http://schemas.openxmlformats.org/drawingml/2006/main">
              <a:ext uri="{FF2B5EF4-FFF2-40B4-BE49-F238E27FC236}">
                <a16:creationId xmlns:a16="http://schemas.microsoft.com/office/drawing/2014/main" id="{21382745-CC78-4A25-86CC-B11DFE8A2306}"/>
              </a:ext>
            </a:extLst>
          </p:cNvPr>
          <p:cNvSpPr>
            <a:spLocks xmlns:a="http://schemas.openxmlformats.org/drawingml/2006/main" noGrp="1"/>
          </p:cNvSpPr>
          <p:nvPr/>
        </p:nvSpPr>
        <p:spPr>
          <a:xfrm xmlns:a="http://schemas.openxmlformats.org/drawingml/2006/main">
            <a:off x="1714500" y="4648200"/>
            <a:ext cx="8763000" cy="819150"/>
          </a:xfrm>
          <a:prstGeom xmlns:a="http://schemas.openxmlformats.org/drawingml/2006/main" prst="roundRect">
            <a:avLst>
              <a:gd name="adj" fmla="val 13953"/>
            </a:avLst>
          </a:prstGeom>
          <a:solidFill xmlns:a="http://schemas.openxmlformats.org/drawingml/2006/main">
            <a:srgbClr val="102A4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BAFE266-FBD4-4D02-87D2-CBB8B1D35ACE}"/>
              </a:ext>
            </a:extLst>
          </p:cNvPr>
          <p:cNvSpPr>
            <a:spLocks xmlns:a="http://schemas.openxmlformats.org/drawingml/2006/main" noGrp="1"/>
          </p:cNvSpPr>
          <p:nvPr/>
        </p:nvSpPr>
        <p:spPr>
          <a:xfrm xmlns:a="http://schemas.openxmlformats.org/drawingml/2006/main">
            <a:off x="2019300" y="483870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F7FAFC"/>
                </a:solidFill>
                <a:latin typeface="Arial"/>
                <a:ea typeface="Arial"/>
                <a:cs typeface="Arial"/>
              </a:defRPr>
            </a:defPPr>
            <a:lvl1pPr>
              <a:defRPr sz="1725" b="1">
                <a:solidFill>
                  <a:srgbClr val="F7FAFC"/>
                </a:solidFill>
                <a:latin typeface="Arial"/>
                <a:ea typeface="Arial"/>
                <a:cs typeface="Arial"/>
              </a:defRPr>
            </a:lvl1pPr>
            <a:lvl2pPr>
              <a:defRPr sz="1725" b="1">
                <a:solidFill>
                  <a:srgbClr val="F7FAFC"/>
                </a:solidFill>
                <a:latin typeface="Arial"/>
                <a:ea typeface="Arial"/>
                <a:cs typeface="Arial"/>
              </a:defRPr>
            </a:lvl2pPr>
            <a:lvl3pPr>
              <a:defRPr sz="1725" b="1">
                <a:solidFill>
                  <a:srgbClr val="F7FAFC"/>
                </a:solidFill>
                <a:latin typeface="Arial"/>
                <a:ea typeface="Arial"/>
                <a:cs typeface="Arial"/>
              </a:defRPr>
            </a:lvl3pPr>
            <a:lvl4pPr>
              <a:defRPr sz="1725" b="1">
                <a:solidFill>
                  <a:srgbClr val="F7FAFC"/>
                </a:solidFill>
                <a:latin typeface="Arial"/>
                <a:ea typeface="Arial"/>
                <a:cs typeface="Arial"/>
              </a:defRPr>
            </a:lvl4pPr>
            <a:lvl5pPr>
              <a:defRPr sz="1725" b="1">
                <a:solidFill>
                  <a:srgbClr val="F7FAFC"/>
                </a:solidFill>
                <a:latin typeface="Arial"/>
                <a:ea typeface="Arial"/>
                <a:cs typeface="Arial"/>
              </a:defRPr>
            </a:lvl5pPr>
            <a:lvl6pPr>
              <a:defRPr sz="1725" b="1">
                <a:solidFill>
                  <a:srgbClr val="F7FAFC"/>
                </a:solidFill>
                <a:latin typeface="Arial"/>
                <a:ea typeface="Arial"/>
                <a:cs typeface="Arial"/>
              </a:defRPr>
            </a:lvl6pPr>
            <a:lvl7pPr>
              <a:defRPr sz="1725" b="1">
                <a:solidFill>
                  <a:srgbClr val="F7FAFC"/>
                </a:solidFill>
                <a:latin typeface="Arial"/>
                <a:ea typeface="Arial"/>
                <a:cs typeface="Arial"/>
              </a:defRPr>
            </a:lvl7pPr>
            <a:lvl8pPr>
              <a:defRPr sz="1725" b="1">
                <a:solidFill>
                  <a:srgbClr val="F7FAFC"/>
                </a:solidFill>
                <a:latin typeface="Arial"/>
                <a:ea typeface="Arial"/>
                <a:cs typeface="Arial"/>
              </a:defRPr>
            </a:lvl8pPr>
            <a:lvl9pPr>
              <a:defRPr sz="1725" b="1">
                <a:solidFill>
                  <a:srgbClr val="F7FAFC"/>
                </a:solidFill>
                <a:latin typeface="Arial"/>
                <a:ea typeface="Arial"/>
                <a:cs typeface="Arial"/>
              </a:defRPr>
            </a:lvl9pPr>
          </a:lstStyle>
          <a:p xmlns:a="http://schemas.openxmlformats.org/drawingml/2006/main">
            <a:pPr>
              <a:defRPr sz="1725" b="1">
                <a:solidFill>
                  <a:srgbClr val="F7FAFC"/>
                </a:solidFill>
                <a:latin typeface="Arial"/>
                <a:ea typeface="Arial"/>
                <a:cs typeface="Arial"/>
              </a:defRPr>
            </a:pPr>
            <a:r>
              <a:rPr sz="1725" b="1">
                <a:solidFill>
                  <a:srgbClr val="F7FAFC"/>
                </a:solidFill>
                <a:latin typeface="Arial"/>
                <a:ea typeface="Arial"/>
                <a:cs typeface="Arial"/>
              </a:rPr>
              <a:t>Full duplex means listening continues during playback.</a:t>
            </a:r>
          </a:p>
        </p:txBody>
      </p:sp>
      <p:sp>
        <p:nvSpPr>
          <p:cNvPr id="25" name="">
            <a:extLst xmlns:a="http://schemas.openxmlformats.org/drawingml/2006/main">
              <a:ext uri="{FF2B5EF4-FFF2-40B4-BE49-F238E27FC236}">
                <a16:creationId xmlns:a16="http://schemas.microsoft.com/office/drawing/2014/main" id="{DCB72937-FA69-403A-A703-039412FC32D4}"/>
              </a:ext>
            </a:extLst>
          </p:cNvPr>
          <p:cNvSpPr>
            <a:spLocks xmlns:a="http://schemas.openxmlformats.org/drawingml/2006/main" noGrp="1"/>
          </p:cNvSpPr>
          <p:nvPr/>
        </p:nvSpPr>
        <p:spPr>
          <a:xfrm xmlns:a="http://schemas.openxmlformats.org/drawingml/2006/main">
            <a:off x="2019300" y="5162550"/>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Speech during TTS cancels playback and starts a new turn.</a:t>
            </a:r>
          </a:p>
        </p:txBody>
      </p:sp>
      <p:sp>
        <p:nvSpPr>
          <p:cNvPr id="26" name="">
            <a:extLst xmlns:a="http://schemas.openxmlformats.org/drawingml/2006/main">
              <a:ext uri="{FF2B5EF4-FFF2-40B4-BE49-F238E27FC236}">
                <a16:creationId xmlns:a16="http://schemas.microsoft.com/office/drawing/2014/main" id="{F76A6C44-157D-4AD1-8228-F98312680B91}"/>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2/7</a:t>
            </a:r>
          </a:p>
        </p:txBody>
      </p:sp>
    </p:spTree>
    <p:extLst>
      <p:ext uri="{BB962C8B-B14F-4D97-AF65-F5344CB8AC3E}">
        <p14:creationId xmlns:p14="http://schemas.microsoft.com/office/powerpoint/2010/main" val="179271789"/>
      </p:ext>
    </p:extLst>
  </p:cSld>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290D1A1-EA80-402D-B717-576DD0412545}"/>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01F25AB8-0F02-44F2-B414-A64DF4291E84}"/>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Local speech, remote reasoning, owned actions</a:t>
            </a:r>
          </a:p>
        </p:txBody>
      </p:sp>
      <p:sp>
        <p:nvSpPr>
          <p:cNvPr id="3" name="">
            <a:extLst xmlns:a="http://schemas.openxmlformats.org/drawingml/2006/main">
              <a:ext uri="{FF2B5EF4-FFF2-40B4-BE49-F238E27FC236}">
                <a16:creationId xmlns:a16="http://schemas.microsoft.com/office/drawing/2014/main" id="{3D7E03CA-0281-4DDC-9D53-03935817A474}"/>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Pi keeps audio-sensitive work local while Qwen supplies flexible inference through an OpenAI-compatible API.</a:t>
            </a:r>
          </a:p>
        </p:txBody>
      </p:sp>
      <p:cxnSp>
        <p:nvCxnSpPr>
          <p:cNvPr id="4" name="arch-local-to-qwen">
            <a:extLst xmlns:a="http://schemas.openxmlformats.org/drawingml/2006/main">
              <a:ext uri="{FF2B5EF4-FFF2-40B4-BE49-F238E27FC236}">
                <a16:creationId xmlns:a16="http://schemas.microsoft.com/office/drawing/2014/main" id="{2AD44179-0776-44A3-B822-F1412C9C45AD}"/>
              </a:ext>
            </a:extLst>
          </p:cNvPr>
          <p:cNvCxnSpPr/>
          <p:nvPr/>
        </p:nvCxnSpPr>
        <p:spPr>
          <a:xfrm xmlns:a="http://schemas.openxmlformats.org/drawingml/2006/main">
            <a:off x="2333625" y="3181350"/>
            <a:ext cx="71437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arch-qwen-to-tools">
            <a:extLst xmlns:a="http://schemas.openxmlformats.org/drawingml/2006/main">
              <a:ext uri="{FF2B5EF4-FFF2-40B4-BE49-F238E27FC236}">
                <a16:creationId xmlns:a16="http://schemas.microsoft.com/office/drawing/2014/main" id="{12505D42-46DC-4882-9C03-C2551CE361E7}"/>
              </a:ext>
            </a:extLst>
          </p:cNvPr>
          <p:cNvCxnSpPr/>
          <p:nvPr/>
        </p:nvCxnSpPr>
        <p:spPr>
          <a:xfrm xmlns:a="http://schemas.openxmlformats.org/drawingml/2006/main">
            <a:off x="5381625" y="3181350"/>
            <a:ext cx="71437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arch-tools-to-response">
            <a:extLst xmlns:a="http://schemas.openxmlformats.org/drawingml/2006/main">
              <a:ext uri="{FF2B5EF4-FFF2-40B4-BE49-F238E27FC236}">
                <a16:creationId xmlns:a16="http://schemas.microsoft.com/office/drawing/2014/main" id="{6BDE5046-0F74-4A8A-801C-6A831609815E}"/>
              </a:ext>
            </a:extLst>
          </p:cNvPr>
          <p:cNvCxnSpPr/>
          <p:nvPr/>
        </p:nvCxnSpPr>
        <p:spPr>
          <a:xfrm xmlns:a="http://schemas.openxmlformats.org/drawingml/2006/main">
            <a:off x="8429625" y="3181350"/>
            <a:ext cx="714375" cy="0"/>
          </a:xfrm>
          <a:prstGeom xmlns:a="http://schemas.openxmlformats.org/drawingml/2006/main" prst="straightConnector1">
            <a:avLst/>
          </a:prstGeom>
          <a:ln xmlns:a="http://schemas.openxmlformats.org/drawingml/2006/main" w="19050">
            <a:solidFill>
              <a:srgbClr val="A7F3D0"/>
            </a:solidFill>
            <a:prstDash val="solid"/>
            <a:tailEnd type="arrow" w="med" len="med"/>
          </a:ln>
        </p:spPr>
      </p:cxnSp>
      <p:sp>
        <p:nvSpPr>
          <p:cNvPr id="7" name="arch-node-0">
            <a:extLst xmlns:a="http://schemas.openxmlformats.org/drawingml/2006/main">
              <a:ext uri="{FF2B5EF4-FFF2-40B4-BE49-F238E27FC236}">
                <a16:creationId xmlns:a16="http://schemas.microsoft.com/office/drawing/2014/main" id="{3FD90A9D-AB03-4C5D-BB30-6F30106FD2C0}"/>
              </a:ext>
            </a:extLst>
          </p:cNvPr>
          <p:cNvSpPr>
            <a:spLocks xmlns:a="http://schemas.openxmlformats.org/drawingml/2006/main" noGrp="1"/>
          </p:cNvSpPr>
          <p:nvPr/>
        </p:nvSpPr>
        <p:spPr>
          <a:xfrm xmlns:a="http://schemas.openxmlformats.org/drawingml/2006/main">
            <a:off x="666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5EEAD4"/>
            </a:solidFill>
            <a:prstDash val="solid"/>
          </a:ln>
        </p:spPr>
      </p:sp>
      <p:sp>
        <p:nvSpPr>
          <p:cNvPr id="8" name="arch-accent-0">
            <a:extLst xmlns:a="http://schemas.openxmlformats.org/drawingml/2006/main">
              <a:ext uri="{FF2B5EF4-FFF2-40B4-BE49-F238E27FC236}">
                <a16:creationId xmlns:a16="http://schemas.microsoft.com/office/drawing/2014/main" id="{5914D4D2-F103-465D-BEDB-0BCE876E7AD8}"/>
              </a:ext>
            </a:extLst>
          </p:cNvPr>
          <p:cNvSpPr>
            <a:spLocks xmlns:a="http://schemas.openxmlformats.org/drawingml/2006/main" noGrp="1"/>
          </p:cNvSpPr>
          <p:nvPr/>
        </p:nvSpPr>
        <p:spPr>
          <a:xfrm xmlns:a="http://schemas.openxmlformats.org/drawingml/2006/main">
            <a:off x="857250" y="2514600"/>
            <a:ext cx="457200" cy="5715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3233104-A6CE-4DB3-8D4E-F6C459DB36F6}"/>
              </a:ext>
            </a:extLst>
          </p:cNvPr>
          <p:cNvSpPr>
            <a:spLocks xmlns:a="http://schemas.openxmlformats.org/drawingml/2006/main" noGrp="1"/>
          </p:cNvSpPr>
          <p:nvPr/>
        </p:nvSpPr>
        <p:spPr>
          <a:xfrm xmlns:a="http://schemas.openxmlformats.org/drawingml/2006/main">
            <a:off x="857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LOCAL AUDIO</a:t>
            </a:r>
          </a:p>
        </p:txBody>
      </p:sp>
      <p:sp>
        <p:nvSpPr>
          <p:cNvPr id="10" name="">
            <a:extLst xmlns:a="http://schemas.openxmlformats.org/drawingml/2006/main">
              <a:ext uri="{FF2B5EF4-FFF2-40B4-BE49-F238E27FC236}">
                <a16:creationId xmlns:a16="http://schemas.microsoft.com/office/drawing/2014/main" id="{FA8EB926-57F6-427A-A382-49FA12E6B42A}"/>
              </a:ext>
            </a:extLst>
          </p:cNvPr>
          <p:cNvSpPr>
            <a:spLocks xmlns:a="http://schemas.openxmlformats.org/drawingml/2006/main" noGrp="1"/>
          </p:cNvSpPr>
          <p:nvPr/>
        </p:nvSpPr>
        <p:spPr>
          <a:xfrm xmlns:a="http://schemas.openxmlformats.org/drawingml/2006/main">
            <a:off x="857250" y="314325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F7FAFC"/>
                </a:solidFill>
                <a:latin typeface="Arial"/>
                <a:ea typeface="Arial"/>
                <a:cs typeface="Arial"/>
              </a:defRPr>
            </a:defPPr>
            <a:lvl1pPr>
              <a:defRPr sz="1425" b="1">
                <a:solidFill>
                  <a:srgbClr val="F7FAFC"/>
                </a:solidFill>
                <a:latin typeface="Arial"/>
                <a:ea typeface="Arial"/>
                <a:cs typeface="Arial"/>
              </a:defRPr>
            </a:lvl1pPr>
            <a:lvl2pPr>
              <a:defRPr sz="1425" b="1">
                <a:solidFill>
                  <a:srgbClr val="F7FAFC"/>
                </a:solidFill>
                <a:latin typeface="Arial"/>
                <a:ea typeface="Arial"/>
                <a:cs typeface="Arial"/>
              </a:defRPr>
            </a:lvl2pPr>
            <a:lvl3pPr>
              <a:defRPr sz="1425" b="1">
                <a:solidFill>
                  <a:srgbClr val="F7FAFC"/>
                </a:solidFill>
                <a:latin typeface="Arial"/>
                <a:ea typeface="Arial"/>
                <a:cs typeface="Arial"/>
              </a:defRPr>
            </a:lvl3pPr>
            <a:lvl4pPr>
              <a:defRPr sz="1425" b="1">
                <a:solidFill>
                  <a:srgbClr val="F7FAFC"/>
                </a:solidFill>
                <a:latin typeface="Arial"/>
                <a:ea typeface="Arial"/>
                <a:cs typeface="Arial"/>
              </a:defRPr>
            </a:lvl4pPr>
            <a:lvl5pPr>
              <a:defRPr sz="1425" b="1">
                <a:solidFill>
                  <a:srgbClr val="F7FAFC"/>
                </a:solidFill>
                <a:latin typeface="Arial"/>
                <a:ea typeface="Arial"/>
                <a:cs typeface="Arial"/>
              </a:defRPr>
            </a:lvl5pPr>
            <a:lvl6pPr>
              <a:defRPr sz="1425" b="1">
                <a:solidFill>
                  <a:srgbClr val="F7FAFC"/>
                </a:solidFill>
                <a:latin typeface="Arial"/>
                <a:ea typeface="Arial"/>
                <a:cs typeface="Arial"/>
              </a:defRPr>
            </a:lvl6pPr>
            <a:lvl7pPr>
              <a:defRPr sz="1425" b="1">
                <a:solidFill>
                  <a:srgbClr val="F7FAFC"/>
                </a:solidFill>
                <a:latin typeface="Arial"/>
                <a:ea typeface="Arial"/>
                <a:cs typeface="Arial"/>
              </a:defRPr>
            </a:lvl7pPr>
            <a:lvl8pPr>
              <a:defRPr sz="1425" b="1">
                <a:solidFill>
                  <a:srgbClr val="F7FAFC"/>
                </a:solidFill>
                <a:latin typeface="Arial"/>
                <a:ea typeface="Arial"/>
                <a:cs typeface="Arial"/>
              </a:defRPr>
            </a:lvl8pPr>
            <a:lvl9pPr>
              <a:defRPr sz="1425" b="1">
                <a:solidFill>
                  <a:srgbClr val="F7FAFC"/>
                </a:solidFill>
                <a:latin typeface="Arial"/>
                <a:ea typeface="Arial"/>
                <a:cs typeface="Arial"/>
              </a:defRPr>
            </a:lvl9pPr>
          </a:lstStyle>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Mic → VAD → ASR</a:t>
            </a:r>
          </a:p>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TTS → speaker</a:t>
            </a:r>
          </a:p>
        </p:txBody>
      </p:sp>
      <p:sp>
        <p:nvSpPr>
          <p:cNvPr id="11" name="">
            <a:extLst xmlns:a="http://schemas.openxmlformats.org/drawingml/2006/main">
              <a:ext uri="{FF2B5EF4-FFF2-40B4-BE49-F238E27FC236}">
                <a16:creationId xmlns:a16="http://schemas.microsoft.com/office/drawing/2014/main" id="{13276498-FA2B-440D-8EB4-E650C1DF4855}"/>
              </a:ext>
            </a:extLst>
          </p:cNvPr>
          <p:cNvSpPr>
            <a:spLocks xmlns:a="http://schemas.openxmlformats.org/drawingml/2006/main" noGrp="1"/>
          </p:cNvSpPr>
          <p:nvPr/>
        </p:nvSpPr>
        <p:spPr>
          <a:xfrm xmlns:a="http://schemas.openxmlformats.org/drawingml/2006/main">
            <a:off x="857250" y="3810000"/>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Pi / Windows</a:t>
            </a:r>
          </a:p>
        </p:txBody>
      </p:sp>
      <p:sp>
        <p:nvSpPr>
          <p:cNvPr id="12" name="arch-node-1">
            <a:extLst xmlns:a="http://schemas.openxmlformats.org/drawingml/2006/main">
              <a:ext uri="{FF2B5EF4-FFF2-40B4-BE49-F238E27FC236}">
                <a16:creationId xmlns:a16="http://schemas.microsoft.com/office/drawing/2014/main" id="{A18EA670-D840-4468-8025-D03D16672D2B}"/>
              </a:ext>
            </a:extLst>
          </p:cNvPr>
          <p:cNvSpPr>
            <a:spLocks xmlns:a="http://schemas.openxmlformats.org/drawingml/2006/main" noGrp="1"/>
          </p:cNvSpPr>
          <p:nvPr/>
        </p:nvSpPr>
        <p:spPr>
          <a:xfrm xmlns:a="http://schemas.openxmlformats.org/drawingml/2006/main">
            <a:off x="3714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60A5FA"/>
            </a:solidFill>
            <a:prstDash val="solid"/>
          </a:ln>
        </p:spPr>
      </p:sp>
      <p:sp>
        <p:nvSpPr>
          <p:cNvPr id="13" name="arch-accent-1">
            <a:extLst xmlns:a="http://schemas.openxmlformats.org/drawingml/2006/main">
              <a:ext uri="{FF2B5EF4-FFF2-40B4-BE49-F238E27FC236}">
                <a16:creationId xmlns:a16="http://schemas.microsoft.com/office/drawing/2014/main" id="{08B0EA41-3D2B-4AEF-89AF-C7A9EEB8CDB9}"/>
              </a:ext>
            </a:extLst>
          </p:cNvPr>
          <p:cNvSpPr>
            <a:spLocks xmlns:a="http://schemas.openxmlformats.org/drawingml/2006/main" noGrp="1"/>
          </p:cNvSpPr>
          <p:nvPr/>
        </p:nvSpPr>
        <p:spPr>
          <a:xfrm xmlns:a="http://schemas.openxmlformats.org/drawingml/2006/main">
            <a:off x="3905250" y="2514600"/>
            <a:ext cx="457200" cy="57150"/>
          </a:xfrm>
          <a:prstGeom xmlns:a="http://schemas.openxmlformats.org/drawingml/2006/main" prst="rect">
            <a:avLst/>
          </a:prstGeom>
          <a:solidFill xmlns:a="http://schemas.openxmlformats.org/drawingml/2006/main">
            <a:srgbClr val="60A5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7BBC69-79B7-4CBA-865B-C3F1FAF4CC0D}"/>
              </a:ext>
            </a:extLst>
          </p:cNvPr>
          <p:cNvSpPr>
            <a:spLocks xmlns:a="http://schemas.openxmlformats.org/drawingml/2006/main" noGrp="1"/>
          </p:cNvSpPr>
          <p:nvPr/>
        </p:nvSpPr>
        <p:spPr>
          <a:xfrm xmlns:a="http://schemas.openxmlformats.org/drawingml/2006/main">
            <a:off x="3905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QWEN BRAIN</a:t>
            </a:r>
          </a:p>
        </p:txBody>
      </p:sp>
      <p:sp>
        <p:nvSpPr>
          <p:cNvPr id="15" name="">
            <a:extLst xmlns:a="http://schemas.openxmlformats.org/drawingml/2006/main">
              <a:ext uri="{FF2B5EF4-FFF2-40B4-BE49-F238E27FC236}">
                <a16:creationId xmlns:a16="http://schemas.microsoft.com/office/drawing/2014/main" id="{A4145601-0918-4181-BC08-2165682051BB}"/>
              </a:ext>
            </a:extLst>
          </p:cNvPr>
          <p:cNvSpPr>
            <a:spLocks xmlns:a="http://schemas.openxmlformats.org/drawingml/2006/main" noGrp="1"/>
          </p:cNvSpPr>
          <p:nvPr/>
        </p:nvSpPr>
        <p:spPr>
          <a:xfrm xmlns:a="http://schemas.openxmlformats.org/drawingml/2006/main">
            <a:off x="3905250" y="314325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F7FAFC"/>
                </a:solidFill>
                <a:latin typeface="Arial"/>
                <a:ea typeface="Arial"/>
                <a:cs typeface="Arial"/>
              </a:defRPr>
            </a:defPPr>
            <a:lvl1pPr>
              <a:defRPr sz="1425" b="1">
                <a:solidFill>
                  <a:srgbClr val="F7FAFC"/>
                </a:solidFill>
                <a:latin typeface="Arial"/>
                <a:ea typeface="Arial"/>
                <a:cs typeface="Arial"/>
              </a:defRPr>
            </a:lvl1pPr>
            <a:lvl2pPr>
              <a:defRPr sz="1425" b="1">
                <a:solidFill>
                  <a:srgbClr val="F7FAFC"/>
                </a:solidFill>
                <a:latin typeface="Arial"/>
                <a:ea typeface="Arial"/>
                <a:cs typeface="Arial"/>
              </a:defRPr>
            </a:lvl2pPr>
            <a:lvl3pPr>
              <a:defRPr sz="1425" b="1">
                <a:solidFill>
                  <a:srgbClr val="F7FAFC"/>
                </a:solidFill>
                <a:latin typeface="Arial"/>
                <a:ea typeface="Arial"/>
                <a:cs typeface="Arial"/>
              </a:defRPr>
            </a:lvl3pPr>
            <a:lvl4pPr>
              <a:defRPr sz="1425" b="1">
                <a:solidFill>
                  <a:srgbClr val="F7FAFC"/>
                </a:solidFill>
                <a:latin typeface="Arial"/>
                <a:ea typeface="Arial"/>
                <a:cs typeface="Arial"/>
              </a:defRPr>
            </a:lvl4pPr>
            <a:lvl5pPr>
              <a:defRPr sz="1425" b="1">
                <a:solidFill>
                  <a:srgbClr val="F7FAFC"/>
                </a:solidFill>
                <a:latin typeface="Arial"/>
                <a:ea typeface="Arial"/>
                <a:cs typeface="Arial"/>
              </a:defRPr>
            </a:lvl5pPr>
            <a:lvl6pPr>
              <a:defRPr sz="1425" b="1">
                <a:solidFill>
                  <a:srgbClr val="F7FAFC"/>
                </a:solidFill>
                <a:latin typeface="Arial"/>
                <a:ea typeface="Arial"/>
                <a:cs typeface="Arial"/>
              </a:defRPr>
            </a:lvl6pPr>
            <a:lvl7pPr>
              <a:defRPr sz="1425" b="1">
                <a:solidFill>
                  <a:srgbClr val="F7FAFC"/>
                </a:solidFill>
                <a:latin typeface="Arial"/>
                <a:ea typeface="Arial"/>
                <a:cs typeface="Arial"/>
              </a:defRPr>
            </a:lvl7pPr>
            <a:lvl8pPr>
              <a:defRPr sz="1425" b="1">
                <a:solidFill>
                  <a:srgbClr val="F7FAFC"/>
                </a:solidFill>
                <a:latin typeface="Arial"/>
                <a:ea typeface="Arial"/>
                <a:cs typeface="Arial"/>
              </a:defRPr>
            </a:lvl8pPr>
            <a:lvl9pPr>
              <a:defRPr sz="1425" b="1">
                <a:solidFill>
                  <a:srgbClr val="F7FAFC"/>
                </a:solidFill>
                <a:latin typeface="Arial"/>
                <a:ea typeface="Arial"/>
                <a:cs typeface="Arial"/>
              </a:defRPr>
            </a:lvl9pPr>
          </a:lstStyle>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Chat completions</a:t>
            </a:r>
          </a:p>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tool_choice = auto</a:t>
            </a:r>
          </a:p>
        </p:txBody>
      </p:sp>
      <p:sp>
        <p:nvSpPr>
          <p:cNvPr id="16" name="">
            <a:extLst xmlns:a="http://schemas.openxmlformats.org/drawingml/2006/main">
              <a:ext uri="{FF2B5EF4-FFF2-40B4-BE49-F238E27FC236}">
                <a16:creationId xmlns:a16="http://schemas.microsoft.com/office/drawing/2014/main" id="{B72A629F-C0DA-49C0-8A1E-FE62E8F36FB4}"/>
              </a:ext>
            </a:extLst>
          </p:cNvPr>
          <p:cNvSpPr>
            <a:spLocks xmlns:a="http://schemas.openxmlformats.org/drawingml/2006/main" noGrp="1"/>
          </p:cNvSpPr>
          <p:nvPr/>
        </p:nvSpPr>
        <p:spPr>
          <a:xfrm xmlns:a="http://schemas.openxmlformats.org/drawingml/2006/main">
            <a:off x="3905250" y="3810000"/>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vLLM API</a:t>
            </a:r>
          </a:p>
        </p:txBody>
      </p:sp>
      <p:sp>
        <p:nvSpPr>
          <p:cNvPr id="17" name="arch-node-2">
            <a:extLst xmlns:a="http://schemas.openxmlformats.org/drawingml/2006/main">
              <a:ext uri="{FF2B5EF4-FFF2-40B4-BE49-F238E27FC236}">
                <a16:creationId xmlns:a16="http://schemas.microsoft.com/office/drawing/2014/main" id="{246EC031-3EC7-4187-8A0C-014A3A81FFD9}"/>
              </a:ext>
            </a:extLst>
          </p:cNvPr>
          <p:cNvSpPr>
            <a:spLocks xmlns:a="http://schemas.openxmlformats.org/drawingml/2006/main" noGrp="1"/>
          </p:cNvSpPr>
          <p:nvPr/>
        </p:nvSpPr>
        <p:spPr>
          <a:xfrm xmlns:a="http://schemas.openxmlformats.org/drawingml/2006/main">
            <a:off x="6762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FCD34D"/>
            </a:solidFill>
            <a:prstDash val="solid"/>
          </a:ln>
        </p:spPr>
      </p:sp>
      <p:sp>
        <p:nvSpPr>
          <p:cNvPr id="18" name="arch-accent-2">
            <a:extLst xmlns:a="http://schemas.openxmlformats.org/drawingml/2006/main">
              <a:ext uri="{FF2B5EF4-FFF2-40B4-BE49-F238E27FC236}">
                <a16:creationId xmlns:a16="http://schemas.microsoft.com/office/drawing/2014/main" id="{5F036F32-2A68-4BAE-948B-0EB3B633460A}"/>
              </a:ext>
            </a:extLst>
          </p:cNvPr>
          <p:cNvSpPr>
            <a:spLocks xmlns:a="http://schemas.openxmlformats.org/drawingml/2006/main" noGrp="1"/>
          </p:cNvSpPr>
          <p:nvPr/>
        </p:nvSpPr>
        <p:spPr>
          <a:xfrm xmlns:a="http://schemas.openxmlformats.org/drawingml/2006/main">
            <a:off x="6953250" y="2514600"/>
            <a:ext cx="457200" cy="57150"/>
          </a:xfrm>
          <a:prstGeom xmlns:a="http://schemas.openxmlformats.org/drawingml/2006/main" prst="rect">
            <a:avLst/>
          </a:prstGeom>
          <a:solidFill xmlns:a="http://schemas.openxmlformats.org/drawingml/2006/main">
            <a:srgbClr val="FCD3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54B99A7-969B-4B95-A2E4-CAC7D4678734}"/>
              </a:ext>
            </a:extLst>
          </p:cNvPr>
          <p:cNvSpPr>
            <a:spLocks xmlns:a="http://schemas.openxmlformats.org/drawingml/2006/main" noGrp="1"/>
          </p:cNvSpPr>
          <p:nvPr/>
        </p:nvSpPr>
        <p:spPr>
          <a:xfrm xmlns:a="http://schemas.openxmlformats.org/drawingml/2006/main">
            <a:off x="6953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TOOL REGISTRY</a:t>
            </a:r>
          </a:p>
        </p:txBody>
      </p:sp>
      <p:sp>
        <p:nvSpPr>
          <p:cNvPr id="20" name="">
            <a:extLst xmlns:a="http://schemas.openxmlformats.org/drawingml/2006/main">
              <a:ext uri="{FF2B5EF4-FFF2-40B4-BE49-F238E27FC236}">
                <a16:creationId xmlns:a16="http://schemas.microsoft.com/office/drawing/2014/main" id="{6F784EA7-FCBE-4FEC-9839-C39E5FFB3DBE}"/>
              </a:ext>
            </a:extLst>
          </p:cNvPr>
          <p:cNvSpPr>
            <a:spLocks xmlns:a="http://schemas.openxmlformats.org/drawingml/2006/main" noGrp="1"/>
          </p:cNvSpPr>
          <p:nvPr/>
        </p:nvSpPr>
        <p:spPr>
          <a:xfrm xmlns:a="http://schemas.openxmlformats.org/drawingml/2006/main">
            <a:off x="6953250" y="314325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F7FAFC"/>
                </a:solidFill>
                <a:latin typeface="Arial"/>
                <a:ea typeface="Arial"/>
                <a:cs typeface="Arial"/>
              </a:defRPr>
            </a:defPPr>
            <a:lvl1pPr>
              <a:defRPr sz="1425" b="1">
                <a:solidFill>
                  <a:srgbClr val="F7FAFC"/>
                </a:solidFill>
                <a:latin typeface="Arial"/>
                <a:ea typeface="Arial"/>
                <a:cs typeface="Arial"/>
              </a:defRPr>
            </a:lvl1pPr>
            <a:lvl2pPr>
              <a:defRPr sz="1425" b="1">
                <a:solidFill>
                  <a:srgbClr val="F7FAFC"/>
                </a:solidFill>
                <a:latin typeface="Arial"/>
                <a:ea typeface="Arial"/>
                <a:cs typeface="Arial"/>
              </a:defRPr>
            </a:lvl2pPr>
            <a:lvl3pPr>
              <a:defRPr sz="1425" b="1">
                <a:solidFill>
                  <a:srgbClr val="F7FAFC"/>
                </a:solidFill>
                <a:latin typeface="Arial"/>
                <a:ea typeface="Arial"/>
                <a:cs typeface="Arial"/>
              </a:defRPr>
            </a:lvl3pPr>
            <a:lvl4pPr>
              <a:defRPr sz="1425" b="1">
                <a:solidFill>
                  <a:srgbClr val="F7FAFC"/>
                </a:solidFill>
                <a:latin typeface="Arial"/>
                <a:ea typeface="Arial"/>
                <a:cs typeface="Arial"/>
              </a:defRPr>
            </a:lvl4pPr>
            <a:lvl5pPr>
              <a:defRPr sz="1425" b="1">
                <a:solidFill>
                  <a:srgbClr val="F7FAFC"/>
                </a:solidFill>
                <a:latin typeface="Arial"/>
                <a:ea typeface="Arial"/>
                <a:cs typeface="Arial"/>
              </a:defRPr>
            </a:lvl5pPr>
            <a:lvl6pPr>
              <a:defRPr sz="1425" b="1">
                <a:solidFill>
                  <a:srgbClr val="F7FAFC"/>
                </a:solidFill>
                <a:latin typeface="Arial"/>
                <a:ea typeface="Arial"/>
                <a:cs typeface="Arial"/>
              </a:defRPr>
            </a:lvl6pPr>
            <a:lvl7pPr>
              <a:defRPr sz="1425" b="1">
                <a:solidFill>
                  <a:srgbClr val="F7FAFC"/>
                </a:solidFill>
                <a:latin typeface="Arial"/>
                <a:ea typeface="Arial"/>
                <a:cs typeface="Arial"/>
              </a:defRPr>
            </a:lvl7pPr>
            <a:lvl8pPr>
              <a:defRPr sz="1425" b="1">
                <a:solidFill>
                  <a:srgbClr val="F7FAFC"/>
                </a:solidFill>
                <a:latin typeface="Arial"/>
                <a:ea typeface="Arial"/>
                <a:cs typeface="Arial"/>
              </a:defRPr>
            </a:lvl8pPr>
            <a:lvl9pPr>
              <a:defRPr sz="1425" b="1">
                <a:solidFill>
                  <a:srgbClr val="F7FAFC"/>
                </a:solidFill>
                <a:latin typeface="Arial"/>
                <a:ea typeface="Arial"/>
                <a:cs typeface="Arial"/>
              </a:defRPr>
            </a:lvl9pPr>
          </a:lstStyle>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Files • web • commands</a:t>
            </a:r>
          </a:p>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background tasks</a:t>
            </a:r>
          </a:p>
        </p:txBody>
      </p:sp>
      <p:sp>
        <p:nvSpPr>
          <p:cNvPr id="21" name="">
            <a:extLst xmlns:a="http://schemas.openxmlformats.org/drawingml/2006/main">
              <a:ext uri="{FF2B5EF4-FFF2-40B4-BE49-F238E27FC236}">
                <a16:creationId xmlns:a16="http://schemas.microsoft.com/office/drawing/2014/main" id="{C19586FA-1154-4EF1-B396-2EDB802038F2}"/>
              </a:ext>
            </a:extLst>
          </p:cNvPr>
          <p:cNvSpPr>
            <a:spLocks xmlns:a="http://schemas.openxmlformats.org/drawingml/2006/main" noGrp="1"/>
          </p:cNvSpPr>
          <p:nvPr/>
        </p:nvSpPr>
        <p:spPr>
          <a:xfrm xmlns:a="http://schemas.openxmlformats.org/drawingml/2006/main">
            <a:off x="6953250" y="3810000"/>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ME3 policy</a:t>
            </a:r>
          </a:p>
        </p:txBody>
      </p:sp>
      <p:sp>
        <p:nvSpPr>
          <p:cNvPr id="22" name="arch-node-3">
            <a:extLst xmlns:a="http://schemas.openxmlformats.org/drawingml/2006/main">
              <a:ext uri="{FF2B5EF4-FFF2-40B4-BE49-F238E27FC236}">
                <a16:creationId xmlns:a16="http://schemas.microsoft.com/office/drawing/2014/main" id="{DFD4ED57-AD72-4C71-AABE-0F58C2BAC11C}"/>
              </a:ext>
            </a:extLst>
          </p:cNvPr>
          <p:cNvSpPr>
            <a:spLocks xmlns:a="http://schemas.openxmlformats.org/drawingml/2006/main" noGrp="1"/>
          </p:cNvSpPr>
          <p:nvPr/>
        </p:nvSpPr>
        <p:spPr>
          <a:xfrm xmlns:a="http://schemas.openxmlformats.org/drawingml/2006/main">
            <a:off x="9810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A7F3D0"/>
            </a:solidFill>
            <a:prstDash val="solid"/>
          </a:ln>
        </p:spPr>
      </p:sp>
      <p:sp>
        <p:nvSpPr>
          <p:cNvPr id="23" name="arch-accent-3">
            <a:extLst xmlns:a="http://schemas.openxmlformats.org/drawingml/2006/main">
              <a:ext uri="{FF2B5EF4-FFF2-40B4-BE49-F238E27FC236}">
                <a16:creationId xmlns:a16="http://schemas.microsoft.com/office/drawing/2014/main" id="{8E5E1B1F-68FF-430E-A936-91123B2106DB}"/>
              </a:ext>
            </a:extLst>
          </p:cNvPr>
          <p:cNvSpPr>
            <a:spLocks xmlns:a="http://schemas.openxmlformats.org/drawingml/2006/main" noGrp="1"/>
          </p:cNvSpPr>
          <p:nvPr/>
        </p:nvSpPr>
        <p:spPr>
          <a:xfrm xmlns:a="http://schemas.openxmlformats.org/drawingml/2006/main">
            <a:off x="10001250" y="2514600"/>
            <a:ext cx="457200" cy="57150"/>
          </a:xfrm>
          <a:prstGeom xmlns:a="http://schemas.openxmlformats.org/drawingml/2006/main" prst="rect">
            <a:avLst/>
          </a:prstGeom>
          <a:solidFill xmlns:a="http://schemas.openxmlformats.org/drawingml/2006/main">
            <a:srgbClr val="A7F3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230E7A3-72CE-4BD6-8810-95B4B7C14CC7}"/>
              </a:ext>
            </a:extLst>
          </p:cNvPr>
          <p:cNvSpPr>
            <a:spLocks xmlns:a="http://schemas.openxmlformats.org/drawingml/2006/main" noGrp="1"/>
          </p:cNvSpPr>
          <p:nvPr/>
        </p:nvSpPr>
        <p:spPr>
          <a:xfrm xmlns:a="http://schemas.openxmlformats.org/drawingml/2006/main">
            <a:off x="10001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886A8905-53AD-4EF4-ACD5-3BE1B70C2084}"/>
              </a:ext>
            </a:extLst>
          </p:cNvPr>
          <p:cNvSpPr>
            <a:spLocks xmlns:a="http://schemas.openxmlformats.org/drawingml/2006/main" noGrp="1"/>
          </p:cNvSpPr>
          <p:nvPr/>
        </p:nvSpPr>
        <p:spPr>
          <a:xfrm xmlns:a="http://schemas.openxmlformats.org/drawingml/2006/main">
            <a:off x="10001250" y="314325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F7FAFC"/>
                </a:solidFill>
                <a:latin typeface="Arial"/>
                <a:ea typeface="Arial"/>
                <a:cs typeface="Arial"/>
              </a:defRPr>
            </a:defPPr>
            <a:lvl1pPr>
              <a:defRPr sz="1425" b="1">
                <a:solidFill>
                  <a:srgbClr val="F7FAFC"/>
                </a:solidFill>
                <a:latin typeface="Arial"/>
                <a:ea typeface="Arial"/>
                <a:cs typeface="Arial"/>
              </a:defRPr>
            </a:lvl1pPr>
            <a:lvl2pPr>
              <a:defRPr sz="1425" b="1">
                <a:solidFill>
                  <a:srgbClr val="F7FAFC"/>
                </a:solidFill>
                <a:latin typeface="Arial"/>
                <a:ea typeface="Arial"/>
                <a:cs typeface="Arial"/>
              </a:defRPr>
            </a:lvl2pPr>
            <a:lvl3pPr>
              <a:defRPr sz="1425" b="1">
                <a:solidFill>
                  <a:srgbClr val="F7FAFC"/>
                </a:solidFill>
                <a:latin typeface="Arial"/>
                <a:ea typeface="Arial"/>
                <a:cs typeface="Arial"/>
              </a:defRPr>
            </a:lvl3pPr>
            <a:lvl4pPr>
              <a:defRPr sz="1425" b="1">
                <a:solidFill>
                  <a:srgbClr val="F7FAFC"/>
                </a:solidFill>
                <a:latin typeface="Arial"/>
                <a:ea typeface="Arial"/>
                <a:cs typeface="Arial"/>
              </a:defRPr>
            </a:lvl4pPr>
            <a:lvl5pPr>
              <a:defRPr sz="1425" b="1">
                <a:solidFill>
                  <a:srgbClr val="F7FAFC"/>
                </a:solidFill>
                <a:latin typeface="Arial"/>
                <a:ea typeface="Arial"/>
                <a:cs typeface="Arial"/>
              </a:defRPr>
            </a:lvl5pPr>
            <a:lvl6pPr>
              <a:defRPr sz="1425" b="1">
                <a:solidFill>
                  <a:srgbClr val="F7FAFC"/>
                </a:solidFill>
                <a:latin typeface="Arial"/>
                <a:ea typeface="Arial"/>
                <a:cs typeface="Arial"/>
              </a:defRPr>
            </a:lvl6pPr>
            <a:lvl7pPr>
              <a:defRPr sz="1425" b="1">
                <a:solidFill>
                  <a:srgbClr val="F7FAFC"/>
                </a:solidFill>
                <a:latin typeface="Arial"/>
                <a:ea typeface="Arial"/>
                <a:cs typeface="Arial"/>
              </a:defRPr>
            </a:lvl7pPr>
            <a:lvl8pPr>
              <a:defRPr sz="1425" b="1">
                <a:solidFill>
                  <a:srgbClr val="F7FAFC"/>
                </a:solidFill>
                <a:latin typeface="Arial"/>
                <a:ea typeface="Arial"/>
                <a:cs typeface="Arial"/>
              </a:defRPr>
            </a:lvl8pPr>
            <a:lvl9pPr>
              <a:defRPr sz="1425" b="1">
                <a:solidFill>
                  <a:srgbClr val="F7FAFC"/>
                </a:solidFill>
                <a:latin typeface="Arial"/>
                <a:ea typeface="Arial"/>
                <a:cs typeface="Arial"/>
              </a:defRPr>
            </a:lvl9pPr>
          </a:lstStyle>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Tool result →</a:t>
            </a:r>
          </a:p>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spoken response</a:t>
            </a:r>
          </a:p>
        </p:txBody>
      </p:sp>
      <p:sp>
        <p:nvSpPr>
          <p:cNvPr id="26" name="">
            <a:extLst xmlns:a="http://schemas.openxmlformats.org/drawingml/2006/main">
              <a:ext uri="{FF2B5EF4-FFF2-40B4-BE49-F238E27FC236}">
                <a16:creationId xmlns:a16="http://schemas.microsoft.com/office/drawing/2014/main" id="{877B804F-6507-4DA9-A2C9-E9F5C00C628A}"/>
              </a:ext>
            </a:extLst>
          </p:cNvPr>
          <p:cNvSpPr>
            <a:spLocks xmlns:a="http://schemas.openxmlformats.org/drawingml/2006/main" noGrp="1"/>
          </p:cNvSpPr>
          <p:nvPr/>
        </p:nvSpPr>
        <p:spPr>
          <a:xfrm xmlns:a="http://schemas.openxmlformats.org/drawingml/2006/main">
            <a:off x="10001250" y="3810000"/>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auditable</a:t>
            </a:r>
          </a:p>
        </p:txBody>
      </p:sp>
      <p:sp>
        <p:nvSpPr>
          <p:cNvPr id="27" name="arch-principle">
            <a:extLst xmlns:a="http://schemas.openxmlformats.org/drawingml/2006/main">
              <a:ext uri="{FF2B5EF4-FFF2-40B4-BE49-F238E27FC236}">
                <a16:creationId xmlns:a16="http://schemas.microsoft.com/office/drawing/2014/main" id="{BFFA4060-C9E8-4555-A788-8ABAE50C3260}"/>
              </a:ext>
            </a:extLst>
          </p:cNvPr>
          <p:cNvSpPr>
            <a:spLocks xmlns:a="http://schemas.openxmlformats.org/drawingml/2006/main" noGrp="1"/>
          </p:cNvSpPr>
          <p:nvPr/>
        </p:nvSpPr>
        <p:spPr>
          <a:xfrm xmlns:a="http://schemas.openxmlformats.org/drawingml/2006/main">
            <a:off x="1619250" y="4762500"/>
            <a:ext cx="8953500" cy="6858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1582937-9A9A-4C64-AF1B-6354676620D6}"/>
              </a:ext>
            </a:extLst>
          </p:cNvPr>
          <p:cNvSpPr>
            <a:spLocks xmlns:a="http://schemas.openxmlformats.org/drawingml/2006/main" noGrp="1"/>
          </p:cNvSpPr>
          <p:nvPr/>
        </p:nvSpPr>
        <p:spPr>
          <a:xfrm xmlns:a="http://schemas.openxmlformats.org/drawingml/2006/main">
            <a:off x="1952625" y="4953000"/>
            <a:ext cx="828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One bounded registry is shared by direct Qwen calls and MCP wrappers.</a:t>
            </a:r>
          </a:p>
        </p:txBody>
      </p:sp>
      <p:sp>
        <p:nvSpPr>
          <p:cNvPr id="29" name="">
            <a:extLst xmlns:a="http://schemas.openxmlformats.org/drawingml/2006/main">
              <a:ext uri="{FF2B5EF4-FFF2-40B4-BE49-F238E27FC236}">
                <a16:creationId xmlns:a16="http://schemas.microsoft.com/office/drawing/2014/main" id="{BF9F3F07-D7F2-48D8-9361-C9418B5E7C08}"/>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3/7</a:t>
            </a:r>
          </a:p>
        </p:txBody>
      </p:sp>
    </p:spTree>
    <p:extLst>
      <p:ext uri="{BB962C8B-B14F-4D97-AF65-F5344CB8AC3E}">
        <p14:creationId xmlns:p14="http://schemas.microsoft.com/office/powerpoint/2010/main" val="277476708"/>
      </p:ext>
    </p:extLst>
  </p:cSld>
</p:sld>
</file>

<file path=ppt/slides/slide4.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264445C-9E6B-4F0C-998D-32BDE26E288F}"/>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TOOL CALL IN ACTION</a:t>
            </a:r>
          </a:p>
        </p:txBody>
      </p:sp>
      <p:sp>
        <p:nvSpPr>
          <p:cNvPr id="2" name="">
            <a:extLst xmlns:a="http://schemas.openxmlformats.org/drawingml/2006/main">
              <a:ext uri="{FF2B5EF4-FFF2-40B4-BE49-F238E27FC236}">
                <a16:creationId xmlns:a16="http://schemas.microsoft.com/office/drawing/2014/main" id="{3224CE98-30C3-4B43-B609-4AF108F47D77}"/>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“Build a web app” is an executable request</a:t>
            </a:r>
          </a:p>
        </p:txBody>
      </p:sp>
      <p:sp>
        <p:nvSpPr>
          <p:cNvPr id="3" name="">
            <a:extLst xmlns:a="http://schemas.openxmlformats.org/drawingml/2006/main">
              <a:ext uri="{FF2B5EF4-FFF2-40B4-BE49-F238E27FC236}">
                <a16:creationId xmlns:a16="http://schemas.microsoft.com/office/drawing/2014/main" id="{AAF222B8-299A-49F7-A451-A303122CD632}"/>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same loop can be triggered from text while the voice path is connected to the Pi audio pipeline.</a:t>
            </a:r>
          </a:p>
        </p:txBody>
      </p:sp>
      <p:sp>
        <p:nvSpPr>
          <p:cNvPr id="4" name="webapp-request">
            <a:extLst xmlns:a="http://schemas.openxmlformats.org/drawingml/2006/main">
              <a:ext uri="{FF2B5EF4-FFF2-40B4-BE49-F238E27FC236}">
                <a16:creationId xmlns:a16="http://schemas.microsoft.com/office/drawing/2014/main" id="{4996D10F-857A-449B-924A-77E46781046E}"/>
              </a:ext>
            </a:extLst>
          </p:cNvPr>
          <p:cNvSpPr>
            <a:spLocks xmlns:a="http://schemas.openxmlformats.org/drawingml/2006/main" noGrp="1"/>
          </p:cNvSpPr>
          <p:nvPr/>
        </p:nvSpPr>
        <p:spPr>
          <a:xfrm xmlns:a="http://schemas.openxmlformats.org/drawingml/2006/main">
            <a:off x="666750" y="2095500"/>
            <a:ext cx="2762250" cy="2857500"/>
          </a:xfrm>
          <a:prstGeom xmlns:a="http://schemas.openxmlformats.org/drawingml/2006/main" prst="roundRect">
            <a:avLst>
              <a:gd name="adj" fmla="val 4138"/>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8B4B7BF6-D8D2-4E2B-9A47-651185D3ABFB}"/>
              </a:ext>
            </a:extLst>
          </p:cNvPr>
          <p:cNvSpPr>
            <a:spLocks xmlns:a="http://schemas.openxmlformats.org/drawingml/2006/main" noGrp="1"/>
          </p:cNvSpPr>
          <p:nvPr/>
        </p:nvSpPr>
        <p:spPr>
          <a:xfrm xmlns:a="http://schemas.openxmlformats.org/drawingml/2006/main">
            <a:off x="93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VOICE REQUEST</a:t>
            </a:r>
          </a:p>
        </p:txBody>
      </p:sp>
      <p:sp>
        <p:nvSpPr>
          <p:cNvPr id="6" name="">
            <a:extLst xmlns:a="http://schemas.openxmlformats.org/drawingml/2006/main">
              <a:ext uri="{FF2B5EF4-FFF2-40B4-BE49-F238E27FC236}">
                <a16:creationId xmlns:a16="http://schemas.microsoft.com/office/drawing/2014/main" id="{D2A10E36-4DF8-42AC-99DC-6EEFFEB84342}"/>
              </a:ext>
            </a:extLst>
          </p:cNvPr>
          <p:cNvSpPr>
            <a:spLocks xmlns:a="http://schemas.openxmlformats.org/drawingml/2006/main" noGrp="1"/>
          </p:cNvSpPr>
          <p:nvPr/>
        </p:nvSpPr>
        <p:spPr>
          <a:xfrm xmlns:a="http://schemas.openxmlformats.org/drawingml/2006/main">
            <a:off x="933450" y="28384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F7FAFC"/>
                </a:solidFill>
                <a:latin typeface="Arial"/>
                <a:ea typeface="Arial"/>
                <a:cs typeface="Arial"/>
              </a:defRPr>
            </a:defPPr>
            <a:lvl1pPr>
              <a:defRPr sz="2400" b="1">
                <a:solidFill>
                  <a:srgbClr val="F7FAFC"/>
                </a:solidFill>
                <a:latin typeface="Arial"/>
                <a:ea typeface="Arial"/>
                <a:cs typeface="Arial"/>
              </a:defRPr>
            </a:lvl1pPr>
            <a:lvl2pPr>
              <a:defRPr sz="2400" b="1">
                <a:solidFill>
                  <a:srgbClr val="F7FAFC"/>
                </a:solidFill>
                <a:latin typeface="Arial"/>
                <a:ea typeface="Arial"/>
                <a:cs typeface="Arial"/>
              </a:defRPr>
            </a:lvl2pPr>
            <a:lvl3pPr>
              <a:defRPr sz="2400" b="1">
                <a:solidFill>
                  <a:srgbClr val="F7FAFC"/>
                </a:solidFill>
                <a:latin typeface="Arial"/>
                <a:ea typeface="Arial"/>
                <a:cs typeface="Arial"/>
              </a:defRPr>
            </a:lvl3pPr>
            <a:lvl4pPr>
              <a:defRPr sz="2400" b="1">
                <a:solidFill>
                  <a:srgbClr val="F7FAFC"/>
                </a:solidFill>
                <a:latin typeface="Arial"/>
                <a:ea typeface="Arial"/>
                <a:cs typeface="Arial"/>
              </a:defRPr>
            </a:lvl4pPr>
            <a:lvl5pPr>
              <a:defRPr sz="2400" b="1">
                <a:solidFill>
                  <a:srgbClr val="F7FAFC"/>
                </a:solidFill>
                <a:latin typeface="Arial"/>
                <a:ea typeface="Arial"/>
                <a:cs typeface="Arial"/>
              </a:defRPr>
            </a:lvl5pPr>
            <a:lvl6pPr>
              <a:defRPr sz="2400" b="1">
                <a:solidFill>
                  <a:srgbClr val="F7FAFC"/>
                </a:solidFill>
                <a:latin typeface="Arial"/>
                <a:ea typeface="Arial"/>
                <a:cs typeface="Arial"/>
              </a:defRPr>
            </a:lvl6pPr>
            <a:lvl7pPr>
              <a:defRPr sz="2400" b="1">
                <a:solidFill>
                  <a:srgbClr val="F7FAFC"/>
                </a:solidFill>
                <a:latin typeface="Arial"/>
                <a:ea typeface="Arial"/>
                <a:cs typeface="Arial"/>
              </a:defRPr>
            </a:lvl7pPr>
            <a:lvl8pPr>
              <a:defRPr sz="2400" b="1">
                <a:solidFill>
                  <a:srgbClr val="F7FAFC"/>
                </a:solidFill>
                <a:latin typeface="Arial"/>
                <a:ea typeface="Arial"/>
                <a:cs typeface="Arial"/>
              </a:defRPr>
            </a:lvl8pPr>
            <a:lvl9pPr>
              <a:defRPr sz="2400" b="1">
                <a:solidFill>
                  <a:srgbClr val="F7FAFC"/>
                </a:solidFill>
                <a:latin typeface="Arial"/>
                <a:ea typeface="Arial"/>
                <a:cs typeface="Arial"/>
              </a:defRPr>
            </a:lvl9pPr>
          </a:lstStyle>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“Build a</a:t>
            </a:r>
          </a:p>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web app.”</a:t>
            </a:r>
          </a:p>
        </p:txBody>
      </p:sp>
      <p:sp>
        <p:nvSpPr>
          <p:cNvPr id="7" name="">
            <a:extLst xmlns:a="http://schemas.openxmlformats.org/drawingml/2006/main">
              <a:ext uri="{FF2B5EF4-FFF2-40B4-BE49-F238E27FC236}">
                <a16:creationId xmlns:a16="http://schemas.microsoft.com/office/drawing/2014/main" id="{B7DC50BC-C2BF-4ACF-9416-2ED5CA7526EC}"/>
              </a:ext>
            </a:extLst>
          </p:cNvPr>
          <p:cNvSpPr>
            <a:spLocks xmlns:a="http://schemas.openxmlformats.org/drawingml/2006/main" noGrp="1"/>
          </p:cNvSpPr>
          <p:nvPr/>
        </p:nvSpPr>
        <p:spPr>
          <a:xfrm xmlns:a="http://schemas.openxmlformats.org/drawingml/2006/main">
            <a:off x="933450" y="4095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Qwen turns intent</a:t>
            </a:r>
          </a:p>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into tool calls.</a:t>
            </a:r>
          </a:p>
        </p:txBody>
      </p:sp>
      <p:cxnSp>
        <p:nvCxnSpPr>
          <p:cNvPr id="8" name="webapp-to-calls">
            <a:extLst xmlns:a="http://schemas.openxmlformats.org/drawingml/2006/main">
              <a:ext uri="{FF2B5EF4-FFF2-40B4-BE49-F238E27FC236}">
                <a16:creationId xmlns:a16="http://schemas.microsoft.com/office/drawing/2014/main" id="{C843EF2D-74E5-48A2-94AB-CACC122CFAD9}"/>
              </a:ext>
            </a:extLst>
          </p:cNvPr>
          <p:cNvCxnSpPr/>
          <p:nvPr/>
        </p:nvCxnSpPr>
        <p:spPr>
          <a:xfrm xmlns:a="http://schemas.openxmlformats.org/drawingml/2006/main">
            <a:off x="3429000" y="3486150"/>
            <a:ext cx="61912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sp>
        <p:nvSpPr>
          <p:cNvPr id="9" name="webapp-calls">
            <a:extLst xmlns:a="http://schemas.openxmlformats.org/drawingml/2006/main">
              <a:ext uri="{FF2B5EF4-FFF2-40B4-BE49-F238E27FC236}">
                <a16:creationId xmlns:a16="http://schemas.microsoft.com/office/drawing/2014/main" id="{6076E90B-2FD1-4F4E-9D54-71360FF53E94}"/>
              </a:ext>
            </a:extLst>
          </p:cNvPr>
          <p:cNvSpPr>
            <a:spLocks xmlns:a="http://schemas.openxmlformats.org/drawingml/2006/main" noGrp="1"/>
          </p:cNvSpPr>
          <p:nvPr/>
        </p:nvSpPr>
        <p:spPr>
          <a:xfrm xmlns:a="http://schemas.openxmlformats.org/drawingml/2006/main">
            <a:off x="4191000" y="2095500"/>
            <a:ext cx="333375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60A5FA"/>
            </a:solidFill>
            <a:prstDash val="solid"/>
          </a:ln>
        </p:spPr>
      </p:sp>
      <p:sp>
        <p:nvSpPr>
          <p:cNvPr id="10" name="">
            <a:extLst xmlns:a="http://schemas.openxmlformats.org/drawingml/2006/main">
              <a:ext uri="{FF2B5EF4-FFF2-40B4-BE49-F238E27FC236}">
                <a16:creationId xmlns:a16="http://schemas.microsoft.com/office/drawing/2014/main" id="{7222B892-5CFC-447F-9A17-634747418AC7}"/>
              </a:ext>
            </a:extLst>
          </p:cNvPr>
          <p:cNvSpPr>
            <a:spLocks xmlns:a="http://schemas.openxmlformats.org/drawingml/2006/main" noGrp="1"/>
          </p:cNvSpPr>
          <p:nvPr/>
        </p:nvSpPr>
        <p:spPr>
          <a:xfrm xmlns:a="http://schemas.openxmlformats.org/drawingml/2006/main">
            <a:off x="445770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TOOL LOOP</a:t>
            </a:r>
          </a:p>
        </p:txBody>
      </p:sp>
      <p:sp>
        <p:nvSpPr>
          <p:cNvPr id="11" name="">
            <a:extLst xmlns:a="http://schemas.openxmlformats.org/drawingml/2006/main">
              <a:ext uri="{FF2B5EF4-FFF2-40B4-BE49-F238E27FC236}">
                <a16:creationId xmlns:a16="http://schemas.microsoft.com/office/drawing/2014/main" id="{09168045-DD8E-4873-97E8-30879F100FE6}"/>
              </a:ext>
            </a:extLst>
          </p:cNvPr>
          <p:cNvSpPr>
            <a:spLocks xmlns:a="http://schemas.openxmlformats.org/drawingml/2006/main" noGrp="1"/>
          </p:cNvSpPr>
          <p:nvPr/>
        </p:nvSpPr>
        <p:spPr>
          <a:xfrm xmlns:a="http://schemas.openxmlformats.org/drawingml/2006/main">
            <a:off x="4457700" y="28575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7FAFC"/>
                </a:solidFill>
                <a:latin typeface="Arial"/>
                <a:ea typeface="Arial"/>
                <a:cs typeface="Arial"/>
              </a:defRPr>
            </a:defPPr>
            <a:lvl1pPr>
              <a:defRPr sz="1800" b="1">
                <a:solidFill>
                  <a:srgbClr val="F7FAFC"/>
                </a:solidFill>
                <a:latin typeface="Arial"/>
                <a:ea typeface="Arial"/>
                <a:cs typeface="Arial"/>
              </a:defRPr>
            </a:lvl1pPr>
            <a:lvl2pPr>
              <a:defRPr sz="1800" b="1">
                <a:solidFill>
                  <a:srgbClr val="F7FAFC"/>
                </a:solidFill>
                <a:latin typeface="Arial"/>
                <a:ea typeface="Arial"/>
                <a:cs typeface="Arial"/>
              </a:defRPr>
            </a:lvl2pPr>
            <a:lvl3pPr>
              <a:defRPr sz="1800" b="1">
                <a:solidFill>
                  <a:srgbClr val="F7FAFC"/>
                </a:solidFill>
                <a:latin typeface="Arial"/>
                <a:ea typeface="Arial"/>
                <a:cs typeface="Arial"/>
              </a:defRPr>
            </a:lvl3pPr>
            <a:lvl4pPr>
              <a:defRPr sz="1800" b="1">
                <a:solidFill>
                  <a:srgbClr val="F7FAFC"/>
                </a:solidFill>
                <a:latin typeface="Arial"/>
                <a:ea typeface="Arial"/>
                <a:cs typeface="Arial"/>
              </a:defRPr>
            </a:lvl4pPr>
            <a:lvl5pPr>
              <a:defRPr sz="1800" b="1">
                <a:solidFill>
                  <a:srgbClr val="F7FAFC"/>
                </a:solidFill>
                <a:latin typeface="Arial"/>
                <a:ea typeface="Arial"/>
                <a:cs typeface="Arial"/>
              </a:defRPr>
            </a:lvl5pPr>
            <a:lvl6pPr>
              <a:defRPr sz="1800" b="1">
                <a:solidFill>
                  <a:srgbClr val="F7FAFC"/>
                </a:solidFill>
                <a:latin typeface="Arial"/>
                <a:ea typeface="Arial"/>
                <a:cs typeface="Arial"/>
              </a:defRPr>
            </a:lvl6pPr>
            <a:lvl7pPr>
              <a:defRPr sz="1800" b="1">
                <a:solidFill>
                  <a:srgbClr val="F7FAFC"/>
                </a:solidFill>
                <a:latin typeface="Arial"/>
                <a:ea typeface="Arial"/>
                <a:cs typeface="Arial"/>
              </a:defRPr>
            </a:lvl7pPr>
            <a:lvl8pPr>
              <a:defRPr sz="1800" b="1">
                <a:solidFill>
                  <a:srgbClr val="F7FAFC"/>
                </a:solidFill>
                <a:latin typeface="Arial"/>
                <a:ea typeface="Arial"/>
                <a:cs typeface="Arial"/>
              </a:defRPr>
            </a:lvl8pPr>
            <a:lvl9pPr>
              <a:defRPr sz="1800" b="1">
                <a:solidFill>
                  <a:srgbClr val="F7FAFC"/>
                </a:solidFill>
                <a:latin typeface="Arial"/>
                <a:ea typeface="Arial"/>
                <a:cs typeface="Arial"/>
              </a:defRPr>
            </a:lvl9pPr>
          </a:lstStyle>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list_files</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write_file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read_file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run_command</a:t>
            </a:r>
          </a:p>
        </p:txBody>
      </p:sp>
      <p:sp>
        <p:nvSpPr>
          <p:cNvPr id="12" name="">
            <a:extLst xmlns:a="http://schemas.openxmlformats.org/drawingml/2006/main">
              <a:ext uri="{FF2B5EF4-FFF2-40B4-BE49-F238E27FC236}">
                <a16:creationId xmlns:a16="http://schemas.microsoft.com/office/drawing/2014/main" id="{39CA6625-0B1D-4B0B-8684-DD04CCAB3823}"/>
              </a:ext>
            </a:extLst>
          </p:cNvPr>
          <p:cNvSpPr>
            <a:spLocks xmlns:a="http://schemas.openxmlformats.org/drawingml/2006/main" noGrp="1"/>
          </p:cNvSpPr>
          <p:nvPr/>
        </p:nvSpPr>
        <p:spPr>
          <a:xfrm xmlns:a="http://schemas.openxmlformats.org/drawingml/2006/main">
            <a:off x="4457700" y="4438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Each call returns JSON evidence.</a:t>
            </a:r>
          </a:p>
        </p:txBody>
      </p:sp>
      <p:cxnSp>
        <p:nvCxnSpPr>
          <p:cNvPr id="13" name="calls-to-files">
            <a:extLst xmlns:a="http://schemas.openxmlformats.org/drawingml/2006/main">
              <a:ext uri="{FF2B5EF4-FFF2-40B4-BE49-F238E27FC236}">
                <a16:creationId xmlns:a16="http://schemas.microsoft.com/office/drawing/2014/main" id="{ED4FCEF9-EDBF-4F33-95FC-7A9AB452EDDB}"/>
              </a:ext>
            </a:extLst>
          </p:cNvPr>
          <p:cNvCxnSpPr/>
          <p:nvPr/>
        </p:nvCxnSpPr>
        <p:spPr>
          <a:xfrm xmlns:a="http://schemas.openxmlformats.org/drawingml/2006/main">
            <a:off x="7524750" y="3486150"/>
            <a:ext cx="61912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sp>
        <p:nvSpPr>
          <p:cNvPr id="14" name="webapp-result">
            <a:extLst xmlns:a="http://schemas.openxmlformats.org/drawingml/2006/main">
              <a:ext uri="{FF2B5EF4-FFF2-40B4-BE49-F238E27FC236}">
                <a16:creationId xmlns:a16="http://schemas.microsoft.com/office/drawing/2014/main" id="{BA77293A-26FF-4A0F-B88A-A877E2506064}"/>
              </a:ext>
            </a:extLst>
          </p:cNvPr>
          <p:cNvSpPr>
            <a:spLocks xmlns:a="http://schemas.openxmlformats.org/drawingml/2006/main" noGrp="1"/>
          </p:cNvSpPr>
          <p:nvPr/>
        </p:nvSpPr>
        <p:spPr>
          <a:xfrm xmlns:a="http://schemas.openxmlformats.org/drawingml/2006/main">
            <a:off x="8286750" y="2095500"/>
            <a:ext cx="323850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A7F3D0"/>
            </a:solidFill>
            <a:prstDash val="solid"/>
          </a:ln>
        </p:spPr>
      </p:sp>
      <p:sp>
        <p:nvSpPr>
          <p:cNvPr id="15" name="">
            <a:extLst xmlns:a="http://schemas.openxmlformats.org/drawingml/2006/main">
              <a:ext uri="{FF2B5EF4-FFF2-40B4-BE49-F238E27FC236}">
                <a16:creationId xmlns:a16="http://schemas.microsoft.com/office/drawing/2014/main" id="{703A8F08-5227-4286-8290-8BDCFF1A8315}"/>
              </a:ext>
            </a:extLst>
          </p:cNvPr>
          <p:cNvSpPr>
            <a:spLocks xmlns:a="http://schemas.openxmlformats.org/drawingml/2006/main" noGrp="1"/>
          </p:cNvSpPr>
          <p:nvPr/>
        </p:nvSpPr>
        <p:spPr>
          <a:xfrm xmlns:a="http://schemas.openxmlformats.org/drawingml/2006/main">
            <a:off x="855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PROJECT RESULT</a:t>
            </a:r>
          </a:p>
        </p:txBody>
      </p:sp>
      <p:sp>
        <p:nvSpPr>
          <p:cNvPr id="16" name="">
            <a:extLst xmlns:a="http://schemas.openxmlformats.org/drawingml/2006/main">
              <a:ext uri="{FF2B5EF4-FFF2-40B4-BE49-F238E27FC236}">
                <a16:creationId xmlns:a16="http://schemas.microsoft.com/office/drawing/2014/main" id="{29B776CD-EECD-41B7-8CFA-17E742780CD0}"/>
              </a:ext>
            </a:extLst>
          </p:cNvPr>
          <p:cNvSpPr>
            <a:spLocks xmlns:a="http://schemas.openxmlformats.org/drawingml/2006/main" noGrp="1"/>
          </p:cNvSpPr>
          <p:nvPr/>
        </p:nvSpPr>
        <p:spPr>
          <a:xfrm xmlns:a="http://schemas.openxmlformats.org/drawingml/2006/main">
            <a:off x="8553450" y="2819400"/>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agent_workspace/</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voice_webapp/</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index.html</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styles.css</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app.js</a:t>
            </a:r>
          </a:p>
        </p:txBody>
      </p:sp>
      <p:sp>
        <p:nvSpPr>
          <p:cNvPr id="17" name="">
            <a:extLst xmlns:a="http://schemas.openxmlformats.org/drawingml/2006/main">
              <a:ext uri="{FF2B5EF4-FFF2-40B4-BE49-F238E27FC236}">
                <a16:creationId xmlns:a16="http://schemas.microsoft.com/office/drawing/2014/main" id="{B5AFE163-D8AE-411F-A09E-42B1538C62E0}"/>
              </a:ext>
            </a:extLst>
          </p:cNvPr>
          <p:cNvSpPr>
            <a:spLocks xmlns:a="http://schemas.openxmlformats.org/drawingml/2006/main" noGrp="1"/>
          </p:cNvSpPr>
          <p:nvPr/>
        </p:nvSpPr>
        <p:spPr>
          <a:xfrm xmlns:a="http://schemas.openxmlformats.org/drawingml/2006/main">
            <a:off x="8553450" y="44577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Verified by a later list + read pass.</a:t>
            </a:r>
          </a:p>
        </p:txBody>
      </p:sp>
      <p:sp>
        <p:nvSpPr>
          <p:cNvPr id="18" name="">
            <a:extLst xmlns:a="http://schemas.openxmlformats.org/drawingml/2006/main">
              <a:ext uri="{FF2B5EF4-FFF2-40B4-BE49-F238E27FC236}">
                <a16:creationId xmlns:a16="http://schemas.microsoft.com/office/drawing/2014/main" id="{B712941C-0185-4C5B-B488-F4B4096B190F}"/>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4/7</a:t>
            </a:r>
          </a:p>
        </p:txBody>
      </p:sp>
    </p:spTree>
    <p:extLst>
      <p:ext uri="{BB962C8B-B14F-4D97-AF65-F5344CB8AC3E}">
        <p14:creationId xmlns:p14="http://schemas.microsoft.com/office/powerpoint/2010/main" val="867382098"/>
      </p:ext>
    </p:extLst>
  </p:cSld>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51CB305-5A03-4792-BA9D-F3C13CA85464}"/>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CAPABILITY BOUNDARY</a:t>
            </a:r>
          </a:p>
        </p:txBody>
      </p:sp>
      <p:sp>
        <p:nvSpPr>
          <p:cNvPr id="2" name="">
            <a:extLst xmlns:a="http://schemas.openxmlformats.org/drawingml/2006/main">
              <a:ext uri="{FF2B5EF4-FFF2-40B4-BE49-F238E27FC236}">
                <a16:creationId xmlns:a16="http://schemas.microsoft.com/office/drawing/2014/main" id="{38C759A4-1E81-47AA-98C5-6703A9858935}"/>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Onit-like usefulness through typed, reviewable tools</a:t>
            </a:r>
          </a:p>
        </p:txBody>
      </p:sp>
      <p:sp>
        <p:nvSpPr>
          <p:cNvPr id="3" name="">
            <a:extLst xmlns:a="http://schemas.openxmlformats.org/drawingml/2006/main">
              <a:ext uri="{FF2B5EF4-FFF2-40B4-BE49-F238E27FC236}">
                <a16:creationId xmlns:a16="http://schemas.microsoft.com/office/drawing/2014/main" id="{04458BF3-4B43-483E-A27F-4CD7CC962F23}"/>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goal is broad task coverage with a narrower default action surface for an always-listening device.</a:t>
            </a:r>
          </a:p>
        </p:txBody>
      </p:sp>
      <p:sp>
        <p:nvSpPr>
          <p:cNvPr id="4" name="cap-left-0">
            <a:extLst xmlns:a="http://schemas.openxmlformats.org/drawingml/2006/main">
              <a:ext uri="{FF2B5EF4-FFF2-40B4-BE49-F238E27FC236}">
                <a16:creationId xmlns:a16="http://schemas.microsoft.com/office/drawing/2014/main" id="{E1FCFA0A-CCCD-4DAF-8369-8103BF18F449}"/>
              </a:ext>
            </a:extLst>
          </p:cNvPr>
          <p:cNvSpPr>
            <a:spLocks xmlns:a="http://schemas.openxmlformats.org/drawingml/2006/main" noGrp="1"/>
          </p:cNvSpPr>
          <p:nvPr/>
        </p:nvSpPr>
        <p:spPr>
          <a:xfrm xmlns:a="http://schemas.openxmlformats.org/drawingml/2006/main">
            <a:off x="762000" y="20383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A9C2B01E-B4CF-4F20-B9DF-F1B6A717C3C9}"/>
              </a:ext>
            </a:extLst>
          </p:cNvPr>
          <p:cNvSpPr>
            <a:spLocks xmlns:a="http://schemas.openxmlformats.org/drawingml/2006/main" noGrp="1"/>
          </p:cNvSpPr>
          <p:nvPr/>
        </p:nvSpPr>
        <p:spPr>
          <a:xfrm xmlns:a="http://schemas.openxmlformats.org/drawingml/2006/main">
            <a:off x="971550" y="21336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EEAD4"/>
                </a:solidFill>
                <a:latin typeface="Arial"/>
                <a:ea typeface="Arial"/>
                <a:cs typeface="Arial"/>
              </a:defRPr>
            </a:defPPr>
            <a:lvl1pPr>
              <a:defRPr sz="1350" b="1">
                <a:solidFill>
                  <a:srgbClr val="5EEAD4"/>
                </a:solidFill>
                <a:latin typeface="Arial"/>
                <a:ea typeface="Arial"/>
                <a:cs typeface="Arial"/>
              </a:defRPr>
            </a:lvl1pPr>
            <a:lvl2pPr>
              <a:defRPr sz="1350" b="1">
                <a:solidFill>
                  <a:srgbClr val="5EEAD4"/>
                </a:solidFill>
                <a:latin typeface="Arial"/>
                <a:ea typeface="Arial"/>
                <a:cs typeface="Arial"/>
              </a:defRPr>
            </a:lvl2pPr>
            <a:lvl3pPr>
              <a:defRPr sz="1350" b="1">
                <a:solidFill>
                  <a:srgbClr val="5EEAD4"/>
                </a:solidFill>
                <a:latin typeface="Arial"/>
                <a:ea typeface="Arial"/>
                <a:cs typeface="Arial"/>
              </a:defRPr>
            </a:lvl3pPr>
            <a:lvl4pPr>
              <a:defRPr sz="1350" b="1">
                <a:solidFill>
                  <a:srgbClr val="5EEAD4"/>
                </a:solidFill>
                <a:latin typeface="Arial"/>
                <a:ea typeface="Arial"/>
                <a:cs typeface="Arial"/>
              </a:defRPr>
            </a:lvl4pPr>
            <a:lvl5pPr>
              <a:defRPr sz="1350" b="1">
                <a:solidFill>
                  <a:srgbClr val="5EEAD4"/>
                </a:solidFill>
                <a:latin typeface="Arial"/>
                <a:ea typeface="Arial"/>
                <a:cs typeface="Arial"/>
              </a:defRPr>
            </a:lvl5pPr>
            <a:lvl6pPr>
              <a:defRPr sz="1350" b="1">
                <a:solidFill>
                  <a:srgbClr val="5EEAD4"/>
                </a:solidFill>
                <a:latin typeface="Arial"/>
                <a:ea typeface="Arial"/>
                <a:cs typeface="Arial"/>
              </a:defRPr>
            </a:lvl6pPr>
            <a:lvl7pPr>
              <a:defRPr sz="1350" b="1">
                <a:solidFill>
                  <a:srgbClr val="5EEAD4"/>
                </a:solidFill>
                <a:latin typeface="Arial"/>
                <a:ea typeface="Arial"/>
                <a:cs typeface="Arial"/>
              </a:defRPr>
            </a:lvl7pPr>
            <a:lvl8pPr>
              <a:defRPr sz="1350" b="1">
                <a:solidFill>
                  <a:srgbClr val="5EEAD4"/>
                </a:solidFill>
                <a:latin typeface="Arial"/>
                <a:ea typeface="Arial"/>
                <a:cs typeface="Arial"/>
              </a:defRPr>
            </a:lvl8pPr>
            <a:lvl9pPr>
              <a:defRPr sz="1350" b="1">
                <a:solidFill>
                  <a:srgbClr val="5EEAD4"/>
                </a:solidFill>
                <a:latin typeface="Arial"/>
                <a:ea typeface="Arial"/>
                <a:cs typeface="Arial"/>
              </a:defRPr>
            </a:lvl9pPr>
          </a:lstStyle>
          <a:p xmlns:a="http://schemas.openxmlformats.org/drawingml/2006/main">
            <a:pPr>
              <a:defRPr sz="1350" b="1">
                <a:solidFill>
                  <a:srgbClr val="5EEAD4"/>
                </a:solidFill>
                <a:latin typeface="Arial"/>
                <a:ea typeface="Arial"/>
                <a:cs typeface="Arial"/>
              </a:defRPr>
            </a:pPr>
            <a:r>
              <a:rPr sz="1350" b="1">
                <a:solidFill>
                  <a:srgbClr val="5EEAD4"/>
                </a:solidFill>
                <a:latin typeface="Arial"/>
                <a:ea typeface="Arial"/>
                <a:cs typeface="Arial"/>
              </a:rPr>
              <a:t>Conversation</a:t>
            </a:r>
          </a:p>
        </p:txBody>
      </p:sp>
      <p:sp>
        <p:nvSpPr>
          <p:cNvPr id="6" name="">
            <a:extLst xmlns:a="http://schemas.openxmlformats.org/drawingml/2006/main">
              <a:ext uri="{FF2B5EF4-FFF2-40B4-BE49-F238E27FC236}">
                <a16:creationId xmlns:a16="http://schemas.microsoft.com/office/drawing/2014/main" id="{877E9932-9F52-4664-84F1-8D6D1511EEEF}"/>
              </a:ext>
            </a:extLst>
          </p:cNvPr>
          <p:cNvSpPr>
            <a:spLocks xmlns:a="http://schemas.openxmlformats.org/drawingml/2006/main" noGrp="1"/>
          </p:cNvSpPr>
          <p:nvPr/>
        </p:nvSpPr>
        <p:spPr>
          <a:xfrm xmlns:a="http://schemas.openxmlformats.org/drawingml/2006/main">
            <a:off x="2952750" y="21336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Qwen chat + multi-step tool loop</a:t>
            </a:r>
          </a:p>
        </p:txBody>
      </p:sp>
      <p:sp>
        <p:nvSpPr>
          <p:cNvPr id="7" name="cap-left-1">
            <a:extLst xmlns:a="http://schemas.openxmlformats.org/drawingml/2006/main">
              <a:ext uri="{FF2B5EF4-FFF2-40B4-BE49-F238E27FC236}">
                <a16:creationId xmlns:a16="http://schemas.microsoft.com/office/drawing/2014/main" id="{14933554-154F-499D-BC7A-1A5F33C4A58F}"/>
              </a:ext>
            </a:extLst>
          </p:cNvPr>
          <p:cNvSpPr>
            <a:spLocks xmlns:a="http://schemas.openxmlformats.org/drawingml/2006/main" noGrp="1"/>
          </p:cNvSpPr>
          <p:nvPr/>
        </p:nvSpPr>
        <p:spPr>
          <a:xfrm xmlns:a="http://schemas.openxmlformats.org/drawingml/2006/main">
            <a:off x="762000" y="26479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60A5FA"/>
            </a:solidFill>
            <a:prstDash val="solid"/>
          </a:ln>
        </p:spPr>
      </p:sp>
      <p:sp>
        <p:nvSpPr>
          <p:cNvPr id="8" name="">
            <a:extLst xmlns:a="http://schemas.openxmlformats.org/drawingml/2006/main">
              <a:ext uri="{FF2B5EF4-FFF2-40B4-BE49-F238E27FC236}">
                <a16:creationId xmlns:a16="http://schemas.microsoft.com/office/drawing/2014/main" id="{677A0AE0-B6AC-4FD9-884A-CE3B566171F8}"/>
              </a:ext>
            </a:extLst>
          </p:cNvPr>
          <p:cNvSpPr>
            <a:spLocks xmlns:a="http://schemas.openxmlformats.org/drawingml/2006/main" noGrp="1"/>
          </p:cNvSpPr>
          <p:nvPr/>
        </p:nvSpPr>
        <p:spPr>
          <a:xfrm xmlns:a="http://schemas.openxmlformats.org/drawingml/2006/main">
            <a:off x="971550" y="27432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60A5FA"/>
                </a:solidFill>
                <a:latin typeface="Arial"/>
                <a:ea typeface="Arial"/>
                <a:cs typeface="Arial"/>
              </a:defRPr>
            </a:defPPr>
            <a:lvl1pPr>
              <a:defRPr sz="1350" b="1">
                <a:solidFill>
                  <a:srgbClr val="60A5FA"/>
                </a:solidFill>
                <a:latin typeface="Arial"/>
                <a:ea typeface="Arial"/>
                <a:cs typeface="Arial"/>
              </a:defRPr>
            </a:lvl1pPr>
            <a:lvl2pPr>
              <a:defRPr sz="1350" b="1">
                <a:solidFill>
                  <a:srgbClr val="60A5FA"/>
                </a:solidFill>
                <a:latin typeface="Arial"/>
                <a:ea typeface="Arial"/>
                <a:cs typeface="Arial"/>
              </a:defRPr>
            </a:lvl2pPr>
            <a:lvl3pPr>
              <a:defRPr sz="1350" b="1">
                <a:solidFill>
                  <a:srgbClr val="60A5FA"/>
                </a:solidFill>
                <a:latin typeface="Arial"/>
                <a:ea typeface="Arial"/>
                <a:cs typeface="Arial"/>
              </a:defRPr>
            </a:lvl3pPr>
            <a:lvl4pPr>
              <a:defRPr sz="1350" b="1">
                <a:solidFill>
                  <a:srgbClr val="60A5FA"/>
                </a:solidFill>
                <a:latin typeface="Arial"/>
                <a:ea typeface="Arial"/>
                <a:cs typeface="Arial"/>
              </a:defRPr>
            </a:lvl4pPr>
            <a:lvl5pPr>
              <a:defRPr sz="1350" b="1">
                <a:solidFill>
                  <a:srgbClr val="60A5FA"/>
                </a:solidFill>
                <a:latin typeface="Arial"/>
                <a:ea typeface="Arial"/>
                <a:cs typeface="Arial"/>
              </a:defRPr>
            </a:lvl5pPr>
            <a:lvl6pPr>
              <a:defRPr sz="1350" b="1">
                <a:solidFill>
                  <a:srgbClr val="60A5FA"/>
                </a:solidFill>
                <a:latin typeface="Arial"/>
                <a:ea typeface="Arial"/>
                <a:cs typeface="Arial"/>
              </a:defRPr>
            </a:lvl6pPr>
            <a:lvl7pPr>
              <a:defRPr sz="1350" b="1">
                <a:solidFill>
                  <a:srgbClr val="60A5FA"/>
                </a:solidFill>
                <a:latin typeface="Arial"/>
                <a:ea typeface="Arial"/>
                <a:cs typeface="Arial"/>
              </a:defRPr>
            </a:lvl7pPr>
            <a:lvl8pPr>
              <a:defRPr sz="1350" b="1">
                <a:solidFill>
                  <a:srgbClr val="60A5FA"/>
                </a:solidFill>
                <a:latin typeface="Arial"/>
                <a:ea typeface="Arial"/>
                <a:cs typeface="Arial"/>
              </a:defRPr>
            </a:lvl8pPr>
            <a:lvl9pPr>
              <a:defRPr sz="1350" b="1">
                <a:solidFill>
                  <a:srgbClr val="60A5FA"/>
                </a:solidFill>
                <a:latin typeface="Arial"/>
                <a:ea typeface="Arial"/>
                <a:cs typeface="Arial"/>
              </a:defRPr>
            </a:lvl9pPr>
          </a:lstStyle>
          <a:p xmlns:a="http://schemas.openxmlformats.org/drawingml/2006/main">
            <a:pPr>
              <a:defRPr sz="1350" b="1">
                <a:solidFill>
                  <a:srgbClr val="60A5FA"/>
                </a:solidFill>
                <a:latin typeface="Arial"/>
                <a:ea typeface="Arial"/>
                <a:cs typeface="Arial"/>
              </a:defRPr>
            </a:pPr>
            <a:r>
              <a:rPr sz="1350" b="1">
                <a:solidFill>
                  <a:srgbClr val="60A5FA"/>
                </a:solidFill>
                <a:latin typeface="Arial"/>
                <a:ea typeface="Arial"/>
                <a:cs typeface="Arial"/>
              </a:rPr>
              <a:t>Project work</a:t>
            </a:r>
          </a:p>
        </p:txBody>
      </p:sp>
      <p:sp>
        <p:nvSpPr>
          <p:cNvPr id="9" name="">
            <a:extLst xmlns:a="http://schemas.openxmlformats.org/drawingml/2006/main">
              <a:ext uri="{FF2B5EF4-FFF2-40B4-BE49-F238E27FC236}">
                <a16:creationId xmlns:a16="http://schemas.microsoft.com/office/drawing/2014/main" id="{B85C019D-0928-4CB7-95CE-CE70E72C99A1}"/>
              </a:ext>
            </a:extLst>
          </p:cNvPr>
          <p:cNvSpPr>
            <a:spLocks xmlns:a="http://schemas.openxmlformats.org/drawingml/2006/main" noGrp="1"/>
          </p:cNvSpPr>
          <p:nvPr/>
        </p:nvSpPr>
        <p:spPr>
          <a:xfrm xmlns:a="http://schemas.openxmlformats.org/drawingml/2006/main">
            <a:off x="2952750" y="27432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list / read / write / search files</a:t>
            </a:r>
          </a:p>
        </p:txBody>
      </p:sp>
      <p:sp>
        <p:nvSpPr>
          <p:cNvPr id="10" name="cap-left-2">
            <a:extLst xmlns:a="http://schemas.openxmlformats.org/drawingml/2006/main">
              <a:ext uri="{FF2B5EF4-FFF2-40B4-BE49-F238E27FC236}">
                <a16:creationId xmlns:a16="http://schemas.microsoft.com/office/drawing/2014/main" id="{39836A64-3269-4354-961D-4E8623FF2EAB}"/>
              </a:ext>
            </a:extLst>
          </p:cNvPr>
          <p:cNvSpPr>
            <a:spLocks xmlns:a="http://schemas.openxmlformats.org/drawingml/2006/main" noGrp="1"/>
          </p:cNvSpPr>
          <p:nvPr/>
        </p:nvSpPr>
        <p:spPr>
          <a:xfrm xmlns:a="http://schemas.openxmlformats.org/drawingml/2006/main">
            <a:off x="762000" y="32575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A7F3D0"/>
            </a:solidFill>
            <a:prstDash val="solid"/>
          </a:ln>
        </p:spPr>
      </p:sp>
      <p:sp>
        <p:nvSpPr>
          <p:cNvPr id="11" name="">
            <a:extLst xmlns:a="http://schemas.openxmlformats.org/drawingml/2006/main">
              <a:ext uri="{FF2B5EF4-FFF2-40B4-BE49-F238E27FC236}">
                <a16:creationId xmlns:a16="http://schemas.microsoft.com/office/drawing/2014/main" id="{DA457509-2743-45FB-AADE-DC9C45471F5C}"/>
              </a:ext>
            </a:extLst>
          </p:cNvPr>
          <p:cNvSpPr>
            <a:spLocks xmlns:a="http://schemas.openxmlformats.org/drawingml/2006/main" noGrp="1"/>
          </p:cNvSpPr>
          <p:nvPr/>
        </p:nvSpPr>
        <p:spPr>
          <a:xfrm xmlns:a="http://schemas.openxmlformats.org/drawingml/2006/main">
            <a:off x="971550" y="33528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A7F3D0"/>
                </a:solidFill>
                <a:latin typeface="Arial"/>
                <a:ea typeface="Arial"/>
                <a:cs typeface="Arial"/>
              </a:defRPr>
            </a:defPPr>
            <a:lvl1pPr>
              <a:defRPr sz="1350" b="1">
                <a:solidFill>
                  <a:srgbClr val="A7F3D0"/>
                </a:solidFill>
                <a:latin typeface="Arial"/>
                <a:ea typeface="Arial"/>
                <a:cs typeface="Arial"/>
              </a:defRPr>
            </a:lvl1pPr>
            <a:lvl2pPr>
              <a:defRPr sz="1350" b="1">
                <a:solidFill>
                  <a:srgbClr val="A7F3D0"/>
                </a:solidFill>
                <a:latin typeface="Arial"/>
                <a:ea typeface="Arial"/>
                <a:cs typeface="Arial"/>
              </a:defRPr>
            </a:lvl2pPr>
            <a:lvl3pPr>
              <a:defRPr sz="1350" b="1">
                <a:solidFill>
                  <a:srgbClr val="A7F3D0"/>
                </a:solidFill>
                <a:latin typeface="Arial"/>
                <a:ea typeface="Arial"/>
                <a:cs typeface="Arial"/>
              </a:defRPr>
            </a:lvl3pPr>
            <a:lvl4pPr>
              <a:defRPr sz="1350" b="1">
                <a:solidFill>
                  <a:srgbClr val="A7F3D0"/>
                </a:solidFill>
                <a:latin typeface="Arial"/>
                <a:ea typeface="Arial"/>
                <a:cs typeface="Arial"/>
              </a:defRPr>
            </a:lvl4pPr>
            <a:lvl5pPr>
              <a:defRPr sz="1350" b="1">
                <a:solidFill>
                  <a:srgbClr val="A7F3D0"/>
                </a:solidFill>
                <a:latin typeface="Arial"/>
                <a:ea typeface="Arial"/>
                <a:cs typeface="Arial"/>
              </a:defRPr>
            </a:lvl5pPr>
            <a:lvl6pPr>
              <a:defRPr sz="1350" b="1">
                <a:solidFill>
                  <a:srgbClr val="A7F3D0"/>
                </a:solidFill>
                <a:latin typeface="Arial"/>
                <a:ea typeface="Arial"/>
                <a:cs typeface="Arial"/>
              </a:defRPr>
            </a:lvl6pPr>
            <a:lvl7pPr>
              <a:defRPr sz="1350" b="1">
                <a:solidFill>
                  <a:srgbClr val="A7F3D0"/>
                </a:solidFill>
                <a:latin typeface="Arial"/>
                <a:ea typeface="Arial"/>
                <a:cs typeface="Arial"/>
              </a:defRPr>
            </a:lvl7pPr>
            <a:lvl8pPr>
              <a:defRPr sz="1350" b="1">
                <a:solidFill>
                  <a:srgbClr val="A7F3D0"/>
                </a:solidFill>
                <a:latin typeface="Arial"/>
                <a:ea typeface="Arial"/>
                <a:cs typeface="Arial"/>
              </a:defRPr>
            </a:lvl8pPr>
            <a:lvl9pPr>
              <a:defRPr sz="1350" b="1">
                <a:solidFill>
                  <a:srgbClr val="A7F3D0"/>
                </a:solidFill>
                <a:latin typeface="Arial"/>
                <a:ea typeface="Arial"/>
                <a:cs typeface="Arial"/>
              </a:defRPr>
            </a:lvl9pPr>
          </a:lstStyle>
          <a:p xmlns:a="http://schemas.openxmlformats.org/drawingml/2006/main">
            <a:pPr>
              <a:defRPr sz="1350" b="1">
                <a:solidFill>
                  <a:srgbClr val="A7F3D0"/>
                </a:solidFill>
                <a:latin typeface="Arial"/>
                <a:ea typeface="Arial"/>
                <a:cs typeface="Arial"/>
              </a:defRPr>
            </a:pPr>
            <a:r>
              <a:rPr sz="1350" b="1">
                <a:solidFill>
                  <a:srgbClr val="A7F3D0"/>
                </a:solidFill>
                <a:latin typeface="Arial"/>
                <a:ea typeface="Arial"/>
                <a:cs typeface="Arial"/>
              </a:rPr>
              <a:t>Web</a:t>
            </a:r>
          </a:p>
        </p:txBody>
      </p:sp>
      <p:sp>
        <p:nvSpPr>
          <p:cNvPr id="12" name="">
            <a:extLst xmlns:a="http://schemas.openxmlformats.org/drawingml/2006/main">
              <a:ext uri="{FF2B5EF4-FFF2-40B4-BE49-F238E27FC236}">
                <a16:creationId xmlns:a16="http://schemas.microsoft.com/office/drawing/2014/main" id="{B96D7036-D2CF-4154-8673-F0E7401740B7}"/>
              </a:ext>
            </a:extLst>
          </p:cNvPr>
          <p:cNvSpPr>
            <a:spLocks xmlns:a="http://schemas.openxmlformats.org/drawingml/2006/main" noGrp="1"/>
          </p:cNvSpPr>
          <p:nvPr/>
        </p:nvSpPr>
        <p:spPr>
          <a:xfrm xmlns:a="http://schemas.openxmlformats.org/drawingml/2006/main">
            <a:off x="2952750" y="33528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public URL fetch + web search</a:t>
            </a:r>
          </a:p>
        </p:txBody>
      </p:sp>
      <p:sp>
        <p:nvSpPr>
          <p:cNvPr id="13" name="cap-left-3">
            <a:extLst xmlns:a="http://schemas.openxmlformats.org/drawingml/2006/main">
              <a:ext uri="{FF2B5EF4-FFF2-40B4-BE49-F238E27FC236}">
                <a16:creationId xmlns:a16="http://schemas.microsoft.com/office/drawing/2014/main" id="{9E84E589-4ABB-4FA1-9BA9-D9B5B448CA66}"/>
              </a:ext>
            </a:extLst>
          </p:cNvPr>
          <p:cNvSpPr>
            <a:spLocks xmlns:a="http://schemas.openxmlformats.org/drawingml/2006/main" noGrp="1"/>
          </p:cNvSpPr>
          <p:nvPr/>
        </p:nvSpPr>
        <p:spPr>
          <a:xfrm xmlns:a="http://schemas.openxmlformats.org/drawingml/2006/main">
            <a:off x="762000" y="38671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CD34D"/>
            </a:solidFill>
            <a:prstDash val="solid"/>
          </a:ln>
        </p:spPr>
      </p:sp>
      <p:sp>
        <p:nvSpPr>
          <p:cNvPr id="14" name="">
            <a:extLst xmlns:a="http://schemas.openxmlformats.org/drawingml/2006/main">
              <a:ext uri="{FF2B5EF4-FFF2-40B4-BE49-F238E27FC236}">
                <a16:creationId xmlns:a16="http://schemas.microsoft.com/office/drawing/2014/main" id="{68868EAE-9151-4055-BB03-7B33BDD37E87}"/>
              </a:ext>
            </a:extLst>
          </p:cNvPr>
          <p:cNvSpPr>
            <a:spLocks xmlns:a="http://schemas.openxmlformats.org/drawingml/2006/main" noGrp="1"/>
          </p:cNvSpPr>
          <p:nvPr/>
        </p:nvSpPr>
        <p:spPr>
          <a:xfrm xmlns:a="http://schemas.openxmlformats.org/drawingml/2006/main">
            <a:off x="971550" y="39624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CD34D"/>
                </a:solidFill>
                <a:latin typeface="Arial"/>
                <a:ea typeface="Arial"/>
                <a:cs typeface="Arial"/>
              </a:defRPr>
            </a:defPPr>
            <a:lvl1pPr>
              <a:defRPr sz="1350" b="1">
                <a:solidFill>
                  <a:srgbClr val="FCD34D"/>
                </a:solidFill>
                <a:latin typeface="Arial"/>
                <a:ea typeface="Arial"/>
                <a:cs typeface="Arial"/>
              </a:defRPr>
            </a:lvl1pPr>
            <a:lvl2pPr>
              <a:defRPr sz="1350" b="1">
                <a:solidFill>
                  <a:srgbClr val="FCD34D"/>
                </a:solidFill>
                <a:latin typeface="Arial"/>
                <a:ea typeface="Arial"/>
                <a:cs typeface="Arial"/>
              </a:defRPr>
            </a:lvl2pPr>
            <a:lvl3pPr>
              <a:defRPr sz="1350" b="1">
                <a:solidFill>
                  <a:srgbClr val="FCD34D"/>
                </a:solidFill>
                <a:latin typeface="Arial"/>
                <a:ea typeface="Arial"/>
                <a:cs typeface="Arial"/>
              </a:defRPr>
            </a:lvl3pPr>
            <a:lvl4pPr>
              <a:defRPr sz="1350" b="1">
                <a:solidFill>
                  <a:srgbClr val="FCD34D"/>
                </a:solidFill>
                <a:latin typeface="Arial"/>
                <a:ea typeface="Arial"/>
                <a:cs typeface="Arial"/>
              </a:defRPr>
            </a:lvl4pPr>
            <a:lvl5pPr>
              <a:defRPr sz="1350" b="1">
                <a:solidFill>
                  <a:srgbClr val="FCD34D"/>
                </a:solidFill>
                <a:latin typeface="Arial"/>
                <a:ea typeface="Arial"/>
                <a:cs typeface="Arial"/>
              </a:defRPr>
            </a:lvl5pPr>
            <a:lvl6pPr>
              <a:defRPr sz="1350" b="1">
                <a:solidFill>
                  <a:srgbClr val="FCD34D"/>
                </a:solidFill>
                <a:latin typeface="Arial"/>
                <a:ea typeface="Arial"/>
                <a:cs typeface="Arial"/>
              </a:defRPr>
            </a:lvl6pPr>
            <a:lvl7pPr>
              <a:defRPr sz="1350" b="1">
                <a:solidFill>
                  <a:srgbClr val="FCD34D"/>
                </a:solidFill>
                <a:latin typeface="Arial"/>
                <a:ea typeface="Arial"/>
                <a:cs typeface="Arial"/>
              </a:defRPr>
            </a:lvl7pPr>
            <a:lvl8pPr>
              <a:defRPr sz="1350" b="1">
                <a:solidFill>
                  <a:srgbClr val="FCD34D"/>
                </a:solidFill>
                <a:latin typeface="Arial"/>
                <a:ea typeface="Arial"/>
                <a:cs typeface="Arial"/>
              </a:defRPr>
            </a:lvl8pPr>
            <a:lvl9pPr>
              <a:defRPr sz="1350" b="1">
                <a:solidFill>
                  <a:srgbClr val="FCD34D"/>
                </a:solidFill>
                <a:latin typeface="Arial"/>
                <a:ea typeface="Arial"/>
                <a:cs typeface="Arial"/>
              </a:defRPr>
            </a:lvl9pPr>
          </a:lstStyle>
          <a:p xmlns:a="http://schemas.openxmlformats.org/drawingml/2006/main">
            <a:pPr>
              <a:defRPr sz="1350" b="1">
                <a:solidFill>
                  <a:srgbClr val="FCD34D"/>
                </a:solidFill>
                <a:latin typeface="Arial"/>
                <a:ea typeface="Arial"/>
                <a:cs typeface="Arial"/>
              </a:defRPr>
            </a:pPr>
            <a:r>
              <a:rPr sz="1350" b="1">
                <a:solidFill>
                  <a:srgbClr val="FCD34D"/>
                </a:solidFill>
                <a:latin typeface="Arial"/>
                <a:ea typeface="Arial"/>
                <a:cs typeface="Arial"/>
              </a:rPr>
              <a:t>Execution</a:t>
            </a:r>
          </a:p>
        </p:txBody>
      </p:sp>
      <p:sp>
        <p:nvSpPr>
          <p:cNvPr id="15" name="">
            <a:extLst xmlns:a="http://schemas.openxmlformats.org/drawingml/2006/main">
              <a:ext uri="{FF2B5EF4-FFF2-40B4-BE49-F238E27FC236}">
                <a16:creationId xmlns:a16="http://schemas.microsoft.com/office/drawing/2014/main" id="{DCF3EBA8-3927-44A4-B283-A7BE2385EC90}"/>
              </a:ext>
            </a:extLst>
          </p:cNvPr>
          <p:cNvSpPr>
            <a:spLocks xmlns:a="http://schemas.openxmlformats.org/drawingml/2006/main" noGrp="1"/>
          </p:cNvSpPr>
          <p:nvPr/>
        </p:nvSpPr>
        <p:spPr>
          <a:xfrm xmlns:a="http://schemas.openxmlformats.org/drawingml/2006/main">
            <a:off x="2952750" y="39624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allowlisted commands + background jobs</a:t>
            </a:r>
          </a:p>
        </p:txBody>
      </p:sp>
      <p:sp>
        <p:nvSpPr>
          <p:cNvPr id="16" name="cap-left-4">
            <a:extLst xmlns:a="http://schemas.openxmlformats.org/drawingml/2006/main">
              <a:ext uri="{FF2B5EF4-FFF2-40B4-BE49-F238E27FC236}">
                <a16:creationId xmlns:a16="http://schemas.microsoft.com/office/drawing/2014/main" id="{BDC9C670-02B1-48DC-B879-29C60E0BA68C}"/>
              </a:ext>
            </a:extLst>
          </p:cNvPr>
          <p:cNvSpPr>
            <a:spLocks xmlns:a="http://schemas.openxmlformats.org/drawingml/2006/main" noGrp="1"/>
          </p:cNvSpPr>
          <p:nvPr/>
        </p:nvSpPr>
        <p:spPr>
          <a:xfrm xmlns:a="http://schemas.openxmlformats.org/drawingml/2006/main">
            <a:off x="762000" y="44767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DA4AF"/>
            </a:solidFill>
            <a:prstDash val="solid"/>
          </a:ln>
        </p:spPr>
      </p:sp>
      <p:sp>
        <p:nvSpPr>
          <p:cNvPr id="17" name="">
            <a:extLst xmlns:a="http://schemas.openxmlformats.org/drawingml/2006/main">
              <a:ext uri="{FF2B5EF4-FFF2-40B4-BE49-F238E27FC236}">
                <a16:creationId xmlns:a16="http://schemas.microsoft.com/office/drawing/2014/main" id="{A44878F7-376F-405E-BE34-BBD0B88FFA60}"/>
              </a:ext>
            </a:extLst>
          </p:cNvPr>
          <p:cNvSpPr>
            <a:spLocks xmlns:a="http://schemas.openxmlformats.org/drawingml/2006/main" noGrp="1"/>
          </p:cNvSpPr>
          <p:nvPr/>
        </p:nvSpPr>
        <p:spPr>
          <a:xfrm xmlns:a="http://schemas.openxmlformats.org/drawingml/2006/main">
            <a:off x="971550" y="45720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DA4AF"/>
                </a:solidFill>
                <a:latin typeface="Arial"/>
                <a:ea typeface="Arial"/>
                <a:cs typeface="Arial"/>
              </a:defRPr>
            </a:defPPr>
            <a:lvl1pPr>
              <a:defRPr sz="1350" b="1">
                <a:solidFill>
                  <a:srgbClr val="FDA4AF"/>
                </a:solidFill>
                <a:latin typeface="Arial"/>
                <a:ea typeface="Arial"/>
                <a:cs typeface="Arial"/>
              </a:defRPr>
            </a:lvl1pPr>
            <a:lvl2pPr>
              <a:defRPr sz="1350" b="1">
                <a:solidFill>
                  <a:srgbClr val="FDA4AF"/>
                </a:solidFill>
                <a:latin typeface="Arial"/>
                <a:ea typeface="Arial"/>
                <a:cs typeface="Arial"/>
              </a:defRPr>
            </a:lvl2pPr>
            <a:lvl3pPr>
              <a:defRPr sz="1350" b="1">
                <a:solidFill>
                  <a:srgbClr val="FDA4AF"/>
                </a:solidFill>
                <a:latin typeface="Arial"/>
                <a:ea typeface="Arial"/>
                <a:cs typeface="Arial"/>
              </a:defRPr>
            </a:lvl3pPr>
            <a:lvl4pPr>
              <a:defRPr sz="1350" b="1">
                <a:solidFill>
                  <a:srgbClr val="FDA4AF"/>
                </a:solidFill>
                <a:latin typeface="Arial"/>
                <a:ea typeface="Arial"/>
                <a:cs typeface="Arial"/>
              </a:defRPr>
            </a:lvl4pPr>
            <a:lvl5pPr>
              <a:defRPr sz="1350" b="1">
                <a:solidFill>
                  <a:srgbClr val="FDA4AF"/>
                </a:solidFill>
                <a:latin typeface="Arial"/>
                <a:ea typeface="Arial"/>
                <a:cs typeface="Arial"/>
              </a:defRPr>
            </a:lvl5pPr>
            <a:lvl6pPr>
              <a:defRPr sz="1350" b="1">
                <a:solidFill>
                  <a:srgbClr val="FDA4AF"/>
                </a:solidFill>
                <a:latin typeface="Arial"/>
                <a:ea typeface="Arial"/>
                <a:cs typeface="Arial"/>
              </a:defRPr>
            </a:lvl6pPr>
            <a:lvl7pPr>
              <a:defRPr sz="1350" b="1">
                <a:solidFill>
                  <a:srgbClr val="FDA4AF"/>
                </a:solidFill>
                <a:latin typeface="Arial"/>
                <a:ea typeface="Arial"/>
                <a:cs typeface="Arial"/>
              </a:defRPr>
            </a:lvl7pPr>
            <a:lvl8pPr>
              <a:defRPr sz="1350" b="1">
                <a:solidFill>
                  <a:srgbClr val="FDA4AF"/>
                </a:solidFill>
                <a:latin typeface="Arial"/>
                <a:ea typeface="Arial"/>
                <a:cs typeface="Arial"/>
              </a:defRPr>
            </a:lvl8pPr>
            <a:lvl9pPr>
              <a:defRPr sz="1350" b="1">
                <a:solidFill>
                  <a:srgbClr val="FDA4AF"/>
                </a:solidFill>
                <a:latin typeface="Arial"/>
                <a:ea typeface="Arial"/>
                <a:cs typeface="Arial"/>
              </a:defRPr>
            </a:lvl9pPr>
          </a:lstStyle>
          <a:p xmlns:a="http://schemas.openxmlformats.org/drawingml/2006/main">
            <a:pPr>
              <a:defRPr sz="1350" b="1">
                <a:solidFill>
                  <a:srgbClr val="FDA4AF"/>
                </a:solidFill>
                <a:latin typeface="Arial"/>
                <a:ea typeface="Arial"/>
                <a:cs typeface="Arial"/>
              </a:defRPr>
            </a:pPr>
            <a:r>
              <a:rPr sz="1350" b="1">
                <a:solidFill>
                  <a:srgbClr val="FDA4AF"/>
                </a:solidFill>
                <a:latin typeface="Arial"/>
                <a:ea typeface="Arial"/>
                <a:cs typeface="Arial"/>
              </a:rPr>
              <a:t>Operations</a:t>
            </a:r>
          </a:p>
        </p:txBody>
      </p:sp>
      <p:sp>
        <p:nvSpPr>
          <p:cNvPr id="18" name="">
            <a:extLst xmlns:a="http://schemas.openxmlformats.org/drawingml/2006/main">
              <a:ext uri="{FF2B5EF4-FFF2-40B4-BE49-F238E27FC236}">
                <a16:creationId xmlns:a16="http://schemas.microsoft.com/office/drawing/2014/main" id="{889F935F-C4FF-4939-8A16-3E41B6F93639}"/>
              </a:ext>
            </a:extLst>
          </p:cNvPr>
          <p:cNvSpPr>
            <a:spLocks xmlns:a="http://schemas.openxmlformats.org/drawingml/2006/main" noGrp="1"/>
          </p:cNvSpPr>
          <p:nvPr/>
        </p:nvSpPr>
        <p:spPr>
          <a:xfrm xmlns:a="http://schemas.openxmlformats.org/drawingml/2006/main">
            <a:off x="2952750" y="45720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system info + timers + MCP bridge</a:t>
            </a:r>
          </a:p>
        </p:txBody>
      </p:sp>
      <p:sp>
        <p:nvSpPr>
          <p:cNvPr id="19" name="boundary-callout">
            <a:extLst xmlns:a="http://schemas.openxmlformats.org/drawingml/2006/main">
              <a:ext uri="{FF2B5EF4-FFF2-40B4-BE49-F238E27FC236}">
                <a16:creationId xmlns:a16="http://schemas.microsoft.com/office/drawing/2014/main" id="{A79710DD-74A3-49B5-A0BC-0EF2C1C05D46}"/>
              </a:ext>
            </a:extLst>
          </p:cNvPr>
          <p:cNvSpPr>
            <a:spLocks xmlns:a="http://schemas.openxmlformats.org/drawingml/2006/main" noGrp="1"/>
          </p:cNvSpPr>
          <p:nvPr/>
        </p:nvSpPr>
        <p:spPr>
          <a:xfrm xmlns:a="http://schemas.openxmlformats.org/drawingml/2006/main">
            <a:off x="8667750" y="2038350"/>
            <a:ext cx="2857500" cy="2857500"/>
          </a:xfrm>
          <a:prstGeom xmlns:a="http://schemas.openxmlformats.org/drawingml/2006/main" prst="roundRect">
            <a:avLst>
              <a:gd name="adj" fmla="val 4000"/>
            </a:avLst>
          </a:prstGeom>
          <a:solidFill xmlns:a="http://schemas.openxmlformats.org/drawingml/2006/main">
            <a:srgbClr val="102A43"/>
          </a:solidFill>
          <a:ln xmlns:a="http://schemas.openxmlformats.org/drawingml/2006/main" w="9525">
            <a:solidFill>
              <a:srgbClr val="FCD34D"/>
            </a:solidFill>
            <a:prstDash val="solid"/>
          </a:ln>
        </p:spPr>
      </p:sp>
      <p:sp>
        <p:nvSpPr>
          <p:cNvPr id="20" name="">
            <a:extLst xmlns:a="http://schemas.openxmlformats.org/drawingml/2006/main">
              <a:ext uri="{FF2B5EF4-FFF2-40B4-BE49-F238E27FC236}">
                <a16:creationId xmlns:a16="http://schemas.microsoft.com/office/drawing/2014/main" id="{237A665B-1E90-48C7-AE42-A636A46AD755}"/>
              </a:ext>
            </a:extLst>
          </p:cNvPr>
          <p:cNvSpPr>
            <a:spLocks xmlns:a="http://schemas.openxmlformats.org/drawingml/2006/main" noGrp="1"/>
          </p:cNvSpPr>
          <p:nvPr/>
        </p:nvSpPr>
        <p:spPr>
          <a:xfrm xmlns:a="http://schemas.openxmlformats.org/drawingml/2006/main">
            <a:off x="8991600" y="2400300"/>
            <a:ext cx="2209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FCD34D"/>
                </a:solidFill>
                <a:latin typeface="Arial"/>
                <a:ea typeface="Arial"/>
                <a:cs typeface="Arial"/>
              </a:defRPr>
            </a:defPPr>
            <a:lvl1pPr>
              <a:defRPr sz="2325" b="1">
                <a:solidFill>
                  <a:srgbClr val="FCD34D"/>
                </a:solidFill>
                <a:latin typeface="Arial"/>
                <a:ea typeface="Arial"/>
                <a:cs typeface="Arial"/>
              </a:defRPr>
            </a:lvl1pPr>
            <a:lvl2pPr>
              <a:defRPr sz="2325" b="1">
                <a:solidFill>
                  <a:srgbClr val="FCD34D"/>
                </a:solidFill>
                <a:latin typeface="Arial"/>
                <a:ea typeface="Arial"/>
                <a:cs typeface="Arial"/>
              </a:defRPr>
            </a:lvl2pPr>
            <a:lvl3pPr>
              <a:defRPr sz="2325" b="1">
                <a:solidFill>
                  <a:srgbClr val="FCD34D"/>
                </a:solidFill>
                <a:latin typeface="Arial"/>
                <a:ea typeface="Arial"/>
                <a:cs typeface="Arial"/>
              </a:defRPr>
            </a:lvl3pPr>
            <a:lvl4pPr>
              <a:defRPr sz="2325" b="1">
                <a:solidFill>
                  <a:srgbClr val="FCD34D"/>
                </a:solidFill>
                <a:latin typeface="Arial"/>
                <a:ea typeface="Arial"/>
                <a:cs typeface="Arial"/>
              </a:defRPr>
            </a:lvl4pPr>
            <a:lvl5pPr>
              <a:defRPr sz="2325" b="1">
                <a:solidFill>
                  <a:srgbClr val="FCD34D"/>
                </a:solidFill>
                <a:latin typeface="Arial"/>
                <a:ea typeface="Arial"/>
                <a:cs typeface="Arial"/>
              </a:defRPr>
            </a:lvl5pPr>
            <a:lvl6pPr>
              <a:defRPr sz="2325" b="1">
                <a:solidFill>
                  <a:srgbClr val="FCD34D"/>
                </a:solidFill>
                <a:latin typeface="Arial"/>
                <a:ea typeface="Arial"/>
                <a:cs typeface="Arial"/>
              </a:defRPr>
            </a:lvl6pPr>
            <a:lvl7pPr>
              <a:defRPr sz="2325" b="1">
                <a:solidFill>
                  <a:srgbClr val="FCD34D"/>
                </a:solidFill>
                <a:latin typeface="Arial"/>
                <a:ea typeface="Arial"/>
                <a:cs typeface="Arial"/>
              </a:defRPr>
            </a:lvl7pPr>
            <a:lvl8pPr>
              <a:defRPr sz="2325" b="1">
                <a:solidFill>
                  <a:srgbClr val="FCD34D"/>
                </a:solidFill>
                <a:latin typeface="Arial"/>
                <a:ea typeface="Arial"/>
                <a:cs typeface="Arial"/>
              </a:defRPr>
            </a:lvl8pPr>
            <a:lvl9pPr>
              <a:defRPr sz="2325" b="1">
                <a:solidFill>
                  <a:srgbClr val="FCD34D"/>
                </a:solidFill>
                <a:latin typeface="Arial"/>
                <a:ea typeface="Arial"/>
                <a:cs typeface="Arial"/>
              </a:defRPr>
            </a:lvl9pPr>
          </a:lstStyle>
          <a:p xmlns:a="http://schemas.openxmlformats.org/drawingml/2006/main">
            <a:pPr>
              <a:defRPr sz="2325" b="1">
                <a:solidFill>
                  <a:srgbClr val="FCD34D"/>
                </a:solidFill>
                <a:latin typeface="Arial"/>
                <a:ea typeface="Arial"/>
                <a:cs typeface="Arial"/>
              </a:defRPr>
            </a:pPr>
            <a:r>
              <a:rPr sz="2325" b="1">
                <a:solidFill>
                  <a:srgbClr val="FCD34D"/>
                </a:solidFill>
                <a:latin typeface="Arial"/>
                <a:ea typeface="Arial"/>
                <a:cs typeface="Arial"/>
              </a:rPr>
              <a:t>PARITY ≠</a:t>
            </a:r>
          </a:p>
          <a:p xmlns:a="http://schemas.openxmlformats.org/drawingml/2006/main">
            <a:pPr>
              <a:defRPr sz="2325" b="1">
                <a:solidFill>
                  <a:srgbClr val="FCD34D"/>
                </a:solidFill>
                <a:latin typeface="Arial"/>
                <a:ea typeface="Arial"/>
                <a:cs typeface="Arial"/>
              </a:defRPr>
            </a:pPr>
            <a:r>
              <a:rPr sz="2325" b="1">
                <a:solidFill>
                  <a:srgbClr val="FCD34D"/>
                </a:solidFill>
                <a:latin typeface="Arial"/>
                <a:ea typeface="Arial"/>
                <a:cs typeface="Arial"/>
              </a:rPr>
              <a:t>UNRESTRICTED</a:t>
            </a:r>
          </a:p>
          <a:p xmlns:a="http://schemas.openxmlformats.org/drawingml/2006/main">
            <a:pPr>
              <a:defRPr sz="2325" b="1">
                <a:solidFill>
                  <a:srgbClr val="FCD34D"/>
                </a:solidFill>
                <a:latin typeface="Arial"/>
                <a:ea typeface="Arial"/>
                <a:cs typeface="Arial"/>
              </a:defRPr>
            </a:pPr>
            <a:r>
              <a:rPr sz="2325" b="1">
                <a:solidFill>
                  <a:srgbClr val="FCD34D"/>
                </a:solidFill>
                <a:latin typeface="Arial"/>
                <a:ea typeface="Arial"/>
                <a:cs typeface="Arial"/>
              </a:rPr>
              <a:t>SHELL</a:t>
            </a:r>
          </a:p>
        </p:txBody>
      </p:sp>
      <p:sp>
        <p:nvSpPr>
          <p:cNvPr id="21" name="">
            <a:extLst xmlns:a="http://schemas.openxmlformats.org/drawingml/2006/main">
              <a:ext uri="{FF2B5EF4-FFF2-40B4-BE49-F238E27FC236}">
                <a16:creationId xmlns:a16="http://schemas.microsoft.com/office/drawing/2014/main" id="{E669010B-73F9-4117-899B-30842658AFF8}"/>
              </a:ext>
            </a:extLst>
          </p:cNvPr>
          <p:cNvSpPr>
            <a:spLocks xmlns:a="http://schemas.openxmlformats.org/drawingml/2006/main" noGrp="1"/>
          </p:cNvSpPr>
          <p:nvPr/>
        </p:nvSpPr>
        <p:spPr>
          <a:xfrm xmlns:a="http://schemas.openxmlformats.org/drawingml/2006/main">
            <a:off x="8991600" y="3752850"/>
            <a:ext cx="2209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Paths stay inside ME3.</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Secrets and model caches are</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blocked. Destructive patterns</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are rejected.</a:t>
            </a:r>
          </a:p>
        </p:txBody>
      </p:sp>
      <p:sp>
        <p:nvSpPr>
          <p:cNvPr id="22" name="">
            <a:extLst xmlns:a="http://schemas.openxmlformats.org/drawingml/2006/main">
              <a:ext uri="{FF2B5EF4-FFF2-40B4-BE49-F238E27FC236}">
                <a16:creationId xmlns:a16="http://schemas.microsoft.com/office/drawing/2014/main" id="{1CCAEE83-C735-40C2-8F65-355AA99DBB0F}"/>
              </a:ext>
            </a:extLst>
          </p:cNvPr>
          <p:cNvSpPr>
            <a:spLocks xmlns:a="http://schemas.openxmlformats.org/drawingml/2006/main" noGrp="1"/>
          </p:cNvSpPr>
          <p:nvPr/>
        </p:nvSpPr>
        <p:spPr>
          <a:xfrm xmlns:a="http://schemas.openxmlformats.org/drawingml/2006/main">
            <a:off x="781050" y="546735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7FAFC"/>
                </a:solidFill>
                <a:latin typeface="Arial"/>
                <a:ea typeface="Arial"/>
                <a:cs typeface="Arial"/>
              </a:defRPr>
            </a:defPPr>
            <a:lvl1pPr>
              <a:defRPr sz="1500" b="1">
                <a:solidFill>
                  <a:srgbClr val="F7FAFC"/>
                </a:solidFill>
                <a:latin typeface="Arial"/>
                <a:ea typeface="Arial"/>
                <a:cs typeface="Arial"/>
              </a:defRPr>
            </a:lvl1pPr>
            <a:lvl2pPr>
              <a:defRPr sz="1500" b="1">
                <a:solidFill>
                  <a:srgbClr val="F7FAFC"/>
                </a:solidFill>
                <a:latin typeface="Arial"/>
                <a:ea typeface="Arial"/>
                <a:cs typeface="Arial"/>
              </a:defRPr>
            </a:lvl2pPr>
            <a:lvl3pPr>
              <a:defRPr sz="1500" b="1">
                <a:solidFill>
                  <a:srgbClr val="F7FAFC"/>
                </a:solidFill>
                <a:latin typeface="Arial"/>
                <a:ea typeface="Arial"/>
                <a:cs typeface="Arial"/>
              </a:defRPr>
            </a:lvl3pPr>
            <a:lvl4pPr>
              <a:defRPr sz="1500" b="1">
                <a:solidFill>
                  <a:srgbClr val="F7FAFC"/>
                </a:solidFill>
                <a:latin typeface="Arial"/>
                <a:ea typeface="Arial"/>
                <a:cs typeface="Arial"/>
              </a:defRPr>
            </a:lvl4pPr>
            <a:lvl5pPr>
              <a:defRPr sz="1500" b="1">
                <a:solidFill>
                  <a:srgbClr val="F7FAFC"/>
                </a:solidFill>
                <a:latin typeface="Arial"/>
                <a:ea typeface="Arial"/>
                <a:cs typeface="Arial"/>
              </a:defRPr>
            </a:lvl5pPr>
            <a:lvl6pPr>
              <a:defRPr sz="1500" b="1">
                <a:solidFill>
                  <a:srgbClr val="F7FAFC"/>
                </a:solidFill>
                <a:latin typeface="Arial"/>
                <a:ea typeface="Arial"/>
                <a:cs typeface="Arial"/>
              </a:defRPr>
            </a:lvl6pPr>
            <a:lvl7pPr>
              <a:defRPr sz="1500" b="1">
                <a:solidFill>
                  <a:srgbClr val="F7FAFC"/>
                </a:solidFill>
                <a:latin typeface="Arial"/>
                <a:ea typeface="Arial"/>
                <a:cs typeface="Arial"/>
              </a:defRPr>
            </a:lvl7pPr>
            <a:lvl8pPr>
              <a:defRPr sz="1500" b="1">
                <a:solidFill>
                  <a:srgbClr val="F7FAFC"/>
                </a:solidFill>
                <a:latin typeface="Arial"/>
                <a:ea typeface="Arial"/>
                <a:cs typeface="Arial"/>
              </a:defRPr>
            </a:lvl8pPr>
            <a:lvl9pPr>
              <a:defRPr sz="1500" b="1">
                <a:solidFill>
                  <a:srgbClr val="F7FAFC"/>
                </a:solidFill>
                <a:latin typeface="Arial"/>
                <a:ea typeface="Arial"/>
                <a:cs typeface="Arial"/>
              </a:defRPr>
            </a:lvl9pPr>
          </a:lstStyle>
          <a:p xmlns:a="http://schemas.openxmlformats.org/drawingml/2006/main">
            <a:pPr>
              <a:defRPr sz="1500" b="1">
                <a:solidFill>
                  <a:srgbClr val="F7FAFC"/>
                </a:solidFill>
                <a:latin typeface="Arial"/>
                <a:ea typeface="Arial"/>
                <a:cs typeface="Arial"/>
              </a:defRPr>
            </a:pPr>
            <a:r>
              <a:rPr sz="1500" b="1">
                <a:solidFill>
                  <a:srgbClr val="F7FAFC"/>
                </a:solidFill>
                <a:latin typeface="Arial"/>
                <a:ea typeface="Arial"/>
                <a:cs typeface="Arial"/>
              </a:rPr>
              <a:t>Capability is added as a typed tool with an observable result.</a:t>
            </a:r>
          </a:p>
        </p:txBody>
      </p:sp>
      <p:sp>
        <p:nvSpPr>
          <p:cNvPr id="23" name="">
            <a:extLst xmlns:a="http://schemas.openxmlformats.org/drawingml/2006/main">
              <a:ext uri="{FF2B5EF4-FFF2-40B4-BE49-F238E27FC236}">
                <a16:creationId xmlns:a16="http://schemas.microsoft.com/office/drawing/2014/main" id="{F6F0C834-28DB-4D39-98A9-7407D0BF0B9B}"/>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5/7</a:t>
            </a:r>
          </a:p>
        </p:txBody>
      </p:sp>
    </p:spTree>
    <p:extLst>
      <p:ext uri="{BB962C8B-B14F-4D97-AF65-F5344CB8AC3E}">
        <p14:creationId xmlns:p14="http://schemas.microsoft.com/office/powerpoint/2010/main" val="322801503"/>
      </p:ext>
    </p:extLst>
  </p:cSld>
</p:sld>
</file>

<file path=ppt/slides/slide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50D8E3E-B3A8-4878-9085-A3B5DB19C6F9}"/>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4C83FD5B-C183-4976-AD2F-6FECC27B83D8}"/>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The implementation is verified in layers</a:t>
            </a:r>
          </a:p>
        </p:txBody>
      </p:sp>
      <p:sp>
        <p:nvSpPr>
          <p:cNvPr id="3" name="">
            <a:extLst xmlns:a="http://schemas.openxmlformats.org/drawingml/2006/main">
              <a:ext uri="{FF2B5EF4-FFF2-40B4-BE49-F238E27FC236}">
                <a16:creationId xmlns:a16="http://schemas.microsoft.com/office/drawing/2014/main" id="{3EE4E9EF-F674-4F1C-8D95-7030840D3B59}"/>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Each layer answers a different question; a local pass is not silently promoted to Pi or benchmark evidence.</a:t>
            </a:r>
          </a:p>
        </p:txBody>
      </p:sp>
      <p:sp>
        <p:nvSpPr>
          <p:cNvPr id="4" name="verified-now">
            <a:extLst xmlns:a="http://schemas.openxmlformats.org/drawingml/2006/main">
              <a:ext uri="{FF2B5EF4-FFF2-40B4-BE49-F238E27FC236}">
                <a16:creationId xmlns:a16="http://schemas.microsoft.com/office/drawing/2014/main" id="{E8E1D048-A5B7-458D-81F9-5C0034A01504}"/>
              </a:ext>
            </a:extLst>
          </p:cNvPr>
          <p:cNvSpPr>
            <a:spLocks xmlns:a="http://schemas.openxmlformats.org/drawingml/2006/main" noGrp="1"/>
          </p:cNvSpPr>
          <p:nvPr/>
        </p:nvSpPr>
        <p:spPr>
          <a:xfrm xmlns:a="http://schemas.openxmlformats.org/drawingml/2006/main">
            <a:off x="723900" y="2038350"/>
            <a:ext cx="495300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A7F3D0"/>
            </a:solidFill>
            <a:prstDash val="solid"/>
          </a:ln>
        </p:spPr>
      </p:sp>
      <p:sp>
        <p:nvSpPr>
          <p:cNvPr id="5" name="">
            <a:extLst xmlns:a="http://schemas.openxmlformats.org/drawingml/2006/main">
              <a:ext uri="{FF2B5EF4-FFF2-40B4-BE49-F238E27FC236}">
                <a16:creationId xmlns:a16="http://schemas.microsoft.com/office/drawing/2014/main" id="{F438E607-3B2C-4D7B-B690-33F3B26C0AB9}"/>
              </a:ext>
            </a:extLst>
          </p:cNvPr>
          <p:cNvSpPr>
            <a:spLocks xmlns:a="http://schemas.openxmlformats.org/drawingml/2006/main" noGrp="1"/>
          </p:cNvSpPr>
          <p:nvPr/>
        </p:nvSpPr>
        <p:spPr>
          <a:xfrm xmlns:a="http://schemas.openxmlformats.org/drawingml/2006/main">
            <a:off x="102870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VERIFIED NOW</a:t>
            </a:r>
          </a:p>
        </p:txBody>
      </p:sp>
      <p:sp>
        <p:nvSpPr>
          <p:cNvPr id="6" name="">
            <a:extLst xmlns:a="http://schemas.openxmlformats.org/drawingml/2006/main">
              <a:ext uri="{FF2B5EF4-FFF2-40B4-BE49-F238E27FC236}">
                <a16:creationId xmlns:a16="http://schemas.microsoft.com/office/drawing/2014/main" id="{0CAAB5EE-16D6-45D2-B262-79092F05B649}"/>
              </a:ext>
            </a:extLst>
          </p:cNvPr>
          <p:cNvSpPr>
            <a:spLocks xmlns:a="http://schemas.openxmlformats.org/drawingml/2006/main" noGrp="1"/>
          </p:cNvSpPr>
          <p:nvPr/>
        </p:nvSpPr>
        <p:spPr>
          <a:xfrm xmlns:a="http://schemas.openxmlformats.org/drawingml/2006/main">
            <a:off x="1028700" y="27813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Live Qwen call → system_info → final answer</a:t>
            </a:r>
          </a:p>
        </p:txBody>
      </p:sp>
      <p:sp>
        <p:nvSpPr>
          <p:cNvPr id="7" name="">
            <a:extLst xmlns:a="http://schemas.openxmlformats.org/drawingml/2006/main">
              <a:ext uri="{FF2B5EF4-FFF2-40B4-BE49-F238E27FC236}">
                <a16:creationId xmlns:a16="http://schemas.microsoft.com/office/drawing/2014/main" id="{5E477CE0-AB5F-4950-A326-7CAB05B6406A}"/>
              </a:ext>
            </a:extLst>
          </p:cNvPr>
          <p:cNvSpPr>
            <a:spLocks xmlns:a="http://schemas.openxmlformats.org/drawingml/2006/main" noGrp="1"/>
          </p:cNvSpPr>
          <p:nvPr/>
        </p:nvSpPr>
        <p:spPr>
          <a:xfrm xmlns:a="http://schemas.openxmlformats.org/drawingml/2006/main">
            <a:off x="1028700" y="322897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Live Qwen web-app file creation + read-back</a:t>
            </a:r>
          </a:p>
        </p:txBody>
      </p:sp>
      <p:sp>
        <p:nvSpPr>
          <p:cNvPr id="8" name="">
            <a:extLst xmlns:a="http://schemas.openxmlformats.org/drawingml/2006/main">
              <a:ext uri="{FF2B5EF4-FFF2-40B4-BE49-F238E27FC236}">
                <a16:creationId xmlns:a16="http://schemas.microsoft.com/office/drawing/2014/main" id="{4D6A43C8-88D6-4473-AF0F-5EAAF0C4B9FF}"/>
              </a:ext>
            </a:extLst>
          </p:cNvPr>
          <p:cNvSpPr>
            <a:spLocks xmlns:a="http://schemas.openxmlformats.org/drawingml/2006/main" noGrp="1"/>
          </p:cNvSpPr>
          <p:nvPr/>
        </p:nvSpPr>
        <p:spPr>
          <a:xfrm xmlns:a="http://schemas.openxmlformats.org/drawingml/2006/main">
            <a:off x="1028700" y="367665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4 focused tooling tests passed</a:t>
            </a:r>
          </a:p>
        </p:txBody>
      </p:sp>
      <p:sp>
        <p:nvSpPr>
          <p:cNvPr id="9" name="">
            <a:extLst xmlns:a="http://schemas.openxmlformats.org/drawingml/2006/main">
              <a:ext uri="{FF2B5EF4-FFF2-40B4-BE49-F238E27FC236}">
                <a16:creationId xmlns:a16="http://schemas.microsoft.com/office/drawing/2014/main" id="{A78E4970-0AD7-474D-AA01-4809A17C4166}"/>
              </a:ext>
            </a:extLst>
          </p:cNvPr>
          <p:cNvSpPr>
            <a:spLocks xmlns:a="http://schemas.openxmlformats.org/drawingml/2006/main" noGrp="1"/>
          </p:cNvSpPr>
          <p:nvPr/>
        </p:nvSpPr>
        <p:spPr>
          <a:xfrm xmlns:a="http://schemas.openxmlformats.org/drawingml/2006/main">
            <a:off x="1028700" y="412432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All 4 MCP services + PortAudio local smoke passed</a:t>
            </a:r>
          </a:p>
        </p:txBody>
      </p:sp>
      <p:sp>
        <p:nvSpPr>
          <p:cNvPr id="10" name="">
            <a:extLst xmlns:a="http://schemas.openxmlformats.org/drawingml/2006/main">
              <a:ext uri="{FF2B5EF4-FFF2-40B4-BE49-F238E27FC236}">
                <a16:creationId xmlns:a16="http://schemas.microsoft.com/office/drawing/2014/main" id="{3A784262-A46D-4BDB-9073-107D85B95311}"/>
              </a:ext>
            </a:extLst>
          </p:cNvPr>
          <p:cNvSpPr>
            <a:spLocks xmlns:a="http://schemas.openxmlformats.org/drawingml/2006/main" noGrp="1"/>
          </p:cNvSpPr>
          <p:nvPr/>
        </p:nvSpPr>
        <p:spPr>
          <a:xfrm xmlns:a="http://schemas.openxmlformats.org/drawingml/2006/main">
            <a:off x="1028700" y="45720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Paper alignment and v1.5 contract checks passed</a:t>
            </a:r>
          </a:p>
        </p:txBody>
      </p:sp>
      <p:sp>
        <p:nvSpPr>
          <p:cNvPr id="11" name="next-gates">
            <a:extLst xmlns:a="http://schemas.openxmlformats.org/drawingml/2006/main">
              <a:ext uri="{FF2B5EF4-FFF2-40B4-BE49-F238E27FC236}">
                <a16:creationId xmlns:a16="http://schemas.microsoft.com/office/drawing/2014/main" id="{1957EF96-C9CD-4425-99B2-231C68FDA403}"/>
              </a:ext>
            </a:extLst>
          </p:cNvPr>
          <p:cNvSpPr>
            <a:spLocks xmlns:a="http://schemas.openxmlformats.org/drawingml/2006/main" noGrp="1"/>
          </p:cNvSpPr>
          <p:nvPr/>
        </p:nvSpPr>
        <p:spPr>
          <a:xfrm xmlns:a="http://schemas.openxmlformats.org/drawingml/2006/main">
            <a:off x="6191250" y="2038350"/>
            <a:ext cx="527685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FCD34D"/>
            </a:solidFill>
            <a:prstDash val="solid"/>
          </a:ln>
        </p:spPr>
      </p:sp>
      <p:sp>
        <p:nvSpPr>
          <p:cNvPr id="12" name="">
            <a:extLst xmlns:a="http://schemas.openxmlformats.org/drawingml/2006/main">
              <a:ext uri="{FF2B5EF4-FFF2-40B4-BE49-F238E27FC236}">
                <a16:creationId xmlns:a16="http://schemas.microsoft.com/office/drawing/2014/main" id="{9327E635-3C54-421A-B582-BBA562C9A16B}"/>
              </a:ext>
            </a:extLst>
          </p:cNvPr>
          <p:cNvSpPr>
            <a:spLocks xmlns:a="http://schemas.openxmlformats.org/drawingml/2006/main" noGrp="1"/>
          </p:cNvSpPr>
          <p:nvPr/>
        </p:nvSpPr>
        <p:spPr>
          <a:xfrm xmlns:a="http://schemas.openxmlformats.org/drawingml/2006/main">
            <a:off x="649605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REMAINING GATES</a:t>
            </a:r>
          </a:p>
        </p:txBody>
      </p:sp>
      <p:sp>
        <p:nvSpPr>
          <p:cNvPr id="13" name="">
            <a:extLst xmlns:a="http://schemas.openxmlformats.org/drawingml/2006/main">
              <a:ext uri="{FF2B5EF4-FFF2-40B4-BE49-F238E27FC236}">
                <a16:creationId xmlns:a16="http://schemas.microsoft.com/office/drawing/2014/main" id="{08A4230F-F2F9-44BC-881F-32CCC297765D}"/>
              </a:ext>
            </a:extLst>
          </p:cNvPr>
          <p:cNvSpPr>
            <a:spLocks xmlns:a="http://schemas.openxmlformats.org/drawingml/2006/main" noGrp="1"/>
          </p:cNvSpPr>
          <p:nvPr/>
        </p:nvSpPr>
        <p:spPr>
          <a:xfrm xmlns:a="http://schemas.openxmlformats.org/drawingml/2006/main">
            <a:off x="6496050" y="278130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live audio run with the installed hardware</a:t>
            </a:r>
          </a:p>
        </p:txBody>
      </p:sp>
      <p:sp>
        <p:nvSpPr>
          <p:cNvPr id="14" name="">
            <a:extLst xmlns:a="http://schemas.openxmlformats.org/drawingml/2006/main">
              <a:ext uri="{FF2B5EF4-FFF2-40B4-BE49-F238E27FC236}">
                <a16:creationId xmlns:a16="http://schemas.microsoft.com/office/drawing/2014/main" id="{E2DE8F59-4902-4FD2-9355-58BC27AEBBFE}"/>
              </a:ext>
            </a:extLst>
          </p:cNvPr>
          <p:cNvSpPr>
            <a:spLocks xmlns:a="http://schemas.openxmlformats.org/drawingml/2006/main" noGrp="1"/>
          </p:cNvSpPr>
          <p:nvPr/>
        </p:nvSpPr>
        <p:spPr>
          <a:xfrm xmlns:a="http://schemas.openxmlformats.org/drawingml/2006/main">
            <a:off x="6496050" y="330517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Securely provision VLLM_API_KEY on the Pi</a:t>
            </a:r>
          </a:p>
        </p:txBody>
      </p:sp>
      <p:sp>
        <p:nvSpPr>
          <p:cNvPr id="15" name="">
            <a:extLst xmlns:a="http://schemas.openxmlformats.org/drawingml/2006/main">
              <a:ext uri="{FF2B5EF4-FFF2-40B4-BE49-F238E27FC236}">
                <a16:creationId xmlns:a16="http://schemas.microsoft.com/office/drawing/2014/main" id="{9FE178FE-D2E1-44D1-A938-763C2273A185}"/>
              </a:ext>
            </a:extLst>
          </p:cNvPr>
          <p:cNvSpPr>
            <a:spLocks xmlns:a="http://schemas.openxmlformats.org/drawingml/2006/main" noGrp="1"/>
          </p:cNvSpPr>
          <p:nvPr/>
        </p:nvSpPr>
        <p:spPr>
          <a:xfrm xmlns:a="http://schemas.openxmlformats.org/drawingml/2006/main">
            <a:off x="6496050" y="382905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Clean, unaudited FULL-DUPLEX-BENCH v1.5 capture</a:t>
            </a:r>
          </a:p>
        </p:txBody>
      </p:sp>
      <p:sp>
        <p:nvSpPr>
          <p:cNvPr id="16" name="">
            <a:extLst xmlns:a="http://schemas.openxmlformats.org/drawingml/2006/main">
              <a:ext uri="{FF2B5EF4-FFF2-40B4-BE49-F238E27FC236}">
                <a16:creationId xmlns:a16="http://schemas.microsoft.com/office/drawing/2014/main" id="{D434CCD6-7438-463F-AC10-0024ADCBC14A}"/>
              </a:ext>
            </a:extLst>
          </p:cNvPr>
          <p:cNvSpPr>
            <a:spLocks xmlns:a="http://schemas.openxmlformats.org/drawingml/2006/main" noGrp="1"/>
          </p:cNvSpPr>
          <p:nvPr/>
        </p:nvSpPr>
        <p:spPr>
          <a:xfrm xmlns:a="http://schemas.openxmlformats.org/drawingml/2006/main">
            <a:off x="6496050" y="435292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HTTPS endpoint when an administrator provides one</a:t>
            </a:r>
          </a:p>
        </p:txBody>
      </p:sp>
      <p:sp>
        <p:nvSpPr>
          <p:cNvPr id="17" name="">
            <a:extLst xmlns:a="http://schemas.openxmlformats.org/drawingml/2006/main">
              <a:ext uri="{FF2B5EF4-FFF2-40B4-BE49-F238E27FC236}">
                <a16:creationId xmlns:a16="http://schemas.microsoft.com/office/drawing/2014/main" id="{2ACB4F1B-A76B-42EB-A702-538A3B883FF3}"/>
              </a:ext>
            </a:extLst>
          </p:cNvPr>
          <p:cNvSpPr>
            <a:spLocks xmlns:a="http://schemas.openxmlformats.org/drawingml/2006/main" noGrp="1"/>
          </p:cNvSpPr>
          <p:nvPr/>
        </p:nvSpPr>
        <p:spPr>
          <a:xfrm xmlns:a="http://schemas.openxmlformats.org/drawingml/2006/main">
            <a:off x="6496050" y="48577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7F3D0"/>
                </a:solidFill>
                <a:latin typeface="Arial"/>
                <a:ea typeface="Arial"/>
                <a:cs typeface="Arial"/>
              </a:defRPr>
            </a:defPPr>
            <a:lvl1pPr>
              <a:defRPr sz="1500" b="1">
                <a:solidFill>
                  <a:srgbClr val="A7F3D0"/>
                </a:solidFill>
                <a:latin typeface="Arial"/>
                <a:ea typeface="Arial"/>
                <a:cs typeface="Arial"/>
              </a:defRPr>
            </a:lvl1pPr>
            <a:lvl2pPr>
              <a:defRPr sz="1500" b="1">
                <a:solidFill>
                  <a:srgbClr val="A7F3D0"/>
                </a:solidFill>
                <a:latin typeface="Arial"/>
                <a:ea typeface="Arial"/>
                <a:cs typeface="Arial"/>
              </a:defRPr>
            </a:lvl2pPr>
            <a:lvl3pPr>
              <a:defRPr sz="1500" b="1">
                <a:solidFill>
                  <a:srgbClr val="A7F3D0"/>
                </a:solidFill>
                <a:latin typeface="Arial"/>
                <a:ea typeface="Arial"/>
                <a:cs typeface="Arial"/>
              </a:defRPr>
            </a:lvl3pPr>
            <a:lvl4pPr>
              <a:defRPr sz="1500" b="1">
                <a:solidFill>
                  <a:srgbClr val="A7F3D0"/>
                </a:solidFill>
                <a:latin typeface="Arial"/>
                <a:ea typeface="Arial"/>
                <a:cs typeface="Arial"/>
              </a:defRPr>
            </a:lvl4pPr>
            <a:lvl5pPr>
              <a:defRPr sz="1500" b="1">
                <a:solidFill>
                  <a:srgbClr val="A7F3D0"/>
                </a:solidFill>
                <a:latin typeface="Arial"/>
                <a:ea typeface="Arial"/>
                <a:cs typeface="Arial"/>
              </a:defRPr>
            </a:lvl5pPr>
            <a:lvl6pPr>
              <a:defRPr sz="1500" b="1">
                <a:solidFill>
                  <a:srgbClr val="A7F3D0"/>
                </a:solidFill>
                <a:latin typeface="Arial"/>
                <a:ea typeface="Arial"/>
                <a:cs typeface="Arial"/>
              </a:defRPr>
            </a:lvl6pPr>
            <a:lvl7pPr>
              <a:defRPr sz="1500" b="1">
                <a:solidFill>
                  <a:srgbClr val="A7F3D0"/>
                </a:solidFill>
                <a:latin typeface="Arial"/>
                <a:ea typeface="Arial"/>
                <a:cs typeface="Arial"/>
              </a:defRPr>
            </a:lvl7pPr>
            <a:lvl8pPr>
              <a:defRPr sz="1500" b="1">
                <a:solidFill>
                  <a:srgbClr val="A7F3D0"/>
                </a:solidFill>
                <a:latin typeface="Arial"/>
                <a:ea typeface="Arial"/>
                <a:cs typeface="Arial"/>
              </a:defRPr>
            </a:lvl8pPr>
            <a:lvl9pPr>
              <a:defRPr sz="1500" b="1">
                <a:solidFill>
                  <a:srgbClr val="A7F3D0"/>
                </a:solidFill>
                <a:latin typeface="Arial"/>
                <a:ea typeface="Arial"/>
                <a:cs typeface="Arial"/>
              </a:defRPr>
            </a:lvl9pPr>
          </a:lstStyle>
          <a:p xmlns:a="http://schemas.openxmlformats.org/drawingml/2006/main">
            <a:pPr>
              <a:defRPr sz="1500" b="1">
                <a:solidFill>
                  <a:srgbClr val="A7F3D0"/>
                </a:solidFill>
                <a:latin typeface="Arial"/>
                <a:ea typeface="Arial"/>
                <a:cs typeface="Arial"/>
              </a:defRPr>
            </a:pPr>
            <a:r>
              <a:rPr sz="1500" b="1">
                <a:solidFill>
                  <a:srgbClr val="A7F3D0"/>
                </a:solidFill>
                <a:latin typeface="Arial"/>
                <a:ea typeface="Arial"/>
                <a:cs typeface="Arial"/>
              </a:rPr>
              <a:t>No training run is in the critical path.</a:t>
            </a:r>
          </a:p>
        </p:txBody>
      </p:sp>
      <p:sp>
        <p:nvSpPr>
          <p:cNvPr id="18" name="">
            <a:extLst xmlns:a="http://schemas.openxmlformats.org/drawingml/2006/main">
              <a:ext uri="{FF2B5EF4-FFF2-40B4-BE49-F238E27FC236}">
                <a16:creationId xmlns:a16="http://schemas.microsoft.com/office/drawing/2014/main" id="{97C6EA66-C114-49A1-83DC-DABA6CADA137}"/>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6/7</a:t>
            </a:r>
          </a:p>
        </p:txBody>
      </p:sp>
    </p:spTree>
    <p:extLst>
      <p:ext uri="{BB962C8B-B14F-4D97-AF65-F5344CB8AC3E}">
        <p14:creationId xmlns:p14="http://schemas.microsoft.com/office/powerpoint/2010/main" val="1016687159"/>
      </p:ext>
    </p:extLst>
  </p:cSld>
</p:sld>
</file>

<file path=ppt/slides/slide7.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0" name="close-rule">
            <a:extLst xmlns:a="http://schemas.openxmlformats.org/drawingml/2006/main">
              <a:ext uri="{FF2B5EF4-FFF2-40B4-BE49-F238E27FC236}">
                <a16:creationId xmlns:a16="http://schemas.microsoft.com/office/drawing/2014/main" id="{A4149385-9D65-48A0-972D-095E8C28E4BB}"/>
              </a:ext>
            </a:extLst>
          </p:cNvPr>
          <p:cNvSpPr>
            <a:spLocks xmlns:a="http://schemas.openxmlformats.org/drawingml/2006/main" noGrp="1"/>
          </p:cNvSpPr>
          <p:nvPr/>
        </p:nvSpPr>
        <p:spPr>
          <a:xfrm xmlns:a="http://schemas.openxmlformats.org/drawingml/2006/main">
            <a:off x="609600" y="609600"/>
            <a:ext cx="95250" cy="533400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76A1CA-18AC-4AE4-A545-6C25DFA6AFAE}"/>
              </a:ext>
            </a:extLst>
          </p:cNvPr>
          <p:cNvSpPr>
            <a:spLocks xmlns:a="http://schemas.openxmlformats.org/drawingml/2006/main" noGrp="1"/>
          </p:cNvSpPr>
          <p:nvPr/>
        </p:nvSpPr>
        <p:spPr>
          <a:xfrm xmlns:a="http://schemas.openxmlformats.org/drawingml/2006/main">
            <a:off x="1066800" y="933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THE TAKEAWAY</a:t>
            </a:r>
          </a:p>
        </p:txBody>
      </p:sp>
      <p:sp>
        <p:nvSpPr>
          <p:cNvPr id="3" name="">
            <a:extLst xmlns:a="http://schemas.openxmlformats.org/drawingml/2006/main">
              <a:ext uri="{FF2B5EF4-FFF2-40B4-BE49-F238E27FC236}">
                <a16:creationId xmlns:a16="http://schemas.microsoft.com/office/drawing/2014/main" id="{AAE488B1-85C8-4A7F-83F4-9DF5C2587237}"/>
              </a:ext>
            </a:extLst>
          </p:cNvPr>
          <p:cNvSpPr>
            <a:spLocks xmlns:a="http://schemas.openxmlformats.org/drawingml/2006/main" noGrp="1"/>
          </p:cNvSpPr>
          <p:nvPr/>
        </p:nvSpPr>
        <p:spPr>
          <a:xfrm xmlns:a="http://schemas.openxmlformats.org/drawingml/2006/main">
            <a:off x="1066800" y="146685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7FAFC"/>
                </a:solidFill>
                <a:latin typeface="Arial"/>
                <a:ea typeface="Arial"/>
                <a:cs typeface="Arial"/>
              </a:defRPr>
            </a:defPPr>
            <a:lvl1pPr>
              <a:defRPr sz="3450" b="1">
                <a:solidFill>
                  <a:srgbClr val="F7FAFC"/>
                </a:solidFill>
                <a:latin typeface="Arial"/>
                <a:ea typeface="Arial"/>
                <a:cs typeface="Arial"/>
              </a:defRPr>
            </a:lvl1pPr>
            <a:lvl2pPr>
              <a:defRPr sz="3450" b="1">
                <a:solidFill>
                  <a:srgbClr val="F7FAFC"/>
                </a:solidFill>
                <a:latin typeface="Arial"/>
                <a:ea typeface="Arial"/>
                <a:cs typeface="Arial"/>
              </a:defRPr>
            </a:lvl2pPr>
            <a:lvl3pPr>
              <a:defRPr sz="3450" b="1">
                <a:solidFill>
                  <a:srgbClr val="F7FAFC"/>
                </a:solidFill>
                <a:latin typeface="Arial"/>
                <a:ea typeface="Arial"/>
                <a:cs typeface="Arial"/>
              </a:defRPr>
            </a:lvl3pPr>
            <a:lvl4pPr>
              <a:defRPr sz="3450" b="1">
                <a:solidFill>
                  <a:srgbClr val="F7FAFC"/>
                </a:solidFill>
                <a:latin typeface="Arial"/>
                <a:ea typeface="Arial"/>
                <a:cs typeface="Arial"/>
              </a:defRPr>
            </a:lvl4pPr>
            <a:lvl5pPr>
              <a:defRPr sz="3450" b="1">
                <a:solidFill>
                  <a:srgbClr val="F7FAFC"/>
                </a:solidFill>
                <a:latin typeface="Arial"/>
                <a:ea typeface="Arial"/>
                <a:cs typeface="Arial"/>
              </a:defRPr>
            </a:lvl5pPr>
            <a:lvl6pPr>
              <a:defRPr sz="3450" b="1">
                <a:solidFill>
                  <a:srgbClr val="F7FAFC"/>
                </a:solidFill>
                <a:latin typeface="Arial"/>
                <a:ea typeface="Arial"/>
                <a:cs typeface="Arial"/>
              </a:defRPr>
            </a:lvl6pPr>
            <a:lvl7pPr>
              <a:defRPr sz="3450" b="1">
                <a:solidFill>
                  <a:srgbClr val="F7FAFC"/>
                </a:solidFill>
                <a:latin typeface="Arial"/>
                <a:ea typeface="Arial"/>
                <a:cs typeface="Arial"/>
              </a:defRPr>
            </a:lvl7pPr>
            <a:lvl8pPr>
              <a:defRPr sz="3450" b="1">
                <a:solidFill>
                  <a:srgbClr val="F7FAFC"/>
                </a:solidFill>
                <a:latin typeface="Arial"/>
                <a:ea typeface="Arial"/>
                <a:cs typeface="Arial"/>
              </a:defRPr>
            </a:lvl8pPr>
            <a:lvl9pPr>
              <a:defRPr sz="3450" b="1">
                <a:solidFill>
                  <a:srgbClr val="F7FAFC"/>
                </a:solidFill>
                <a:latin typeface="Arial"/>
                <a:ea typeface="Arial"/>
                <a:cs typeface="Arial"/>
              </a:defRPr>
            </a:lvl9pPr>
          </a:lstStyle>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 voice agent becomes</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useful when it can act</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and show its work.</a:t>
            </a:r>
          </a:p>
        </p:txBody>
      </p:sp>
      <p:sp>
        <p:nvSpPr>
          <p:cNvPr id="4" name="">
            <a:extLst xmlns:a="http://schemas.openxmlformats.org/drawingml/2006/main">
              <a:ext uri="{FF2B5EF4-FFF2-40B4-BE49-F238E27FC236}">
                <a16:creationId xmlns:a16="http://schemas.microsoft.com/office/drawing/2014/main" id="{A2F65234-1E33-4031-BF4D-E4517B5129E2}"/>
              </a:ext>
            </a:extLst>
          </p:cNvPr>
          <p:cNvSpPr>
            <a:spLocks xmlns:a="http://schemas.openxmlformats.org/drawingml/2006/main" noGrp="1"/>
          </p:cNvSpPr>
          <p:nvPr/>
        </p:nvSpPr>
        <p:spPr>
          <a:xfrm xmlns:a="http://schemas.openxmlformats.org/drawingml/2006/main">
            <a:off x="1104900" y="3409950"/>
            <a:ext cx="666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A8B8CA"/>
                </a:solidFill>
                <a:latin typeface="Arial"/>
                <a:ea typeface="Arial"/>
                <a:cs typeface="Arial"/>
              </a:defRPr>
            </a:defPPr>
            <a:lvl1pPr>
              <a:defRPr sz="1650">
                <a:solidFill>
                  <a:srgbClr val="A8B8CA"/>
                </a:solidFill>
                <a:latin typeface="Arial"/>
                <a:ea typeface="Arial"/>
                <a:cs typeface="Arial"/>
              </a:defRPr>
            </a:lvl1pPr>
            <a:lvl2pPr>
              <a:defRPr sz="1650">
                <a:solidFill>
                  <a:srgbClr val="A8B8CA"/>
                </a:solidFill>
                <a:latin typeface="Arial"/>
                <a:ea typeface="Arial"/>
                <a:cs typeface="Arial"/>
              </a:defRPr>
            </a:lvl2pPr>
            <a:lvl3pPr>
              <a:defRPr sz="1650">
                <a:solidFill>
                  <a:srgbClr val="A8B8CA"/>
                </a:solidFill>
                <a:latin typeface="Arial"/>
                <a:ea typeface="Arial"/>
                <a:cs typeface="Arial"/>
              </a:defRPr>
            </a:lvl3pPr>
            <a:lvl4pPr>
              <a:defRPr sz="1650">
                <a:solidFill>
                  <a:srgbClr val="A8B8CA"/>
                </a:solidFill>
                <a:latin typeface="Arial"/>
                <a:ea typeface="Arial"/>
                <a:cs typeface="Arial"/>
              </a:defRPr>
            </a:lvl4pPr>
            <a:lvl5pPr>
              <a:defRPr sz="1650">
                <a:solidFill>
                  <a:srgbClr val="A8B8CA"/>
                </a:solidFill>
                <a:latin typeface="Arial"/>
                <a:ea typeface="Arial"/>
                <a:cs typeface="Arial"/>
              </a:defRPr>
            </a:lvl5pPr>
            <a:lvl6pPr>
              <a:defRPr sz="1650">
                <a:solidFill>
                  <a:srgbClr val="A8B8CA"/>
                </a:solidFill>
                <a:latin typeface="Arial"/>
                <a:ea typeface="Arial"/>
                <a:cs typeface="Arial"/>
              </a:defRPr>
            </a:lvl6pPr>
            <a:lvl7pPr>
              <a:defRPr sz="1650">
                <a:solidFill>
                  <a:srgbClr val="A8B8CA"/>
                </a:solidFill>
                <a:latin typeface="Arial"/>
                <a:ea typeface="Arial"/>
                <a:cs typeface="Arial"/>
              </a:defRPr>
            </a:lvl7pPr>
            <a:lvl8pPr>
              <a:defRPr sz="1650">
                <a:solidFill>
                  <a:srgbClr val="A8B8CA"/>
                </a:solidFill>
                <a:latin typeface="Arial"/>
                <a:ea typeface="Arial"/>
                <a:cs typeface="Arial"/>
              </a:defRPr>
            </a:lvl8pPr>
            <a:lvl9pPr>
              <a:defRPr sz="1650">
                <a:solidFill>
                  <a:srgbClr val="A8B8CA"/>
                </a:solidFill>
                <a:latin typeface="Arial"/>
                <a:ea typeface="Arial"/>
                <a:cs typeface="Arial"/>
              </a:defRPr>
            </a:lvl9pPr>
          </a:lstStyle>
          <a:p xmlns:a="http://schemas.openxmlformats.org/drawingml/2006/main">
            <a:pPr>
              <a:defRPr sz="1650">
                <a:solidFill>
                  <a:srgbClr val="A8B8CA"/>
                </a:solidFill>
                <a:latin typeface="Arial"/>
                <a:ea typeface="Arial"/>
                <a:cs typeface="Arial"/>
              </a:defRPr>
            </a:pPr>
            <a:r>
              <a:rPr sz="1650">
                <a:solidFill>
                  <a:srgbClr val="A8B8CA"/>
                </a:solidFill>
                <a:latin typeface="Arial"/>
                <a:ea typeface="Arial"/>
                <a:cs typeface="Arial"/>
              </a:rPr>
              <a:t>ME3 combines full-duplex audio, Qwen inference, typed tools, and verification into a deployable Raspberry Pi workflow.</a:t>
            </a:r>
          </a:p>
        </p:txBody>
      </p:sp>
      <p:sp>
        <p:nvSpPr>
          <p:cNvPr id="5" name="close-card">
            <a:extLst xmlns:a="http://schemas.openxmlformats.org/drawingml/2006/main">
              <a:ext uri="{FF2B5EF4-FFF2-40B4-BE49-F238E27FC236}">
                <a16:creationId xmlns:a16="http://schemas.microsoft.com/office/drawing/2014/main" id="{5FF0AEB9-0080-4B75-896A-31EA5F83DD22}"/>
              </a:ext>
            </a:extLst>
          </p:cNvPr>
          <p:cNvSpPr>
            <a:spLocks xmlns:a="http://schemas.openxmlformats.org/drawingml/2006/main" noGrp="1"/>
          </p:cNvSpPr>
          <p:nvPr/>
        </p:nvSpPr>
        <p:spPr>
          <a:xfrm xmlns:a="http://schemas.openxmlformats.org/drawingml/2006/main">
            <a:off x="8572500" y="1524000"/>
            <a:ext cx="2381250" cy="2381250"/>
          </a:xfrm>
          <a:prstGeom xmlns:a="http://schemas.openxmlformats.org/drawingml/2006/main" prst="roundRect">
            <a:avLst>
              <a:gd name="adj" fmla="val 4800"/>
            </a:avLst>
          </a:prstGeom>
          <a:solidFill xmlns:a="http://schemas.openxmlformats.org/drawingml/2006/main">
            <a:srgbClr val="14324A"/>
          </a:solidFill>
          <a:ln xmlns:a="http://schemas.openxmlformats.org/drawingml/2006/main" w="9525">
            <a:solidFill>
              <a:srgbClr val="60A5FA"/>
            </a:solidFill>
            <a:prstDash val="solid"/>
          </a:ln>
        </p:spPr>
      </p:sp>
      <p:sp>
        <p:nvSpPr>
          <p:cNvPr id="6" name="">
            <a:extLst xmlns:a="http://schemas.openxmlformats.org/drawingml/2006/main">
              <a:ext uri="{FF2B5EF4-FFF2-40B4-BE49-F238E27FC236}">
                <a16:creationId xmlns:a16="http://schemas.microsoft.com/office/drawing/2014/main" id="{07FE9A00-6FE9-4824-AF62-F090378DD9E6}"/>
              </a:ext>
            </a:extLst>
          </p:cNvPr>
          <p:cNvSpPr>
            <a:spLocks xmlns:a="http://schemas.openxmlformats.org/drawingml/2006/main" noGrp="1"/>
          </p:cNvSpPr>
          <p:nvPr/>
        </p:nvSpPr>
        <p:spPr>
          <a:xfrm xmlns:a="http://schemas.openxmlformats.org/drawingml/2006/main">
            <a:off x="8991600" y="1857375"/>
            <a:ext cx="1524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60A5FA"/>
                </a:solidFill>
                <a:latin typeface="Arial"/>
                <a:ea typeface="Arial"/>
                <a:cs typeface="Arial"/>
              </a:defRPr>
            </a:defPPr>
            <a:lvl1pPr>
              <a:defRPr sz="2100" b="1">
                <a:solidFill>
                  <a:srgbClr val="60A5FA"/>
                </a:solidFill>
                <a:latin typeface="Arial"/>
                <a:ea typeface="Arial"/>
                <a:cs typeface="Arial"/>
              </a:defRPr>
            </a:lvl1pPr>
            <a:lvl2pPr>
              <a:defRPr sz="2100" b="1">
                <a:solidFill>
                  <a:srgbClr val="60A5FA"/>
                </a:solidFill>
                <a:latin typeface="Arial"/>
                <a:ea typeface="Arial"/>
                <a:cs typeface="Arial"/>
              </a:defRPr>
            </a:lvl2pPr>
            <a:lvl3pPr>
              <a:defRPr sz="2100" b="1">
                <a:solidFill>
                  <a:srgbClr val="60A5FA"/>
                </a:solidFill>
                <a:latin typeface="Arial"/>
                <a:ea typeface="Arial"/>
                <a:cs typeface="Arial"/>
              </a:defRPr>
            </a:lvl3pPr>
            <a:lvl4pPr>
              <a:defRPr sz="2100" b="1">
                <a:solidFill>
                  <a:srgbClr val="60A5FA"/>
                </a:solidFill>
                <a:latin typeface="Arial"/>
                <a:ea typeface="Arial"/>
                <a:cs typeface="Arial"/>
              </a:defRPr>
            </a:lvl4pPr>
            <a:lvl5pPr>
              <a:defRPr sz="2100" b="1">
                <a:solidFill>
                  <a:srgbClr val="60A5FA"/>
                </a:solidFill>
                <a:latin typeface="Arial"/>
                <a:ea typeface="Arial"/>
                <a:cs typeface="Arial"/>
              </a:defRPr>
            </a:lvl5pPr>
            <a:lvl6pPr>
              <a:defRPr sz="2100" b="1">
                <a:solidFill>
                  <a:srgbClr val="60A5FA"/>
                </a:solidFill>
                <a:latin typeface="Arial"/>
                <a:ea typeface="Arial"/>
                <a:cs typeface="Arial"/>
              </a:defRPr>
            </a:lvl6pPr>
            <a:lvl7pPr>
              <a:defRPr sz="2100" b="1">
                <a:solidFill>
                  <a:srgbClr val="60A5FA"/>
                </a:solidFill>
                <a:latin typeface="Arial"/>
                <a:ea typeface="Arial"/>
                <a:cs typeface="Arial"/>
              </a:defRPr>
            </a:lvl7pPr>
            <a:lvl8pPr>
              <a:defRPr sz="2100" b="1">
                <a:solidFill>
                  <a:srgbClr val="60A5FA"/>
                </a:solidFill>
                <a:latin typeface="Arial"/>
                <a:ea typeface="Arial"/>
                <a:cs typeface="Arial"/>
              </a:defRPr>
            </a:lvl8pPr>
            <a:lvl9pPr>
              <a:defRPr sz="2100" b="1">
                <a:solidFill>
                  <a:srgbClr val="60A5FA"/>
                </a:solidFill>
                <a:latin typeface="Arial"/>
                <a:ea typeface="Arial"/>
                <a:cs typeface="Arial"/>
              </a:defRPr>
            </a:lvl9pPr>
          </a:lstStyle>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VOICE</a:t>
            </a:r>
          </a:p>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a:t>
            </a:r>
          </a:p>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TOOLS</a:t>
            </a:r>
          </a:p>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a:t>
            </a:r>
          </a:p>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EVIDENCE</a:t>
            </a:r>
          </a:p>
        </p:txBody>
      </p:sp>
      <p:sp>
        <p:nvSpPr>
          <p:cNvPr id="7" name="">
            <a:extLst xmlns:a="http://schemas.openxmlformats.org/drawingml/2006/main">
              <a:ext uri="{FF2B5EF4-FFF2-40B4-BE49-F238E27FC236}">
                <a16:creationId xmlns:a16="http://schemas.microsoft.com/office/drawing/2014/main" id="{61897D86-5FB7-4EA9-9C84-C685F7180D33}"/>
              </a:ext>
            </a:extLst>
          </p:cNvPr>
          <p:cNvSpPr>
            <a:spLocks xmlns:a="http://schemas.openxmlformats.org/drawingml/2006/main" noGrp="1"/>
          </p:cNvSpPr>
          <p:nvPr/>
        </p:nvSpPr>
        <p:spPr>
          <a:xfrm xmlns:a="http://schemas.openxmlformats.org/drawingml/2006/main">
            <a:off x="1104900" y="514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A7F3D0"/>
                </a:solidFill>
                <a:latin typeface="Arial"/>
                <a:ea typeface="Arial"/>
                <a:cs typeface="Arial"/>
              </a:defRPr>
            </a:defPPr>
            <a:lvl1pPr>
              <a:defRPr sz="1425" b="1">
                <a:solidFill>
                  <a:srgbClr val="A7F3D0"/>
                </a:solidFill>
                <a:latin typeface="Arial"/>
                <a:ea typeface="Arial"/>
                <a:cs typeface="Arial"/>
              </a:defRPr>
            </a:lvl1pPr>
            <a:lvl2pPr>
              <a:defRPr sz="1425" b="1">
                <a:solidFill>
                  <a:srgbClr val="A7F3D0"/>
                </a:solidFill>
                <a:latin typeface="Arial"/>
                <a:ea typeface="Arial"/>
                <a:cs typeface="Arial"/>
              </a:defRPr>
            </a:lvl2pPr>
            <a:lvl3pPr>
              <a:defRPr sz="1425" b="1">
                <a:solidFill>
                  <a:srgbClr val="A7F3D0"/>
                </a:solidFill>
                <a:latin typeface="Arial"/>
                <a:ea typeface="Arial"/>
                <a:cs typeface="Arial"/>
              </a:defRPr>
            </a:lvl3pPr>
            <a:lvl4pPr>
              <a:defRPr sz="1425" b="1">
                <a:solidFill>
                  <a:srgbClr val="A7F3D0"/>
                </a:solidFill>
                <a:latin typeface="Arial"/>
                <a:ea typeface="Arial"/>
                <a:cs typeface="Arial"/>
              </a:defRPr>
            </a:lvl4pPr>
            <a:lvl5pPr>
              <a:defRPr sz="1425" b="1">
                <a:solidFill>
                  <a:srgbClr val="A7F3D0"/>
                </a:solidFill>
                <a:latin typeface="Arial"/>
                <a:ea typeface="Arial"/>
                <a:cs typeface="Arial"/>
              </a:defRPr>
            </a:lvl5pPr>
            <a:lvl6pPr>
              <a:defRPr sz="1425" b="1">
                <a:solidFill>
                  <a:srgbClr val="A7F3D0"/>
                </a:solidFill>
                <a:latin typeface="Arial"/>
                <a:ea typeface="Arial"/>
                <a:cs typeface="Arial"/>
              </a:defRPr>
            </a:lvl6pPr>
            <a:lvl7pPr>
              <a:defRPr sz="1425" b="1">
                <a:solidFill>
                  <a:srgbClr val="A7F3D0"/>
                </a:solidFill>
                <a:latin typeface="Arial"/>
                <a:ea typeface="Arial"/>
                <a:cs typeface="Arial"/>
              </a:defRPr>
            </a:lvl7pPr>
            <a:lvl8pPr>
              <a:defRPr sz="1425" b="1">
                <a:solidFill>
                  <a:srgbClr val="A7F3D0"/>
                </a:solidFill>
                <a:latin typeface="Arial"/>
                <a:ea typeface="Arial"/>
                <a:cs typeface="Arial"/>
              </a:defRPr>
            </a:lvl8pPr>
            <a:lvl9pPr>
              <a:defRPr sz="1425" b="1">
                <a:solidFill>
                  <a:srgbClr val="A7F3D0"/>
                </a:solidFill>
                <a:latin typeface="Arial"/>
                <a:ea typeface="Arial"/>
                <a:cs typeface="Arial"/>
              </a:defRPr>
            </a:lvl9pPr>
          </a:lstStyle>
          <a:p xmlns:a="http://schemas.openxmlformats.org/drawingml/2006/main">
            <a:pPr>
              <a:defRPr sz="1425" b="1">
                <a:solidFill>
                  <a:srgbClr val="A7F3D0"/>
                </a:solidFill>
                <a:latin typeface="Arial"/>
                <a:ea typeface="Arial"/>
                <a:cs typeface="Arial"/>
              </a:defRPr>
            </a:pPr>
            <a:r>
              <a:rPr sz="1425" b="1">
                <a:solidFill>
                  <a:srgbClr val="A7F3D0"/>
                </a:solidFill>
                <a:latin typeface="Arial"/>
                <a:ea typeface="Arial"/>
                <a:cs typeface="Arial"/>
              </a:rPr>
              <a:t>Next: Pi audio + clean benchmark</a:t>
            </a:r>
          </a:p>
        </p:txBody>
      </p:sp>
      <p:sp>
        <p:nvSpPr>
          <p:cNvPr id="8" name="">
            <a:extLst xmlns:a="http://schemas.openxmlformats.org/drawingml/2006/main">
              <a:ext uri="{FF2B5EF4-FFF2-40B4-BE49-F238E27FC236}">
                <a16:creationId xmlns:a16="http://schemas.microsoft.com/office/drawing/2014/main" id="{EAA71D84-E844-41EE-914E-0CAA85B8BFD8}"/>
              </a:ext>
            </a:extLst>
          </p:cNvPr>
          <p:cNvSpPr>
            <a:spLocks xmlns:a="http://schemas.openxmlformats.org/drawingml/2006/main" noGrp="1"/>
          </p:cNvSpPr>
          <p:nvPr/>
        </p:nvSpPr>
        <p:spPr>
          <a:xfrm xmlns:a="http://schemas.openxmlformats.org/drawingml/2006/main">
            <a:off x="1104900" y="5619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Documentation: ELI5/deep manual • ACM two-column paper • source + receipts</a:t>
            </a:r>
          </a:p>
        </p:txBody>
      </p:sp>
      <p:sp>
        <p:nvSpPr>
          <p:cNvPr id="9" name="">
            <a:extLst xmlns:a="http://schemas.openxmlformats.org/drawingml/2006/main">
              <a:ext uri="{FF2B5EF4-FFF2-40B4-BE49-F238E27FC236}">
                <a16:creationId xmlns:a16="http://schemas.microsoft.com/office/drawing/2014/main" id="{7B0EC310-0FE9-4AF7-B924-F176906047FD}"/>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7/7</a:t>
            </a:r>
          </a:p>
        </p:txBody>
      </p:sp>
    </p:spTree>
    <p:extLst>
      <p:ext uri="{BB962C8B-B14F-4D97-AF65-F5344CB8AC3E}">
        <p14:creationId xmlns:p14="http://schemas.microsoft.com/office/powerpoint/2010/main" val="6404423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2026-10-24T16:17:04.9780000Z</dcterms:created>
  <dcterms:modified xsi:type="dcterms:W3CDTF">2026-10-24T16:17:04.9780000Z</dcterms:modified>
</coreProperties>
</file>