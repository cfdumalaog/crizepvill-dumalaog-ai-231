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abf62199244303" /><Relationship Type="http://schemas.openxmlformats.org/officeDocument/2006/relationships/extended-properties" Target="/docProps/app.xml" Id="Rc243dfc730f44aa1" /><Relationship Type="http://schemas.openxmlformats.org/officeDocument/2006/relationships/officeDocument" Target="/ppt/presentation.xml" Id="Rd8f1f26a68a54b85" /></Relationships>
</file>

<file path=ppt/presentation.xml><?xml version="1.0" encoding="utf-8"?>
<p:presentation xmlns:p="http://schemas.openxmlformats.org/presentationml/2006/main">
  <p:sldMasterIdLst>
    <p:sldMasterId xmlns:r="http://schemas.openxmlformats.org/officeDocument/2006/relationships" id="2147483648" r:id="R29a173b9754d4fd9"/>
  </p:sldMasterIdLst>
  <p:notesMasterIdLst>
    <p:notesMasterId xmlns:r="http://schemas.openxmlformats.org/officeDocument/2006/relationships" r:id="Rc9d85affa60b4e78"/>
  </p:notesMasterIdLst>
  <p:sldIdLst>
    <p:sldId xmlns:r="http://schemas.openxmlformats.org/officeDocument/2006/relationships" id="256" r:id="R2c6ea782deec4c66"/>
    <p:sldId xmlns:r="http://schemas.openxmlformats.org/officeDocument/2006/relationships" id="257" r:id="R0fd705573fda44f4"/>
    <p:sldId xmlns:r="http://schemas.openxmlformats.org/officeDocument/2006/relationships" id="258" r:id="Ra913e38f8f6e4de0"/>
    <p:sldId xmlns:r="http://schemas.openxmlformats.org/officeDocument/2006/relationships" id="259" r:id="R2e8e401d585b4505"/>
    <p:sldId xmlns:r="http://schemas.openxmlformats.org/officeDocument/2006/relationships" id="260" r:id="Rcb14ec1aefd344ed"/>
    <p:sldId xmlns:r="http://schemas.openxmlformats.org/officeDocument/2006/relationships" id="261" r:id="R35c3a0820539461b"/>
    <p:sldId xmlns:r="http://schemas.openxmlformats.org/officeDocument/2006/relationships" id="262" r:id="R94cf2b30fdea4e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f8eae87a0349b5" /><Relationship Type="http://schemas.openxmlformats.org/officeDocument/2006/relationships/slideMaster" Target="/ppt/slideMasters/slideMaster1.xml" Id="R29a173b9754d4fd9" /><Relationship Type="http://schemas.openxmlformats.org/officeDocument/2006/relationships/notesMaster" Target="/ppt/notesMasters/notesMaster1.xml" Id="Rc9d85affa60b4e78" /><Relationship Type="http://schemas.openxmlformats.org/officeDocument/2006/relationships/presProps" Target="/ppt/presProps.xml" Id="R11818d4b356c4e24" /><Relationship Type="http://schemas.openxmlformats.org/officeDocument/2006/relationships/tableStyles" Target="/ppt/tableStyles.xml" Id="R3ca278e8625a45e9" /><Relationship Type="http://schemas.openxmlformats.org/officeDocument/2006/relationships/slide" Target="/ppt/slides/slide1.xml" Id="R2c6ea782deec4c66" /><Relationship Type="http://schemas.openxmlformats.org/officeDocument/2006/relationships/slide" Target="/ppt/slides/slide2.xml" Id="R0fd705573fda44f4" /><Relationship Type="http://schemas.openxmlformats.org/officeDocument/2006/relationships/slide" Target="/ppt/slides/slide3.xml" Id="Ra913e38f8f6e4de0" /><Relationship Type="http://schemas.openxmlformats.org/officeDocument/2006/relationships/slide" Target="/ppt/slides/slide4.xml" Id="R2e8e401d585b4505" /><Relationship Type="http://schemas.openxmlformats.org/officeDocument/2006/relationships/slide" Target="/ppt/slides/slide5.xml" Id="Rcb14ec1aefd344ed" /><Relationship Type="http://schemas.openxmlformats.org/officeDocument/2006/relationships/slide" Target="/ppt/slides/slide6.xml" Id="R35c3a0820539461b" /><Relationship Type="http://schemas.openxmlformats.org/officeDocument/2006/relationships/slide" Target="/ppt/slides/slide7.xml" Id="R94cf2b30fdea4e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e1704929aa46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d45833181847f7" /><Relationship Type="http://schemas.openxmlformats.org/officeDocument/2006/relationships/notesMaster" Target="/ppt/notesMasters/notesMaster1.xml" Id="R59ee33e4b4b543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39f2368a7244a8" /><Relationship Type="http://schemas.openxmlformats.org/officeDocument/2006/relationships/notesMaster" Target="/ppt/notesMasters/notesMaster1.xml" Id="R3a378dccafa647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1f573597594a75" /><Relationship Type="http://schemas.openxmlformats.org/officeDocument/2006/relationships/notesMaster" Target="/ppt/notesMasters/notesMaster1.xml" Id="Rdbe0e7e1ad544c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3a2984cfe64063" /><Relationship Type="http://schemas.openxmlformats.org/officeDocument/2006/relationships/notesMaster" Target="/ppt/notesMasters/notesMaster1.xml" Id="R8cdd6171068c42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707786c22f4821" /><Relationship Type="http://schemas.openxmlformats.org/officeDocument/2006/relationships/notesMaster" Target="/ppt/notesMasters/notesMaster1.xml" Id="Recf9608125dc4e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eee2a705334740" /><Relationship Type="http://schemas.openxmlformats.org/officeDocument/2006/relationships/notesMaster" Target="/ppt/notesMasters/notesMaster1.xml" Id="R24fff1778a564d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c71faece7a4bd2" /><Relationship Type="http://schemas.openxmlformats.org/officeDocument/2006/relationships/notesMaster" Target="/ppt/notesMasters/notesMaster1.xml" Id="R8b92ce52718d44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idea: ME3 is an action-capable voice interface. The model does not need to be trained for each task; it needs a disciplined tool surface and evidence that the requested work happened.</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important change from a voice chatbot is the middle: Qwen is not only writing an answer; it is choosing typed operations, receiving their results, and continuing until the task is complete or needs clarification.</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separate responsibilities. VAD, ASR, and TTS are local. Qwen is remote and performs inference. The registry owns what may happen. The final answer is grounded in structured tool results, not just model confidence.</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concrete capability the project needed. A spoken request can create real project files. The model then reads them back and reports what exists. The current demonstration is a local, dependency-free static web app; it does not silently publish to the internet.</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interpretation of parity. The objective is that useful tasks Onit can perform are represented by explicit tools: files, web, commands, jobs, system information, and the existing MCP services. That does not mean granting an always-listening Pi arbitrary shell access or hidden credentials.</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protects the evidence boundary. We have real local evidence for the Qwen tool loop and the four MCP services. A Pi installation and an overlap benchmark are separate claims. The next gate is a live hardware run with a securely configured runtime key.</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user-visible promise: speak a request, let the model call bounded tools, and receive an answer backed by what the tools actually returned. The remaining work is hardware audio and benchmark evidence, not model training.</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188bd77bed46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f9cd090455416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cbdf98e29549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2ec53ae1aa43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d53f73c053a4d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f251b7d98c4c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A59B60-AFB6-4A53-A510-6AB90ADE48B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917B2A7-44DF-4E8B-BB65-92B291E1BC5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13A392-14CE-44B9-9585-3F39B11C53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609EB7-F1C7-4EAC-94C5-33F4D746A9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2EA810-114E-4032-9F67-6F836E12F6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EDEEEBB-4F2D-4F31-B31E-FB027BF218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D97A01-D38D-415C-9AC4-3CA3C33115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FF4100C-46E6-4353-89E6-3E0ED219F1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1BE5B1-FF98-4FF6-9FBD-FBA2B2E28C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B468F0-1A6C-49FC-B172-4926706AA4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2b3b89f60649fe" /><Relationship Type="http://schemas.openxmlformats.org/officeDocument/2006/relationships/slideLayout" Target="/ppt/slideLayouts/slideLayout1.xml" Id="R1e0f3133134f424c" /><Relationship Type="http://schemas.openxmlformats.org/officeDocument/2006/relationships/slideLayout" Target="/ppt/slideLayouts/slideLayout2.xml" Id="Reca7388fa9304af4" /><Relationship Type="http://schemas.openxmlformats.org/officeDocument/2006/relationships/slideLayout" Target="/ppt/slideLayouts/slideLayout3.xml" Id="R5eff04ad5f084406" /><Relationship Type="http://schemas.openxmlformats.org/officeDocument/2006/relationships/slideLayout" Target="/ppt/slideLayouts/slideLayout4.xml" Id="R1e15a0731215404d" /><Relationship Type="http://schemas.openxmlformats.org/officeDocument/2006/relationships/slideLayout" Target="/ppt/slideLayouts/slideLayout5.xml" Id="R0959651464144cbe" /><Relationship Type="http://schemas.openxmlformats.org/officeDocument/2006/relationships/slideLayout" Target="/ppt/slideLayouts/slideLayout6.xml" Id="R7be722a0c17946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0f3133134f424c"/>
    <p:sldLayoutId xmlns:r="http://schemas.openxmlformats.org/officeDocument/2006/relationships" id="2147483650" r:id="Reca7388fa9304af4"/>
    <p:sldLayoutId xmlns:r="http://schemas.openxmlformats.org/officeDocument/2006/relationships" id="2147483651" r:id="R5eff04ad5f084406"/>
    <p:sldLayoutId xmlns:r="http://schemas.openxmlformats.org/officeDocument/2006/relationships" id="2147483652" r:id="R1e15a0731215404d"/>
    <p:sldLayoutId xmlns:r="http://schemas.openxmlformats.org/officeDocument/2006/relationships" id="2147483653" r:id="R0959651464144cbe"/>
    <p:sldLayoutId xmlns:r="http://schemas.openxmlformats.org/officeDocument/2006/relationships" id="2147483654" r:id="R7be722a0c17946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c721551e6c4a01" /><Relationship Type="http://schemas.openxmlformats.org/officeDocument/2006/relationships/notesSlide" Target="/ppt/notesSlides/notesSlide1.xml" Id="R94bc139010de4e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4bdf15f22c434c" /><Relationship Type="http://schemas.openxmlformats.org/officeDocument/2006/relationships/notesSlide" Target="/ppt/notesSlides/notesSlide2.xml" Id="Re8a4ace10f5c48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8485592201f4750" /><Relationship Type="http://schemas.openxmlformats.org/officeDocument/2006/relationships/notesSlide" Target="/ppt/notesSlides/notesSlide3.xml" Id="Ref5040e0dee64a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ce1def94aca4551" /><Relationship Type="http://schemas.openxmlformats.org/officeDocument/2006/relationships/notesSlide" Target="/ppt/notesSlides/notesSlide4.xml" Id="R629ab7e47b6143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d5618657ea74739" /><Relationship Type="http://schemas.openxmlformats.org/officeDocument/2006/relationships/notesSlide" Target="/ppt/notesSlides/notesSlide5.xml" Id="R922693d498f04d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baa78bc35b4051" /><Relationship Type="http://schemas.openxmlformats.org/officeDocument/2006/relationships/notesSlide" Target="/ppt/notesSlides/notesSlide6.xml" Id="R8ff714fa201147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55aeb0df254709" /><Relationship Type="http://schemas.openxmlformats.org/officeDocument/2006/relationships/notesSlide" Target="/ppt/notesSlides/notesSlide7.xml" Id="Re7e3c539f26e42f5" /></Relationships>
</file>

<file path=ppt/slides/slide1.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1" name="cover-orbit">
            <a:extLst xmlns:a="http://schemas.openxmlformats.org/drawingml/2006/main">
              <a:ext uri="{FF2B5EF4-FFF2-40B4-BE49-F238E27FC236}">
                <a16:creationId xmlns:a16="http://schemas.microsoft.com/office/drawing/2014/main" id="{9B12B19C-884B-4DBF-A652-3A2031351AA1}"/>
              </a:ext>
            </a:extLst>
          </p:cNvPr>
          <p:cNvSpPr>
            <a:spLocks xmlns:a="http://schemas.openxmlformats.org/drawingml/2006/main" noGrp="1"/>
          </p:cNvSpPr>
          <p:nvPr/>
        </p:nvSpPr>
        <p:spPr>
          <a:xfrm xmlns:a="http://schemas.openxmlformats.org/drawingml/2006/main">
            <a:off x="7810500" y="190500"/>
            <a:ext cx="4000500" cy="400050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2" name="cover-ring">
            <a:extLst xmlns:a="http://schemas.openxmlformats.org/drawingml/2006/main">
              <a:ext uri="{FF2B5EF4-FFF2-40B4-BE49-F238E27FC236}">
                <a16:creationId xmlns:a16="http://schemas.microsoft.com/office/drawing/2014/main" id="{B8B8E57A-8A64-4587-9EDC-2880C3238236}"/>
              </a:ext>
            </a:extLst>
          </p:cNvPr>
          <p:cNvSpPr>
            <a:spLocks xmlns:a="http://schemas.openxmlformats.org/drawingml/2006/main" noGrp="1"/>
          </p:cNvSpPr>
          <p:nvPr/>
        </p:nvSpPr>
        <p:spPr>
          <a:xfrm xmlns:a="http://schemas.openxmlformats.org/drawingml/2006/main">
            <a:off x="8477250" y="590550"/>
            <a:ext cx="2857500" cy="2857500"/>
          </a:xfrm>
          <a:prstGeom xmlns:a="http://schemas.openxmlformats.org/drawingml/2006/main" prst="ellipse">
            <a:avLst/>
          </a:prstGeom>
          <a:noFill xmlns:a="http://schemas.openxmlformats.org/drawingml/2006/main"/>
          <a:ln xmlns:a="http://schemas.openxmlformats.org/drawingml/2006/main" w="9525">
            <a:solidFill>
              <a:srgbClr val="5EEAD4"/>
            </a:solidFill>
            <a:prstDash val="solid"/>
          </a:ln>
        </p:spPr>
      </p:sp>
      <p:sp>
        <p:nvSpPr>
          <p:cNvPr id="3" name="cover-core">
            <a:extLst xmlns:a="http://schemas.openxmlformats.org/drawingml/2006/main">
              <a:ext uri="{FF2B5EF4-FFF2-40B4-BE49-F238E27FC236}">
                <a16:creationId xmlns:a16="http://schemas.microsoft.com/office/drawing/2014/main" id="{FC23E9E6-AAC6-4B21-84A2-03B8327B2E92}"/>
              </a:ext>
            </a:extLst>
          </p:cNvPr>
          <p:cNvSpPr>
            <a:spLocks xmlns:a="http://schemas.openxmlformats.org/drawingml/2006/main" noGrp="1"/>
          </p:cNvSpPr>
          <p:nvPr/>
        </p:nvSpPr>
        <p:spPr>
          <a:xfrm xmlns:a="http://schemas.openxmlformats.org/drawingml/2006/main">
            <a:off x="9258300" y="1371600"/>
            <a:ext cx="1295400" cy="1295400"/>
          </a:xfrm>
          <a:prstGeom xmlns:a="http://schemas.openxmlformats.org/drawingml/2006/main" prst="ellipse">
            <a:avLst/>
          </a:prstGeom>
          <a:solidFill xmlns:a="http://schemas.openxmlformats.org/drawingml/2006/main">
            <a:srgbClr val="5EEAD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4283E4E-FDD2-4858-ACCE-639C25365311}"/>
              </a:ext>
            </a:extLst>
          </p:cNvPr>
          <p:cNvSpPr>
            <a:spLocks xmlns:a="http://schemas.openxmlformats.org/drawingml/2006/main" noGrp="1"/>
          </p:cNvSpPr>
          <p:nvPr/>
        </p:nvSpPr>
        <p:spPr>
          <a:xfrm xmlns:a="http://schemas.openxmlformats.org/drawingml/2006/main">
            <a:off x="685800" y="7048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5EEAD4"/>
                </a:solidFill>
                <a:latin typeface="Arial"/>
                <a:ea typeface="Arial"/>
                <a:cs typeface="Arial"/>
              </a:defRPr>
            </a:defPPr>
            <a:lvl1pPr>
              <a:defRPr sz="1200" b="1">
                <a:solidFill>
                  <a:srgbClr val="5EEAD4"/>
                </a:solidFill>
                <a:latin typeface="Arial"/>
                <a:ea typeface="Arial"/>
                <a:cs typeface="Arial"/>
              </a:defRPr>
            </a:lvl1pPr>
            <a:lvl2pPr>
              <a:defRPr sz="1200" b="1">
                <a:solidFill>
                  <a:srgbClr val="5EEAD4"/>
                </a:solidFill>
                <a:latin typeface="Arial"/>
                <a:ea typeface="Arial"/>
                <a:cs typeface="Arial"/>
              </a:defRPr>
            </a:lvl2pPr>
            <a:lvl3pPr>
              <a:defRPr sz="1200" b="1">
                <a:solidFill>
                  <a:srgbClr val="5EEAD4"/>
                </a:solidFill>
                <a:latin typeface="Arial"/>
                <a:ea typeface="Arial"/>
                <a:cs typeface="Arial"/>
              </a:defRPr>
            </a:lvl3pPr>
            <a:lvl4pPr>
              <a:defRPr sz="1200" b="1">
                <a:solidFill>
                  <a:srgbClr val="5EEAD4"/>
                </a:solidFill>
                <a:latin typeface="Arial"/>
                <a:ea typeface="Arial"/>
                <a:cs typeface="Arial"/>
              </a:defRPr>
            </a:lvl4pPr>
            <a:lvl5pPr>
              <a:defRPr sz="1200" b="1">
                <a:solidFill>
                  <a:srgbClr val="5EEAD4"/>
                </a:solidFill>
                <a:latin typeface="Arial"/>
                <a:ea typeface="Arial"/>
                <a:cs typeface="Arial"/>
              </a:defRPr>
            </a:lvl5pPr>
            <a:lvl6pPr>
              <a:defRPr sz="1200" b="1">
                <a:solidFill>
                  <a:srgbClr val="5EEAD4"/>
                </a:solidFill>
                <a:latin typeface="Arial"/>
                <a:ea typeface="Arial"/>
                <a:cs typeface="Arial"/>
              </a:defRPr>
            </a:lvl6pPr>
            <a:lvl7pPr>
              <a:defRPr sz="1200" b="1">
                <a:solidFill>
                  <a:srgbClr val="5EEAD4"/>
                </a:solidFill>
                <a:latin typeface="Arial"/>
                <a:ea typeface="Arial"/>
                <a:cs typeface="Arial"/>
              </a:defRPr>
            </a:lvl7pPr>
            <a:lvl8pPr>
              <a:defRPr sz="1200" b="1">
                <a:solidFill>
                  <a:srgbClr val="5EEAD4"/>
                </a:solidFill>
                <a:latin typeface="Arial"/>
                <a:ea typeface="Arial"/>
                <a:cs typeface="Arial"/>
              </a:defRPr>
            </a:lvl8pPr>
            <a:lvl9pPr>
              <a:defRPr sz="1200" b="1">
                <a:solidFill>
                  <a:srgbClr val="5EEAD4"/>
                </a:solidFill>
                <a:latin typeface="Arial"/>
                <a:ea typeface="Arial"/>
                <a:cs typeface="Arial"/>
              </a:defRPr>
            </a:lvl9pPr>
          </a:lstStyle>
          <a:p xmlns:a="http://schemas.openxmlformats.org/drawingml/2006/main">
            <a:pPr>
              <a:defRPr sz="1200" b="1">
                <a:solidFill>
                  <a:srgbClr val="5EEAD4"/>
                </a:solidFill>
                <a:latin typeface="Arial"/>
                <a:ea typeface="Arial"/>
                <a:cs typeface="Arial"/>
              </a:defRPr>
            </a:pPr>
            <a:r>
              <a:rPr sz="1200" b="1">
                <a:solidFill>
                  <a:srgbClr val="5EEAD4"/>
                </a:solidFill>
                <a:latin typeface="Arial"/>
                <a:ea typeface="Arial"/>
                <a:cs typeface="Arial"/>
              </a:rPr>
              <a:t>ME3 VOICE DUPLEX</a:t>
            </a:r>
          </a:p>
        </p:txBody>
      </p:sp>
      <p:sp>
        <p:nvSpPr>
          <p:cNvPr id="5" name="">
            <a:extLst xmlns:a="http://schemas.openxmlformats.org/drawingml/2006/main">
              <a:ext uri="{FF2B5EF4-FFF2-40B4-BE49-F238E27FC236}">
                <a16:creationId xmlns:a16="http://schemas.microsoft.com/office/drawing/2014/main" id="{7DA7FC2E-2D1E-42BF-A780-AB2520B80C94}"/>
              </a:ext>
            </a:extLst>
          </p:cNvPr>
          <p:cNvSpPr>
            <a:spLocks xmlns:a="http://schemas.openxmlformats.org/drawingml/2006/main" noGrp="1"/>
          </p:cNvSpPr>
          <p:nvPr/>
        </p:nvSpPr>
        <p:spPr>
          <a:xfrm xmlns:a="http://schemas.openxmlformats.org/drawingml/2006/main">
            <a:off x="685800" y="1381125"/>
            <a:ext cx="6286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7FAFC"/>
                </a:solidFill>
                <a:latin typeface="Arial"/>
                <a:ea typeface="Arial"/>
                <a:cs typeface="Arial"/>
              </a:defRPr>
            </a:defPPr>
            <a:lvl1pPr>
              <a:defRPr sz="4050" b="1">
                <a:solidFill>
                  <a:srgbClr val="F7FAFC"/>
                </a:solidFill>
                <a:latin typeface="Arial"/>
                <a:ea typeface="Arial"/>
                <a:cs typeface="Arial"/>
              </a:defRPr>
            </a:lvl1pPr>
            <a:lvl2pPr>
              <a:defRPr sz="4050" b="1">
                <a:solidFill>
                  <a:srgbClr val="F7FAFC"/>
                </a:solidFill>
                <a:latin typeface="Arial"/>
                <a:ea typeface="Arial"/>
                <a:cs typeface="Arial"/>
              </a:defRPr>
            </a:lvl2pPr>
            <a:lvl3pPr>
              <a:defRPr sz="4050" b="1">
                <a:solidFill>
                  <a:srgbClr val="F7FAFC"/>
                </a:solidFill>
                <a:latin typeface="Arial"/>
                <a:ea typeface="Arial"/>
                <a:cs typeface="Arial"/>
              </a:defRPr>
            </a:lvl3pPr>
            <a:lvl4pPr>
              <a:defRPr sz="4050" b="1">
                <a:solidFill>
                  <a:srgbClr val="F7FAFC"/>
                </a:solidFill>
                <a:latin typeface="Arial"/>
                <a:ea typeface="Arial"/>
                <a:cs typeface="Arial"/>
              </a:defRPr>
            </a:lvl4pPr>
            <a:lvl5pPr>
              <a:defRPr sz="4050" b="1">
                <a:solidFill>
                  <a:srgbClr val="F7FAFC"/>
                </a:solidFill>
                <a:latin typeface="Arial"/>
                <a:ea typeface="Arial"/>
                <a:cs typeface="Arial"/>
              </a:defRPr>
            </a:lvl5pPr>
            <a:lvl6pPr>
              <a:defRPr sz="4050" b="1">
                <a:solidFill>
                  <a:srgbClr val="F7FAFC"/>
                </a:solidFill>
                <a:latin typeface="Arial"/>
                <a:ea typeface="Arial"/>
                <a:cs typeface="Arial"/>
              </a:defRPr>
            </a:lvl6pPr>
            <a:lvl7pPr>
              <a:defRPr sz="4050" b="1">
                <a:solidFill>
                  <a:srgbClr val="F7FAFC"/>
                </a:solidFill>
                <a:latin typeface="Arial"/>
                <a:ea typeface="Arial"/>
                <a:cs typeface="Arial"/>
              </a:defRPr>
            </a:lvl7pPr>
            <a:lvl8pPr>
              <a:defRPr sz="4050" b="1">
                <a:solidFill>
                  <a:srgbClr val="F7FAFC"/>
                </a:solidFill>
                <a:latin typeface="Arial"/>
                <a:ea typeface="Arial"/>
                <a:cs typeface="Arial"/>
              </a:defRPr>
            </a:lvl8pPr>
            <a:lvl9pPr>
              <a:defRPr sz="4050" b="1">
                <a:solidFill>
                  <a:srgbClr val="F7FAFC"/>
                </a:solidFill>
                <a:latin typeface="Arial"/>
                <a:ea typeface="Arial"/>
                <a:cs typeface="Arial"/>
              </a:defRPr>
            </a:lvl9pPr>
          </a:lstStyle>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From voice request</a:t>
            </a:r>
          </a:p>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to verified action</a:t>
            </a:r>
          </a:p>
        </p:txBody>
      </p:sp>
      <p:sp>
        <p:nvSpPr>
          <p:cNvPr id="6" name="">
            <a:extLst xmlns:a="http://schemas.openxmlformats.org/drawingml/2006/main">
              <a:ext uri="{FF2B5EF4-FFF2-40B4-BE49-F238E27FC236}">
                <a16:creationId xmlns:a16="http://schemas.microsoft.com/office/drawing/2014/main" id="{6FC1A416-DFB0-4D94-8369-E7FA47F4A631}"/>
              </a:ext>
            </a:extLst>
          </p:cNvPr>
          <p:cNvSpPr>
            <a:spLocks xmlns:a="http://schemas.openxmlformats.org/drawingml/2006/main" noGrp="1"/>
          </p:cNvSpPr>
          <p:nvPr/>
        </p:nvSpPr>
        <p:spPr>
          <a:xfrm xmlns:a="http://schemas.openxmlformats.org/drawingml/2006/main">
            <a:off x="723900" y="314325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a:solidFill>
                  <a:srgbClr val="A8B8CA"/>
                </a:solidFill>
                <a:latin typeface="Arial"/>
                <a:ea typeface="Arial"/>
                <a:cs typeface="Arial"/>
              </a:defRPr>
            </a:defPPr>
            <a:lvl1pPr>
              <a:defRPr sz="1800">
                <a:solidFill>
                  <a:srgbClr val="A8B8CA"/>
                </a:solidFill>
                <a:latin typeface="Arial"/>
                <a:ea typeface="Arial"/>
                <a:cs typeface="Arial"/>
              </a:defRPr>
            </a:lvl1pPr>
            <a:lvl2pPr>
              <a:defRPr sz="1800">
                <a:solidFill>
                  <a:srgbClr val="A8B8CA"/>
                </a:solidFill>
                <a:latin typeface="Arial"/>
                <a:ea typeface="Arial"/>
                <a:cs typeface="Arial"/>
              </a:defRPr>
            </a:lvl2pPr>
            <a:lvl3pPr>
              <a:defRPr sz="1800">
                <a:solidFill>
                  <a:srgbClr val="A8B8CA"/>
                </a:solidFill>
                <a:latin typeface="Arial"/>
                <a:ea typeface="Arial"/>
                <a:cs typeface="Arial"/>
              </a:defRPr>
            </a:lvl3pPr>
            <a:lvl4pPr>
              <a:defRPr sz="1800">
                <a:solidFill>
                  <a:srgbClr val="A8B8CA"/>
                </a:solidFill>
                <a:latin typeface="Arial"/>
                <a:ea typeface="Arial"/>
                <a:cs typeface="Arial"/>
              </a:defRPr>
            </a:lvl4pPr>
            <a:lvl5pPr>
              <a:defRPr sz="1800">
                <a:solidFill>
                  <a:srgbClr val="A8B8CA"/>
                </a:solidFill>
                <a:latin typeface="Arial"/>
                <a:ea typeface="Arial"/>
                <a:cs typeface="Arial"/>
              </a:defRPr>
            </a:lvl5pPr>
            <a:lvl6pPr>
              <a:defRPr sz="1800">
                <a:solidFill>
                  <a:srgbClr val="A8B8CA"/>
                </a:solidFill>
                <a:latin typeface="Arial"/>
                <a:ea typeface="Arial"/>
                <a:cs typeface="Arial"/>
              </a:defRPr>
            </a:lvl6pPr>
            <a:lvl7pPr>
              <a:defRPr sz="1800">
                <a:solidFill>
                  <a:srgbClr val="A8B8CA"/>
                </a:solidFill>
                <a:latin typeface="Arial"/>
                <a:ea typeface="Arial"/>
                <a:cs typeface="Arial"/>
              </a:defRPr>
            </a:lvl7pPr>
            <a:lvl8pPr>
              <a:defRPr sz="1800">
                <a:solidFill>
                  <a:srgbClr val="A8B8CA"/>
                </a:solidFill>
                <a:latin typeface="Arial"/>
                <a:ea typeface="Arial"/>
                <a:cs typeface="Arial"/>
              </a:defRPr>
            </a:lvl8pPr>
            <a:lvl9pPr>
              <a:defRPr sz="1800">
                <a:solidFill>
                  <a:srgbClr val="A8B8CA"/>
                </a:solidFill>
                <a:latin typeface="Arial"/>
                <a:ea typeface="Arial"/>
                <a:cs typeface="Arial"/>
              </a:defRPr>
            </a:lvl9pPr>
          </a:lstStyle>
          <a:p xmlns:a="http://schemas.openxmlformats.org/drawingml/2006/main">
            <a:pPr>
              <a:defRPr sz="1800">
                <a:solidFill>
                  <a:srgbClr val="A8B8CA"/>
                </a:solidFill>
                <a:latin typeface="Arial"/>
                <a:ea typeface="Arial"/>
                <a:cs typeface="Arial"/>
              </a:defRPr>
            </a:pPr>
            <a:r>
              <a:rPr sz="1800">
                <a:solidFill>
                  <a:srgbClr val="A8B8CA"/>
                </a:solidFill>
                <a:latin typeface="Arial"/>
                <a:ea typeface="Arial"/>
                <a:cs typeface="Arial"/>
              </a:rPr>
              <a:t>A Raspberry Pi full-duplex agent with a Qwen tool-using brain</a:t>
            </a:r>
          </a:p>
        </p:txBody>
      </p:sp>
      <p:sp>
        <p:nvSpPr>
          <p:cNvPr id="7" name="cover-callout">
            <a:extLst xmlns:a="http://schemas.openxmlformats.org/drawingml/2006/main">
              <a:ext uri="{FF2B5EF4-FFF2-40B4-BE49-F238E27FC236}">
                <a16:creationId xmlns:a16="http://schemas.microsoft.com/office/drawing/2014/main" id="{3E0A6DD4-D68E-4E16-A31C-55F7C171BC6D}"/>
              </a:ext>
            </a:extLst>
          </p:cNvPr>
          <p:cNvSpPr>
            <a:spLocks xmlns:a="http://schemas.openxmlformats.org/drawingml/2006/main" noGrp="1"/>
          </p:cNvSpPr>
          <p:nvPr/>
        </p:nvSpPr>
        <p:spPr>
          <a:xfrm xmlns:a="http://schemas.openxmlformats.org/drawingml/2006/main">
            <a:off x="723900" y="4095750"/>
            <a:ext cx="5429250" cy="762000"/>
          </a:xfrm>
          <a:prstGeom xmlns:a="http://schemas.openxmlformats.org/drawingml/2006/main" prst="roundRect">
            <a:avLst>
              <a:gd name="adj" fmla="val 15000"/>
            </a:avLst>
          </a:prstGeom>
          <a:solidFill xmlns:a="http://schemas.openxmlformats.org/drawingml/2006/main">
            <a:srgbClr val="1432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FFACD8C-FB94-4E94-8B90-64971CFCD53A}"/>
              </a:ext>
            </a:extLst>
          </p:cNvPr>
          <p:cNvSpPr>
            <a:spLocks xmlns:a="http://schemas.openxmlformats.org/drawingml/2006/main" noGrp="1"/>
          </p:cNvSpPr>
          <p:nvPr/>
        </p:nvSpPr>
        <p:spPr>
          <a:xfrm xmlns:a="http://schemas.openxmlformats.org/drawingml/2006/main">
            <a:off x="971550" y="42672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A7F3D0"/>
                </a:solidFill>
                <a:latin typeface="Arial"/>
                <a:ea typeface="Arial"/>
                <a:cs typeface="Arial"/>
              </a:defRPr>
            </a:defPPr>
            <a:lvl1pPr>
              <a:defRPr sz="1650" b="1">
                <a:solidFill>
                  <a:srgbClr val="A7F3D0"/>
                </a:solidFill>
                <a:latin typeface="Arial"/>
                <a:ea typeface="Arial"/>
                <a:cs typeface="Arial"/>
              </a:defRPr>
            </a:lvl1pPr>
            <a:lvl2pPr>
              <a:defRPr sz="1650" b="1">
                <a:solidFill>
                  <a:srgbClr val="A7F3D0"/>
                </a:solidFill>
                <a:latin typeface="Arial"/>
                <a:ea typeface="Arial"/>
                <a:cs typeface="Arial"/>
              </a:defRPr>
            </a:lvl2pPr>
            <a:lvl3pPr>
              <a:defRPr sz="1650" b="1">
                <a:solidFill>
                  <a:srgbClr val="A7F3D0"/>
                </a:solidFill>
                <a:latin typeface="Arial"/>
                <a:ea typeface="Arial"/>
                <a:cs typeface="Arial"/>
              </a:defRPr>
            </a:lvl3pPr>
            <a:lvl4pPr>
              <a:defRPr sz="1650" b="1">
                <a:solidFill>
                  <a:srgbClr val="A7F3D0"/>
                </a:solidFill>
                <a:latin typeface="Arial"/>
                <a:ea typeface="Arial"/>
                <a:cs typeface="Arial"/>
              </a:defRPr>
            </a:lvl4pPr>
            <a:lvl5pPr>
              <a:defRPr sz="1650" b="1">
                <a:solidFill>
                  <a:srgbClr val="A7F3D0"/>
                </a:solidFill>
                <a:latin typeface="Arial"/>
                <a:ea typeface="Arial"/>
                <a:cs typeface="Arial"/>
              </a:defRPr>
            </a:lvl5pPr>
            <a:lvl6pPr>
              <a:defRPr sz="1650" b="1">
                <a:solidFill>
                  <a:srgbClr val="A7F3D0"/>
                </a:solidFill>
                <a:latin typeface="Arial"/>
                <a:ea typeface="Arial"/>
                <a:cs typeface="Arial"/>
              </a:defRPr>
            </a:lvl6pPr>
            <a:lvl7pPr>
              <a:defRPr sz="1650" b="1">
                <a:solidFill>
                  <a:srgbClr val="A7F3D0"/>
                </a:solidFill>
                <a:latin typeface="Arial"/>
                <a:ea typeface="Arial"/>
                <a:cs typeface="Arial"/>
              </a:defRPr>
            </a:lvl7pPr>
            <a:lvl8pPr>
              <a:defRPr sz="1650" b="1">
                <a:solidFill>
                  <a:srgbClr val="A7F3D0"/>
                </a:solidFill>
                <a:latin typeface="Arial"/>
                <a:ea typeface="Arial"/>
                <a:cs typeface="Arial"/>
              </a:defRPr>
            </a:lvl8pPr>
            <a:lvl9pPr>
              <a:defRPr sz="1650" b="1">
                <a:solidFill>
                  <a:srgbClr val="A7F3D0"/>
                </a:solidFill>
                <a:latin typeface="Arial"/>
                <a:ea typeface="Arial"/>
                <a:cs typeface="Arial"/>
              </a:defRPr>
            </a:lvl9pPr>
          </a:lstStyle>
          <a:p xmlns:a="http://schemas.openxmlformats.org/drawingml/2006/main">
            <a:pPr>
              <a:defRPr sz="1650" b="1">
                <a:solidFill>
                  <a:srgbClr val="A7F3D0"/>
                </a:solidFill>
                <a:latin typeface="Arial"/>
                <a:ea typeface="Arial"/>
                <a:cs typeface="Arial"/>
              </a:defRPr>
            </a:pPr>
            <a:r>
              <a:rPr sz="1650" b="1">
                <a:solidFill>
                  <a:srgbClr val="A7F3D0"/>
                </a:solidFill>
                <a:latin typeface="Arial"/>
                <a:ea typeface="Arial"/>
                <a:cs typeface="Arial"/>
              </a:rPr>
              <a:t>No task-specific training required</a:t>
            </a:r>
          </a:p>
        </p:txBody>
      </p:sp>
      <p:sp>
        <p:nvSpPr>
          <p:cNvPr id="9" name="">
            <a:extLst xmlns:a="http://schemas.openxmlformats.org/drawingml/2006/main">
              <a:ext uri="{FF2B5EF4-FFF2-40B4-BE49-F238E27FC236}">
                <a16:creationId xmlns:a16="http://schemas.microsoft.com/office/drawing/2014/main" id="{7AE3B89B-4934-46E6-B267-C2105E40CCB8}"/>
              </a:ext>
            </a:extLst>
          </p:cNvPr>
          <p:cNvSpPr>
            <a:spLocks xmlns:a="http://schemas.openxmlformats.org/drawingml/2006/main" noGrp="1"/>
          </p:cNvSpPr>
          <p:nvPr/>
        </p:nvSpPr>
        <p:spPr>
          <a:xfrm xmlns:a="http://schemas.openxmlformats.org/drawingml/2006/main">
            <a:off x="971550" y="45529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Inference + typed tools + verification</a:t>
            </a:r>
          </a:p>
        </p:txBody>
      </p:sp>
      <p:sp>
        <p:nvSpPr>
          <p:cNvPr id="10" name="">
            <a:extLst xmlns:a="http://schemas.openxmlformats.org/drawingml/2006/main">
              <a:ext uri="{FF2B5EF4-FFF2-40B4-BE49-F238E27FC236}">
                <a16:creationId xmlns:a16="http://schemas.microsoft.com/office/drawing/2014/main" id="{333384A3-40ED-4732-915A-E09E46015F83}"/>
              </a:ext>
            </a:extLst>
          </p:cNvPr>
          <p:cNvSpPr>
            <a:spLocks xmlns:a="http://schemas.openxmlformats.org/drawingml/2006/main" noGrp="1"/>
          </p:cNvSpPr>
          <p:nvPr/>
        </p:nvSpPr>
        <p:spPr>
          <a:xfrm xmlns:a="http://schemas.openxmlformats.org/drawingml/2006/main">
            <a:off x="723900" y="6000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Crizepvill F. Dumalaog  •  Mapua University  •  2026</a:t>
            </a:r>
          </a:p>
        </p:txBody>
      </p:sp>
    </p:spTree>
    <p:extLst>
      <p:ext uri="{BB962C8B-B14F-4D97-AF65-F5344CB8AC3E}">
        <p14:creationId xmlns:p14="http://schemas.microsoft.com/office/powerpoint/2010/main" val="899254342"/>
      </p:ext>
    </p:extLst>
  </p:cSld>
</p:sld>
</file>

<file path=ppt/slides/slide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455467C-29B7-4992-AFA6-1B1D2DC5E371}"/>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THE EXPERIENCE</a:t>
            </a:r>
          </a:p>
        </p:txBody>
      </p:sp>
      <p:sp>
        <p:nvSpPr>
          <p:cNvPr id="2" name="">
            <a:extLst xmlns:a="http://schemas.openxmlformats.org/drawingml/2006/main">
              <a:ext uri="{FF2B5EF4-FFF2-40B4-BE49-F238E27FC236}">
                <a16:creationId xmlns:a16="http://schemas.microsoft.com/office/drawing/2014/main" id="{C5CE5AE9-8C46-48F1-B92C-752C1603951F}"/>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A spoken request becomes a checked result</a:t>
            </a:r>
          </a:p>
        </p:txBody>
      </p:sp>
      <p:sp>
        <p:nvSpPr>
          <p:cNvPr id="3" name="">
            <a:extLst xmlns:a="http://schemas.openxmlformats.org/drawingml/2006/main">
              <a:ext uri="{FF2B5EF4-FFF2-40B4-BE49-F238E27FC236}">
                <a16:creationId xmlns:a16="http://schemas.microsoft.com/office/drawing/2014/main" id="{19B540E7-8C0A-41CC-9F58-04C95B48F59E}"/>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user stays in conversation while the model reasons and acts through bounded tools.</a:t>
            </a:r>
          </a:p>
        </p:txBody>
      </p:sp>
      <p:cxnSp>
        <p:nvCxnSpPr>
          <p:cNvPr id="4" name="sequence-1">
            <a:extLst xmlns:a="http://schemas.openxmlformats.org/drawingml/2006/main">
              <a:ext uri="{FF2B5EF4-FFF2-40B4-BE49-F238E27FC236}">
                <a16:creationId xmlns:a16="http://schemas.microsoft.com/office/drawing/2014/main" id="{8D8098BF-4A44-48CA-8255-03E29CDD1F42}"/>
              </a:ext>
            </a:extLst>
          </p:cNvPr>
          <p:cNvCxnSpPr/>
          <p:nvPr/>
        </p:nvCxnSpPr>
        <p:spPr>
          <a:xfrm xmlns:a="http://schemas.openxmlformats.org/drawingml/2006/main">
            <a:off x="2247900" y="3143250"/>
            <a:ext cx="952500"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sequence-2">
            <a:extLst xmlns:a="http://schemas.openxmlformats.org/drawingml/2006/main">
              <a:ext uri="{FF2B5EF4-FFF2-40B4-BE49-F238E27FC236}">
                <a16:creationId xmlns:a16="http://schemas.microsoft.com/office/drawing/2014/main" id="{7EB0FCD5-EF14-49FA-8946-B96EB99171EB}"/>
              </a:ext>
            </a:extLst>
          </p:cNvPr>
          <p:cNvCxnSpPr/>
          <p:nvPr/>
        </p:nvCxnSpPr>
        <p:spPr>
          <a:xfrm xmlns:a="http://schemas.openxmlformats.org/drawingml/2006/main">
            <a:off x="4819650" y="3143250"/>
            <a:ext cx="952500"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sequence-3">
            <a:extLst xmlns:a="http://schemas.openxmlformats.org/drawingml/2006/main">
              <a:ext uri="{FF2B5EF4-FFF2-40B4-BE49-F238E27FC236}">
                <a16:creationId xmlns:a16="http://schemas.microsoft.com/office/drawing/2014/main" id="{75B2F5B6-DFD7-4EFD-9BC6-6BD36333D3C0}"/>
              </a:ext>
            </a:extLst>
          </p:cNvPr>
          <p:cNvCxnSpPr/>
          <p:nvPr/>
        </p:nvCxnSpPr>
        <p:spPr>
          <a:xfrm xmlns:a="http://schemas.openxmlformats.org/drawingml/2006/main">
            <a:off x="7391400" y="3143250"/>
            <a:ext cx="952500" cy="0"/>
          </a:xfrm>
          <a:prstGeom xmlns:a="http://schemas.openxmlformats.org/drawingml/2006/main" prst="straightConnector1">
            <a:avLst/>
          </a:prstGeom>
          <a:ln xmlns:a="http://schemas.openxmlformats.org/drawingml/2006/main" w="19050">
            <a:solidFill>
              <a:srgbClr val="FCD34D"/>
            </a:solidFill>
            <a:prstDash val="solid"/>
            <a:tailEnd type="arrow" w="med" len="med"/>
          </a:ln>
        </p:spPr>
      </p:cxnSp>
      <p:sp>
        <p:nvSpPr>
          <p:cNvPr id="7" name="sequence-node-0">
            <a:extLst xmlns:a="http://schemas.openxmlformats.org/drawingml/2006/main">
              <a:ext uri="{FF2B5EF4-FFF2-40B4-BE49-F238E27FC236}">
                <a16:creationId xmlns:a16="http://schemas.microsoft.com/office/drawing/2014/main" id="{B6C8C385-2267-4C01-A4A7-679C58EF9B47}"/>
              </a:ext>
            </a:extLst>
          </p:cNvPr>
          <p:cNvSpPr>
            <a:spLocks xmlns:a="http://schemas.openxmlformats.org/drawingml/2006/main" noGrp="1"/>
          </p:cNvSpPr>
          <p:nvPr/>
        </p:nvSpPr>
        <p:spPr>
          <a:xfrm xmlns:a="http://schemas.openxmlformats.org/drawingml/2006/main">
            <a:off x="7620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5EEAD4"/>
            </a:solidFill>
            <a:prstDash val="solid"/>
          </a:ln>
        </p:spPr>
      </p:sp>
      <p:sp>
        <p:nvSpPr>
          <p:cNvPr id="8" name="">
            <a:extLst xmlns:a="http://schemas.openxmlformats.org/drawingml/2006/main">
              <a:ext uri="{FF2B5EF4-FFF2-40B4-BE49-F238E27FC236}">
                <a16:creationId xmlns:a16="http://schemas.microsoft.com/office/drawing/2014/main" id="{A295DC20-A75D-4AB2-8ED2-3980591F5A5E}"/>
              </a:ext>
            </a:extLst>
          </p:cNvPr>
          <p:cNvSpPr>
            <a:spLocks xmlns:a="http://schemas.openxmlformats.org/drawingml/2006/main" noGrp="1"/>
          </p:cNvSpPr>
          <p:nvPr/>
        </p:nvSpPr>
        <p:spPr>
          <a:xfrm xmlns:a="http://schemas.openxmlformats.org/drawingml/2006/main">
            <a:off x="9334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953B4407-042A-473D-867D-BD5BD59D6872}"/>
              </a:ext>
            </a:extLst>
          </p:cNvPr>
          <p:cNvSpPr>
            <a:spLocks xmlns:a="http://schemas.openxmlformats.org/drawingml/2006/main" noGrp="1"/>
          </p:cNvSpPr>
          <p:nvPr/>
        </p:nvSpPr>
        <p:spPr>
          <a:xfrm xmlns:a="http://schemas.openxmlformats.org/drawingml/2006/main">
            <a:off x="9334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Speak</a:t>
            </a:r>
          </a:p>
        </p:txBody>
      </p:sp>
      <p:sp>
        <p:nvSpPr>
          <p:cNvPr id="10" name="">
            <a:extLst xmlns:a="http://schemas.openxmlformats.org/drawingml/2006/main">
              <a:ext uri="{FF2B5EF4-FFF2-40B4-BE49-F238E27FC236}">
                <a16:creationId xmlns:a16="http://schemas.microsoft.com/office/drawing/2014/main" id="{CDD4CEA3-E17E-4985-B6DB-62B35F1E628B}"/>
              </a:ext>
            </a:extLst>
          </p:cNvPr>
          <p:cNvSpPr>
            <a:spLocks xmlns:a="http://schemas.openxmlformats.org/drawingml/2006/main" noGrp="1"/>
          </p:cNvSpPr>
          <p:nvPr/>
        </p:nvSpPr>
        <p:spPr>
          <a:xfrm xmlns:a="http://schemas.openxmlformats.org/drawingml/2006/main">
            <a:off x="9334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“Build me a web app”</a:t>
            </a:r>
          </a:p>
        </p:txBody>
      </p:sp>
      <p:sp>
        <p:nvSpPr>
          <p:cNvPr id="11" name="sequence-node-1">
            <a:extLst xmlns:a="http://schemas.openxmlformats.org/drawingml/2006/main">
              <a:ext uri="{FF2B5EF4-FFF2-40B4-BE49-F238E27FC236}">
                <a16:creationId xmlns:a16="http://schemas.microsoft.com/office/drawing/2014/main" id="{5E35EBBB-8517-40E6-823C-D56088DA724C}"/>
              </a:ext>
            </a:extLst>
          </p:cNvPr>
          <p:cNvSpPr>
            <a:spLocks xmlns:a="http://schemas.openxmlformats.org/drawingml/2006/main" noGrp="1"/>
          </p:cNvSpPr>
          <p:nvPr/>
        </p:nvSpPr>
        <p:spPr>
          <a:xfrm xmlns:a="http://schemas.openxmlformats.org/drawingml/2006/main">
            <a:off x="33337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60A5FA"/>
            </a:solidFill>
            <a:prstDash val="solid"/>
          </a:ln>
        </p:spPr>
      </p:sp>
      <p:sp>
        <p:nvSpPr>
          <p:cNvPr id="12" name="">
            <a:extLst xmlns:a="http://schemas.openxmlformats.org/drawingml/2006/main">
              <a:ext uri="{FF2B5EF4-FFF2-40B4-BE49-F238E27FC236}">
                <a16:creationId xmlns:a16="http://schemas.microsoft.com/office/drawing/2014/main" id="{AA08178F-1009-4227-82F6-CC08C4B254C0}"/>
              </a:ext>
            </a:extLst>
          </p:cNvPr>
          <p:cNvSpPr>
            <a:spLocks xmlns:a="http://schemas.openxmlformats.org/drawingml/2006/main" noGrp="1"/>
          </p:cNvSpPr>
          <p:nvPr/>
        </p:nvSpPr>
        <p:spPr>
          <a:xfrm xmlns:a="http://schemas.openxmlformats.org/drawingml/2006/main">
            <a:off x="35052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B487180B-D49E-40E8-9D99-35D17D666BDD}"/>
              </a:ext>
            </a:extLst>
          </p:cNvPr>
          <p:cNvSpPr>
            <a:spLocks xmlns:a="http://schemas.openxmlformats.org/drawingml/2006/main" noGrp="1"/>
          </p:cNvSpPr>
          <p:nvPr/>
        </p:nvSpPr>
        <p:spPr>
          <a:xfrm xmlns:a="http://schemas.openxmlformats.org/drawingml/2006/main">
            <a:off x="35052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7D8316C7-203C-46F5-95D4-98B25FCDF2B8}"/>
              </a:ext>
            </a:extLst>
          </p:cNvPr>
          <p:cNvSpPr>
            <a:spLocks xmlns:a="http://schemas.openxmlformats.org/drawingml/2006/main" noGrp="1"/>
          </p:cNvSpPr>
          <p:nvPr/>
        </p:nvSpPr>
        <p:spPr>
          <a:xfrm xmlns:a="http://schemas.openxmlformats.org/drawingml/2006/main">
            <a:off x="35052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Qwen selects tool calls</a:t>
            </a:r>
          </a:p>
        </p:txBody>
      </p:sp>
      <p:sp>
        <p:nvSpPr>
          <p:cNvPr id="15" name="sequence-node-2">
            <a:extLst xmlns:a="http://schemas.openxmlformats.org/drawingml/2006/main">
              <a:ext uri="{FF2B5EF4-FFF2-40B4-BE49-F238E27FC236}">
                <a16:creationId xmlns:a16="http://schemas.microsoft.com/office/drawing/2014/main" id="{742BA950-16ED-43CC-B829-7F50634599AF}"/>
              </a:ext>
            </a:extLst>
          </p:cNvPr>
          <p:cNvSpPr>
            <a:spLocks xmlns:a="http://schemas.openxmlformats.org/drawingml/2006/main" noGrp="1"/>
          </p:cNvSpPr>
          <p:nvPr/>
        </p:nvSpPr>
        <p:spPr>
          <a:xfrm xmlns:a="http://schemas.openxmlformats.org/drawingml/2006/main">
            <a:off x="59055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FCD34D"/>
            </a:solidFill>
            <a:prstDash val="solid"/>
          </a:ln>
        </p:spPr>
      </p:sp>
      <p:sp>
        <p:nvSpPr>
          <p:cNvPr id="16" name="">
            <a:extLst xmlns:a="http://schemas.openxmlformats.org/drawingml/2006/main">
              <a:ext uri="{FF2B5EF4-FFF2-40B4-BE49-F238E27FC236}">
                <a16:creationId xmlns:a16="http://schemas.microsoft.com/office/drawing/2014/main" id="{4E93D1B0-56FB-49B9-B1C1-97541F390D9D}"/>
              </a:ext>
            </a:extLst>
          </p:cNvPr>
          <p:cNvSpPr>
            <a:spLocks xmlns:a="http://schemas.openxmlformats.org/drawingml/2006/main" noGrp="1"/>
          </p:cNvSpPr>
          <p:nvPr/>
        </p:nvSpPr>
        <p:spPr>
          <a:xfrm xmlns:a="http://schemas.openxmlformats.org/drawingml/2006/main">
            <a:off x="60769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68A6BF91-12EE-4C0B-B281-5D6CA1231CE3}"/>
              </a:ext>
            </a:extLst>
          </p:cNvPr>
          <p:cNvSpPr>
            <a:spLocks xmlns:a="http://schemas.openxmlformats.org/drawingml/2006/main" noGrp="1"/>
          </p:cNvSpPr>
          <p:nvPr/>
        </p:nvSpPr>
        <p:spPr>
          <a:xfrm xmlns:a="http://schemas.openxmlformats.org/drawingml/2006/main">
            <a:off x="60769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Act</a:t>
            </a:r>
          </a:p>
        </p:txBody>
      </p:sp>
      <p:sp>
        <p:nvSpPr>
          <p:cNvPr id="18" name="">
            <a:extLst xmlns:a="http://schemas.openxmlformats.org/drawingml/2006/main">
              <a:ext uri="{FF2B5EF4-FFF2-40B4-BE49-F238E27FC236}">
                <a16:creationId xmlns:a16="http://schemas.microsoft.com/office/drawing/2014/main" id="{01CC5470-EC9C-4237-A412-9A3784571056}"/>
              </a:ext>
            </a:extLst>
          </p:cNvPr>
          <p:cNvSpPr>
            <a:spLocks xmlns:a="http://schemas.openxmlformats.org/drawingml/2006/main" noGrp="1"/>
          </p:cNvSpPr>
          <p:nvPr/>
        </p:nvSpPr>
        <p:spPr>
          <a:xfrm xmlns:a="http://schemas.openxmlformats.org/drawingml/2006/main">
            <a:off x="60769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Files, web, commands, jobs</a:t>
            </a:r>
          </a:p>
        </p:txBody>
      </p:sp>
      <p:sp>
        <p:nvSpPr>
          <p:cNvPr id="19" name="sequence-node-3">
            <a:extLst xmlns:a="http://schemas.openxmlformats.org/drawingml/2006/main">
              <a:ext uri="{FF2B5EF4-FFF2-40B4-BE49-F238E27FC236}">
                <a16:creationId xmlns:a16="http://schemas.microsoft.com/office/drawing/2014/main" id="{549141FD-4CB0-4C63-87DF-F69023EFDD81}"/>
              </a:ext>
            </a:extLst>
          </p:cNvPr>
          <p:cNvSpPr>
            <a:spLocks xmlns:a="http://schemas.openxmlformats.org/drawingml/2006/main" noGrp="1"/>
          </p:cNvSpPr>
          <p:nvPr/>
        </p:nvSpPr>
        <p:spPr>
          <a:xfrm xmlns:a="http://schemas.openxmlformats.org/drawingml/2006/main">
            <a:off x="84772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A7F3D0"/>
            </a:solidFill>
            <a:prstDash val="solid"/>
          </a:ln>
        </p:spPr>
      </p:sp>
      <p:sp>
        <p:nvSpPr>
          <p:cNvPr id="20" name="">
            <a:extLst xmlns:a="http://schemas.openxmlformats.org/drawingml/2006/main">
              <a:ext uri="{FF2B5EF4-FFF2-40B4-BE49-F238E27FC236}">
                <a16:creationId xmlns:a16="http://schemas.microsoft.com/office/drawing/2014/main" id="{E50ADC95-EBEF-4F66-A4D5-052C5B63C9BC}"/>
              </a:ext>
            </a:extLst>
          </p:cNvPr>
          <p:cNvSpPr>
            <a:spLocks xmlns:a="http://schemas.openxmlformats.org/drawingml/2006/main" noGrp="1"/>
          </p:cNvSpPr>
          <p:nvPr/>
        </p:nvSpPr>
        <p:spPr>
          <a:xfrm xmlns:a="http://schemas.openxmlformats.org/drawingml/2006/main">
            <a:off x="86487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826067B4-5F49-49EF-A272-F5527FCA7F76}"/>
              </a:ext>
            </a:extLst>
          </p:cNvPr>
          <p:cNvSpPr>
            <a:spLocks xmlns:a="http://schemas.openxmlformats.org/drawingml/2006/main" noGrp="1"/>
          </p:cNvSpPr>
          <p:nvPr/>
        </p:nvSpPr>
        <p:spPr>
          <a:xfrm xmlns:a="http://schemas.openxmlformats.org/drawingml/2006/main">
            <a:off x="86487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Prove</a:t>
            </a:r>
          </a:p>
        </p:txBody>
      </p:sp>
      <p:sp>
        <p:nvSpPr>
          <p:cNvPr id="22" name="">
            <a:extLst xmlns:a="http://schemas.openxmlformats.org/drawingml/2006/main">
              <a:ext uri="{FF2B5EF4-FFF2-40B4-BE49-F238E27FC236}">
                <a16:creationId xmlns:a16="http://schemas.microsoft.com/office/drawing/2014/main" id="{0B5A9057-BCD7-43E0-B356-34B88090C72C}"/>
              </a:ext>
            </a:extLst>
          </p:cNvPr>
          <p:cNvSpPr>
            <a:spLocks xmlns:a="http://schemas.openxmlformats.org/drawingml/2006/main" noGrp="1"/>
          </p:cNvSpPr>
          <p:nvPr/>
        </p:nvSpPr>
        <p:spPr>
          <a:xfrm xmlns:a="http://schemas.openxmlformats.org/drawingml/2006/main">
            <a:off x="86487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Read-back + verification</a:t>
            </a:r>
          </a:p>
        </p:txBody>
      </p:sp>
      <p:sp>
        <p:nvSpPr>
          <p:cNvPr id="23" name="sequence-caption">
            <a:extLst xmlns:a="http://schemas.openxmlformats.org/drawingml/2006/main">
              <a:ext uri="{FF2B5EF4-FFF2-40B4-BE49-F238E27FC236}">
                <a16:creationId xmlns:a16="http://schemas.microsoft.com/office/drawing/2014/main" id="{CAC880D9-003A-4A09-BDAC-8C042E397EBE}"/>
              </a:ext>
            </a:extLst>
          </p:cNvPr>
          <p:cNvSpPr>
            <a:spLocks xmlns:a="http://schemas.openxmlformats.org/drawingml/2006/main" noGrp="1"/>
          </p:cNvSpPr>
          <p:nvPr/>
        </p:nvSpPr>
        <p:spPr>
          <a:xfrm xmlns:a="http://schemas.openxmlformats.org/drawingml/2006/main">
            <a:off x="1714500" y="4648200"/>
            <a:ext cx="8763000" cy="819150"/>
          </a:xfrm>
          <a:prstGeom xmlns:a="http://schemas.openxmlformats.org/drawingml/2006/main" prst="roundRect">
            <a:avLst>
              <a:gd name="adj" fmla="val 13953"/>
            </a:avLst>
          </a:prstGeom>
          <a:solidFill xmlns:a="http://schemas.openxmlformats.org/drawingml/2006/main">
            <a:srgbClr val="102A4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67450C4-7258-437F-928C-667B5AEFA975}"/>
              </a:ext>
            </a:extLst>
          </p:cNvPr>
          <p:cNvSpPr>
            <a:spLocks xmlns:a="http://schemas.openxmlformats.org/drawingml/2006/main" noGrp="1"/>
          </p:cNvSpPr>
          <p:nvPr/>
        </p:nvSpPr>
        <p:spPr>
          <a:xfrm xmlns:a="http://schemas.openxmlformats.org/drawingml/2006/main">
            <a:off x="2019300" y="4838700"/>
            <a:ext cx="828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F7FAFC"/>
                </a:solidFill>
                <a:latin typeface="Arial"/>
                <a:ea typeface="Arial"/>
                <a:cs typeface="Arial"/>
              </a:defRPr>
            </a:defPPr>
            <a:lvl1pPr>
              <a:defRPr sz="1725" b="1">
                <a:solidFill>
                  <a:srgbClr val="F7FAFC"/>
                </a:solidFill>
                <a:latin typeface="Arial"/>
                <a:ea typeface="Arial"/>
                <a:cs typeface="Arial"/>
              </a:defRPr>
            </a:lvl1pPr>
            <a:lvl2pPr>
              <a:defRPr sz="1725" b="1">
                <a:solidFill>
                  <a:srgbClr val="F7FAFC"/>
                </a:solidFill>
                <a:latin typeface="Arial"/>
                <a:ea typeface="Arial"/>
                <a:cs typeface="Arial"/>
              </a:defRPr>
            </a:lvl2pPr>
            <a:lvl3pPr>
              <a:defRPr sz="1725" b="1">
                <a:solidFill>
                  <a:srgbClr val="F7FAFC"/>
                </a:solidFill>
                <a:latin typeface="Arial"/>
                <a:ea typeface="Arial"/>
                <a:cs typeface="Arial"/>
              </a:defRPr>
            </a:lvl3pPr>
            <a:lvl4pPr>
              <a:defRPr sz="1725" b="1">
                <a:solidFill>
                  <a:srgbClr val="F7FAFC"/>
                </a:solidFill>
                <a:latin typeface="Arial"/>
                <a:ea typeface="Arial"/>
                <a:cs typeface="Arial"/>
              </a:defRPr>
            </a:lvl4pPr>
            <a:lvl5pPr>
              <a:defRPr sz="1725" b="1">
                <a:solidFill>
                  <a:srgbClr val="F7FAFC"/>
                </a:solidFill>
                <a:latin typeface="Arial"/>
                <a:ea typeface="Arial"/>
                <a:cs typeface="Arial"/>
              </a:defRPr>
            </a:lvl5pPr>
            <a:lvl6pPr>
              <a:defRPr sz="1725" b="1">
                <a:solidFill>
                  <a:srgbClr val="F7FAFC"/>
                </a:solidFill>
                <a:latin typeface="Arial"/>
                <a:ea typeface="Arial"/>
                <a:cs typeface="Arial"/>
              </a:defRPr>
            </a:lvl6pPr>
            <a:lvl7pPr>
              <a:defRPr sz="1725" b="1">
                <a:solidFill>
                  <a:srgbClr val="F7FAFC"/>
                </a:solidFill>
                <a:latin typeface="Arial"/>
                <a:ea typeface="Arial"/>
                <a:cs typeface="Arial"/>
              </a:defRPr>
            </a:lvl7pPr>
            <a:lvl8pPr>
              <a:defRPr sz="1725" b="1">
                <a:solidFill>
                  <a:srgbClr val="F7FAFC"/>
                </a:solidFill>
                <a:latin typeface="Arial"/>
                <a:ea typeface="Arial"/>
                <a:cs typeface="Arial"/>
              </a:defRPr>
            </a:lvl8pPr>
            <a:lvl9pPr>
              <a:defRPr sz="1725" b="1">
                <a:solidFill>
                  <a:srgbClr val="F7FAFC"/>
                </a:solidFill>
                <a:latin typeface="Arial"/>
                <a:ea typeface="Arial"/>
                <a:cs typeface="Arial"/>
              </a:defRPr>
            </a:lvl9pPr>
          </a:lstStyle>
          <a:p xmlns:a="http://schemas.openxmlformats.org/drawingml/2006/main">
            <a:pPr>
              <a:defRPr sz="1725" b="1">
                <a:solidFill>
                  <a:srgbClr val="F7FAFC"/>
                </a:solidFill>
                <a:latin typeface="Arial"/>
                <a:ea typeface="Arial"/>
                <a:cs typeface="Arial"/>
              </a:defRPr>
            </a:pPr>
            <a:r>
              <a:rPr sz="1725" b="1">
                <a:solidFill>
                  <a:srgbClr val="F7FAFC"/>
                </a:solidFill>
                <a:latin typeface="Arial"/>
                <a:ea typeface="Arial"/>
                <a:cs typeface="Arial"/>
              </a:rPr>
              <a:t>Full duplex means listening continues during playback.</a:t>
            </a:r>
          </a:p>
        </p:txBody>
      </p:sp>
      <p:sp>
        <p:nvSpPr>
          <p:cNvPr id="25" name="">
            <a:extLst xmlns:a="http://schemas.openxmlformats.org/drawingml/2006/main">
              <a:ext uri="{FF2B5EF4-FFF2-40B4-BE49-F238E27FC236}">
                <a16:creationId xmlns:a16="http://schemas.microsoft.com/office/drawing/2014/main" id="{5A6C067B-12A4-4033-A3D5-0581C256761E}"/>
              </a:ext>
            </a:extLst>
          </p:cNvPr>
          <p:cNvSpPr>
            <a:spLocks xmlns:a="http://schemas.openxmlformats.org/drawingml/2006/main" noGrp="1"/>
          </p:cNvSpPr>
          <p:nvPr/>
        </p:nvSpPr>
        <p:spPr>
          <a:xfrm xmlns:a="http://schemas.openxmlformats.org/drawingml/2006/main">
            <a:off x="2019300" y="5162550"/>
            <a:ext cx="828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Speech during TTS cancels playback and starts a new turn.</a:t>
            </a:r>
          </a:p>
        </p:txBody>
      </p:sp>
      <p:sp>
        <p:nvSpPr>
          <p:cNvPr id="26" name="">
            <a:extLst xmlns:a="http://schemas.openxmlformats.org/drawingml/2006/main">
              <a:ext uri="{FF2B5EF4-FFF2-40B4-BE49-F238E27FC236}">
                <a16:creationId xmlns:a16="http://schemas.microsoft.com/office/drawing/2014/main" id="{5DB5DE27-B93E-407C-A929-7D472AD2D4A2}"/>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2/7</a:t>
            </a:r>
          </a:p>
        </p:txBody>
      </p:sp>
    </p:spTree>
    <p:extLst>
      <p:ext uri="{BB962C8B-B14F-4D97-AF65-F5344CB8AC3E}">
        <p14:creationId xmlns:p14="http://schemas.microsoft.com/office/powerpoint/2010/main" val="363841449"/>
      </p:ext>
    </p:extLst>
  </p:cSld>
</p:sld>
</file>

<file path=ppt/slides/slide3.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DEE8CB4-E336-4D32-B252-A62E782190B7}"/>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D0859F4B-A86E-4A73-9E81-0B0603F0E25E}"/>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Local speech, remote reasoning, owned actions</a:t>
            </a:r>
          </a:p>
        </p:txBody>
      </p:sp>
      <p:sp>
        <p:nvSpPr>
          <p:cNvPr id="3" name="">
            <a:extLst xmlns:a="http://schemas.openxmlformats.org/drawingml/2006/main">
              <a:ext uri="{FF2B5EF4-FFF2-40B4-BE49-F238E27FC236}">
                <a16:creationId xmlns:a16="http://schemas.microsoft.com/office/drawing/2014/main" id="{3494F62A-15B7-4F6C-910F-DE2663925178}"/>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Pi keeps audio-sensitive work local while Qwen supplies flexible inference through an OpenAI-compatible API.</a:t>
            </a:r>
          </a:p>
        </p:txBody>
      </p:sp>
      <p:cxnSp>
        <p:nvCxnSpPr>
          <p:cNvPr id="4" name="arch-local-to-qwen">
            <a:extLst xmlns:a="http://schemas.openxmlformats.org/drawingml/2006/main">
              <a:ext uri="{FF2B5EF4-FFF2-40B4-BE49-F238E27FC236}">
                <a16:creationId xmlns:a16="http://schemas.microsoft.com/office/drawing/2014/main" id="{0F5AE432-9424-47B2-88E7-752A530B978E}"/>
              </a:ext>
            </a:extLst>
          </p:cNvPr>
          <p:cNvCxnSpPr/>
          <p:nvPr/>
        </p:nvCxnSpPr>
        <p:spPr>
          <a:xfrm xmlns:a="http://schemas.openxmlformats.org/drawingml/2006/main">
            <a:off x="2333625" y="3181350"/>
            <a:ext cx="71437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arch-qwen-to-tools">
            <a:extLst xmlns:a="http://schemas.openxmlformats.org/drawingml/2006/main">
              <a:ext uri="{FF2B5EF4-FFF2-40B4-BE49-F238E27FC236}">
                <a16:creationId xmlns:a16="http://schemas.microsoft.com/office/drawing/2014/main" id="{9C715A3F-6903-4309-801E-D1D193A7F641}"/>
              </a:ext>
            </a:extLst>
          </p:cNvPr>
          <p:cNvCxnSpPr/>
          <p:nvPr/>
        </p:nvCxnSpPr>
        <p:spPr>
          <a:xfrm xmlns:a="http://schemas.openxmlformats.org/drawingml/2006/main">
            <a:off x="5381625" y="3181350"/>
            <a:ext cx="71437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arch-tools-to-response">
            <a:extLst xmlns:a="http://schemas.openxmlformats.org/drawingml/2006/main">
              <a:ext uri="{FF2B5EF4-FFF2-40B4-BE49-F238E27FC236}">
                <a16:creationId xmlns:a16="http://schemas.microsoft.com/office/drawing/2014/main" id="{349ABC4F-FDC7-4877-AA20-7FD93D5DE089}"/>
              </a:ext>
            </a:extLst>
          </p:cNvPr>
          <p:cNvCxnSpPr/>
          <p:nvPr/>
        </p:nvCxnSpPr>
        <p:spPr>
          <a:xfrm xmlns:a="http://schemas.openxmlformats.org/drawingml/2006/main">
            <a:off x="8429625" y="3181350"/>
            <a:ext cx="714375" cy="0"/>
          </a:xfrm>
          <a:prstGeom xmlns:a="http://schemas.openxmlformats.org/drawingml/2006/main" prst="straightConnector1">
            <a:avLst/>
          </a:prstGeom>
          <a:ln xmlns:a="http://schemas.openxmlformats.org/drawingml/2006/main" w="19050">
            <a:solidFill>
              <a:srgbClr val="A7F3D0"/>
            </a:solidFill>
            <a:prstDash val="solid"/>
            <a:tailEnd type="arrow" w="med" len="med"/>
          </a:ln>
        </p:spPr>
      </p:cxnSp>
      <p:sp>
        <p:nvSpPr>
          <p:cNvPr id="7" name="arch-node-0">
            <a:extLst xmlns:a="http://schemas.openxmlformats.org/drawingml/2006/main">
              <a:ext uri="{FF2B5EF4-FFF2-40B4-BE49-F238E27FC236}">
                <a16:creationId xmlns:a16="http://schemas.microsoft.com/office/drawing/2014/main" id="{8BADF4AB-8759-4E78-858B-165DF352167C}"/>
              </a:ext>
            </a:extLst>
          </p:cNvPr>
          <p:cNvSpPr>
            <a:spLocks xmlns:a="http://schemas.openxmlformats.org/drawingml/2006/main" noGrp="1"/>
          </p:cNvSpPr>
          <p:nvPr/>
        </p:nvSpPr>
        <p:spPr>
          <a:xfrm xmlns:a="http://schemas.openxmlformats.org/drawingml/2006/main">
            <a:off x="666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5EEAD4"/>
            </a:solidFill>
            <a:prstDash val="solid"/>
          </a:ln>
        </p:spPr>
      </p:sp>
      <p:sp>
        <p:nvSpPr>
          <p:cNvPr id="8" name="arch-accent-0">
            <a:extLst xmlns:a="http://schemas.openxmlformats.org/drawingml/2006/main">
              <a:ext uri="{FF2B5EF4-FFF2-40B4-BE49-F238E27FC236}">
                <a16:creationId xmlns:a16="http://schemas.microsoft.com/office/drawing/2014/main" id="{F6470852-53C7-4F42-A205-283A2FC7E557}"/>
              </a:ext>
            </a:extLst>
          </p:cNvPr>
          <p:cNvSpPr>
            <a:spLocks xmlns:a="http://schemas.openxmlformats.org/drawingml/2006/main" noGrp="1"/>
          </p:cNvSpPr>
          <p:nvPr/>
        </p:nvSpPr>
        <p:spPr>
          <a:xfrm xmlns:a="http://schemas.openxmlformats.org/drawingml/2006/main">
            <a:off x="857250" y="2514600"/>
            <a:ext cx="457200" cy="5715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0DC7CAC-049F-4EBB-B8AB-FCC934791287}"/>
              </a:ext>
            </a:extLst>
          </p:cNvPr>
          <p:cNvSpPr>
            <a:spLocks xmlns:a="http://schemas.openxmlformats.org/drawingml/2006/main" noGrp="1"/>
          </p:cNvSpPr>
          <p:nvPr/>
        </p:nvSpPr>
        <p:spPr>
          <a:xfrm xmlns:a="http://schemas.openxmlformats.org/drawingml/2006/main">
            <a:off x="857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LOCAL AUDIO</a:t>
            </a:r>
          </a:p>
        </p:txBody>
      </p:sp>
      <p:sp>
        <p:nvSpPr>
          <p:cNvPr id="10" name="">
            <a:extLst xmlns:a="http://schemas.openxmlformats.org/drawingml/2006/main">
              <a:ext uri="{FF2B5EF4-FFF2-40B4-BE49-F238E27FC236}">
                <a16:creationId xmlns:a16="http://schemas.microsoft.com/office/drawing/2014/main" id="{9E36FCA5-8CB4-4D51-BA32-5C37797F4B81}"/>
              </a:ext>
            </a:extLst>
          </p:cNvPr>
          <p:cNvSpPr>
            <a:spLocks xmlns:a="http://schemas.openxmlformats.org/drawingml/2006/main" noGrp="1"/>
          </p:cNvSpPr>
          <p:nvPr/>
        </p:nvSpPr>
        <p:spPr>
          <a:xfrm xmlns:a="http://schemas.openxmlformats.org/drawingml/2006/main">
            <a:off x="857250" y="314325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F7FAFC"/>
                </a:solidFill>
                <a:latin typeface="Arial"/>
                <a:ea typeface="Arial"/>
                <a:cs typeface="Arial"/>
              </a:defRPr>
            </a:defPPr>
            <a:lvl1pPr>
              <a:defRPr sz="1425" b="1">
                <a:solidFill>
                  <a:srgbClr val="F7FAFC"/>
                </a:solidFill>
                <a:latin typeface="Arial"/>
                <a:ea typeface="Arial"/>
                <a:cs typeface="Arial"/>
              </a:defRPr>
            </a:lvl1pPr>
            <a:lvl2pPr>
              <a:defRPr sz="1425" b="1">
                <a:solidFill>
                  <a:srgbClr val="F7FAFC"/>
                </a:solidFill>
                <a:latin typeface="Arial"/>
                <a:ea typeface="Arial"/>
                <a:cs typeface="Arial"/>
              </a:defRPr>
            </a:lvl2pPr>
            <a:lvl3pPr>
              <a:defRPr sz="1425" b="1">
                <a:solidFill>
                  <a:srgbClr val="F7FAFC"/>
                </a:solidFill>
                <a:latin typeface="Arial"/>
                <a:ea typeface="Arial"/>
                <a:cs typeface="Arial"/>
              </a:defRPr>
            </a:lvl3pPr>
            <a:lvl4pPr>
              <a:defRPr sz="1425" b="1">
                <a:solidFill>
                  <a:srgbClr val="F7FAFC"/>
                </a:solidFill>
                <a:latin typeface="Arial"/>
                <a:ea typeface="Arial"/>
                <a:cs typeface="Arial"/>
              </a:defRPr>
            </a:lvl4pPr>
            <a:lvl5pPr>
              <a:defRPr sz="1425" b="1">
                <a:solidFill>
                  <a:srgbClr val="F7FAFC"/>
                </a:solidFill>
                <a:latin typeface="Arial"/>
                <a:ea typeface="Arial"/>
                <a:cs typeface="Arial"/>
              </a:defRPr>
            </a:lvl5pPr>
            <a:lvl6pPr>
              <a:defRPr sz="1425" b="1">
                <a:solidFill>
                  <a:srgbClr val="F7FAFC"/>
                </a:solidFill>
                <a:latin typeface="Arial"/>
                <a:ea typeface="Arial"/>
                <a:cs typeface="Arial"/>
              </a:defRPr>
            </a:lvl6pPr>
            <a:lvl7pPr>
              <a:defRPr sz="1425" b="1">
                <a:solidFill>
                  <a:srgbClr val="F7FAFC"/>
                </a:solidFill>
                <a:latin typeface="Arial"/>
                <a:ea typeface="Arial"/>
                <a:cs typeface="Arial"/>
              </a:defRPr>
            </a:lvl7pPr>
            <a:lvl8pPr>
              <a:defRPr sz="1425" b="1">
                <a:solidFill>
                  <a:srgbClr val="F7FAFC"/>
                </a:solidFill>
                <a:latin typeface="Arial"/>
                <a:ea typeface="Arial"/>
                <a:cs typeface="Arial"/>
              </a:defRPr>
            </a:lvl8pPr>
            <a:lvl9pPr>
              <a:defRPr sz="1425" b="1">
                <a:solidFill>
                  <a:srgbClr val="F7FAFC"/>
                </a:solidFill>
                <a:latin typeface="Arial"/>
                <a:ea typeface="Arial"/>
                <a:cs typeface="Arial"/>
              </a:defRPr>
            </a:lvl9pPr>
          </a:lstStyle>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Mic → VAD → ASR</a:t>
            </a:r>
          </a:p>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TTS → speaker</a:t>
            </a:r>
          </a:p>
        </p:txBody>
      </p:sp>
      <p:sp>
        <p:nvSpPr>
          <p:cNvPr id="11" name="">
            <a:extLst xmlns:a="http://schemas.openxmlformats.org/drawingml/2006/main">
              <a:ext uri="{FF2B5EF4-FFF2-40B4-BE49-F238E27FC236}">
                <a16:creationId xmlns:a16="http://schemas.microsoft.com/office/drawing/2014/main" id="{030D91E3-C860-49C9-8105-4ED309E4AAD2}"/>
              </a:ext>
            </a:extLst>
          </p:cNvPr>
          <p:cNvSpPr>
            <a:spLocks xmlns:a="http://schemas.openxmlformats.org/drawingml/2006/main" noGrp="1"/>
          </p:cNvSpPr>
          <p:nvPr/>
        </p:nvSpPr>
        <p:spPr>
          <a:xfrm xmlns:a="http://schemas.openxmlformats.org/drawingml/2006/main">
            <a:off x="857250" y="3810000"/>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Pi / Windows</a:t>
            </a:r>
          </a:p>
        </p:txBody>
      </p:sp>
      <p:sp>
        <p:nvSpPr>
          <p:cNvPr id="12" name="arch-node-1">
            <a:extLst xmlns:a="http://schemas.openxmlformats.org/drawingml/2006/main">
              <a:ext uri="{FF2B5EF4-FFF2-40B4-BE49-F238E27FC236}">
                <a16:creationId xmlns:a16="http://schemas.microsoft.com/office/drawing/2014/main" id="{6BD0C61B-7941-406B-8395-D288A8ACC809}"/>
              </a:ext>
            </a:extLst>
          </p:cNvPr>
          <p:cNvSpPr>
            <a:spLocks xmlns:a="http://schemas.openxmlformats.org/drawingml/2006/main" noGrp="1"/>
          </p:cNvSpPr>
          <p:nvPr/>
        </p:nvSpPr>
        <p:spPr>
          <a:xfrm xmlns:a="http://schemas.openxmlformats.org/drawingml/2006/main">
            <a:off x="3714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60A5FA"/>
            </a:solidFill>
            <a:prstDash val="solid"/>
          </a:ln>
        </p:spPr>
      </p:sp>
      <p:sp>
        <p:nvSpPr>
          <p:cNvPr id="13" name="arch-accent-1">
            <a:extLst xmlns:a="http://schemas.openxmlformats.org/drawingml/2006/main">
              <a:ext uri="{FF2B5EF4-FFF2-40B4-BE49-F238E27FC236}">
                <a16:creationId xmlns:a16="http://schemas.microsoft.com/office/drawing/2014/main" id="{529FD6F9-2C2B-4B23-975C-66872DBAEB48}"/>
              </a:ext>
            </a:extLst>
          </p:cNvPr>
          <p:cNvSpPr>
            <a:spLocks xmlns:a="http://schemas.openxmlformats.org/drawingml/2006/main" noGrp="1"/>
          </p:cNvSpPr>
          <p:nvPr/>
        </p:nvSpPr>
        <p:spPr>
          <a:xfrm xmlns:a="http://schemas.openxmlformats.org/drawingml/2006/main">
            <a:off x="3905250" y="2514600"/>
            <a:ext cx="457200" cy="57150"/>
          </a:xfrm>
          <a:prstGeom xmlns:a="http://schemas.openxmlformats.org/drawingml/2006/main" prst="rect">
            <a:avLst/>
          </a:prstGeom>
          <a:solidFill xmlns:a="http://schemas.openxmlformats.org/drawingml/2006/main">
            <a:srgbClr val="60A5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5D4057E-5704-42DD-BF52-854CC6B77A5B}"/>
              </a:ext>
            </a:extLst>
          </p:cNvPr>
          <p:cNvSpPr>
            <a:spLocks xmlns:a="http://schemas.openxmlformats.org/drawingml/2006/main" noGrp="1"/>
          </p:cNvSpPr>
          <p:nvPr/>
        </p:nvSpPr>
        <p:spPr>
          <a:xfrm xmlns:a="http://schemas.openxmlformats.org/drawingml/2006/main">
            <a:off x="3905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QWEN BRAIN</a:t>
            </a:r>
          </a:p>
        </p:txBody>
      </p:sp>
      <p:sp>
        <p:nvSpPr>
          <p:cNvPr id="15" name="">
            <a:extLst xmlns:a="http://schemas.openxmlformats.org/drawingml/2006/main">
              <a:ext uri="{FF2B5EF4-FFF2-40B4-BE49-F238E27FC236}">
                <a16:creationId xmlns:a16="http://schemas.microsoft.com/office/drawing/2014/main" id="{D7A15E76-A187-403E-9FE0-B5AEE3B55FE7}"/>
              </a:ext>
            </a:extLst>
          </p:cNvPr>
          <p:cNvSpPr>
            <a:spLocks xmlns:a="http://schemas.openxmlformats.org/drawingml/2006/main" noGrp="1"/>
          </p:cNvSpPr>
          <p:nvPr/>
        </p:nvSpPr>
        <p:spPr>
          <a:xfrm xmlns:a="http://schemas.openxmlformats.org/drawingml/2006/main">
            <a:off x="3905250" y="314325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F7FAFC"/>
                </a:solidFill>
                <a:latin typeface="Arial"/>
                <a:ea typeface="Arial"/>
                <a:cs typeface="Arial"/>
              </a:defRPr>
            </a:defPPr>
            <a:lvl1pPr>
              <a:defRPr sz="1425" b="1">
                <a:solidFill>
                  <a:srgbClr val="F7FAFC"/>
                </a:solidFill>
                <a:latin typeface="Arial"/>
                <a:ea typeface="Arial"/>
                <a:cs typeface="Arial"/>
              </a:defRPr>
            </a:lvl1pPr>
            <a:lvl2pPr>
              <a:defRPr sz="1425" b="1">
                <a:solidFill>
                  <a:srgbClr val="F7FAFC"/>
                </a:solidFill>
                <a:latin typeface="Arial"/>
                <a:ea typeface="Arial"/>
                <a:cs typeface="Arial"/>
              </a:defRPr>
            </a:lvl2pPr>
            <a:lvl3pPr>
              <a:defRPr sz="1425" b="1">
                <a:solidFill>
                  <a:srgbClr val="F7FAFC"/>
                </a:solidFill>
                <a:latin typeface="Arial"/>
                <a:ea typeface="Arial"/>
                <a:cs typeface="Arial"/>
              </a:defRPr>
            </a:lvl3pPr>
            <a:lvl4pPr>
              <a:defRPr sz="1425" b="1">
                <a:solidFill>
                  <a:srgbClr val="F7FAFC"/>
                </a:solidFill>
                <a:latin typeface="Arial"/>
                <a:ea typeface="Arial"/>
                <a:cs typeface="Arial"/>
              </a:defRPr>
            </a:lvl4pPr>
            <a:lvl5pPr>
              <a:defRPr sz="1425" b="1">
                <a:solidFill>
                  <a:srgbClr val="F7FAFC"/>
                </a:solidFill>
                <a:latin typeface="Arial"/>
                <a:ea typeface="Arial"/>
                <a:cs typeface="Arial"/>
              </a:defRPr>
            </a:lvl5pPr>
            <a:lvl6pPr>
              <a:defRPr sz="1425" b="1">
                <a:solidFill>
                  <a:srgbClr val="F7FAFC"/>
                </a:solidFill>
                <a:latin typeface="Arial"/>
                <a:ea typeface="Arial"/>
                <a:cs typeface="Arial"/>
              </a:defRPr>
            </a:lvl6pPr>
            <a:lvl7pPr>
              <a:defRPr sz="1425" b="1">
                <a:solidFill>
                  <a:srgbClr val="F7FAFC"/>
                </a:solidFill>
                <a:latin typeface="Arial"/>
                <a:ea typeface="Arial"/>
                <a:cs typeface="Arial"/>
              </a:defRPr>
            </a:lvl7pPr>
            <a:lvl8pPr>
              <a:defRPr sz="1425" b="1">
                <a:solidFill>
                  <a:srgbClr val="F7FAFC"/>
                </a:solidFill>
                <a:latin typeface="Arial"/>
                <a:ea typeface="Arial"/>
                <a:cs typeface="Arial"/>
              </a:defRPr>
            </a:lvl8pPr>
            <a:lvl9pPr>
              <a:defRPr sz="1425" b="1">
                <a:solidFill>
                  <a:srgbClr val="F7FAFC"/>
                </a:solidFill>
                <a:latin typeface="Arial"/>
                <a:ea typeface="Arial"/>
                <a:cs typeface="Arial"/>
              </a:defRPr>
            </a:lvl9pPr>
          </a:lstStyle>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Chat completions</a:t>
            </a:r>
          </a:p>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tool_choice = auto</a:t>
            </a:r>
          </a:p>
        </p:txBody>
      </p:sp>
      <p:sp>
        <p:nvSpPr>
          <p:cNvPr id="16" name="">
            <a:extLst xmlns:a="http://schemas.openxmlformats.org/drawingml/2006/main">
              <a:ext uri="{FF2B5EF4-FFF2-40B4-BE49-F238E27FC236}">
                <a16:creationId xmlns:a16="http://schemas.microsoft.com/office/drawing/2014/main" id="{131BF7BC-FFAB-498F-BDFC-7D259D2BE824}"/>
              </a:ext>
            </a:extLst>
          </p:cNvPr>
          <p:cNvSpPr>
            <a:spLocks xmlns:a="http://schemas.openxmlformats.org/drawingml/2006/main" noGrp="1"/>
          </p:cNvSpPr>
          <p:nvPr/>
        </p:nvSpPr>
        <p:spPr>
          <a:xfrm xmlns:a="http://schemas.openxmlformats.org/drawingml/2006/main">
            <a:off x="3905250" y="3810000"/>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vLLM API</a:t>
            </a:r>
          </a:p>
        </p:txBody>
      </p:sp>
      <p:sp>
        <p:nvSpPr>
          <p:cNvPr id="17" name="arch-node-2">
            <a:extLst xmlns:a="http://schemas.openxmlformats.org/drawingml/2006/main">
              <a:ext uri="{FF2B5EF4-FFF2-40B4-BE49-F238E27FC236}">
                <a16:creationId xmlns:a16="http://schemas.microsoft.com/office/drawing/2014/main" id="{A0D4910F-3F3B-4FB7-B284-1B71DD3E92D1}"/>
              </a:ext>
            </a:extLst>
          </p:cNvPr>
          <p:cNvSpPr>
            <a:spLocks xmlns:a="http://schemas.openxmlformats.org/drawingml/2006/main" noGrp="1"/>
          </p:cNvSpPr>
          <p:nvPr/>
        </p:nvSpPr>
        <p:spPr>
          <a:xfrm xmlns:a="http://schemas.openxmlformats.org/drawingml/2006/main">
            <a:off x="6762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FCD34D"/>
            </a:solidFill>
            <a:prstDash val="solid"/>
          </a:ln>
        </p:spPr>
      </p:sp>
      <p:sp>
        <p:nvSpPr>
          <p:cNvPr id="18" name="arch-accent-2">
            <a:extLst xmlns:a="http://schemas.openxmlformats.org/drawingml/2006/main">
              <a:ext uri="{FF2B5EF4-FFF2-40B4-BE49-F238E27FC236}">
                <a16:creationId xmlns:a16="http://schemas.microsoft.com/office/drawing/2014/main" id="{6F8FC2FE-CA91-43E0-AB8D-1D6ABA9AC366}"/>
              </a:ext>
            </a:extLst>
          </p:cNvPr>
          <p:cNvSpPr>
            <a:spLocks xmlns:a="http://schemas.openxmlformats.org/drawingml/2006/main" noGrp="1"/>
          </p:cNvSpPr>
          <p:nvPr/>
        </p:nvSpPr>
        <p:spPr>
          <a:xfrm xmlns:a="http://schemas.openxmlformats.org/drawingml/2006/main">
            <a:off x="6953250" y="2514600"/>
            <a:ext cx="457200" cy="57150"/>
          </a:xfrm>
          <a:prstGeom xmlns:a="http://schemas.openxmlformats.org/drawingml/2006/main" prst="rect">
            <a:avLst/>
          </a:prstGeom>
          <a:solidFill xmlns:a="http://schemas.openxmlformats.org/drawingml/2006/main">
            <a:srgbClr val="FCD34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CE72E0A-1293-447B-A3B8-E77CFBAB4BB2}"/>
              </a:ext>
            </a:extLst>
          </p:cNvPr>
          <p:cNvSpPr>
            <a:spLocks xmlns:a="http://schemas.openxmlformats.org/drawingml/2006/main" noGrp="1"/>
          </p:cNvSpPr>
          <p:nvPr/>
        </p:nvSpPr>
        <p:spPr>
          <a:xfrm xmlns:a="http://schemas.openxmlformats.org/drawingml/2006/main">
            <a:off x="6953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TOOL REGISTRY</a:t>
            </a:r>
          </a:p>
        </p:txBody>
      </p:sp>
      <p:sp>
        <p:nvSpPr>
          <p:cNvPr id="20" name="">
            <a:extLst xmlns:a="http://schemas.openxmlformats.org/drawingml/2006/main">
              <a:ext uri="{FF2B5EF4-FFF2-40B4-BE49-F238E27FC236}">
                <a16:creationId xmlns:a16="http://schemas.microsoft.com/office/drawing/2014/main" id="{6BF234F1-AF1D-49F5-99A1-144774AC3ABA}"/>
              </a:ext>
            </a:extLst>
          </p:cNvPr>
          <p:cNvSpPr>
            <a:spLocks xmlns:a="http://schemas.openxmlformats.org/drawingml/2006/main" noGrp="1"/>
          </p:cNvSpPr>
          <p:nvPr/>
        </p:nvSpPr>
        <p:spPr>
          <a:xfrm xmlns:a="http://schemas.openxmlformats.org/drawingml/2006/main">
            <a:off x="6953250" y="314325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F7FAFC"/>
                </a:solidFill>
                <a:latin typeface="Arial"/>
                <a:ea typeface="Arial"/>
                <a:cs typeface="Arial"/>
              </a:defRPr>
            </a:defPPr>
            <a:lvl1pPr>
              <a:defRPr sz="1425" b="1">
                <a:solidFill>
                  <a:srgbClr val="F7FAFC"/>
                </a:solidFill>
                <a:latin typeface="Arial"/>
                <a:ea typeface="Arial"/>
                <a:cs typeface="Arial"/>
              </a:defRPr>
            </a:lvl1pPr>
            <a:lvl2pPr>
              <a:defRPr sz="1425" b="1">
                <a:solidFill>
                  <a:srgbClr val="F7FAFC"/>
                </a:solidFill>
                <a:latin typeface="Arial"/>
                <a:ea typeface="Arial"/>
                <a:cs typeface="Arial"/>
              </a:defRPr>
            </a:lvl2pPr>
            <a:lvl3pPr>
              <a:defRPr sz="1425" b="1">
                <a:solidFill>
                  <a:srgbClr val="F7FAFC"/>
                </a:solidFill>
                <a:latin typeface="Arial"/>
                <a:ea typeface="Arial"/>
                <a:cs typeface="Arial"/>
              </a:defRPr>
            </a:lvl3pPr>
            <a:lvl4pPr>
              <a:defRPr sz="1425" b="1">
                <a:solidFill>
                  <a:srgbClr val="F7FAFC"/>
                </a:solidFill>
                <a:latin typeface="Arial"/>
                <a:ea typeface="Arial"/>
                <a:cs typeface="Arial"/>
              </a:defRPr>
            </a:lvl4pPr>
            <a:lvl5pPr>
              <a:defRPr sz="1425" b="1">
                <a:solidFill>
                  <a:srgbClr val="F7FAFC"/>
                </a:solidFill>
                <a:latin typeface="Arial"/>
                <a:ea typeface="Arial"/>
                <a:cs typeface="Arial"/>
              </a:defRPr>
            </a:lvl5pPr>
            <a:lvl6pPr>
              <a:defRPr sz="1425" b="1">
                <a:solidFill>
                  <a:srgbClr val="F7FAFC"/>
                </a:solidFill>
                <a:latin typeface="Arial"/>
                <a:ea typeface="Arial"/>
                <a:cs typeface="Arial"/>
              </a:defRPr>
            </a:lvl6pPr>
            <a:lvl7pPr>
              <a:defRPr sz="1425" b="1">
                <a:solidFill>
                  <a:srgbClr val="F7FAFC"/>
                </a:solidFill>
                <a:latin typeface="Arial"/>
                <a:ea typeface="Arial"/>
                <a:cs typeface="Arial"/>
              </a:defRPr>
            </a:lvl7pPr>
            <a:lvl8pPr>
              <a:defRPr sz="1425" b="1">
                <a:solidFill>
                  <a:srgbClr val="F7FAFC"/>
                </a:solidFill>
                <a:latin typeface="Arial"/>
                <a:ea typeface="Arial"/>
                <a:cs typeface="Arial"/>
              </a:defRPr>
            </a:lvl8pPr>
            <a:lvl9pPr>
              <a:defRPr sz="1425" b="1">
                <a:solidFill>
                  <a:srgbClr val="F7FAFC"/>
                </a:solidFill>
                <a:latin typeface="Arial"/>
                <a:ea typeface="Arial"/>
                <a:cs typeface="Arial"/>
              </a:defRPr>
            </a:lvl9pPr>
          </a:lstStyle>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Files • web • commands</a:t>
            </a:r>
          </a:p>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background tasks</a:t>
            </a:r>
          </a:p>
        </p:txBody>
      </p:sp>
      <p:sp>
        <p:nvSpPr>
          <p:cNvPr id="21" name="">
            <a:extLst xmlns:a="http://schemas.openxmlformats.org/drawingml/2006/main">
              <a:ext uri="{FF2B5EF4-FFF2-40B4-BE49-F238E27FC236}">
                <a16:creationId xmlns:a16="http://schemas.microsoft.com/office/drawing/2014/main" id="{8D4DBB84-52A6-40B3-BB7F-319E5A9C1F40}"/>
              </a:ext>
            </a:extLst>
          </p:cNvPr>
          <p:cNvSpPr>
            <a:spLocks xmlns:a="http://schemas.openxmlformats.org/drawingml/2006/main" noGrp="1"/>
          </p:cNvSpPr>
          <p:nvPr/>
        </p:nvSpPr>
        <p:spPr>
          <a:xfrm xmlns:a="http://schemas.openxmlformats.org/drawingml/2006/main">
            <a:off x="6953250" y="3810000"/>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ME3 policy</a:t>
            </a:r>
          </a:p>
        </p:txBody>
      </p:sp>
      <p:sp>
        <p:nvSpPr>
          <p:cNvPr id="22" name="arch-node-3">
            <a:extLst xmlns:a="http://schemas.openxmlformats.org/drawingml/2006/main">
              <a:ext uri="{FF2B5EF4-FFF2-40B4-BE49-F238E27FC236}">
                <a16:creationId xmlns:a16="http://schemas.microsoft.com/office/drawing/2014/main" id="{87973CF3-CFD8-439B-B868-FD7A5D5B47FD}"/>
              </a:ext>
            </a:extLst>
          </p:cNvPr>
          <p:cNvSpPr>
            <a:spLocks xmlns:a="http://schemas.openxmlformats.org/drawingml/2006/main" noGrp="1"/>
          </p:cNvSpPr>
          <p:nvPr/>
        </p:nvSpPr>
        <p:spPr>
          <a:xfrm xmlns:a="http://schemas.openxmlformats.org/drawingml/2006/main">
            <a:off x="9810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A7F3D0"/>
            </a:solidFill>
            <a:prstDash val="solid"/>
          </a:ln>
        </p:spPr>
      </p:sp>
      <p:sp>
        <p:nvSpPr>
          <p:cNvPr id="23" name="arch-accent-3">
            <a:extLst xmlns:a="http://schemas.openxmlformats.org/drawingml/2006/main">
              <a:ext uri="{FF2B5EF4-FFF2-40B4-BE49-F238E27FC236}">
                <a16:creationId xmlns:a16="http://schemas.microsoft.com/office/drawing/2014/main" id="{ADF39582-DFC1-41B7-8437-293281763B14}"/>
              </a:ext>
            </a:extLst>
          </p:cNvPr>
          <p:cNvSpPr>
            <a:spLocks xmlns:a="http://schemas.openxmlformats.org/drawingml/2006/main" noGrp="1"/>
          </p:cNvSpPr>
          <p:nvPr/>
        </p:nvSpPr>
        <p:spPr>
          <a:xfrm xmlns:a="http://schemas.openxmlformats.org/drawingml/2006/main">
            <a:off x="10001250" y="2514600"/>
            <a:ext cx="457200" cy="57150"/>
          </a:xfrm>
          <a:prstGeom xmlns:a="http://schemas.openxmlformats.org/drawingml/2006/main" prst="rect">
            <a:avLst/>
          </a:prstGeom>
          <a:solidFill xmlns:a="http://schemas.openxmlformats.org/drawingml/2006/main">
            <a:srgbClr val="A7F3D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92617F9-FFE7-4E22-873A-27723133EC71}"/>
              </a:ext>
            </a:extLst>
          </p:cNvPr>
          <p:cNvSpPr>
            <a:spLocks xmlns:a="http://schemas.openxmlformats.org/drawingml/2006/main" noGrp="1"/>
          </p:cNvSpPr>
          <p:nvPr/>
        </p:nvSpPr>
        <p:spPr>
          <a:xfrm xmlns:a="http://schemas.openxmlformats.org/drawingml/2006/main">
            <a:off x="10001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EVIDENCE</a:t>
            </a:r>
          </a:p>
        </p:txBody>
      </p:sp>
      <p:sp>
        <p:nvSpPr>
          <p:cNvPr id="25" name="">
            <a:extLst xmlns:a="http://schemas.openxmlformats.org/drawingml/2006/main">
              <a:ext uri="{FF2B5EF4-FFF2-40B4-BE49-F238E27FC236}">
                <a16:creationId xmlns:a16="http://schemas.microsoft.com/office/drawing/2014/main" id="{78F745E4-35D4-4A0D-9F6F-58D5043536C2}"/>
              </a:ext>
            </a:extLst>
          </p:cNvPr>
          <p:cNvSpPr>
            <a:spLocks xmlns:a="http://schemas.openxmlformats.org/drawingml/2006/main" noGrp="1"/>
          </p:cNvSpPr>
          <p:nvPr/>
        </p:nvSpPr>
        <p:spPr>
          <a:xfrm xmlns:a="http://schemas.openxmlformats.org/drawingml/2006/main">
            <a:off x="10001250" y="314325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F7FAFC"/>
                </a:solidFill>
                <a:latin typeface="Arial"/>
                <a:ea typeface="Arial"/>
                <a:cs typeface="Arial"/>
              </a:defRPr>
            </a:defPPr>
            <a:lvl1pPr>
              <a:defRPr sz="1425" b="1">
                <a:solidFill>
                  <a:srgbClr val="F7FAFC"/>
                </a:solidFill>
                <a:latin typeface="Arial"/>
                <a:ea typeface="Arial"/>
                <a:cs typeface="Arial"/>
              </a:defRPr>
            </a:lvl1pPr>
            <a:lvl2pPr>
              <a:defRPr sz="1425" b="1">
                <a:solidFill>
                  <a:srgbClr val="F7FAFC"/>
                </a:solidFill>
                <a:latin typeface="Arial"/>
                <a:ea typeface="Arial"/>
                <a:cs typeface="Arial"/>
              </a:defRPr>
            </a:lvl2pPr>
            <a:lvl3pPr>
              <a:defRPr sz="1425" b="1">
                <a:solidFill>
                  <a:srgbClr val="F7FAFC"/>
                </a:solidFill>
                <a:latin typeface="Arial"/>
                <a:ea typeface="Arial"/>
                <a:cs typeface="Arial"/>
              </a:defRPr>
            </a:lvl3pPr>
            <a:lvl4pPr>
              <a:defRPr sz="1425" b="1">
                <a:solidFill>
                  <a:srgbClr val="F7FAFC"/>
                </a:solidFill>
                <a:latin typeface="Arial"/>
                <a:ea typeface="Arial"/>
                <a:cs typeface="Arial"/>
              </a:defRPr>
            </a:lvl4pPr>
            <a:lvl5pPr>
              <a:defRPr sz="1425" b="1">
                <a:solidFill>
                  <a:srgbClr val="F7FAFC"/>
                </a:solidFill>
                <a:latin typeface="Arial"/>
                <a:ea typeface="Arial"/>
                <a:cs typeface="Arial"/>
              </a:defRPr>
            </a:lvl5pPr>
            <a:lvl6pPr>
              <a:defRPr sz="1425" b="1">
                <a:solidFill>
                  <a:srgbClr val="F7FAFC"/>
                </a:solidFill>
                <a:latin typeface="Arial"/>
                <a:ea typeface="Arial"/>
                <a:cs typeface="Arial"/>
              </a:defRPr>
            </a:lvl6pPr>
            <a:lvl7pPr>
              <a:defRPr sz="1425" b="1">
                <a:solidFill>
                  <a:srgbClr val="F7FAFC"/>
                </a:solidFill>
                <a:latin typeface="Arial"/>
                <a:ea typeface="Arial"/>
                <a:cs typeface="Arial"/>
              </a:defRPr>
            </a:lvl7pPr>
            <a:lvl8pPr>
              <a:defRPr sz="1425" b="1">
                <a:solidFill>
                  <a:srgbClr val="F7FAFC"/>
                </a:solidFill>
                <a:latin typeface="Arial"/>
                <a:ea typeface="Arial"/>
                <a:cs typeface="Arial"/>
              </a:defRPr>
            </a:lvl8pPr>
            <a:lvl9pPr>
              <a:defRPr sz="1425" b="1">
                <a:solidFill>
                  <a:srgbClr val="F7FAFC"/>
                </a:solidFill>
                <a:latin typeface="Arial"/>
                <a:ea typeface="Arial"/>
                <a:cs typeface="Arial"/>
              </a:defRPr>
            </a:lvl9pPr>
          </a:lstStyle>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Tool result →</a:t>
            </a:r>
          </a:p>
          <a:p xmlns:a="http://schemas.openxmlformats.org/drawingml/2006/main">
            <a:pPr>
              <a:defRPr sz="1425" b="1">
                <a:solidFill>
                  <a:srgbClr val="F7FAFC"/>
                </a:solidFill>
                <a:latin typeface="Arial"/>
                <a:ea typeface="Arial"/>
                <a:cs typeface="Arial"/>
              </a:defRPr>
            </a:pPr>
            <a:r>
              <a:rPr sz="1425" b="1">
                <a:solidFill>
                  <a:srgbClr val="F7FAFC"/>
                </a:solidFill>
                <a:latin typeface="Arial"/>
                <a:ea typeface="Arial"/>
                <a:cs typeface="Arial"/>
              </a:rPr>
              <a:t>spoken response</a:t>
            </a:r>
          </a:p>
        </p:txBody>
      </p:sp>
      <p:sp>
        <p:nvSpPr>
          <p:cNvPr id="26" name="">
            <a:extLst xmlns:a="http://schemas.openxmlformats.org/drawingml/2006/main">
              <a:ext uri="{FF2B5EF4-FFF2-40B4-BE49-F238E27FC236}">
                <a16:creationId xmlns:a16="http://schemas.microsoft.com/office/drawing/2014/main" id="{2513AD07-4398-4703-A65D-3BEE38A5C7CA}"/>
              </a:ext>
            </a:extLst>
          </p:cNvPr>
          <p:cNvSpPr>
            <a:spLocks xmlns:a="http://schemas.openxmlformats.org/drawingml/2006/main" noGrp="1"/>
          </p:cNvSpPr>
          <p:nvPr/>
        </p:nvSpPr>
        <p:spPr>
          <a:xfrm xmlns:a="http://schemas.openxmlformats.org/drawingml/2006/main">
            <a:off x="10001250" y="3810000"/>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auditable</a:t>
            </a:r>
          </a:p>
        </p:txBody>
      </p:sp>
      <p:sp>
        <p:nvSpPr>
          <p:cNvPr id="27" name="arch-principle">
            <a:extLst xmlns:a="http://schemas.openxmlformats.org/drawingml/2006/main">
              <a:ext uri="{FF2B5EF4-FFF2-40B4-BE49-F238E27FC236}">
                <a16:creationId xmlns:a16="http://schemas.microsoft.com/office/drawing/2014/main" id="{CAF624ED-FFA4-455F-A871-04F99CAB8527}"/>
              </a:ext>
            </a:extLst>
          </p:cNvPr>
          <p:cNvSpPr>
            <a:spLocks xmlns:a="http://schemas.openxmlformats.org/drawingml/2006/main" noGrp="1"/>
          </p:cNvSpPr>
          <p:nvPr/>
        </p:nvSpPr>
        <p:spPr>
          <a:xfrm xmlns:a="http://schemas.openxmlformats.org/drawingml/2006/main">
            <a:off x="1619250" y="4762500"/>
            <a:ext cx="8953500" cy="685800"/>
          </a:xfrm>
          <a:prstGeom xmlns:a="http://schemas.openxmlformats.org/drawingml/2006/main" prst="roundRect">
            <a:avLst>
              <a:gd name="adj" fmla="val 16667"/>
            </a:avLst>
          </a:prstGeom>
          <a:solidFill xmlns:a="http://schemas.openxmlformats.org/drawingml/2006/main">
            <a:srgbClr val="102A4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B3D72B1-DD4D-47A4-8663-9CEFFC8AFC7F}"/>
              </a:ext>
            </a:extLst>
          </p:cNvPr>
          <p:cNvSpPr>
            <a:spLocks xmlns:a="http://schemas.openxmlformats.org/drawingml/2006/main" noGrp="1"/>
          </p:cNvSpPr>
          <p:nvPr/>
        </p:nvSpPr>
        <p:spPr>
          <a:xfrm xmlns:a="http://schemas.openxmlformats.org/drawingml/2006/main">
            <a:off x="1952625" y="4953000"/>
            <a:ext cx="828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One bounded registry is shared by direct Qwen calls and MCP wrappers.</a:t>
            </a:r>
          </a:p>
        </p:txBody>
      </p:sp>
      <p:sp>
        <p:nvSpPr>
          <p:cNvPr id="29" name="">
            <a:extLst xmlns:a="http://schemas.openxmlformats.org/drawingml/2006/main">
              <a:ext uri="{FF2B5EF4-FFF2-40B4-BE49-F238E27FC236}">
                <a16:creationId xmlns:a16="http://schemas.microsoft.com/office/drawing/2014/main" id="{5A77E5F9-9D79-4CD0-9A34-700B5E72E3FA}"/>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3/7</a:t>
            </a:r>
          </a:p>
        </p:txBody>
      </p:sp>
    </p:spTree>
    <p:extLst>
      <p:ext uri="{BB962C8B-B14F-4D97-AF65-F5344CB8AC3E}">
        <p14:creationId xmlns:p14="http://schemas.microsoft.com/office/powerpoint/2010/main" val="2072483510"/>
      </p:ext>
    </p:extLst>
  </p:cSld>
</p:sld>
</file>

<file path=ppt/slides/slide4.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9FA0EF6-EAF7-437A-9FF4-8F27B8FE9BFE}"/>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TOOL CALL IN ACTION</a:t>
            </a:r>
          </a:p>
        </p:txBody>
      </p:sp>
      <p:sp>
        <p:nvSpPr>
          <p:cNvPr id="2" name="">
            <a:extLst xmlns:a="http://schemas.openxmlformats.org/drawingml/2006/main">
              <a:ext uri="{FF2B5EF4-FFF2-40B4-BE49-F238E27FC236}">
                <a16:creationId xmlns:a16="http://schemas.microsoft.com/office/drawing/2014/main" id="{1ADECD86-2FC5-4F36-8CD7-3E2121D63CC0}"/>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“Build a web app” is an executable request</a:t>
            </a:r>
          </a:p>
        </p:txBody>
      </p:sp>
      <p:sp>
        <p:nvSpPr>
          <p:cNvPr id="3" name="">
            <a:extLst xmlns:a="http://schemas.openxmlformats.org/drawingml/2006/main">
              <a:ext uri="{FF2B5EF4-FFF2-40B4-BE49-F238E27FC236}">
                <a16:creationId xmlns:a16="http://schemas.microsoft.com/office/drawing/2014/main" id="{E2DFB956-ABDD-4DFC-85FE-19CE9D31966A}"/>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same loop can be triggered from text while the voice path is connected to the Pi audio pipeline.</a:t>
            </a:r>
          </a:p>
        </p:txBody>
      </p:sp>
      <p:sp>
        <p:nvSpPr>
          <p:cNvPr id="4" name="webapp-request">
            <a:extLst xmlns:a="http://schemas.openxmlformats.org/drawingml/2006/main">
              <a:ext uri="{FF2B5EF4-FFF2-40B4-BE49-F238E27FC236}">
                <a16:creationId xmlns:a16="http://schemas.microsoft.com/office/drawing/2014/main" id="{69F9AF41-57B9-4713-BCE5-28DF56A4F27C}"/>
              </a:ext>
            </a:extLst>
          </p:cNvPr>
          <p:cNvSpPr>
            <a:spLocks xmlns:a="http://schemas.openxmlformats.org/drawingml/2006/main" noGrp="1"/>
          </p:cNvSpPr>
          <p:nvPr/>
        </p:nvSpPr>
        <p:spPr>
          <a:xfrm xmlns:a="http://schemas.openxmlformats.org/drawingml/2006/main">
            <a:off x="666750" y="2095500"/>
            <a:ext cx="2762250" cy="2857500"/>
          </a:xfrm>
          <a:prstGeom xmlns:a="http://schemas.openxmlformats.org/drawingml/2006/main" prst="roundRect">
            <a:avLst>
              <a:gd name="adj" fmla="val 4138"/>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5AA9BD6B-B9A7-47B5-923B-FAAF42F0643E}"/>
              </a:ext>
            </a:extLst>
          </p:cNvPr>
          <p:cNvSpPr>
            <a:spLocks xmlns:a="http://schemas.openxmlformats.org/drawingml/2006/main" noGrp="1"/>
          </p:cNvSpPr>
          <p:nvPr/>
        </p:nvSpPr>
        <p:spPr>
          <a:xfrm xmlns:a="http://schemas.openxmlformats.org/drawingml/2006/main">
            <a:off x="93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VOICE REQUEST</a:t>
            </a:r>
          </a:p>
        </p:txBody>
      </p:sp>
      <p:sp>
        <p:nvSpPr>
          <p:cNvPr id="6" name="">
            <a:extLst xmlns:a="http://schemas.openxmlformats.org/drawingml/2006/main">
              <a:ext uri="{FF2B5EF4-FFF2-40B4-BE49-F238E27FC236}">
                <a16:creationId xmlns:a16="http://schemas.microsoft.com/office/drawing/2014/main" id="{3A4262F5-B399-48AB-8507-91B1A3B6FD78}"/>
              </a:ext>
            </a:extLst>
          </p:cNvPr>
          <p:cNvSpPr>
            <a:spLocks xmlns:a="http://schemas.openxmlformats.org/drawingml/2006/main" noGrp="1"/>
          </p:cNvSpPr>
          <p:nvPr/>
        </p:nvSpPr>
        <p:spPr>
          <a:xfrm xmlns:a="http://schemas.openxmlformats.org/drawingml/2006/main">
            <a:off x="933450" y="2838450"/>
            <a:ext cx="219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F7FAFC"/>
                </a:solidFill>
                <a:latin typeface="Arial"/>
                <a:ea typeface="Arial"/>
                <a:cs typeface="Arial"/>
              </a:defRPr>
            </a:defPPr>
            <a:lvl1pPr>
              <a:defRPr sz="2400" b="1">
                <a:solidFill>
                  <a:srgbClr val="F7FAFC"/>
                </a:solidFill>
                <a:latin typeface="Arial"/>
                <a:ea typeface="Arial"/>
                <a:cs typeface="Arial"/>
              </a:defRPr>
            </a:lvl1pPr>
            <a:lvl2pPr>
              <a:defRPr sz="2400" b="1">
                <a:solidFill>
                  <a:srgbClr val="F7FAFC"/>
                </a:solidFill>
                <a:latin typeface="Arial"/>
                <a:ea typeface="Arial"/>
                <a:cs typeface="Arial"/>
              </a:defRPr>
            </a:lvl2pPr>
            <a:lvl3pPr>
              <a:defRPr sz="2400" b="1">
                <a:solidFill>
                  <a:srgbClr val="F7FAFC"/>
                </a:solidFill>
                <a:latin typeface="Arial"/>
                <a:ea typeface="Arial"/>
                <a:cs typeface="Arial"/>
              </a:defRPr>
            </a:lvl3pPr>
            <a:lvl4pPr>
              <a:defRPr sz="2400" b="1">
                <a:solidFill>
                  <a:srgbClr val="F7FAFC"/>
                </a:solidFill>
                <a:latin typeface="Arial"/>
                <a:ea typeface="Arial"/>
                <a:cs typeface="Arial"/>
              </a:defRPr>
            </a:lvl4pPr>
            <a:lvl5pPr>
              <a:defRPr sz="2400" b="1">
                <a:solidFill>
                  <a:srgbClr val="F7FAFC"/>
                </a:solidFill>
                <a:latin typeface="Arial"/>
                <a:ea typeface="Arial"/>
                <a:cs typeface="Arial"/>
              </a:defRPr>
            </a:lvl5pPr>
            <a:lvl6pPr>
              <a:defRPr sz="2400" b="1">
                <a:solidFill>
                  <a:srgbClr val="F7FAFC"/>
                </a:solidFill>
                <a:latin typeface="Arial"/>
                <a:ea typeface="Arial"/>
                <a:cs typeface="Arial"/>
              </a:defRPr>
            </a:lvl6pPr>
            <a:lvl7pPr>
              <a:defRPr sz="2400" b="1">
                <a:solidFill>
                  <a:srgbClr val="F7FAFC"/>
                </a:solidFill>
                <a:latin typeface="Arial"/>
                <a:ea typeface="Arial"/>
                <a:cs typeface="Arial"/>
              </a:defRPr>
            </a:lvl7pPr>
            <a:lvl8pPr>
              <a:defRPr sz="2400" b="1">
                <a:solidFill>
                  <a:srgbClr val="F7FAFC"/>
                </a:solidFill>
                <a:latin typeface="Arial"/>
                <a:ea typeface="Arial"/>
                <a:cs typeface="Arial"/>
              </a:defRPr>
            </a:lvl8pPr>
            <a:lvl9pPr>
              <a:defRPr sz="2400" b="1">
                <a:solidFill>
                  <a:srgbClr val="F7FAFC"/>
                </a:solidFill>
                <a:latin typeface="Arial"/>
                <a:ea typeface="Arial"/>
                <a:cs typeface="Arial"/>
              </a:defRPr>
            </a:lvl9pPr>
          </a:lstStyle>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“Build a</a:t>
            </a:r>
          </a:p>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web app.”</a:t>
            </a:r>
          </a:p>
        </p:txBody>
      </p:sp>
      <p:sp>
        <p:nvSpPr>
          <p:cNvPr id="7" name="">
            <a:extLst xmlns:a="http://schemas.openxmlformats.org/drawingml/2006/main">
              <a:ext uri="{FF2B5EF4-FFF2-40B4-BE49-F238E27FC236}">
                <a16:creationId xmlns:a16="http://schemas.microsoft.com/office/drawing/2014/main" id="{5719C65F-693B-4CB7-97F5-C17D95396659}"/>
              </a:ext>
            </a:extLst>
          </p:cNvPr>
          <p:cNvSpPr>
            <a:spLocks xmlns:a="http://schemas.openxmlformats.org/drawingml/2006/main" noGrp="1"/>
          </p:cNvSpPr>
          <p:nvPr/>
        </p:nvSpPr>
        <p:spPr>
          <a:xfrm xmlns:a="http://schemas.openxmlformats.org/drawingml/2006/main">
            <a:off x="933450" y="4095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Qwen turns intent</a:t>
            </a:r>
          </a:p>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into tool calls.</a:t>
            </a:r>
          </a:p>
        </p:txBody>
      </p:sp>
      <p:cxnSp>
        <p:nvCxnSpPr>
          <p:cNvPr id="8" name="webapp-to-calls">
            <a:extLst xmlns:a="http://schemas.openxmlformats.org/drawingml/2006/main">
              <a:ext uri="{FF2B5EF4-FFF2-40B4-BE49-F238E27FC236}">
                <a16:creationId xmlns:a16="http://schemas.microsoft.com/office/drawing/2014/main" id="{897F2509-2DE5-4B93-BDAD-2CFB553FBF49}"/>
              </a:ext>
            </a:extLst>
          </p:cNvPr>
          <p:cNvCxnSpPr/>
          <p:nvPr/>
        </p:nvCxnSpPr>
        <p:spPr>
          <a:xfrm xmlns:a="http://schemas.openxmlformats.org/drawingml/2006/main">
            <a:off x="3429000" y="3486150"/>
            <a:ext cx="61912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sp>
        <p:nvSpPr>
          <p:cNvPr id="9" name="webapp-calls">
            <a:extLst xmlns:a="http://schemas.openxmlformats.org/drawingml/2006/main">
              <a:ext uri="{FF2B5EF4-FFF2-40B4-BE49-F238E27FC236}">
                <a16:creationId xmlns:a16="http://schemas.microsoft.com/office/drawing/2014/main" id="{7A1B3CC3-150F-4840-8ABF-9DE462497796}"/>
              </a:ext>
            </a:extLst>
          </p:cNvPr>
          <p:cNvSpPr>
            <a:spLocks xmlns:a="http://schemas.openxmlformats.org/drawingml/2006/main" noGrp="1"/>
          </p:cNvSpPr>
          <p:nvPr/>
        </p:nvSpPr>
        <p:spPr>
          <a:xfrm xmlns:a="http://schemas.openxmlformats.org/drawingml/2006/main">
            <a:off x="4191000" y="2095500"/>
            <a:ext cx="333375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60A5FA"/>
            </a:solidFill>
            <a:prstDash val="solid"/>
          </a:ln>
        </p:spPr>
      </p:sp>
      <p:sp>
        <p:nvSpPr>
          <p:cNvPr id="10" name="">
            <a:extLst xmlns:a="http://schemas.openxmlformats.org/drawingml/2006/main">
              <a:ext uri="{FF2B5EF4-FFF2-40B4-BE49-F238E27FC236}">
                <a16:creationId xmlns:a16="http://schemas.microsoft.com/office/drawing/2014/main" id="{B5781BEF-EF6D-4659-AD76-9CC7C824607A}"/>
              </a:ext>
            </a:extLst>
          </p:cNvPr>
          <p:cNvSpPr>
            <a:spLocks xmlns:a="http://schemas.openxmlformats.org/drawingml/2006/main" noGrp="1"/>
          </p:cNvSpPr>
          <p:nvPr/>
        </p:nvSpPr>
        <p:spPr>
          <a:xfrm xmlns:a="http://schemas.openxmlformats.org/drawingml/2006/main">
            <a:off x="445770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TOOL LOOP</a:t>
            </a:r>
          </a:p>
        </p:txBody>
      </p:sp>
      <p:sp>
        <p:nvSpPr>
          <p:cNvPr id="11" name="">
            <a:extLst xmlns:a="http://schemas.openxmlformats.org/drawingml/2006/main">
              <a:ext uri="{FF2B5EF4-FFF2-40B4-BE49-F238E27FC236}">
                <a16:creationId xmlns:a16="http://schemas.microsoft.com/office/drawing/2014/main" id="{9B896AF4-E554-416C-83BC-3F96AA4C6DCD}"/>
              </a:ext>
            </a:extLst>
          </p:cNvPr>
          <p:cNvSpPr>
            <a:spLocks xmlns:a="http://schemas.openxmlformats.org/drawingml/2006/main" noGrp="1"/>
          </p:cNvSpPr>
          <p:nvPr/>
        </p:nvSpPr>
        <p:spPr>
          <a:xfrm xmlns:a="http://schemas.openxmlformats.org/drawingml/2006/main">
            <a:off x="4457700" y="2857500"/>
            <a:ext cx="247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7FAFC"/>
                </a:solidFill>
                <a:latin typeface="Arial"/>
                <a:ea typeface="Arial"/>
                <a:cs typeface="Arial"/>
              </a:defRPr>
            </a:defPPr>
            <a:lvl1pPr>
              <a:defRPr sz="1800" b="1">
                <a:solidFill>
                  <a:srgbClr val="F7FAFC"/>
                </a:solidFill>
                <a:latin typeface="Arial"/>
                <a:ea typeface="Arial"/>
                <a:cs typeface="Arial"/>
              </a:defRPr>
            </a:lvl1pPr>
            <a:lvl2pPr>
              <a:defRPr sz="1800" b="1">
                <a:solidFill>
                  <a:srgbClr val="F7FAFC"/>
                </a:solidFill>
                <a:latin typeface="Arial"/>
                <a:ea typeface="Arial"/>
                <a:cs typeface="Arial"/>
              </a:defRPr>
            </a:lvl2pPr>
            <a:lvl3pPr>
              <a:defRPr sz="1800" b="1">
                <a:solidFill>
                  <a:srgbClr val="F7FAFC"/>
                </a:solidFill>
                <a:latin typeface="Arial"/>
                <a:ea typeface="Arial"/>
                <a:cs typeface="Arial"/>
              </a:defRPr>
            </a:lvl3pPr>
            <a:lvl4pPr>
              <a:defRPr sz="1800" b="1">
                <a:solidFill>
                  <a:srgbClr val="F7FAFC"/>
                </a:solidFill>
                <a:latin typeface="Arial"/>
                <a:ea typeface="Arial"/>
                <a:cs typeface="Arial"/>
              </a:defRPr>
            </a:lvl4pPr>
            <a:lvl5pPr>
              <a:defRPr sz="1800" b="1">
                <a:solidFill>
                  <a:srgbClr val="F7FAFC"/>
                </a:solidFill>
                <a:latin typeface="Arial"/>
                <a:ea typeface="Arial"/>
                <a:cs typeface="Arial"/>
              </a:defRPr>
            </a:lvl5pPr>
            <a:lvl6pPr>
              <a:defRPr sz="1800" b="1">
                <a:solidFill>
                  <a:srgbClr val="F7FAFC"/>
                </a:solidFill>
                <a:latin typeface="Arial"/>
                <a:ea typeface="Arial"/>
                <a:cs typeface="Arial"/>
              </a:defRPr>
            </a:lvl6pPr>
            <a:lvl7pPr>
              <a:defRPr sz="1800" b="1">
                <a:solidFill>
                  <a:srgbClr val="F7FAFC"/>
                </a:solidFill>
                <a:latin typeface="Arial"/>
                <a:ea typeface="Arial"/>
                <a:cs typeface="Arial"/>
              </a:defRPr>
            </a:lvl7pPr>
            <a:lvl8pPr>
              <a:defRPr sz="1800" b="1">
                <a:solidFill>
                  <a:srgbClr val="F7FAFC"/>
                </a:solidFill>
                <a:latin typeface="Arial"/>
                <a:ea typeface="Arial"/>
                <a:cs typeface="Arial"/>
              </a:defRPr>
            </a:lvl8pPr>
            <a:lvl9pPr>
              <a:defRPr sz="1800" b="1">
                <a:solidFill>
                  <a:srgbClr val="F7FAFC"/>
                </a:solidFill>
                <a:latin typeface="Arial"/>
                <a:ea typeface="Arial"/>
                <a:cs typeface="Arial"/>
              </a:defRPr>
            </a:lvl9pPr>
          </a:lstStyle>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list_files</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write_file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read_file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run_command</a:t>
            </a:r>
          </a:p>
        </p:txBody>
      </p:sp>
      <p:sp>
        <p:nvSpPr>
          <p:cNvPr id="12" name="">
            <a:extLst xmlns:a="http://schemas.openxmlformats.org/drawingml/2006/main">
              <a:ext uri="{FF2B5EF4-FFF2-40B4-BE49-F238E27FC236}">
                <a16:creationId xmlns:a16="http://schemas.microsoft.com/office/drawing/2014/main" id="{34330F41-CCDA-4A2A-9AD7-0FBE1CC06866}"/>
              </a:ext>
            </a:extLst>
          </p:cNvPr>
          <p:cNvSpPr>
            <a:spLocks xmlns:a="http://schemas.openxmlformats.org/drawingml/2006/main" noGrp="1"/>
          </p:cNvSpPr>
          <p:nvPr/>
        </p:nvSpPr>
        <p:spPr>
          <a:xfrm xmlns:a="http://schemas.openxmlformats.org/drawingml/2006/main">
            <a:off x="4457700" y="4438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Each call returns JSON evidence.</a:t>
            </a:r>
          </a:p>
        </p:txBody>
      </p:sp>
      <p:cxnSp>
        <p:nvCxnSpPr>
          <p:cNvPr id="13" name="calls-to-files">
            <a:extLst xmlns:a="http://schemas.openxmlformats.org/drawingml/2006/main">
              <a:ext uri="{FF2B5EF4-FFF2-40B4-BE49-F238E27FC236}">
                <a16:creationId xmlns:a16="http://schemas.microsoft.com/office/drawing/2014/main" id="{26D02C02-793E-495B-8DD4-D4A99DC005F7}"/>
              </a:ext>
            </a:extLst>
          </p:cNvPr>
          <p:cNvCxnSpPr/>
          <p:nvPr/>
        </p:nvCxnSpPr>
        <p:spPr>
          <a:xfrm xmlns:a="http://schemas.openxmlformats.org/drawingml/2006/main">
            <a:off x="7524750" y="3486150"/>
            <a:ext cx="61912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sp>
        <p:nvSpPr>
          <p:cNvPr id="14" name="webapp-result">
            <a:extLst xmlns:a="http://schemas.openxmlformats.org/drawingml/2006/main">
              <a:ext uri="{FF2B5EF4-FFF2-40B4-BE49-F238E27FC236}">
                <a16:creationId xmlns:a16="http://schemas.microsoft.com/office/drawing/2014/main" id="{9120AABA-EA25-4632-A418-0266D646ED3E}"/>
              </a:ext>
            </a:extLst>
          </p:cNvPr>
          <p:cNvSpPr>
            <a:spLocks xmlns:a="http://schemas.openxmlformats.org/drawingml/2006/main" noGrp="1"/>
          </p:cNvSpPr>
          <p:nvPr/>
        </p:nvSpPr>
        <p:spPr>
          <a:xfrm xmlns:a="http://schemas.openxmlformats.org/drawingml/2006/main">
            <a:off x="8286750" y="2095500"/>
            <a:ext cx="323850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A7F3D0"/>
            </a:solidFill>
            <a:prstDash val="solid"/>
          </a:ln>
        </p:spPr>
      </p:sp>
      <p:sp>
        <p:nvSpPr>
          <p:cNvPr id="15" name="">
            <a:extLst xmlns:a="http://schemas.openxmlformats.org/drawingml/2006/main">
              <a:ext uri="{FF2B5EF4-FFF2-40B4-BE49-F238E27FC236}">
                <a16:creationId xmlns:a16="http://schemas.microsoft.com/office/drawing/2014/main" id="{50E06F8D-6686-4FF7-9A6C-CBC97E290FBA}"/>
              </a:ext>
            </a:extLst>
          </p:cNvPr>
          <p:cNvSpPr>
            <a:spLocks xmlns:a="http://schemas.openxmlformats.org/drawingml/2006/main" noGrp="1"/>
          </p:cNvSpPr>
          <p:nvPr/>
        </p:nvSpPr>
        <p:spPr>
          <a:xfrm xmlns:a="http://schemas.openxmlformats.org/drawingml/2006/main">
            <a:off x="855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PROJECT RESULT</a:t>
            </a:r>
          </a:p>
        </p:txBody>
      </p:sp>
      <p:sp>
        <p:nvSpPr>
          <p:cNvPr id="16" name="">
            <a:extLst xmlns:a="http://schemas.openxmlformats.org/drawingml/2006/main">
              <a:ext uri="{FF2B5EF4-FFF2-40B4-BE49-F238E27FC236}">
                <a16:creationId xmlns:a16="http://schemas.microsoft.com/office/drawing/2014/main" id="{E87724A7-95F1-4AC7-8886-E829EF18EDE8}"/>
              </a:ext>
            </a:extLst>
          </p:cNvPr>
          <p:cNvSpPr>
            <a:spLocks xmlns:a="http://schemas.openxmlformats.org/drawingml/2006/main" noGrp="1"/>
          </p:cNvSpPr>
          <p:nvPr/>
        </p:nvSpPr>
        <p:spPr>
          <a:xfrm xmlns:a="http://schemas.openxmlformats.org/drawingml/2006/main">
            <a:off x="8553450" y="2819400"/>
            <a:ext cx="2571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agent_workspace/</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voice_webapp/</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index.html</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styles.css</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app.js</a:t>
            </a:r>
          </a:p>
        </p:txBody>
      </p:sp>
      <p:sp>
        <p:nvSpPr>
          <p:cNvPr id="17" name="">
            <a:extLst xmlns:a="http://schemas.openxmlformats.org/drawingml/2006/main">
              <a:ext uri="{FF2B5EF4-FFF2-40B4-BE49-F238E27FC236}">
                <a16:creationId xmlns:a16="http://schemas.microsoft.com/office/drawing/2014/main" id="{B8B9533B-070C-401E-90A3-365A117DE007}"/>
              </a:ext>
            </a:extLst>
          </p:cNvPr>
          <p:cNvSpPr>
            <a:spLocks xmlns:a="http://schemas.openxmlformats.org/drawingml/2006/main" noGrp="1"/>
          </p:cNvSpPr>
          <p:nvPr/>
        </p:nvSpPr>
        <p:spPr>
          <a:xfrm xmlns:a="http://schemas.openxmlformats.org/drawingml/2006/main">
            <a:off x="8553450" y="44577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Verified by a later list + read pass.</a:t>
            </a:r>
          </a:p>
        </p:txBody>
      </p:sp>
      <p:sp>
        <p:nvSpPr>
          <p:cNvPr id="18" name="">
            <a:extLst xmlns:a="http://schemas.openxmlformats.org/drawingml/2006/main">
              <a:ext uri="{FF2B5EF4-FFF2-40B4-BE49-F238E27FC236}">
                <a16:creationId xmlns:a16="http://schemas.microsoft.com/office/drawing/2014/main" id="{39ADC734-EBC0-4DAB-9ACB-6E420154912B}"/>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4/7</a:t>
            </a:r>
          </a:p>
        </p:txBody>
      </p:sp>
    </p:spTree>
    <p:extLst>
      <p:ext uri="{BB962C8B-B14F-4D97-AF65-F5344CB8AC3E}">
        <p14:creationId xmlns:p14="http://schemas.microsoft.com/office/powerpoint/2010/main" val="1680729619"/>
      </p:ext>
    </p:extLst>
  </p:cSld>
</p:sld>
</file>

<file path=ppt/slides/slide5.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B99165A-1D29-42D0-B558-1C6001AD41F0}"/>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CAPABILITY BOUNDARY</a:t>
            </a:r>
          </a:p>
        </p:txBody>
      </p:sp>
      <p:sp>
        <p:nvSpPr>
          <p:cNvPr id="2" name="">
            <a:extLst xmlns:a="http://schemas.openxmlformats.org/drawingml/2006/main">
              <a:ext uri="{FF2B5EF4-FFF2-40B4-BE49-F238E27FC236}">
                <a16:creationId xmlns:a16="http://schemas.microsoft.com/office/drawing/2014/main" id="{AE528A1F-0304-4262-A166-2AE9AA2C0E09}"/>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Onit-like usefulness through typed, reviewable tools</a:t>
            </a:r>
          </a:p>
        </p:txBody>
      </p:sp>
      <p:sp>
        <p:nvSpPr>
          <p:cNvPr id="3" name="">
            <a:extLst xmlns:a="http://schemas.openxmlformats.org/drawingml/2006/main">
              <a:ext uri="{FF2B5EF4-FFF2-40B4-BE49-F238E27FC236}">
                <a16:creationId xmlns:a16="http://schemas.microsoft.com/office/drawing/2014/main" id="{CF7472DB-A671-46AC-9B65-40B6F82A97FC}"/>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goal is broad task coverage with a narrower default action surface for an always-listening device.</a:t>
            </a:r>
          </a:p>
        </p:txBody>
      </p:sp>
      <p:sp>
        <p:nvSpPr>
          <p:cNvPr id="4" name="cap-left-0">
            <a:extLst xmlns:a="http://schemas.openxmlformats.org/drawingml/2006/main">
              <a:ext uri="{FF2B5EF4-FFF2-40B4-BE49-F238E27FC236}">
                <a16:creationId xmlns:a16="http://schemas.microsoft.com/office/drawing/2014/main" id="{0ECBEB2C-09B7-4FA8-A53E-11B66B8D64C1}"/>
              </a:ext>
            </a:extLst>
          </p:cNvPr>
          <p:cNvSpPr>
            <a:spLocks xmlns:a="http://schemas.openxmlformats.org/drawingml/2006/main" noGrp="1"/>
          </p:cNvSpPr>
          <p:nvPr/>
        </p:nvSpPr>
        <p:spPr>
          <a:xfrm xmlns:a="http://schemas.openxmlformats.org/drawingml/2006/main">
            <a:off x="762000" y="20383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7B26069E-42D9-4941-8B3A-DA3931F5C99D}"/>
              </a:ext>
            </a:extLst>
          </p:cNvPr>
          <p:cNvSpPr>
            <a:spLocks xmlns:a="http://schemas.openxmlformats.org/drawingml/2006/main" noGrp="1"/>
          </p:cNvSpPr>
          <p:nvPr/>
        </p:nvSpPr>
        <p:spPr>
          <a:xfrm xmlns:a="http://schemas.openxmlformats.org/drawingml/2006/main">
            <a:off x="971550" y="21336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EEAD4"/>
                </a:solidFill>
                <a:latin typeface="Arial"/>
                <a:ea typeface="Arial"/>
                <a:cs typeface="Arial"/>
              </a:defRPr>
            </a:defPPr>
            <a:lvl1pPr>
              <a:defRPr sz="1350" b="1">
                <a:solidFill>
                  <a:srgbClr val="5EEAD4"/>
                </a:solidFill>
                <a:latin typeface="Arial"/>
                <a:ea typeface="Arial"/>
                <a:cs typeface="Arial"/>
              </a:defRPr>
            </a:lvl1pPr>
            <a:lvl2pPr>
              <a:defRPr sz="1350" b="1">
                <a:solidFill>
                  <a:srgbClr val="5EEAD4"/>
                </a:solidFill>
                <a:latin typeface="Arial"/>
                <a:ea typeface="Arial"/>
                <a:cs typeface="Arial"/>
              </a:defRPr>
            </a:lvl2pPr>
            <a:lvl3pPr>
              <a:defRPr sz="1350" b="1">
                <a:solidFill>
                  <a:srgbClr val="5EEAD4"/>
                </a:solidFill>
                <a:latin typeface="Arial"/>
                <a:ea typeface="Arial"/>
                <a:cs typeface="Arial"/>
              </a:defRPr>
            </a:lvl3pPr>
            <a:lvl4pPr>
              <a:defRPr sz="1350" b="1">
                <a:solidFill>
                  <a:srgbClr val="5EEAD4"/>
                </a:solidFill>
                <a:latin typeface="Arial"/>
                <a:ea typeface="Arial"/>
                <a:cs typeface="Arial"/>
              </a:defRPr>
            </a:lvl4pPr>
            <a:lvl5pPr>
              <a:defRPr sz="1350" b="1">
                <a:solidFill>
                  <a:srgbClr val="5EEAD4"/>
                </a:solidFill>
                <a:latin typeface="Arial"/>
                <a:ea typeface="Arial"/>
                <a:cs typeface="Arial"/>
              </a:defRPr>
            </a:lvl5pPr>
            <a:lvl6pPr>
              <a:defRPr sz="1350" b="1">
                <a:solidFill>
                  <a:srgbClr val="5EEAD4"/>
                </a:solidFill>
                <a:latin typeface="Arial"/>
                <a:ea typeface="Arial"/>
                <a:cs typeface="Arial"/>
              </a:defRPr>
            </a:lvl6pPr>
            <a:lvl7pPr>
              <a:defRPr sz="1350" b="1">
                <a:solidFill>
                  <a:srgbClr val="5EEAD4"/>
                </a:solidFill>
                <a:latin typeface="Arial"/>
                <a:ea typeface="Arial"/>
                <a:cs typeface="Arial"/>
              </a:defRPr>
            </a:lvl7pPr>
            <a:lvl8pPr>
              <a:defRPr sz="1350" b="1">
                <a:solidFill>
                  <a:srgbClr val="5EEAD4"/>
                </a:solidFill>
                <a:latin typeface="Arial"/>
                <a:ea typeface="Arial"/>
                <a:cs typeface="Arial"/>
              </a:defRPr>
            </a:lvl8pPr>
            <a:lvl9pPr>
              <a:defRPr sz="1350" b="1">
                <a:solidFill>
                  <a:srgbClr val="5EEAD4"/>
                </a:solidFill>
                <a:latin typeface="Arial"/>
                <a:ea typeface="Arial"/>
                <a:cs typeface="Arial"/>
              </a:defRPr>
            </a:lvl9pPr>
          </a:lstStyle>
          <a:p xmlns:a="http://schemas.openxmlformats.org/drawingml/2006/main">
            <a:pPr>
              <a:defRPr sz="1350" b="1">
                <a:solidFill>
                  <a:srgbClr val="5EEAD4"/>
                </a:solidFill>
                <a:latin typeface="Arial"/>
                <a:ea typeface="Arial"/>
                <a:cs typeface="Arial"/>
              </a:defRPr>
            </a:pPr>
            <a:r>
              <a:rPr sz="1350" b="1">
                <a:solidFill>
                  <a:srgbClr val="5EEAD4"/>
                </a:solidFill>
                <a:latin typeface="Arial"/>
                <a:ea typeface="Arial"/>
                <a:cs typeface="Arial"/>
              </a:rPr>
              <a:t>Conversation</a:t>
            </a:r>
          </a:p>
        </p:txBody>
      </p:sp>
      <p:sp>
        <p:nvSpPr>
          <p:cNvPr id="6" name="">
            <a:extLst xmlns:a="http://schemas.openxmlformats.org/drawingml/2006/main">
              <a:ext uri="{FF2B5EF4-FFF2-40B4-BE49-F238E27FC236}">
                <a16:creationId xmlns:a16="http://schemas.microsoft.com/office/drawing/2014/main" id="{39CBB5AF-32DD-49DB-A0EC-FDAE647F2494}"/>
              </a:ext>
            </a:extLst>
          </p:cNvPr>
          <p:cNvSpPr>
            <a:spLocks xmlns:a="http://schemas.openxmlformats.org/drawingml/2006/main" noGrp="1"/>
          </p:cNvSpPr>
          <p:nvPr/>
        </p:nvSpPr>
        <p:spPr>
          <a:xfrm xmlns:a="http://schemas.openxmlformats.org/drawingml/2006/main">
            <a:off x="2952750" y="21336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Qwen chat + multi-step tool loop</a:t>
            </a:r>
          </a:p>
        </p:txBody>
      </p:sp>
      <p:sp>
        <p:nvSpPr>
          <p:cNvPr id="7" name="cap-left-1">
            <a:extLst xmlns:a="http://schemas.openxmlformats.org/drawingml/2006/main">
              <a:ext uri="{FF2B5EF4-FFF2-40B4-BE49-F238E27FC236}">
                <a16:creationId xmlns:a16="http://schemas.microsoft.com/office/drawing/2014/main" id="{05AF5B1D-0786-48D2-8C03-88D69EE17336}"/>
              </a:ext>
            </a:extLst>
          </p:cNvPr>
          <p:cNvSpPr>
            <a:spLocks xmlns:a="http://schemas.openxmlformats.org/drawingml/2006/main" noGrp="1"/>
          </p:cNvSpPr>
          <p:nvPr/>
        </p:nvSpPr>
        <p:spPr>
          <a:xfrm xmlns:a="http://schemas.openxmlformats.org/drawingml/2006/main">
            <a:off x="762000" y="26479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60A5FA"/>
            </a:solidFill>
            <a:prstDash val="solid"/>
          </a:ln>
        </p:spPr>
      </p:sp>
      <p:sp>
        <p:nvSpPr>
          <p:cNvPr id="8" name="">
            <a:extLst xmlns:a="http://schemas.openxmlformats.org/drawingml/2006/main">
              <a:ext uri="{FF2B5EF4-FFF2-40B4-BE49-F238E27FC236}">
                <a16:creationId xmlns:a16="http://schemas.microsoft.com/office/drawing/2014/main" id="{23C2CF77-5BF8-4C5D-AAF5-139C3FCF81DE}"/>
              </a:ext>
            </a:extLst>
          </p:cNvPr>
          <p:cNvSpPr>
            <a:spLocks xmlns:a="http://schemas.openxmlformats.org/drawingml/2006/main" noGrp="1"/>
          </p:cNvSpPr>
          <p:nvPr/>
        </p:nvSpPr>
        <p:spPr>
          <a:xfrm xmlns:a="http://schemas.openxmlformats.org/drawingml/2006/main">
            <a:off x="971550" y="27432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60A5FA"/>
                </a:solidFill>
                <a:latin typeface="Arial"/>
                <a:ea typeface="Arial"/>
                <a:cs typeface="Arial"/>
              </a:defRPr>
            </a:defPPr>
            <a:lvl1pPr>
              <a:defRPr sz="1350" b="1">
                <a:solidFill>
                  <a:srgbClr val="60A5FA"/>
                </a:solidFill>
                <a:latin typeface="Arial"/>
                <a:ea typeface="Arial"/>
                <a:cs typeface="Arial"/>
              </a:defRPr>
            </a:lvl1pPr>
            <a:lvl2pPr>
              <a:defRPr sz="1350" b="1">
                <a:solidFill>
                  <a:srgbClr val="60A5FA"/>
                </a:solidFill>
                <a:latin typeface="Arial"/>
                <a:ea typeface="Arial"/>
                <a:cs typeface="Arial"/>
              </a:defRPr>
            </a:lvl2pPr>
            <a:lvl3pPr>
              <a:defRPr sz="1350" b="1">
                <a:solidFill>
                  <a:srgbClr val="60A5FA"/>
                </a:solidFill>
                <a:latin typeface="Arial"/>
                <a:ea typeface="Arial"/>
                <a:cs typeface="Arial"/>
              </a:defRPr>
            </a:lvl3pPr>
            <a:lvl4pPr>
              <a:defRPr sz="1350" b="1">
                <a:solidFill>
                  <a:srgbClr val="60A5FA"/>
                </a:solidFill>
                <a:latin typeface="Arial"/>
                <a:ea typeface="Arial"/>
                <a:cs typeface="Arial"/>
              </a:defRPr>
            </a:lvl4pPr>
            <a:lvl5pPr>
              <a:defRPr sz="1350" b="1">
                <a:solidFill>
                  <a:srgbClr val="60A5FA"/>
                </a:solidFill>
                <a:latin typeface="Arial"/>
                <a:ea typeface="Arial"/>
                <a:cs typeface="Arial"/>
              </a:defRPr>
            </a:lvl5pPr>
            <a:lvl6pPr>
              <a:defRPr sz="1350" b="1">
                <a:solidFill>
                  <a:srgbClr val="60A5FA"/>
                </a:solidFill>
                <a:latin typeface="Arial"/>
                <a:ea typeface="Arial"/>
                <a:cs typeface="Arial"/>
              </a:defRPr>
            </a:lvl6pPr>
            <a:lvl7pPr>
              <a:defRPr sz="1350" b="1">
                <a:solidFill>
                  <a:srgbClr val="60A5FA"/>
                </a:solidFill>
                <a:latin typeface="Arial"/>
                <a:ea typeface="Arial"/>
                <a:cs typeface="Arial"/>
              </a:defRPr>
            </a:lvl7pPr>
            <a:lvl8pPr>
              <a:defRPr sz="1350" b="1">
                <a:solidFill>
                  <a:srgbClr val="60A5FA"/>
                </a:solidFill>
                <a:latin typeface="Arial"/>
                <a:ea typeface="Arial"/>
                <a:cs typeface="Arial"/>
              </a:defRPr>
            </a:lvl8pPr>
            <a:lvl9pPr>
              <a:defRPr sz="1350" b="1">
                <a:solidFill>
                  <a:srgbClr val="60A5FA"/>
                </a:solidFill>
                <a:latin typeface="Arial"/>
                <a:ea typeface="Arial"/>
                <a:cs typeface="Arial"/>
              </a:defRPr>
            </a:lvl9pPr>
          </a:lstStyle>
          <a:p xmlns:a="http://schemas.openxmlformats.org/drawingml/2006/main">
            <a:pPr>
              <a:defRPr sz="1350" b="1">
                <a:solidFill>
                  <a:srgbClr val="60A5FA"/>
                </a:solidFill>
                <a:latin typeface="Arial"/>
                <a:ea typeface="Arial"/>
                <a:cs typeface="Arial"/>
              </a:defRPr>
            </a:pPr>
            <a:r>
              <a:rPr sz="1350" b="1">
                <a:solidFill>
                  <a:srgbClr val="60A5FA"/>
                </a:solidFill>
                <a:latin typeface="Arial"/>
                <a:ea typeface="Arial"/>
                <a:cs typeface="Arial"/>
              </a:rPr>
              <a:t>Project work</a:t>
            </a:r>
          </a:p>
        </p:txBody>
      </p:sp>
      <p:sp>
        <p:nvSpPr>
          <p:cNvPr id="9" name="">
            <a:extLst xmlns:a="http://schemas.openxmlformats.org/drawingml/2006/main">
              <a:ext uri="{FF2B5EF4-FFF2-40B4-BE49-F238E27FC236}">
                <a16:creationId xmlns:a16="http://schemas.microsoft.com/office/drawing/2014/main" id="{8C25AB2B-8FC7-4446-AE1B-BF3B6892C90C}"/>
              </a:ext>
            </a:extLst>
          </p:cNvPr>
          <p:cNvSpPr>
            <a:spLocks xmlns:a="http://schemas.openxmlformats.org/drawingml/2006/main" noGrp="1"/>
          </p:cNvSpPr>
          <p:nvPr/>
        </p:nvSpPr>
        <p:spPr>
          <a:xfrm xmlns:a="http://schemas.openxmlformats.org/drawingml/2006/main">
            <a:off x="2952750" y="27432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list / read / write / search files</a:t>
            </a:r>
          </a:p>
        </p:txBody>
      </p:sp>
      <p:sp>
        <p:nvSpPr>
          <p:cNvPr id="10" name="cap-left-2">
            <a:extLst xmlns:a="http://schemas.openxmlformats.org/drawingml/2006/main">
              <a:ext uri="{FF2B5EF4-FFF2-40B4-BE49-F238E27FC236}">
                <a16:creationId xmlns:a16="http://schemas.microsoft.com/office/drawing/2014/main" id="{5D670ACA-4309-4D9E-8DD5-102683712A9E}"/>
              </a:ext>
            </a:extLst>
          </p:cNvPr>
          <p:cNvSpPr>
            <a:spLocks xmlns:a="http://schemas.openxmlformats.org/drawingml/2006/main" noGrp="1"/>
          </p:cNvSpPr>
          <p:nvPr/>
        </p:nvSpPr>
        <p:spPr>
          <a:xfrm xmlns:a="http://schemas.openxmlformats.org/drawingml/2006/main">
            <a:off x="762000" y="32575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A7F3D0"/>
            </a:solidFill>
            <a:prstDash val="solid"/>
          </a:ln>
        </p:spPr>
      </p:sp>
      <p:sp>
        <p:nvSpPr>
          <p:cNvPr id="11" name="">
            <a:extLst xmlns:a="http://schemas.openxmlformats.org/drawingml/2006/main">
              <a:ext uri="{FF2B5EF4-FFF2-40B4-BE49-F238E27FC236}">
                <a16:creationId xmlns:a16="http://schemas.microsoft.com/office/drawing/2014/main" id="{FBB2C4FF-D80E-41B0-B4F1-8A3E7CB8B50D}"/>
              </a:ext>
            </a:extLst>
          </p:cNvPr>
          <p:cNvSpPr>
            <a:spLocks xmlns:a="http://schemas.openxmlformats.org/drawingml/2006/main" noGrp="1"/>
          </p:cNvSpPr>
          <p:nvPr/>
        </p:nvSpPr>
        <p:spPr>
          <a:xfrm xmlns:a="http://schemas.openxmlformats.org/drawingml/2006/main">
            <a:off x="971550" y="33528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A7F3D0"/>
                </a:solidFill>
                <a:latin typeface="Arial"/>
                <a:ea typeface="Arial"/>
                <a:cs typeface="Arial"/>
              </a:defRPr>
            </a:defPPr>
            <a:lvl1pPr>
              <a:defRPr sz="1350" b="1">
                <a:solidFill>
                  <a:srgbClr val="A7F3D0"/>
                </a:solidFill>
                <a:latin typeface="Arial"/>
                <a:ea typeface="Arial"/>
                <a:cs typeface="Arial"/>
              </a:defRPr>
            </a:lvl1pPr>
            <a:lvl2pPr>
              <a:defRPr sz="1350" b="1">
                <a:solidFill>
                  <a:srgbClr val="A7F3D0"/>
                </a:solidFill>
                <a:latin typeface="Arial"/>
                <a:ea typeface="Arial"/>
                <a:cs typeface="Arial"/>
              </a:defRPr>
            </a:lvl2pPr>
            <a:lvl3pPr>
              <a:defRPr sz="1350" b="1">
                <a:solidFill>
                  <a:srgbClr val="A7F3D0"/>
                </a:solidFill>
                <a:latin typeface="Arial"/>
                <a:ea typeface="Arial"/>
                <a:cs typeface="Arial"/>
              </a:defRPr>
            </a:lvl3pPr>
            <a:lvl4pPr>
              <a:defRPr sz="1350" b="1">
                <a:solidFill>
                  <a:srgbClr val="A7F3D0"/>
                </a:solidFill>
                <a:latin typeface="Arial"/>
                <a:ea typeface="Arial"/>
                <a:cs typeface="Arial"/>
              </a:defRPr>
            </a:lvl4pPr>
            <a:lvl5pPr>
              <a:defRPr sz="1350" b="1">
                <a:solidFill>
                  <a:srgbClr val="A7F3D0"/>
                </a:solidFill>
                <a:latin typeface="Arial"/>
                <a:ea typeface="Arial"/>
                <a:cs typeface="Arial"/>
              </a:defRPr>
            </a:lvl5pPr>
            <a:lvl6pPr>
              <a:defRPr sz="1350" b="1">
                <a:solidFill>
                  <a:srgbClr val="A7F3D0"/>
                </a:solidFill>
                <a:latin typeface="Arial"/>
                <a:ea typeface="Arial"/>
                <a:cs typeface="Arial"/>
              </a:defRPr>
            </a:lvl6pPr>
            <a:lvl7pPr>
              <a:defRPr sz="1350" b="1">
                <a:solidFill>
                  <a:srgbClr val="A7F3D0"/>
                </a:solidFill>
                <a:latin typeface="Arial"/>
                <a:ea typeface="Arial"/>
                <a:cs typeface="Arial"/>
              </a:defRPr>
            </a:lvl7pPr>
            <a:lvl8pPr>
              <a:defRPr sz="1350" b="1">
                <a:solidFill>
                  <a:srgbClr val="A7F3D0"/>
                </a:solidFill>
                <a:latin typeface="Arial"/>
                <a:ea typeface="Arial"/>
                <a:cs typeface="Arial"/>
              </a:defRPr>
            </a:lvl8pPr>
            <a:lvl9pPr>
              <a:defRPr sz="1350" b="1">
                <a:solidFill>
                  <a:srgbClr val="A7F3D0"/>
                </a:solidFill>
                <a:latin typeface="Arial"/>
                <a:ea typeface="Arial"/>
                <a:cs typeface="Arial"/>
              </a:defRPr>
            </a:lvl9pPr>
          </a:lstStyle>
          <a:p xmlns:a="http://schemas.openxmlformats.org/drawingml/2006/main">
            <a:pPr>
              <a:defRPr sz="1350" b="1">
                <a:solidFill>
                  <a:srgbClr val="A7F3D0"/>
                </a:solidFill>
                <a:latin typeface="Arial"/>
                <a:ea typeface="Arial"/>
                <a:cs typeface="Arial"/>
              </a:defRPr>
            </a:pPr>
            <a:r>
              <a:rPr sz="1350" b="1">
                <a:solidFill>
                  <a:srgbClr val="A7F3D0"/>
                </a:solidFill>
                <a:latin typeface="Arial"/>
                <a:ea typeface="Arial"/>
                <a:cs typeface="Arial"/>
              </a:rPr>
              <a:t>Web</a:t>
            </a:r>
          </a:p>
        </p:txBody>
      </p:sp>
      <p:sp>
        <p:nvSpPr>
          <p:cNvPr id="12" name="">
            <a:extLst xmlns:a="http://schemas.openxmlformats.org/drawingml/2006/main">
              <a:ext uri="{FF2B5EF4-FFF2-40B4-BE49-F238E27FC236}">
                <a16:creationId xmlns:a16="http://schemas.microsoft.com/office/drawing/2014/main" id="{DC0989BB-1600-46BC-A108-ACD876EF8F99}"/>
              </a:ext>
            </a:extLst>
          </p:cNvPr>
          <p:cNvSpPr>
            <a:spLocks xmlns:a="http://schemas.openxmlformats.org/drawingml/2006/main" noGrp="1"/>
          </p:cNvSpPr>
          <p:nvPr/>
        </p:nvSpPr>
        <p:spPr>
          <a:xfrm xmlns:a="http://schemas.openxmlformats.org/drawingml/2006/main">
            <a:off x="2952750" y="33528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public URL fetch + web search</a:t>
            </a:r>
          </a:p>
        </p:txBody>
      </p:sp>
      <p:sp>
        <p:nvSpPr>
          <p:cNvPr id="13" name="cap-left-3">
            <a:extLst xmlns:a="http://schemas.openxmlformats.org/drawingml/2006/main">
              <a:ext uri="{FF2B5EF4-FFF2-40B4-BE49-F238E27FC236}">
                <a16:creationId xmlns:a16="http://schemas.microsoft.com/office/drawing/2014/main" id="{04E1E7A2-D5F9-492F-8B9B-16119A32CC20}"/>
              </a:ext>
            </a:extLst>
          </p:cNvPr>
          <p:cNvSpPr>
            <a:spLocks xmlns:a="http://schemas.openxmlformats.org/drawingml/2006/main" noGrp="1"/>
          </p:cNvSpPr>
          <p:nvPr/>
        </p:nvSpPr>
        <p:spPr>
          <a:xfrm xmlns:a="http://schemas.openxmlformats.org/drawingml/2006/main">
            <a:off x="762000" y="38671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CD34D"/>
            </a:solidFill>
            <a:prstDash val="solid"/>
          </a:ln>
        </p:spPr>
      </p:sp>
      <p:sp>
        <p:nvSpPr>
          <p:cNvPr id="14" name="">
            <a:extLst xmlns:a="http://schemas.openxmlformats.org/drawingml/2006/main">
              <a:ext uri="{FF2B5EF4-FFF2-40B4-BE49-F238E27FC236}">
                <a16:creationId xmlns:a16="http://schemas.microsoft.com/office/drawing/2014/main" id="{0731A4A4-4C37-4631-9975-41D8FB37A44A}"/>
              </a:ext>
            </a:extLst>
          </p:cNvPr>
          <p:cNvSpPr>
            <a:spLocks xmlns:a="http://schemas.openxmlformats.org/drawingml/2006/main" noGrp="1"/>
          </p:cNvSpPr>
          <p:nvPr/>
        </p:nvSpPr>
        <p:spPr>
          <a:xfrm xmlns:a="http://schemas.openxmlformats.org/drawingml/2006/main">
            <a:off x="971550" y="39624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CD34D"/>
                </a:solidFill>
                <a:latin typeface="Arial"/>
                <a:ea typeface="Arial"/>
                <a:cs typeface="Arial"/>
              </a:defRPr>
            </a:defPPr>
            <a:lvl1pPr>
              <a:defRPr sz="1350" b="1">
                <a:solidFill>
                  <a:srgbClr val="FCD34D"/>
                </a:solidFill>
                <a:latin typeface="Arial"/>
                <a:ea typeface="Arial"/>
                <a:cs typeface="Arial"/>
              </a:defRPr>
            </a:lvl1pPr>
            <a:lvl2pPr>
              <a:defRPr sz="1350" b="1">
                <a:solidFill>
                  <a:srgbClr val="FCD34D"/>
                </a:solidFill>
                <a:latin typeface="Arial"/>
                <a:ea typeface="Arial"/>
                <a:cs typeface="Arial"/>
              </a:defRPr>
            </a:lvl2pPr>
            <a:lvl3pPr>
              <a:defRPr sz="1350" b="1">
                <a:solidFill>
                  <a:srgbClr val="FCD34D"/>
                </a:solidFill>
                <a:latin typeface="Arial"/>
                <a:ea typeface="Arial"/>
                <a:cs typeface="Arial"/>
              </a:defRPr>
            </a:lvl3pPr>
            <a:lvl4pPr>
              <a:defRPr sz="1350" b="1">
                <a:solidFill>
                  <a:srgbClr val="FCD34D"/>
                </a:solidFill>
                <a:latin typeface="Arial"/>
                <a:ea typeface="Arial"/>
                <a:cs typeface="Arial"/>
              </a:defRPr>
            </a:lvl4pPr>
            <a:lvl5pPr>
              <a:defRPr sz="1350" b="1">
                <a:solidFill>
                  <a:srgbClr val="FCD34D"/>
                </a:solidFill>
                <a:latin typeface="Arial"/>
                <a:ea typeface="Arial"/>
                <a:cs typeface="Arial"/>
              </a:defRPr>
            </a:lvl5pPr>
            <a:lvl6pPr>
              <a:defRPr sz="1350" b="1">
                <a:solidFill>
                  <a:srgbClr val="FCD34D"/>
                </a:solidFill>
                <a:latin typeface="Arial"/>
                <a:ea typeface="Arial"/>
                <a:cs typeface="Arial"/>
              </a:defRPr>
            </a:lvl6pPr>
            <a:lvl7pPr>
              <a:defRPr sz="1350" b="1">
                <a:solidFill>
                  <a:srgbClr val="FCD34D"/>
                </a:solidFill>
                <a:latin typeface="Arial"/>
                <a:ea typeface="Arial"/>
                <a:cs typeface="Arial"/>
              </a:defRPr>
            </a:lvl7pPr>
            <a:lvl8pPr>
              <a:defRPr sz="1350" b="1">
                <a:solidFill>
                  <a:srgbClr val="FCD34D"/>
                </a:solidFill>
                <a:latin typeface="Arial"/>
                <a:ea typeface="Arial"/>
                <a:cs typeface="Arial"/>
              </a:defRPr>
            </a:lvl8pPr>
            <a:lvl9pPr>
              <a:defRPr sz="1350" b="1">
                <a:solidFill>
                  <a:srgbClr val="FCD34D"/>
                </a:solidFill>
                <a:latin typeface="Arial"/>
                <a:ea typeface="Arial"/>
                <a:cs typeface="Arial"/>
              </a:defRPr>
            </a:lvl9pPr>
          </a:lstStyle>
          <a:p xmlns:a="http://schemas.openxmlformats.org/drawingml/2006/main">
            <a:pPr>
              <a:defRPr sz="1350" b="1">
                <a:solidFill>
                  <a:srgbClr val="FCD34D"/>
                </a:solidFill>
                <a:latin typeface="Arial"/>
                <a:ea typeface="Arial"/>
                <a:cs typeface="Arial"/>
              </a:defRPr>
            </a:pPr>
            <a:r>
              <a:rPr sz="1350" b="1">
                <a:solidFill>
                  <a:srgbClr val="FCD34D"/>
                </a:solidFill>
                <a:latin typeface="Arial"/>
                <a:ea typeface="Arial"/>
                <a:cs typeface="Arial"/>
              </a:rPr>
              <a:t>Execution</a:t>
            </a:r>
          </a:p>
        </p:txBody>
      </p:sp>
      <p:sp>
        <p:nvSpPr>
          <p:cNvPr id="15" name="">
            <a:extLst xmlns:a="http://schemas.openxmlformats.org/drawingml/2006/main">
              <a:ext uri="{FF2B5EF4-FFF2-40B4-BE49-F238E27FC236}">
                <a16:creationId xmlns:a16="http://schemas.microsoft.com/office/drawing/2014/main" id="{07AC38F9-A4C8-4751-8EFF-328A8FBC4228}"/>
              </a:ext>
            </a:extLst>
          </p:cNvPr>
          <p:cNvSpPr>
            <a:spLocks xmlns:a="http://schemas.openxmlformats.org/drawingml/2006/main" noGrp="1"/>
          </p:cNvSpPr>
          <p:nvPr/>
        </p:nvSpPr>
        <p:spPr>
          <a:xfrm xmlns:a="http://schemas.openxmlformats.org/drawingml/2006/main">
            <a:off x="2952750" y="39624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allowlisted commands + background jobs</a:t>
            </a:r>
          </a:p>
        </p:txBody>
      </p:sp>
      <p:sp>
        <p:nvSpPr>
          <p:cNvPr id="16" name="cap-left-4">
            <a:extLst xmlns:a="http://schemas.openxmlformats.org/drawingml/2006/main">
              <a:ext uri="{FF2B5EF4-FFF2-40B4-BE49-F238E27FC236}">
                <a16:creationId xmlns:a16="http://schemas.microsoft.com/office/drawing/2014/main" id="{4F9C8577-E9ED-4B2E-A092-CAC7A97CF712}"/>
              </a:ext>
            </a:extLst>
          </p:cNvPr>
          <p:cNvSpPr>
            <a:spLocks xmlns:a="http://schemas.openxmlformats.org/drawingml/2006/main" noGrp="1"/>
          </p:cNvSpPr>
          <p:nvPr/>
        </p:nvSpPr>
        <p:spPr>
          <a:xfrm xmlns:a="http://schemas.openxmlformats.org/drawingml/2006/main">
            <a:off x="762000" y="44767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DA4AF"/>
            </a:solidFill>
            <a:prstDash val="solid"/>
          </a:ln>
        </p:spPr>
      </p:sp>
      <p:sp>
        <p:nvSpPr>
          <p:cNvPr id="17" name="">
            <a:extLst xmlns:a="http://schemas.openxmlformats.org/drawingml/2006/main">
              <a:ext uri="{FF2B5EF4-FFF2-40B4-BE49-F238E27FC236}">
                <a16:creationId xmlns:a16="http://schemas.microsoft.com/office/drawing/2014/main" id="{69AF12AE-B863-4BF9-B9F6-A16B5D881909}"/>
              </a:ext>
            </a:extLst>
          </p:cNvPr>
          <p:cNvSpPr>
            <a:spLocks xmlns:a="http://schemas.openxmlformats.org/drawingml/2006/main" noGrp="1"/>
          </p:cNvSpPr>
          <p:nvPr/>
        </p:nvSpPr>
        <p:spPr>
          <a:xfrm xmlns:a="http://schemas.openxmlformats.org/drawingml/2006/main">
            <a:off x="971550" y="45720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DA4AF"/>
                </a:solidFill>
                <a:latin typeface="Arial"/>
                <a:ea typeface="Arial"/>
                <a:cs typeface="Arial"/>
              </a:defRPr>
            </a:defPPr>
            <a:lvl1pPr>
              <a:defRPr sz="1350" b="1">
                <a:solidFill>
                  <a:srgbClr val="FDA4AF"/>
                </a:solidFill>
                <a:latin typeface="Arial"/>
                <a:ea typeface="Arial"/>
                <a:cs typeface="Arial"/>
              </a:defRPr>
            </a:lvl1pPr>
            <a:lvl2pPr>
              <a:defRPr sz="1350" b="1">
                <a:solidFill>
                  <a:srgbClr val="FDA4AF"/>
                </a:solidFill>
                <a:latin typeface="Arial"/>
                <a:ea typeface="Arial"/>
                <a:cs typeface="Arial"/>
              </a:defRPr>
            </a:lvl2pPr>
            <a:lvl3pPr>
              <a:defRPr sz="1350" b="1">
                <a:solidFill>
                  <a:srgbClr val="FDA4AF"/>
                </a:solidFill>
                <a:latin typeface="Arial"/>
                <a:ea typeface="Arial"/>
                <a:cs typeface="Arial"/>
              </a:defRPr>
            </a:lvl3pPr>
            <a:lvl4pPr>
              <a:defRPr sz="1350" b="1">
                <a:solidFill>
                  <a:srgbClr val="FDA4AF"/>
                </a:solidFill>
                <a:latin typeface="Arial"/>
                <a:ea typeface="Arial"/>
                <a:cs typeface="Arial"/>
              </a:defRPr>
            </a:lvl4pPr>
            <a:lvl5pPr>
              <a:defRPr sz="1350" b="1">
                <a:solidFill>
                  <a:srgbClr val="FDA4AF"/>
                </a:solidFill>
                <a:latin typeface="Arial"/>
                <a:ea typeface="Arial"/>
                <a:cs typeface="Arial"/>
              </a:defRPr>
            </a:lvl5pPr>
            <a:lvl6pPr>
              <a:defRPr sz="1350" b="1">
                <a:solidFill>
                  <a:srgbClr val="FDA4AF"/>
                </a:solidFill>
                <a:latin typeface="Arial"/>
                <a:ea typeface="Arial"/>
                <a:cs typeface="Arial"/>
              </a:defRPr>
            </a:lvl6pPr>
            <a:lvl7pPr>
              <a:defRPr sz="1350" b="1">
                <a:solidFill>
                  <a:srgbClr val="FDA4AF"/>
                </a:solidFill>
                <a:latin typeface="Arial"/>
                <a:ea typeface="Arial"/>
                <a:cs typeface="Arial"/>
              </a:defRPr>
            </a:lvl7pPr>
            <a:lvl8pPr>
              <a:defRPr sz="1350" b="1">
                <a:solidFill>
                  <a:srgbClr val="FDA4AF"/>
                </a:solidFill>
                <a:latin typeface="Arial"/>
                <a:ea typeface="Arial"/>
                <a:cs typeface="Arial"/>
              </a:defRPr>
            </a:lvl8pPr>
            <a:lvl9pPr>
              <a:defRPr sz="1350" b="1">
                <a:solidFill>
                  <a:srgbClr val="FDA4AF"/>
                </a:solidFill>
                <a:latin typeface="Arial"/>
                <a:ea typeface="Arial"/>
                <a:cs typeface="Arial"/>
              </a:defRPr>
            </a:lvl9pPr>
          </a:lstStyle>
          <a:p xmlns:a="http://schemas.openxmlformats.org/drawingml/2006/main">
            <a:pPr>
              <a:defRPr sz="1350" b="1">
                <a:solidFill>
                  <a:srgbClr val="FDA4AF"/>
                </a:solidFill>
                <a:latin typeface="Arial"/>
                <a:ea typeface="Arial"/>
                <a:cs typeface="Arial"/>
              </a:defRPr>
            </a:pPr>
            <a:r>
              <a:rPr sz="1350" b="1">
                <a:solidFill>
                  <a:srgbClr val="FDA4AF"/>
                </a:solidFill>
                <a:latin typeface="Arial"/>
                <a:ea typeface="Arial"/>
                <a:cs typeface="Arial"/>
              </a:rPr>
              <a:t>Operations</a:t>
            </a:r>
          </a:p>
        </p:txBody>
      </p:sp>
      <p:sp>
        <p:nvSpPr>
          <p:cNvPr id="18" name="">
            <a:extLst xmlns:a="http://schemas.openxmlformats.org/drawingml/2006/main">
              <a:ext uri="{FF2B5EF4-FFF2-40B4-BE49-F238E27FC236}">
                <a16:creationId xmlns:a16="http://schemas.microsoft.com/office/drawing/2014/main" id="{1E52411B-0EEA-4709-A56F-1D0B23CFE54C}"/>
              </a:ext>
            </a:extLst>
          </p:cNvPr>
          <p:cNvSpPr>
            <a:spLocks xmlns:a="http://schemas.openxmlformats.org/drawingml/2006/main" noGrp="1"/>
          </p:cNvSpPr>
          <p:nvPr/>
        </p:nvSpPr>
        <p:spPr>
          <a:xfrm xmlns:a="http://schemas.openxmlformats.org/drawingml/2006/main">
            <a:off x="2952750" y="45720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system info + timers + MCP bridge</a:t>
            </a:r>
          </a:p>
        </p:txBody>
      </p:sp>
      <p:sp>
        <p:nvSpPr>
          <p:cNvPr id="19" name="boundary-callout">
            <a:extLst xmlns:a="http://schemas.openxmlformats.org/drawingml/2006/main">
              <a:ext uri="{FF2B5EF4-FFF2-40B4-BE49-F238E27FC236}">
                <a16:creationId xmlns:a16="http://schemas.microsoft.com/office/drawing/2014/main" id="{C85560A0-7ADA-47DD-842D-789D212C300E}"/>
              </a:ext>
            </a:extLst>
          </p:cNvPr>
          <p:cNvSpPr>
            <a:spLocks xmlns:a="http://schemas.openxmlformats.org/drawingml/2006/main" noGrp="1"/>
          </p:cNvSpPr>
          <p:nvPr/>
        </p:nvSpPr>
        <p:spPr>
          <a:xfrm xmlns:a="http://schemas.openxmlformats.org/drawingml/2006/main">
            <a:off x="8667750" y="2038350"/>
            <a:ext cx="2857500" cy="2857500"/>
          </a:xfrm>
          <a:prstGeom xmlns:a="http://schemas.openxmlformats.org/drawingml/2006/main" prst="roundRect">
            <a:avLst>
              <a:gd name="adj" fmla="val 4000"/>
            </a:avLst>
          </a:prstGeom>
          <a:solidFill xmlns:a="http://schemas.openxmlformats.org/drawingml/2006/main">
            <a:srgbClr val="102A43"/>
          </a:solidFill>
          <a:ln xmlns:a="http://schemas.openxmlformats.org/drawingml/2006/main" w="9525">
            <a:solidFill>
              <a:srgbClr val="FCD34D"/>
            </a:solidFill>
            <a:prstDash val="solid"/>
          </a:ln>
        </p:spPr>
      </p:sp>
      <p:sp>
        <p:nvSpPr>
          <p:cNvPr id="20" name="">
            <a:extLst xmlns:a="http://schemas.openxmlformats.org/drawingml/2006/main">
              <a:ext uri="{FF2B5EF4-FFF2-40B4-BE49-F238E27FC236}">
                <a16:creationId xmlns:a16="http://schemas.microsoft.com/office/drawing/2014/main" id="{E7DB4F6D-421C-4F48-811C-F55EEF2FD3D2}"/>
              </a:ext>
            </a:extLst>
          </p:cNvPr>
          <p:cNvSpPr>
            <a:spLocks xmlns:a="http://schemas.openxmlformats.org/drawingml/2006/main" noGrp="1"/>
          </p:cNvSpPr>
          <p:nvPr/>
        </p:nvSpPr>
        <p:spPr>
          <a:xfrm xmlns:a="http://schemas.openxmlformats.org/drawingml/2006/main">
            <a:off x="8991600" y="2400300"/>
            <a:ext cx="2209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FCD34D"/>
                </a:solidFill>
                <a:latin typeface="Arial"/>
                <a:ea typeface="Arial"/>
                <a:cs typeface="Arial"/>
              </a:defRPr>
            </a:defPPr>
            <a:lvl1pPr>
              <a:defRPr sz="2325" b="1">
                <a:solidFill>
                  <a:srgbClr val="FCD34D"/>
                </a:solidFill>
                <a:latin typeface="Arial"/>
                <a:ea typeface="Arial"/>
                <a:cs typeface="Arial"/>
              </a:defRPr>
            </a:lvl1pPr>
            <a:lvl2pPr>
              <a:defRPr sz="2325" b="1">
                <a:solidFill>
                  <a:srgbClr val="FCD34D"/>
                </a:solidFill>
                <a:latin typeface="Arial"/>
                <a:ea typeface="Arial"/>
                <a:cs typeface="Arial"/>
              </a:defRPr>
            </a:lvl2pPr>
            <a:lvl3pPr>
              <a:defRPr sz="2325" b="1">
                <a:solidFill>
                  <a:srgbClr val="FCD34D"/>
                </a:solidFill>
                <a:latin typeface="Arial"/>
                <a:ea typeface="Arial"/>
                <a:cs typeface="Arial"/>
              </a:defRPr>
            </a:lvl3pPr>
            <a:lvl4pPr>
              <a:defRPr sz="2325" b="1">
                <a:solidFill>
                  <a:srgbClr val="FCD34D"/>
                </a:solidFill>
                <a:latin typeface="Arial"/>
                <a:ea typeface="Arial"/>
                <a:cs typeface="Arial"/>
              </a:defRPr>
            </a:lvl4pPr>
            <a:lvl5pPr>
              <a:defRPr sz="2325" b="1">
                <a:solidFill>
                  <a:srgbClr val="FCD34D"/>
                </a:solidFill>
                <a:latin typeface="Arial"/>
                <a:ea typeface="Arial"/>
                <a:cs typeface="Arial"/>
              </a:defRPr>
            </a:lvl5pPr>
            <a:lvl6pPr>
              <a:defRPr sz="2325" b="1">
                <a:solidFill>
                  <a:srgbClr val="FCD34D"/>
                </a:solidFill>
                <a:latin typeface="Arial"/>
                <a:ea typeface="Arial"/>
                <a:cs typeface="Arial"/>
              </a:defRPr>
            </a:lvl6pPr>
            <a:lvl7pPr>
              <a:defRPr sz="2325" b="1">
                <a:solidFill>
                  <a:srgbClr val="FCD34D"/>
                </a:solidFill>
                <a:latin typeface="Arial"/>
                <a:ea typeface="Arial"/>
                <a:cs typeface="Arial"/>
              </a:defRPr>
            </a:lvl7pPr>
            <a:lvl8pPr>
              <a:defRPr sz="2325" b="1">
                <a:solidFill>
                  <a:srgbClr val="FCD34D"/>
                </a:solidFill>
                <a:latin typeface="Arial"/>
                <a:ea typeface="Arial"/>
                <a:cs typeface="Arial"/>
              </a:defRPr>
            </a:lvl8pPr>
            <a:lvl9pPr>
              <a:defRPr sz="2325" b="1">
                <a:solidFill>
                  <a:srgbClr val="FCD34D"/>
                </a:solidFill>
                <a:latin typeface="Arial"/>
                <a:ea typeface="Arial"/>
                <a:cs typeface="Arial"/>
              </a:defRPr>
            </a:lvl9pPr>
          </a:lstStyle>
          <a:p xmlns:a="http://schemas.openxmlformats.org/drawingml/2006/main">
            <a:pPr>
              <a:defRPr sz="2325" b="1">
                <a:solidFill>
                  <a:srgbClr val="FCD34D"/>
                </a:solidFill>
                <a:latin typeface="Arial"/>
                <a:ea typeface="Arial"/>
                <a:cs typeface="Arial"/>
              </a:defRPr>
            </a:pPr>
            <a:r>
              <a:rPr sz="2325" b="1">
                <a:solidFill>
                  <a:srgbClr val="FCD34D"/>
                </a:solidFill>
                <a:latin typeface="Arial"/>
                <a:ea typeface="Arial"/>
                <a:cs typeface="Arial"/>
              </a:rPr>
              <a:t>PARITY ≠</a:t>
            </a:r>
          </a:p>
          <a:p xmlns:a="http://schemas.openxmlformats.org/drawingml/2006/main">
            <a:pPr>
              <a:defRPr sz="2325" b="1">
                <a:solidFill>
                  <a:srgbClr val="FCD34D"/>
                </a:solidFill>
                <a:latin typeface="Arial"/>
                <a:ea typeface="Arial"/>
                <a:cs typeface="Arial"/>
              </a:defRPr>
            </a:pPr>
            <a:r>
              <a:rPr sz="2325" b="1">
                <a:solidFill>
                  <a:srgbClr val="FCD34D"/>
                </a:solidFill>
                <a:latin typeface="Arial"/>
                <a:ea typeface="Arial"/>
                <a:cs typeface="Arial"/>
              </a:rPr>
              <a:t>UNRESTRICTED</a:t>
            </a:r>
          </a:p>
          <a:p xmlns:a="http://schemas.openxmlformats.org/drawingml/2006/main">
            <a:pPr>
              <a:defRPr sz="2325" b="1">
                <a:solidFill>
                  <a:srgbClr val="FCD34D"/>
                </a:solidFill>
                <a:latin typeface="Arial"/>
                <a:ea typeface="Arial"/>
                <a:cs typeface="Arial"/>
              </a:defRPr>
            </a:pPr>
            <a:r>
              <a:rPr sz="2325" b="1">
                <a:solidFill>
                  <a:srgbClr val="FCD34D"/>
                </a:solidFill>
                <a:latin typeface="Arial"/>
                <a:ea typeface="Arial"/>
                <a:cs typeface="Arial"/>
              </a:rPr>
              <a:t>SHELL</a:t>
            </a:r>
          </a:p>
        </p:txBody>
      </p:sp>
      <p:sp>
        <p:nvSpPr>
          <p:cNvPr id="21" name="">
            <a:extLst xmlns:a="http://schemas.openxmlformats.org/drawingml/2006/main">
              <a:ext uri="{FF2B5EF4-FFF2-40B4-BE49-F238E27FC236}">
                <a16:creationId xmlns:a16="http://schemas.microsoft.com/office/drawing/2014/main" id="{45125C9F-5684-4F7D-94AA-FCFCC0101FFD}"/>
              </a:ext>
            </a:extLst>
          </p:cNvPr>
          <p:cNvSpPr>
            <a:spLocks xmlns:a="http://schemas.openxmlformats.org/drawingml/2006/main" noGrp="1"/>
          </p:cNvSpPr>
          <p:nvPr/>
        </p:nvSpPr>
        <p:spPr>
          <a:xfrm xmlns:a="http://schemas.openxmlformats.org/drawingml/2006/main">
            <a:off x="8991600" y="3752850"/>
            <a:ext cx="2209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Paths stay inside ME3.</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Secrets and model caches are</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blocked. Destructive patterns</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are rejected.</a:t>
            </a:r>
          </a:p>
        </p:txBody>
      </p:sp>
      <p:sp>
        <p:nvSpPr>
          <p:cNvPr id="22" name="">
            <a:extLst xmlns:a="http://schemas.openxmlformats.org/drawingml/2006/main">
              <a:ext uri="{FF2B5EF4-FFF2-40B4-BE49-F238E27FC236}">
                <a16:creationId xmlns:a16="http://schemas.microsoft.com/office/drawing/2014/main" id="{6DAA752E-7DF0-4A87-9DD6-B2C237D1D8D4}"/>
              </a:ext>
            </a:extLst>
          </p:cNvPr>
          <p:cNvSpPr>
            <a:spLocks xmlns:a="http://schemas.openxmlformats.org/drawingml/2006/main" noGrp="1"/>
          </p:cNvSpPr>
          <p:nvPr/>
        </p:nvSpPr>
        <p:spPr>
          <a:xfrm xmlns:a="http://schemas.openxmlformats.org/drawingml/2006/main">
            <a:off x="781050" y="5467350"/>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7FAFC"/>
                </a:solidFill>
                <a:latin typeface="Arial"/>
                <a:ea typeface="Arial"/>
                <a:cs typeface="Arial"/>
              </a:defRPr>
            </a:defPPr>
            <a:lvl1pPr>
              <a:defRPr sz="1500" b="1">
                <a:solidFill>
                  <a:srgbClr val="F7FAFC"/>
                </a:solidFill>
                <a:latin typeface="Arial"/>
                <a:ea typeface="Arial"/>
                <a:cs typeface="Arial"/>
              </a:defRPr>
            </a:lvl1pPr>
            <a:lvl2pPr>
              <a:defRPr sz="1500" b="1">
                <a:solidFill>
                  <a:srgbClr val="F7FAFC"/>
                </a:solidFill>
                <a:latin typeface="Arial"/>
                <a:ea typeface="Arial"/>
                <a:cs typeface="Arial"/>
              </a:defRPr>
            </a:lvl2pPr>
            <a:lvl3pPr>
              <a:defRPr sz="1500" b="1">
                <a:solidFill>
                  <a:srgbClr val="F7FAFC"/>
                </a:solidFill>
                <a:latin typeface="Arial"/>
                <a:ea typeface="Arial"/>
                <a:cs typeface="Arial"/>
              </a:defRPr>
            </a:lvl3pPr>
            <a:lvl4pPr>
              <a:defRPr sz="1500" b="1">
                <a:solidFill>
                  <a:srgbClr val="F7FAFC"/>
                </a:solidFill>
                <a:latin typeface="Arial"/>
                <a:ea typeface="Arial"/>
                <a:cs typeface="Arial"/>
              </a:defRPr>
            </a:lvl4pPr>
            <a:lvl5pPr>
              <a:defRPr sz="1500" b="1">
                <a:solidFill>
                  <a:srgbClr val="F7FAFC"/>
                </a:solidFill>
                <a:latin typeface="Arial"/>
                <a:ea typeface="Arial"/>
                <a:cs typeface="Arial"/>
              </a:defRPr>
            </a:lvl5pPr>
            <a:lvl6pPr>
              <a:defRPr sz="1500" b="1">
                <a:solidFill>
                  <a:srgbClr val="F7FAFC"/>
                </a:solidFill>
                <a:latin typeface="Arial"/>
                <a:ea typeface="Arial"/>
                <a:cs typeface="Arial"/>
              </a:defRPr>
            </a:lvl6pPr>
            <a:lvl7pPr>
              <a:defRPr sz="1500" b="1">
                <a:solidFill>
                  <a:srgbClr val="F7FAFC"/>
                </a:solidFill>
                <a:latin typeface="Arial"/>
                <a:ea typeface="Arial"/>
                <a:cs typeface="Arial"/>
              </a:defRPr>
            </a:lvl7pPr>
            <a:lvl8pPr>
              <a:defRPr sz="1500" b="1">
                <a:solidFill>
                  <a:srgbClr val="F7FAFC"/>
                </a:solidFill>
                <a:latin typeface="Arial"/>
                <a:ea typeface="Arial"/>
                <a:cs typeface="Arial"/>
              </a:defRPr>
            </a:lvl8pPr>
            <a:lvl9pPr>
              <a:defRPr sz="1500" b="1">
                <a:solidFill>
                  <a:srgbClr val="F7FAFC"/>
                </a:solidFill>
                <a:latin typeface="Arial"/>
                <a:ea typeface="Arial"/>
                <a:cs typeface="Arial"/>
              </a:defRPr>
            </a:lvl9pPr>
          </a:lstStyle>
          <a:p xmlns:a="http://schemas.openxmlformats.org/drawingml/2006/main">
            <a:pPr>
              <a:defRPr sz="1500" b="1">
                <a:solidFill>
                  <a:srgbClr val="F7FAFC"/>
                </a:solidFill>
                <a:latin typeface="Arial"/>
                <a:ea typeface="Arial"/>
                <a:cs typeface="Arial"/>
              </a:defRPr>
            </a:pPr>
            <a:r>
              <a:rPr sz="1500" b="1">
                <a:solidFill>
                  <a:srgbClr val="F7FAFC"/>
                </a:solidFill>
                <a:latin typeface="Arial"/>
                <a:ea typeface="Arial"/>
                <a:cs typeface="Arial"/>
              </a:rPr>
              <a:t>Capability is added as a typed tool with an observable result.</a:t>
            </a:r>
          </a:p>
        </p:txBody>
      </p:sp>
      <p:sp>
        <p:nvSpPr>
          <p:cNvPr id="23" name="">
            <a:extLst xmlns:a="http://schemas.openxmlformats.org/drawingml/2006/main">
              <a:ext uri="{FF2B5EF4-FFF2-40B4-BE49-F238E27FC236}">
                <a16:creationId xmlns:a16="http://schemas.microsoft.com/office/drawing/2014/main" id="{086C98D6-D831-48F4-AAAD-56C0137CF204}"/>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5/7</a:t>
            </a:r>
          </a:p>
        </p:txBody>
      </p:sp>
    </p:spTree>
    <p:extLst>
      <p:ext uri="{BB962C8B-B14F-4D97-AF65-F5344CB8AC3E}">
        <p14:creationId xmlns:p14="http://schemas.microsoft.com/office/powerpoint/2010/main" val="33083708"/>
      </p:ext>
    </p:extLst>
  </p:cSld>
</p:sld>
</file>

<file path=ppt/slides/slide6.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6233E1B-22CF-430F-9A68-1C2E9EF138F1}"/>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CFEE4404-594D-477A-A386-D24A191FEC43}"/>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The implementation is verified in layers</a:t>
            </a:r>
          </a:p>
        </p:txBody>
      </p:sp>
      <p:sp>
        <p:nvSpPr>
          <p:cNvPr id="3" name="">
            <a:extLst xmlns:a="http://schemas.openxmlformats.org/drawingml/2006/main">
              <a:ext uri="{FF2B5EF4-FFF2-40B4-BE49-F238E27FC236}">
                <a16:creationId xmlns:a16="http://schemas.microsoft.com/office/drawing/2014/main" id="{4E312FAD-92FD-4CCC-BFA2-B08CC1A3D02D}"/>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Each layer answers a different question; a local pass is not silently promoted to Pi or benchmark evidence.</a:t>
            </a:r>
          </a:p>
        </p:txBody>
      </p:sp>
      <p:sp>
        <p:nvSpPr>
          <p:cNvPr id="4" name="verified-now">
            <a:extLst xmlns:a="http://schemas.openxmlformats.org/drawingml/2006/main">
              <a:ext uri="{FF2B5EF4-FFF2-40B4-BE49-F238E27FC236}">
                <a16:creationId xmlns:a16="http://schemas.microsoft.com/office/drawing/2014/main" id="{4244E81C-E98B-4FD8-8BA3-272461C313B4}"/>
              </a:ext>
            </a:extLst>
          </p:cNvPr>
          <p:cNvSpPr>
            <a:spLocks xmlns:a="http://schemas.openxmlformats.org/drawingml/2006/main" noGrp="1"/>
          </p:cNvSpPr>
          <p:nvPr/>
        </p:nvSpPr>
        <p:spPr>
          <a:xfrm xmlns:a="http://schemas.openxmlformats.org/drawingml/2006/main">
            <a:off x="723900" y="2038350"/>
            <a:ext cx="495300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A7F3D0"/>
            </a:solidFill>
            <a:prstDash val="solid"/>
          </a:ln>
        </p:spPr>
      </p:sp>
      <p:sp>
        <p:nvSpPr>
          <p:cNvPr id="5" name="">
            <a:extLst xmlns:a="http://schemas.openxmlformats.org/drawingml/2006/main">
              <a:ext uri="{FF2B5EF4-FFF2-40B4-BE49-F238E27FC236}">
                <a16:creationId xmlns:a16="http://schemas.microsoft.com/office/drawing/2014/main" id="{BD7CD51A-E055-46BE-87A5-75FE8509B93D}"/>
              </a:ext>
            </a:extLst>
          </p:cNvPr>
          <p:cNvSpPr>
            <a:spLocks xmlns:a="http://schemas.openxmlformats.org/drawingml/2006/main" noGrp="1"/>
          </p:cNvSpPr>
          <p:nvPr/>
        </p:nvSpPr>
        <p:spPr>
          <a:xfrm xmlns:a="http://schemas.openxmlformats.org/drawingml/2006/main">
            <a:off x="102870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VERIFIED NOW</a:t>
            </a:r>
          </a:p>
        </p:txBody>
      </p:sp>
      <p:sp>
        <p:nvSpPr>
          <p:cNvPr id="6" name="">
            <a:extLst xmlns:a="http://schemas.openxmlformats.org/drawingml/2006/main">
              <a:ext uri="{FF2B5EF4-FFF2-40B4-BE49-F238E27FC236}">
                <a16:creationId xmlns:a16="http://schemas.microsoft.com/office/drawing/2014/main" id="{2CE61D9F-A97B-4BD0-B918-0BF6E199BA01}"/>
              </a:ext>
            </a:extLst>
          </p:cNvPr>
          <p:cNvSpPr>
            <a:spLocks xmlns:a="http://schemas.openxmlformats.org/drawingml/2006/main" noGrp="1"/>
          </p:cNvSpPr>
          <p:nvPr/>
        </p:nvSpPr>
        <p:spPr>
          <a:xfrm xmlns:a="http://schemas.openxmlformats.org/drawingml/2006/main">
            <a:off x="1028700" y="27813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Live Qwen call → system_info → final answer</a:t>
            </a:r>
          </a:p>
        </p:txBody>
      </p:sp>
      <p:sp>
        <p:nvSpPr>
          <p:cNvPr id="7" name="">
            <a:extLst xmlns:a="http://schemas.openxmlformats.org/drawingml/2006/main">
              <a:ext uri="{FF2B5EF4-FFF2-40B4-BE49-F238E27FC236}">
                <a16:creationId xmlns:a16="http://schemas.microsoft.com/office/drawing/2014/main" id="{45E26BB4-3685-4269-9E76-AFF5654DABA9}"/>
              </a:ext>
            </a:extLst>
          </p:cNvPr>
          <p:cNvSpPr>
            <a:spLocks xmlns:a="http://schemas.openxmlformats.org/drawingml/2006/main" noGrp="1"/>
          </p:cNvSpPr>
          <p:nvPr/>
        </p:nvSpPr>
        <p:spPr>
          <a:xfrm xmlns:a="http://schemas.openxmlformats.org/drawingml/2006/main">
            <a:off x="1028700" y="322897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Live Qwen web-app file creation + read-back</a:t>
            </a:r>
          </a:p>
        </p:txBody>
      </p:sp>
      <p:sp>
        <p:nvSpPr>
          <p:cNvPr id="8" name="">
            <a:extLst xmlns:a="http://schemas.openxmlformats.org/drawingml/2006/main">
              <a:ext uri="{FF2B5EF4-FFF2-40B4-BE49-F238E27FC236}">
                <a16:creationId xmlns:a16="http://schemas.microsoft.com/office/drawing/2014/main" id="{600EA0FA-0C6D-4BC1-B06E-571BC1E5C9A5}"/>
              </a:ext>
            </a:extLst>
          </p:cNvPr>
          <p:cNvSpPr>
            <a:spLocks xmlns:a="http://schemas.openxmlformats.org/drawingml/2006/main" noGrp="1"/>
          </p:cNvSpPr>
          <p:nvPr/>
        </p:nvSpPr>
        <p:spPr>
          <a:xfrm xmlns:a="http://schemas.openxmlformats.org/drawingml/2006/main">
            <a:off x="1028700" y="367665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4 focused tooling tests passed</a:t>
            </a:r>
          </a:p>
        </p:txBody>
      </p:sp>
      <p:sp>
        <p:nvSpPr>
          <p:cNvPr id="9" name="">
            <a:extLst xmlns:a="http://schemas.openxmlformats.org/drawingml/2006/main">
              <a:ext uri="{FF2B5EF4-FFF2-40B4-BE49-F238E27FC236}">
                <a16:creationId xmlns:a16="http://schemas.microsoft.com/office/drawing/2014/main" id="{D2A9DF84-748C-4198-9EF2-92DE20969BE4}"/>
              </a:ext>
            </a:extLst>
          </p:cNvPr>
          <p:cNvSpPr>
            <a:spLocks xmlns:a="http://schemas.openxmlformats.org/drawingml/2006/main" noGrp="1"/>
          </p:cNvSpPr>
          <p:nvPr/>
        </p:nvSpPr>
        <p:spPr>
          <a:xfrm xmlns:a="http://schemas.openxmlformats.org/drawingml/2006/main">
            <a:off x="1028700" y="412432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All 4 MCP services + PortAudio local smoke passed</a:t>
            </a:r>
          </a:p>
        </p:txBody>
      </p:sp>
      <p:sp>
        <p:nvSpPr>
          <p:cNvPr id="10" name="">
            <a:extLst xmlns:a="http://schemas.openxmlformats.org/drawingml/2006/main">
              <a:ext uri="{FF2B5EF4-FFF2-40B4-BE49-F238E27FC236}">
                <a16:creationId xmlns:a16="http://schemas.microsoft.com/office/drawing/2014/main" id="{49E863DF-034D-47A6-8E34-F15B69A95F2C}"/>
              </a:ext>
            </a:extLst>
          </p:cNvPr>
          <p:cNvSpPr>
            <a:spLocks xmlns:a="http://schemas.openxmlformats.org/drawingml/2006/main" noGrp="1"/>
          </p:cNvSpPr>
          <p:nvPr/>
        </p:nvSpPr>
        <p:spPr>
          <a:xfrm xmlns:a="http://schemas.openxmlformats.org/drawingml/2006/main">
            <a:off x="1028700" y="45720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Paper alignment and v1.5 contract checks passed</a:t>
            </a:r>
          </a:p>
        </p:txBody>
      </p:sp>
      <p:sp>
        <p:nvSpPr>
          <p:cNvPr id="11" name="next-gates">
            <a:extLst xmlns:a="http://schemas.openxmlformats.org/drawingml/2006/main">
              <a:ext uri="{FF2B5EF4-FFF2-40B4-BE49-F238E27FC236}">
                <a16:creationId xmlns:a16="http://schemas.microsoft.com/office/drawing/2014/main" id="{6DE484CD-C75F-4B1E-8CBD-DC1C10C2F2C1}"/>
              </a:ext>
            </a:extLst>
          </p:cNvPr>
          <p:cNvSpPr>
            <a:spLocks xmlns:a="http://schemas.openxmlformats.org/drawingml/2006/main" noGrp="1"/>
          </p:cNvSpPr>
          <p:nvPr/>
        </p:nvSpPr>
        <p:spPr>
          <a:xfrm xmlns:a="http://schemas.openxmlformats.org/drawingml/2006/main">
            <a:off x="6191250" y="2038350"/>
            <a:ext cx="527685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FCD34D"/>
            </a:solidFill>
            <a:prstDash val="solid"/>
          </a:ln>
        </p:spPr>
      </p:sp>
      <p:sp>
        <p:nvSpPr>
          <p:cNvPr id="12" name="">
            <a:extLst xmlns:a="http://schemas.openxmlformats.org/drawingml/2006/main">
              <a:ext uri="{FF2B5EF4-FFF2-40B4-BE49-F238E27FC236}">
                <a16:creationId xmlns:a16="http://schemas.microsoft.com/office/drawing/2014/main" id="{F37B6D0B-73F8-4EDE-A36D-814922586F40}"/>
              </a:ext>
            </a:extLst>
          </p:cNvPr>
          <p:cNvSpPr>
            <a:spLocks xmlns:a="http://schemas.openxmlformats.org/drawingml/2006/main" noGrp="1"/>
          </p:cNvSpPr>
          <p:nvPr/>
        </p:nvSpPr>
        <p:spPr>
          <a:xfrm xmlns:a="http://schemas.openxmlformats.org/drawingml/2006/main">
            <a:off x="649605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REMAINING GATES</a:t>
            </a:r>
          </a:p>
        </p:txBody>
      </p:sp>
      <p:sp>
        <p:nvSpPr>
          <p:cNvPr id="13" name="">
            <a:extLst xmlns:a="http://schemas.openxmlformats.org/drawingml/2006/main">
              <a:ext uri="{FF2B5EF4-FFF2-40B4-BE49-F238E27FC236}">
                <a16:creationId xmlns:a16="http://schemas.microsoft.com/office/drawing/2014/main" id="{C565A9AB-4F7A-413A-93CA-951B77F7EBD9}"/>
              </a:ext>
            </a:extLst>
          </p:cNvPr>
          <p:cNvSpPr>
            <a:spLocks xmlns:a="http://schemas.openxmlformats.org/drawingml/2006/main" noGrp="1"/>
          </p:cNvSpPr>
          <p:nvPr/>
        </p:nvSpPr>
        <p:spPr>
          <a:xfrm xmlns:a="http://schemas.openxmlformats.org/drawingml/2006/main">
            <a:off x="6496050" y="278130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live audio run with the installed hardware</a:t>
            </a:r>
          </a:p>
        </p:txBody>
      </p:sp>
      <p:sp>
        <p:nvSpPr>
          <p:cNvPr id="14" name="">
            <a:extLst xmlns:a="http://schemas.openxmlformats.org/drawingml/2006/main">
              <a:ext uri="{FF2B5EF4-FFF2-40B4-BE49-F238E27FC236}">
                <a16:creationId xmlns:a16="http://schemas.microsoft.com/office/drawing/2014/main" id="{2E3C17E5-BE97-468F-ABAC-85F7C84D366A}"/>
              </a:ext>
            </a:extLst>
          </p:cNvPr>
          <p:cNvSpPr>
            <a:spLocks xmlns:a="http://schemas.openxmlformats.org/drawingml/2006/main" noGrp="1"/>
          </p:cNvSpPr>
          <p:nvPr/>
        </p:nvSpPr>
        <p:spPr>
          <a:xfrm xmlns:a="http://schemas.openxmlformats.org/drawingml/2006/main">
            <a:off x="6496050" y="3305175"/>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Securely provision VLLM_API_KEY on the Pi</a:t>
            </a:r>
          </a:p>
        </p:txBody>
      </p:sp>
      <p:sp>
        <p:nvSpPr>
          <p:cNvPr id="15" name="">
            <a:extLst xmlns:a="http://schemas.openxmlformats.org/drawingml/2006/main">
              <a:ext uri="{FF2B5EF4-FFF2-40B4-BE49-F238E27FC236}">
                <a16:creationId xmlns:a16="http://schemas.microsoft.com/office/drawing/2014/main" id="{C891DF89-AB5F-44A7-B681-2C0504A3A3E8}"/>
              </a:ext>
            </a:extLst>
          </p:cNvPr>
          <p:cNvSpPr>
            <a:spLocks xmlns:a="http://schemas.openxmlformats.org/drawingml/2006/main" noGrp="1"/>
          </p:cNvSpPr>
          <p:nvPr/>
        </p:nvSpPr>
        <p:spPr>
          <a:xfrm xmlns:a="http://schemas.openxmlformats.org/drawingml/2006/main">
            <a:off x="6496050" y="382905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Clean, unaudited FULL-DUPLEX-BENCH v1.5 capture</a:t>
            </a:r>
          </a:p>
        </p:txBody>
      </p:sp>
      <p:sp>
        <p:nvSpPr>
          <p:cNvPr id="16" name="">
            <a:extLst xmlns:a="http://schemas.openxmlformats.org/drawingml/2006/main">
              <a:ext uri="{FF2B5EF4-FFF2-40B4-BE49-F238E27FC236}">
                <a16:creationId xmlns:a16="http://schemas.microsoft.com/office/drawing/2014/main" id="{029B4B2F-45A4-4D3D-A0A7-8DCAD09A41FA}"/>
              </a:ext>
            </a:extLst>
          </p:cNvPr>
          <p:cNvSpPr>
            <a:spLocks xmlns:a="http://schemas.openxmlformats.org/drawingml/2006/main" noGrp="1"/>
          </p:cNvSpPr>
          <p:nvPr/>
        </p:nvSpPr>
        <p:spPr>
          <a:xfrm xmlns:a="http://schemas.openxmlformats.org/drawingml/2006/main">
            <a:off x="6496050" y="4352925"/>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HTTPS endpoint when an administrator provides one</a:t>
            </a:r>
          </a:p>
        </p:txBody>
      </p:sp>
      <p:sp>
        <p:nvSpPr>
          <p:cNvPr id="17" name="">
            <a:extLst xmlns:a="http://schemas.openxmlformats.org/drawingml/2006/main">
              <a:ext uri="{FF2B5EF4-FFF2-40B4-BE49-F238E27FC236}">
                <a16:creationId xmlns:a16="http://schemas.microsoft.com/office/drawing/2014/main" id="{FA6899BF-0602-4968-893A-193D67E851EC}"/>
              </a:ext>
            </a:extLst>
          </p:cNvPr>
          <p:cNvSpPr>
            <a:spLocks xmlns:a="http://schemas.openxmlformats.org/drawingml/2006/main" noGrp="1"/>
          </p:cNvSpPr>
          <p:nvPr/>
        </p:nvSpPr>
        <p:spPr>
          <a:xfrm xmlns:a="http://schemas.openxmlformats.org/drawingml/2006/main">
            <a:off x="6496050" y="48577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A7F3D0"/>
                </a:solidFill>
                <a:latin typeface="Arial"/>
                <a:ea typeface="Arial"/>
                <a:cs typeface="Arial"/>
              </a:defRPr>
            </a:defPPr>
            <a:lvl1pPr>
              <a:defRPr sz="1500" b="1">
                <a:solidFill>
                  <a:srgbClr val="A7F3D0"/>
                </a:solidFill>
                <a:latin typeface="Arial"/>
                <a:ea typeface="Arial"/>
                <a:cs typeface="Arial"/>
              </a:defRPr>
            </a:lvl1pPr>
            <a:lvl2pPr>
              <a:defRPr sz="1500" b="1">
                <a:solidFill>
                  <a:srgbClr val="A7F3D0"/>
                </a:solidFill>
                <a:latin typeface="Arial"/>
                <a:ea typeface="Arial"/>
                <a:cs typeface="Arial"/>
              </a:defRPr>
            </a:lvl2pPr>
            <a:lvl3pPr>
              <a:defRPr sz="1500" b="1">
                <a:solidFill>
                  <a:srgbClr val="A7F3D0"/>
                </a:solidFill>
                <a:latin typeface="Arial"/>
                <a:ea typeface="Arial"/>
                <a:cs typeface="Arial"/>
              </a:defRPr>
            </a:lvl3pPr>
            <a:lvl4pPr>
              <a:defRPr sz="1500" b="1">
                <a:solidFill>
                  <a:srgbClr val="A7F3D0"/>
                </a:solidFill>
                <a:latin typeface="Arial"/>
                <a:ea typeface="Arial"/>
                <a:cs typeface="Arial"/>
              </a:defRPr>
            </a:lvl4pPr>
            <a:lvl5pPr>
              <a:defRPr sz="1500" b="1">
                <a:solidFill>
                  <a:srgbClr val="A7F3D0"/>
                </a:solidFill>
                <a:latin typeface="Arial"/>
                <a:ea typeface="Arial"/>
                <a:cs typeface="Arial"/>
              </a:defRPr>
            </a:lvl5pPr>
            <a:lvl6pPr>
              <a:defRPr sz="1500" b="1">
                <a:solidFill>
                  <a:srgbClr val="A7F3D0"/>
                </a:solidFill>
                <a:latin typeface="Arial"/>
                <a:ea typeface="Arial"/>
                <a:cs typeface="Arial"/>
              </a:defRPr>
            </a:lvl6pPr>
            <a:lvl7pPr>
              <a:defRPr sz="1500" b="1">
                <a:solidFill>
                  <a:srgbClr val="A7F3D0"/>
                </a:solidFill>
                <a:latin typeface="Arial"/>
                <a:ea typeface="Arial"/>
                <a:cs typeface="Arial"/>
              </a:defRPr>
            </a:lvl7pPr>
            <a:lvl8pPr>
              <a:defRPr sz="1500" b="1">
                <a:solidFill>
                  <a:srgbClr val="A7F3D0"/>
                </a:solidFill>
                <a:latin typeface="Arial"/>
                <a:ea typeface="Arial"/>
                <a:cs typeface="Arial"/>
              </a:defRPr>
            </a:lvl8pPr>
            <a:lvl9pPr>
              <a:defRPr sz="1500" b="1">
                <a:solidFill>
                  <a:srgbClr val="A7F3D0"/>
                </a:solidFill>
                <a:latin typeface="Arial"/>
                <a:ea typeface="Arial"/>
                <a:cs typeface="Arial"/>
              </a:defRPr>
            </a:lvl9pPr>
          </a:lstStyle>
          <a:p xmlns:a="http://schemas.openxmlformats.org/drawingml/2006/main">
            <a:pPr>
              <a:defRPr sz="1500" b="1">
                <a:solidFill>
                  <a:srgbClr val="A7F3D0"/>
                </a:solidFill>
                <a:latin typeface="Arial"/>
                <a:ea typeface="Arial"/>
                <a:cs typeface="Arial"/>
              </a:defRPr>
            </a:pPr>
            <a:r>
              <a:rPr sz="1500" b="1">
                <a:solidFill>
                  <a:srgbClr val="A7F3D0"/>
                </a:solidFill>
                <a:latin typeface="Arial"/>
                <a:ea typeface="Arial"/>
                <a:cs typeface="Arial"/>
              </a:rPr>
              <a:t>No training run is in the critical path.</a:t>
            </a:r>
          </a:p>
        </p:txBody>
      </p:sp>
      <p:sp>
        <p:nvSpPr>
          <p:cNvPr id="18" name="">
            <a:extLst xmlns:a="http://schemas.openxmlformats.org/drawingml/2006/main">
              <a:ext uri="{FF2B5EF4-FFF2-40B4-BE49-F238E27FC236}">
                <a16:creationId xmlns:a16="http://schemas.microsoft.com/office/drawing/2014/main" id="{5B609120-D94D-4CED-98F5-07BDD1D19E8D}"/>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6/7</a:t>
            </a:r>
          </a:p>
        </p:txBody>
      </p:sp>
    </p:spTree>
    <p:extLst>
      <p:ext uri="{BB962C8B-B14F-4D97-AF65-F5344CB8AC3E}">
        <p14:creationId xmlns:p14="http://schemas.microsoft.com/office/powerpoint/2010/main" val="1956741409"/>
      </p:ext>
    </p:extLst>
  </p:cSld>
</p:sld>
</file>

<file path=ppt/slides/slide7.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0" name="close-rule">
            <a:extLst xmlns:a="http://schemas.openxmlformats.org/drawingml/2006/main">
              <a:ext uri="{FF2B5EF4-FFF2-40B4-BE49-F238E27FC236}">
                <a16:creationId xmlns:a16="http://schemas.microsoft.com/office/drawing/2014/main" id="{3357818A-E85F-4F42-8DF3-256F7C9D3505}"/>
              </a:ext>
            </a:extLst>
          </p:cNvPr>
          <p:cNvSpPr>
            <a:spLocks xmlns:a="http://schemas.openxmlformats.org/drawingml/2006/main" noGrp="1"/>
          </p:cNvSpPr>
          <p:nvPr/>
        </p:nvSpPr>
        <p:spPr>
          <a:xfrm xmlns:a="http://schemas.openxmlformats.org/drawingml/2006/main">
            <a:off x="609600" y="609600"/>
            <a:ext cx="95250" cy="533400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A9F484-F68A-458F-994D-4C3DE7F52497}"/>
              </a:ext>
            </a:extLst>
          </p:cNvPr>
          <p:cNvSpPr>
            <a:spLocks xmlns:a="http://schemas.openxmlformats.org/drawingml/2006/main" noGrp="1"/>
          </p:cNvSpPr>
          <p:nvPr/>
        </p:nvSpPr>
        <p:spPr>
          <a:xfrm xmlns:a="http://schemas.openxmlformats.org/drawingml/2006/main">
            <a:off x="1066800" y="933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THE TAKEAWAY</a:t>
            </a:r>
          </a:p>
        </p:txBody>
      </p:sp>
      <p:sp>
        <p:nvSpPr>
          <p:cNvPr id="3" name="">
            <a:extLst xmlns:a="http://schemas.openxmlformats.org/drawingml/2006/main">
              <a:ext uri="{FF2B5EF4-FFF2-40B4-BE49-F238E27FC236}">
                <a16:creationId xmlns:a16="http://schemas.microsoft.com/office/drawing/2014/main" id="{0867D892-63D5-4F97-8E09-DD1827C87234}"/>
              </a:ext>
            </a:extLst>
          </p:cNvPr>
          <p:cNvSpPr>
            <a:spLocks xmlns:a="http://schemas.openxmlformats.org/drawingml/2006/main" noGrp="1"/>
          </p:cNvSpPr>
          <p:nvPr/>
        </p:nvSpPr>
        <p:spPr>
          <a:xfrm xmlns:a="http://schemas.openxmlformats.org/drawingml/2006/main">
            <a:off x="1066800" y="146685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7FAFC"/>
                </a:solidFill>
                <a:latin typeface="Arial"/>
                <a:ea typeface="Arial"/>
                <a:cs typeface="Arial"/>
              </a:defRPr>
            </a:defPPr>
            <a:lvl1pPr>
              <a:defRPr sz="3450" b="1">
                <a:solidFill>
                  <a:srgbClr val="F7FAFC"/>
                </a:solidFill>
                <a:latin typeface="Arial"/>
                <a:ea typeface="Arial"/>
                <a:cs typeface="Arial"/>
              </a:defRPr>
            </a:lvl1pPr>
            <a:lvl2pPr>
              <a:defRPr sz="3450" b="1">
                <a:solidFill>
                  <a:srgbClr val="F7FAFC"/>
                </a:solidFill>
                <a:latin typeface="Arial"/>
                <a:ea typeface="Arial"/>
                <a:cs typeface="Arial"/>
              </a:defRPr>
            </a:lvl2pPr>
            <a:lvl3pPr>
              <a:defRPr sz="3450" b="1">
                <a:solidFill>
                  <a:srgbClr val="F7FAFC"/>
                </a:solidFill>
                <a:latin typeface="Arial"/>
                <a:ea typeface="Arial"/>
                <a:cs typeface="Arial"/>
              </a:defRPr>
            </a:lvl3pPr>
            <a:lvl4pPr>
              <a:defRPr sz="3450" b="1">
                <a:solidFill>
                  <a:srgbClr val="F7FAFC"/>
                </a:solidFill>
                <a:latin typeface="Arial"/>
                <a:ea typeface="Arial"/>
                <a:cs typeface="Arial"/>
              </a:defRPr>
            </a:lvl4pPr>
            <a:lvl5pPr>
              <a:defRPr sz="3450" b="1">
                <a:solidFill>
                  <a:srgbClr val="F7FAFC"/>
                </a:solidFill>
                <a:latin typeface="Arial"/>
                <a:ea typeface="Arial"/>
                <a:cs typeface="Arial"/>
              </a:defRPr>
            </a:lvl5pPr>
            <a:lvl6pPr>
              <a:defRPr sz="3450" b="1">
                <a:solidFill>
                  <a:srgbClr val="F7FAFC"/>
                </a:solidFill>
                <a:latin typeface="Arial"/>
                <a:ea typeface="Arial"/>
                <a:cs typeface="Arial"/>
              </a:defRPr>
            </a:lvl6pPr>
            <a:lvl7pPr>
              <a:defRPr sz="3450" b="1">
                <a:solidFill>
                  <a:srgbClr val="F7FAFC"/>
                </a:solidFill>
                <a:latin typeface="Arial"/>
                <a:ea typeface="Arial"/>
                <a:cs typeface="Arial"/>
              </a:defRPr>
            </a:lvl7pPr>
            <a:lvl8pPr>
              <a:defRPr sz="3450" b="1">
                <a:solidFill>
                  <a:srgbClr val="F7FAFC"/>
                </a:solidFill>
                <a:latin typeface="Arial"/>
                <a:ea typeface="Arial"/>
                <a:cs typeface="Arial"/>
              </a:defRPr>
            </a:lvl8pPr>
            <a:lvl9pPr>
              <a:defRPr sz="3450" b="1">
                <a:solidFill>
                  <a:srgbClr val="F7FAFC"/>
                </a:solidFill>
                <a:latin typeface="Arial"/>
                <a:ea typeface="Arial"/>
                <a:cs typeface="Arial"/>
              </a:defRPr>
            </a:lvl9pPr>
          </a:lstStyle>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 voice agent becomes</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useful when it can act</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and show its work.</a:t>
            </a:r>
          </a:p>
        </p:txBody>
      </p:sp>
      <p:sp>
        <p:nvSpPr>
          <p:cNvPr id="4" name="">
            <a:extLst xmlns:a="http://schemas.openxmlformats.org/drawingml/2006/main">
              <a:ext uri="{FF2B5EF4-FFF2-40B4-BE49-F238E27FC236}">
                <a16:creationId xmlns:a16="http://schemas.microsoft.com/office/drawing/2014/main" id="{12CA0160-FA33-4DA2-B279-D60EDC250C64}"/>
              </a:ext>
            </a:extLst>
          </p:cNvPr>
          <p:cNvSpPr>
            <a:spLocks xmlns:a="http://schemas.openxmlformats.org/drawingml/2006/main" noGrp="1"/>
          </p:cNvSpPr>
          <p:nvPr/>
        </p:nvSpPr>
        <p:spPr>
          <a:xfrm xmlns:a="http://schemas.openxmlformats.org/drawingml/2006/main">
            <a:off x="1104900" y="3409950"/>
            <a:ext cx="666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A8B8CA"/>
                </a:solidFill>
                <a:latin typeface="Arial"/>
                <a:ea typeface="Arial"/>
                <a:cs typeface="Arial"/>
              </a:defRPr>
            </a:defPPr>
            <a:lvl1pPr>
              <a:defRPr sz="1650">
                <a:solidFill>
                  <a:srgbClr val="A8B8CA"/>
                </a:solidFill>
                <a:latin typeface="Arial"/>
                <a:ea typeface="Arial"/>
                <a:cs typeface="Arial"/>
              </a:defRPr>
            </a:lvl1pPr>
            <a:lvl2pPr>
              <a:defRPr sz="1650">
                <a:solidFill>
                  <a:srgbClr val="A8B8CA"/>
                </a:solidFill>
                <a:latin typeface="Arial"/>
                <a:ea typeface="Arial"/>
                <a:cs typeface="Arial"/>
              </a:defRPr>
            </a:lvl2pPr>
            <a:lvl3pPr>
              <a:defRPr sz="1650">
                <a:solidFill>
                  <a:srgbClr val="A8B8CA"/>
                </a:solidFill>
                <a:latin typeface="Arial"/>
                <a:ea typeface="Arial"/>
                <a:cs typeface="Arial"/>
              </a:defRPr>
            </a:lvl3pPr>
            <a:lvl4pPr>
              <a:defRPr sz="1650">
                <a:solidFill>
                  <a:srgbClr val="A8B8CA"/>
                </a:solidFill>
                <a:latin typeface="Arial"/>
                <a:ea typeface="Arial"/>
                <a:cs typeface="Arial"/>
              </a:defRPr>
            </a:lvl4pPr>
            <a:lvl5pPr>
              <a:defRPr sz="1650">
                <a:solidFill>
                  <a:srgbClr val="A8B8CA"/>
                </a:solidFill>
                <a:latin typeface="Arial"/>
                <a:ea typeface="Arial"/>
                <a:cs typeface="Arial"/>
              </a:defRPr>
            </a:lvl5pPr>
            <a:lvl6pPr>
              <a:defRPr sz="1650">
                <a:solidFill>
                  <a:srgbClr val="A8B8CA"/>
                </a:solidFill>
                <a:latin typeface="Arial"/>
                <a:ea typeface="Arial"/>
                <a:cs typeface="Arial"/>
              </a:defRPr>
            </a:lvl6pPr>
            <a:lvl7pPr>
              <a:defRPr sz="1650">
                <a:solidFill>
                  <a:srgbClr val="A8B8CA"/>
                </a:solidFill>
                <a:latin typeface="Arial"/>
                <a:ea typeface="Arial"/>
                <a:cs typeface="Arial"/>
              </a:defRPr>
            </a:lvl7pPr>
            <a:lvl8pPr>
              <a:defRPr sz="1650">
                <a:solidFill>
                  <a:srgbClr val="A8B8CA"/>
                </a:solidFill>
                <a:latin typeface="Arial"/>
                <a:ea typeface="Arial"/>
                <a:cs typeface="Arial"/>
              </a:defRPr>
            </a:lvl8pPr>
            <a:lvl9pPr>
              <a:defRPr sz="1650">
                <a:solidFill>
                  <a:srgbClr val="A8B8CA"/>
                </a:solidFill>
                <a:latin typeface="Arial"/>
                <a:ea typeface="Arial"/>
                <a:cs typeface="Arial"/>
              </a:defRPr>
            </a:lvl9pPr>
          </a:lstStyle>
          <a:p xmlns:a="http://schemas.openxmlformats.org/drawingml/2006/main">
            <a:pPr>
              <a:defRPr sz="1650">
                <a:solidFill>
                  <a:srgbClr val="A8B8CA"/>
                </a:solidFill>
                <a:latin typeface="Arial"/>
                <a:ea typeface="Arial"/>
                <a:cs typeface="Arial"/>
              </a:defRPr>
            </a:pPr>
            <a:r>
              <a:rPr sz="1650">
                <a:solidFill>
                  <a:srgbClr val="A8B8CA"/>
                </a:solidFill>
                <a:latin typeface="Arial"/>
                <a:ea typeface="Arial"/>
                <a:cs typeface="Arial"/>
              </a:rPr>
              <a:t>ME3 combines full-duplex audio, Qwen inference, typed tools, and verification into a deployable Raspberry Pi workflow.</a:t>
            </a:r>
          </a:p>
        </p:txBody>
      </p:sp>
      <p:sp>
        <p:nvSpPr>
          <p:cNvPr id="5" name="close-card">
            <a:extLst xmlns:a="http://schemas.openxmlformats.org/drawingml/2006/main">
              <a:ext uri="{FF2B5EF4-FFF2-40B4-BE49-F238E27FC236}">
                <a16:creationId xmlns:a16="http://schemas.microsoft.com/office/drawing/2014/main" id="{A0AC2EBF-DDCB-4115-A221-80D025480D4B}"/>
              </a:ext>
            </a:extLst>
          </p:cNvPr>
          <p:cNvSpPr>
            <a:spLocks xmlns:a="http://schemas.openxmlformats.org/drawingml/2006/main" noGrp="1"/>
          </p:cNvSpPr>
          <p:nvPr/>
        </p:nvSpPr>
        <p:spPr>
          <a:xfrm xmlns:a="http://schemas.openxmlformats.org/drawingml/2006/main">
            <a:off x="8572500" y="1524000"/>
            <a:ext cx="2381250" cy="2381250"/>
          </a:xfrm>
          <a:prstGeom xmlns:a="http://schemas.openxmlformats.org/drawingml/2006/main" prst="roundRect">
            <a:avLst>
              <a:gd name="adj" fmla="val 4800"/>
            </a:avLst>
          </a:prstGeom>
          <a:solidFill xmlns:a="http://schemas.openxmlformats.org/drawingml/2006/main">
            <a:srgbClr val="14324A"/>
          </a:solidFill>
          <a:ln xmlns:a="http://schemas.openxmlformats.org/drawingml/2006/main" w="9525">
            <a:solidFill>
              <a:srgbClr val="60A5FA"/>
            </a:solidFill>
            <a:prstDash val="solid"/>
          </a:ln>
        </p:spPr>
      </p:sp>
      <p:sp>
        <p:nvSpPr>
          <p:cNvPr id="6" name="">
            <a:extLst xmlns:a="http://schemas.openxmlformats.org/drawingml/2006/main">
              <a:ext uri="{FF2B5EF4-FFF2-40B4-BE49-F238E27FC236}">
                <a16:creationId xmlns:a16="http://schemas.microsoft.com/office/drawing/2014/main" id="{9CB0D6AB-8F7E-4CFF-82E8-DF7100371677}"/>
              </a:ext>
            </a:extLst>
          </p:cNvPr>
          <p:cNvSpPr>
            <a:spLocks xmlns:a="http://schemas.openxmlformats.org/drawingml/2006/main" noGrp="1"/>
          </p:cNvSpPr>
          <p:nvPr/>
        </p:nvSpPr>
        <p:spPr>
          <a:xfrm xmlns:a="http://schemas.openxmlformats.org/drawingml/2006/main">
            <a:off x="8991600" y="1857375"/>
            <a:ext cx="1524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60A5FA"/>
                </a:solidFill>
                <a:latin typeface="Arial"/>
                <a:ea typeface="Arial"/>
                <a:cs typeface="Arial"/>
              </a:defRPr>
            </a:defPPr>
            <a:lvl1pPr>
              <a:defRPr sz="2100" b="1">
                <a:solidFill>
                  <a:srgbClr val="60A5FA"/>
                </a:solidFill>
                <a:latin typeface="Arial"/>
                <a:ea typeface="Arial"/>
                <a:cs typeface="Arial"/>
              </a:defRPr>
            </a:lvl1pPr>
            <a:lvl2pPr>
              <a:defRPr sz="2100" b="1">
                <a:solidFill>
                  <a:srgbClr val="60A5FA"/>
                </a:solidFill>
                <a:latin typeface="Arial"/>
                <a:ea typeface="Arial"/>
                <a:cs typeface="Arial"/>
              </a:defRPr>
            </a:lvl2pPr>
            <a:lvl3pPr>
              <a:defRPr sz="2100" b="1">
                <a:solidFill>
                  <a:srgbClr val="60A5FA"/>
                </a:solidFill>
                <a:latin typeface="Arial"/>
                <a:ea typeface="Arial"/>
                <a:cs typeface="Arial"/>
              </a:defRPr>
            </a:lvl3pPr>
            <a:lvl4pPr>
              <a:defRPr sz="2100" b="1">
                <a:solidFill>
                  <a:srgbClr val="60A5FA"/>
                </a:solidFill>
                <a:latin typeface="Arial"/>
                <a:ea typeface="Arial"/>
                <a:cs typeface="Arial"/>
              </a:defRPr>
            </a:lvl4pPr>
            <a:lvl5pPr>
              <a:defRPr sz="2100" b="1">
                <a:solidFill>
                  <a:srgbClr val="60A5FA"/>
                </a:solidFill>
                <a:latin typeface="Arial"/>
                <a:ea typeface="Arial"/>
                <a:cs typeface="Arial"/>
              </a:defRPr>
            </a:lvl5pPr>
            <a:lvl6pPr>
              <a:defRPr sz="2100" b="1">
                <a:solidFill>
                  <a:srgbClr val="60A5FA"/>
                </a:solidFill>
                <a:latin typeface="Arial"/>
                <a:ea typeface="Arial"/>
                <a:cs typeface="Arial"/>
              </a:defRPr>
            </a:lvl6pPr>
            <a:lvl7pPr>
              <a:defRPr sz="2100" b="1">
                <a:solidFill>
                  <a:srgbClr val="60A5FA"/>
                </a:solidFill>
                <a:latin typeface="Arial"/>
                <a:ea typeface="Arial"/>
                <a:cs typeface="Arial"/>
              </a:defRPr>
            </a:lvl7pPr>
            <a:lvl8pPr>
              <a:defRPr sz="2100" b="1">
                <a:solidFill>
                  <a:srgbClr val="60A5FA"/>
                </a:solidFill>
                <a:latin typeface="Arial"/>
                <a:ea typeface="Arial"/>
                <a:cs typeface="Arial"/>
              </a:defRPr>
            </a:lvl8pPr>
            <a:lvl9pPr>
              <a:defRPr sz="2100" b="1">
                <a:solidFill>
                  <a:srgbClr val="60A5FA"/>
                </a:solidFill>
                <a:latin typeface="Arial"/>
                <a:ea typeface="Arial"/>
                <a:cs typeface="Arial"/>
              </a:defRPr>
            </a:lvl9pPr>
          </a:lstStyle>
          <a:p xmlns:a="http://schemas.openxmlformats.org/drawingml/2006/main">
            <a:pPr>
              <a:defRPr sz="2100" b="1">
                <a:solidFill>
                  <a:srgbClr val="60A5FA"/>
                </a:solidFill>
                <a:latin typeface="Arial"/>
                <a:ea typeface="Arial"/>
                <a:cs typeface="Arial"/>
              </a:defRPr>
            </a:pPr>
            <a:r>
              <a:rPr sz="2100" b="1">
                <a:solidFill>
                  <a:srgbClr val="60A5FA"/>
                </a:solidFill>
                <a:latin typeface="Arial"/>
                <a:ea typeface="Arial"/>
                <a:cs typeface="Arial"/>
              </a:rPr>
              <a:t>VOICE</a:t>
            </a:r>
          </a:p>
          <a:p xmlns:a="http://schemas.openxmlformats.org/drawingml/2006/main">
            <a:pPr>
              <a:defRPr sz="2100" b="1">
                <a:solidFill>
                  <a:srgbClr val="60A5FA"/>
                </a:solidFill>
                <a:latin typeface="Arial"/>
                <a:ea typeface="Arial"/>
                <a:cs typeface="Arial"/>
              </a:defRPr>
            </a:pPr>
            <a:r>
              <a:rPr sz="2100" b="1">
                <a:solidFill>
                  <a:srgbClr val="60A5FA"/>
                </a:solidFill>
                <a:latin typeface="Arial"/>
                <a:ea typeface="Arial"/>
                <a:cs typeface="Arial"/>
              </a:rPr>
              <a:t>→</a:t>
            </a:r>
          </a:p>
          <a:p xmlns:a="http://schemas.openxmlformats.org/drawingml/2006/main">
            <a:pPr>
              <a:defRPr sz="2100" b="1">
                <a:solidFill>
                  <a:srgbClr val="60A5FA"/>
                </a:solidFill>
                <a:latin typeface="Arial"/>
                <a:ea typeface="Arial"/>
                <a:cs typeface="Arial"/>
              </a:defRPr>
            </a:pPr>
            <a:r>
              <a:rPr sz="2100" b="1">
                <a:solidFill>
                  <a:srgbClr val="60A5FA"/>
                </a:solidFill>
                <a:latin typeface="Arial"/>
                <a:ea typeface="Arial"/>
                <a:cs typeface="Arial"/>
              </a:rPr>
              <a:t>TOOLS</a:t>
            </a:r>
          </a:p>
          <a:p xmlns:a="http://schemas.openxmlformats.org/drawingml/2006/main">
            <a:pPr>
              <a:defRPr sz="2100" b="1">
                <a:solidFill>
                  <a:srgbClr val="60A5FA"/>
                </a:solidFill>
                <a:latin typeface="Arial"/>
                <a:ea typeface="Arial"/>
                <a:cs typeface="Arial"/>
              </a:defRPr>
            </a:pPr>
            <a:r>
              <a:rPr sz="2100" b="1">
                <a:solidFill>
                  <a:srgbClr val="60A5FA"/>
                </a:solidFill>
                <a:latin typeface="Arial"/>
                <a:ea typeface="Arial"/>
                <a:cs typeface="Arial"/>
              </a:rPr>
              <a:t>→</a:t>
            </a:r>
          </a:p>
          <a:p xmlns:a="http://schemas.openxmlformats.org/drawingml/2006/main">
            <a:pPr>
              <a:defRPr sz="2100" b="1">
                <a:solidFill>
                  <a:srgbClr val="60A5FA"/>
                </a:solidFill>
                <a:latin typeface="Arial"/>
                <a:ea typeface="Arial"/>
                <a:cs typeface="Arial"/>
              </a:defRPr>
            </a:pPr>
            <a:r>
              <a:rPr sz="2100" b="1">
                <a:solidFill>
                  <a:srgbClr val="60A5FA"/>
                </a:solidFill>
                <a:latin typeface="Arial"/>
                <a:ea typeface="Arial"/>
                <a:cs typeface="Arial"/>
              </a:rPr>
              <a:t>EVIDENCE</a:t>
            </a:r>
          </a:p>
        </p:txBody>
      </p:sp>
      <p:sp>
        <p:nvSpPr>
          <p:cNvPr id="7" name="">
            <a:extLst xmlns:a="http://schemas.openxmlformats.org/drawingml/2006/main">
              <a:ext uri="{FF2B5EF4-FFF2-40B4-BE49-F238E27FC236}">
                <a16:creationId xmlns:a16="http://schemas.microsoft.com/office/drawing/2014/main" id="{26A57FF1-8A85-4333-8F1D-ACAB86B4A08E}"/>
              </a:ext>
            </a:extLst>
          </p:cNvPr>
          <p:cNvSpPr>
            <a:spLocks xmlns:a="http://schemas.openxmlformats.org/drawingml/2006/main" noGrp="1"/>
          </p:cNvSpPr>
          <p:nvPr/>
        </p:nvSpPr>
        <p:spPr>
          <a:xfrm xmlns:a="http://schemas.openxmlformats.org/drawingml/2006/main">
            <a:off x="1104900" y="51435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A7F3D0"/>
                </a:solidFill>
                <a:latin typeface="Arial"/>
                <a:ea typeface="Arial"/>
                <a:cs typeface="Arial"/>
              </a:defRPr>
            </a:defPPr>
            <a:lvl1pPr>
              <a:defRPr sz="1425" b="1">
                <a:solidFill>
                  <a:srgbClr val="A7F3D0"/>
                </a:solidFill>
                <a:latin typeface="Arial"/>
                <a:ea typeface="Arial"/>
                <a:cs typeface="Arial"/>
              </a:defRPr>
            </a:lvl1pPr>
            <a:lvl2pPr>
              <a:defRPr sz="1425" b="1">
                <a:solidFill>
                  <a:srgbClr val="A7F3D0"/>
                </a:solidFill>
                <a:latin typeface="Arial"/>
                <a:ea typeface="Arial"/>
                <a:cs typeface="Arial"/>
              </a:defRPr>
            </a:lvl2pPr>
            <a:lvl3pPr>
              <a:defRPr sz="1425" b="1">
                <a:solidFill>
                  <a:srgbClr val="A7F3D0"/>
                </a:solidFill>
                <a:latin typeface="Arial"/>
                <a:ea typeface="Arial"/>
                <a:cs typeface="Arial"/>
              </a:defRPr>
            </a:lvl3pPr>
            <a:lvl4pPr>
              <a:defRPr sz="1425" b="1">
                <a:solidFill>
                  <a:srgbClr val="A7F3D0"/>
                </a:solidFill>
                <a:latin typeface="Arial"/>
                <a:ea typeface="Arial"/>
                <a:cs typeface="Arial"/>
              </a:defRPr>
            </a:lvl4pPr>
            <a:lvl5pPr>
              <a:defRPr sz="1425" b="1">
                <a:solidFill>
                  <a:srgbClr val="A7F3D0"/>
                </a:solidFill>
                <a:latin typeface="Arial"/>
                <a:ea typeface="Arial"/>
                <a:cs typeface="Arial"/>
              </a:defRPr>
            </a:lvl5pPr>
            <a:lvl6pPr>
              <a:defRPr sz="1425" b="1">
                <a:solidFill>
                  <a:srgbClr val="A7F3D0"/>
                </a:solidFill>
                <a:latin typeface="Arial"/>
                <a:ea typeface="Arial"/>
                <a:cs typeface="Arial"/>
              </a:defRPr>
            </a:lvl6pPr>
            <a:lvl7pPr>
              <a:defRPr sz="1425" b="1">
                <a:solidFill>
                  <a:srgbClr val="A7F3D0"/>
                </a:solidFill>
                <a:latin typeface="Arial"/>
                <a:ea typeface="Arial"/>
                <a:cs typeface="Arial"/>
              </a:defRPr>
            </a:lvl7pPr>
            <a:lvl8pPr>
              <a:defRPr sz="1425" b="1">
                <a:solidFill>
                  <a:srgbClr val="A7F3D0"/>
                </a:solidFill>
                <a:latin typeface="Arial"/>
                <a:ea typeface="Arial"/>
                <a:cs typeface="Arial"/>
              </a:defRPr>
            </a:lvl8pPr>
            <a:lvl9pPr>
              <a:defRPr sz="1425" b="1">
                <a:solidFill>
                  <a:srgbClr val="A7F3D0"/>
                </a:solidFill>
                <a:latin typeface="Arial"/>
                <a:ea typeface="Arial"/>
                <a:cs typeface="Arial"/>
              </a:defRPr>
            </a:lvl9pPr>
          </a:lstStyle>
          <a:p xmlns:a="http://schemas.openxmlformats.org/drawingml/2006/main">
            <a:pPr>
              <a:defRPr sz="1425" b="1">
                <a:solidFill>
                  <a:srgbClr val="A7F3D0"/>
                </a:solidFill>
                <a:latin typeface="Arial"/>
                <a:ea typeface="Arial"/>
                <a:cs typeface="Arial"/>
              </a:defRPr>
            </a:pPr>
            <a:r>
              <a:rPr sz="1425" b="1">
                <a:solidFill>
                  <a:srgbClr val="A7F3D0"/>
                </a:solidFill>
                <a:latin typeface="Arial"/>
                <a:ea typeface="Arial"/>
                <a:cs typeface="Arial"/>
              </a:rPr>
              <a:t>Next: Pi audio + clean benchmark</a:t>
            </a:r>
          </a:p>
        </p:txBody>
      </p:sp>
      <p:sp>
        <p:nvSpPr>
          <p:cNvPr id="8" name="">
            <a:extLst xmlns:a="http://schemas.openxmlformats.org/drawingml/2006/main">
              <a:ext uri="{FF2B5EF4-FFF2-40B4-BE49-F238E27FC236}">
                <a16:creationId xmlns:a16="http://schemas.microsoft.com/office/drawing/2014/main" id="{A1936CD9-0712-43F4-9B06-854E3B6F019B}"/>
              </a:ext>
            </a:extLst>
          </p:cNvPr>
          <p:cNvSpPr>
            <a:spLocks xmlns:a="http://schemas.openxmlformats.org/drawingml/2006/main" noGrp="1"/>
          </p:cNvSpPr>
          <p:nvPr/>
        </p:nvSpPr>
        <p:spPr>
          <a:xfrm xmlns:a="http://schemas.openxmlformats.org/drawingml/2006/main">
            <a:off x="1104900" y="5619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Documentation: ELI5/deep manual • ACM two-column paper • source + receipts</a:t>
            </a:r>
          </a:p>
        </p:txBody>
      </p:sp>
      <p:sp>
        <p:nvSpPr>
          <p:cNvPr id="9" name="">
            <a:extLst xmlns:a="http://schemas.openxmlformats.org/drawingml/2006/main">
              <a:ext uri="{FF2B5EF4-FFF2-40B4-BE49-F238E27FC236}">
                <a16:creationId xmlns:a16="http://schemas.microsoft.com/office/drawing/2014/main" id="{38AAF4BE-92B4-402B-9050-7D53FAF96840}"/>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7/7</a:t>
            </a:r>
          </a:p>
        </p:txBody>
      </p:sp>
    </p:spTree>
    <p:extLst>
      <p:ext uri="{BB962C8B-B14F-4D97-AF65-F5344CB8AC3E}">
        <p14:creationId xmlns:p14="http://schemas.microsoft.com/office/powerpoint/2010/main" val="3199702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2026-10-24T16:17:47.1660000Z</dcterms:created>
  <dcterms:modified xsi:type="dcterms:W3CDTF">2026-10-24T16:17:47.1660000Z</dcterms:modified>
</coreProperties>
</file>