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fb7b15a84934cf3" Type="http://schemas.openxmlformats.org/officeDocument/2006/relationships/officeDocument" Target="ppt/presentation.xml"/><Relationship Id="R9bb6a21328e24099" Type="http://schemas.openxmlformats.org/package/2006/relationships/metadata/core-properties" Target="docProps/core.xml"/><Relationship Id="Rbe15b4b8f7094573"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c21766fe30ac4dfc"/>
  </p:sldMasterIdLst>
  <p:notesMasterIdLst>
    <p:notesMasterId xmlns:r="http://schemas.openxmlformats.org/officeDocument/2006/relationships" r:id="R53742912d17340a1"/>
  </p:notesMasterIdLst>
  <p:sldIdLst>
    <p:sldId xmlns:r="http://schemas.openxmlformats.org/officeDocument/2006/relationships" id="256" r:id="Rd4502fd5eba045a1"/>
    <p:sldId xmlns:r="http://schemas.openxmlformats.org/officeDocument/2006/relationships" id="257" r:id="Rde5af54180894c3a"/>
    <p:sldId xmlns:r="http://schemas.openxmlformats.org/officeDocument/2006/relationships" id="258" r:id="Rac490fbf133641f5"/>
    <p:sldId xmlns:r="http://schemas.openxmlformats.org/officeDocument/2006/relationships" id="259" r:id="R13d54eaf1a264e63"/>
    <p:sldId xmlns:r="http://schemas.openxmlformats.org/officeDocument/2006/relationships" id="260" r:id="Rfb309d90efc74e04"/>
    <p:sldId xmlns:r="http://schemas.openxmlformats.org/officeDocument/2006/relationships" id="261" r:id="Rc53b75e4ca07464b"/>
    <p:sldId xmlns:r="http://schemas.openxmlformats.org/officeDocument/2006/relationships" id="262" r:id="R707cb4127aee43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3d54eaf1a264e63" Type="http://schemas.openxmlformats.org/officeDocument/2006/relationships/slide" Target="slides/slide4.xml"/><Relationship Id="R53742912d17340a1" Type="http://schemas.openxmlformats.org/officeDocument/2006/relationships/notesMaster" Target="notesMasters/notesMaster1.xml"/><Relationship Id="R6d6da9dc85f84da7" Type="http://schemas.openxmlformats.org/officeDocument/2006/relationships/theme" Target="theme/theme1.xml"/><Relationship Id="R707cb4127aee43af" Type="http://schemas.openxmlformats.org/officeDocument/2006/relationships/slide" Target="slides/slide7.xml"/><Relationship Id="R78cfbb6438a84bad" Type="http://schemas.openxmlformats.org/officeDocument/2006/relationships/presProps" Target="presProps.xml"/><Relationship Id="Rac490fbf133641f5" Type="http://schemas.openxmlformats.org/officeDocument/2006/relationships/slide" Target="slides/slide3.xml"/><Relationship Id="Rc21766fe30ac4dfc" Type="http://schemas.openxmlformats.org/officeDocument/2006/relationships/slideMaster" Target="slideMasters/slideMaster1.xml"/><Relationship Id="Rc53b75e4ca07464b" Type="http://schemas.openxmlformats.org/officeDocument/2006/relationships/slide" Target="slides/slide6.xml"/><Relationship Id="Rcec8a985018a47a4" Type="http://schemas.openxmlformats.org/officeDocument/2006/relationships/tableStyles" Target="tableStyles.xml"/><Relationship Id="Rd4502fd5eba045a1" Type="http://schemas.openxmlformats.org/officeDocument/2006/relationships/slide" Target="slides/slide1.xml"/><Relationship Id="Rde5af54180894c3a" Type="http://schemas.openxmlformats.org/officeDocument/2006/relationships/slide" Target="slides/slide2.xml"/><Relationship Id="Rfb309d90efc74e04"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661fd4ddbd5147b1"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153608a436c4d15" Type="http://schemas.openxmlformats.org/officeDocument/2006/relationships/notesMaster" Target="../notesMasters/notesMaster1.xml"/><Relationship Id="R82eb4a3913a04c58"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d35fff1a1344c1f" Type="http://schemas.openxmlformats.org/officeDocument/2006/relationships/slide" Target="../slides/slide2.xml"/><Relationship Id="R1d63a3b9163242b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bc94b4c44a54602" Type="http://schemas.openxmlformats.org/officeDocument/2006/relationships/notesMaster" Target="../notesMasters/notesMaster1.xml"/><Relationship Id="Re92f0034e3db46c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b087c11894d4c3f" Type="http://schemas.openxmlformats.org/officeDocument/2006/relationships/slide" Target="../slides/slide4.xml"/><Relationship Id="Rb5ce61a45f1545f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88bbd3c83daa458d" Type="http://schemas.openxmlformats.org/officeDocument/2006/relationships/notesMaster" Target="../notesMasters/notesMaster1.xml"/><Relationship Id="Rca7a840aa9ec436d"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c6a54635787745e2" Type="http://schemas.openxmlformats.org/officeDocument/2006/relationships/notesMaster" Target="../notesMasters/notesMaster1.xml"/><Relationship Id="Rd00ed0917f7a4bbf"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7b51b10019234dd8" Type="http://schemas.openxmlformats.org/officeDocument/2006/relationships/slide" Target="../slides/slide7.xml"/><Relationship Id="R7e77c81cba014e14"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idea: ME3 is an action-capable voice interface. The model does not need to be trained for each task; it needs a disciplined tool surface and evidence that the requested work happened.</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change from a voice chatbot is the middle: Qwen is not only writing an answer; it is choosing typed operations, receiving their results, and continuing until the task is complete or needs clarification.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responsibilities. VAD, ASR, and TTS are local. Qwen is remote and performs inference. The registry owns what may happen. The final answer is grounded in structured tool results, not just model confidence.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capability the project needed. A spoken request can create real project files. The model then reads them back and reports what exists. The current demonstration is a local, dependency-free static web app; it does not silently publish to the internet.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interpretation of parity. The objective is that useful tasks Onit can perform are represented by explicit tools: files, web, commands, jobs, system information, and the existing MCP services. That does not mean granting an always-listening Pi arbitrary shell access or hidden credentials.</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evidence boundary. We have real local evidence for the Qwen tool loop and the four MCP services. A Pi installation and an overlap benchmark are separate claims. The next gate is a live hardware run with a securely configured runtime key.</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user-visible promise: speak a request, let the model call bounded tools, and receive an answer backed by what the tools actually returned. The remaining work is hardware audio and benchmark evidence, not model training.</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2df37c7faf548f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cc9fc7ce08d44ad"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6d1a097f17b417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029e4d0d8b234ccd"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a27ec3f1196444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b14d631fcecd495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97FD6A-F018-4C9A-8675-B10E8EC9FA1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D3547D-0FBB-49D1-BD3D-FD6640D88D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D05C04-8946-42D8-BEC7-71B643DD7C8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F12DC2-4CDB-483E-8A60-83D254C11B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CECC6D-E262-46FF-9D6F-080265EB99E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540D4C-ABB0-407B-AD30-B62440F6FA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AC21B4-7CCE-4A23-AC94-E6252279659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922FA8-9277-4883-93C0-DD8156C91C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4F33D8-1EEC-4C0E-BDBD-E03BDE75B8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774B94-ECED-4EF2-8C5C-C20F0E90D6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9325e724d1a4f56" Type="http://schemas.openxmlformats.org/officeDocument/2006/relationships/slideLayout" Target="../slideLayouts/slideLayout4.xml"/><Relationship Id="R22dcefb6c1c14e65" Type="http://schemas.openxmlformats.org/officeDocument/2006/relationships/slideLayout" Target="../slideLayouts/slideLayout5.xml"/><Relationship Id="R7027a17861b24b5d" Type="http://schemas.openxmlformats.org/officeDocument/2006/relationships/slideLayout" Target="../slideLayouts/slideLayout3.xml"/><Relationship Id="R90d358768309420a" Type="http://schemas.openxmlformats.org/officeDocument/2006/relationships/slideLayout" Target="../slideLayouts/slideLayout2.xml"/><Relationship Id="Ra0286d9948414033" Type="http://schemas.openxmlformats.org/officeDocument/2006/relationships/slideLayout" Target="../slideLayouts/slideLayout1.xml"/><Relationship Id="Rce0ae97d438f45b2" Type="http://schemas.openxmlformats.org/officeDocument/2006/relationships/theme" Target="theme/theme2.xml"/><Relationship Id="Rf3718f7e9bba4df4"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286d9948414033"/>
    <p:sldLayoutId xmlns:r="http://schemas.openxmlformats.org/officeDocument/2006/relationships" id="2147483650" r:id="R90d358768309420a"/>
    <p:sldLayoutId xmlns:r="http://schemas.openxmlformats.org/officeDocument/2006/relationships" id="2147483651" r:id="R7027a17861b24b5d"/>
    <p:sldLayoutId xmlns:r="http://schemas.openxmlformats.org/officeDocument/2006/relationships" id="2147483652" r:id="R09325e724d1a4f56"/>
    <p:sldLayoutId xmlns:r="http://schemas.openxmlformats.org/officeDocument/2006/relationships" id="2147483653" r:id="R22dcefb6c1c14e65"/>
    <p:sldLayoutId xmlns:r="http://schemas.openxmlformats.org/officeDocument/2006/relationships" id="2147483654" r:id="Rf3718f7e9bba4d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6ce133facf4e84" Type="http://schemas.openxmlformats.org/officeDocument/2006/relationships/slideLayout" Target="../slideLayouts/slideLayout6.xml"/><Relationship Id="R6030298a0bd942a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686b52bad28540df" Type="http://schemas.openxmlformats.org/officeDocument/2006/relationships/slideLayout" Target="../slideLayouts/slideLayout6.xml"/><Relationship Id="Rb0479e2b25714eb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12f1c3ac838e4723" Type="http://schemas.openxmlformats.org/officeDocument/2006/relationships/slideLayout" Target="../slideLayouts/slideLayout6.xml"/><Relationship Id="R74cca60c0ae4435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5c1bddf26d34a25" Type="http://schemas.openxmlformats.org/officeDocument/2006/relationships/notesSlide" Target="../notesSlides/notesSlide4.xml"/><Relationship Id="Re4934146fea14e50"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06425b8086a4f11" Type="http://schemas.openxmlformats.org/officeDocument/2006/relationships/notesSlide" Target="../notesSlides/notesSlide5.xml"/><Relationship Id="Rbcb0d13d1437481f"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61546e90c32a4d31" Type="http://schemas.openxmlformats.org/officeDocument/2006/relationships/notesSlide" Target="../notesSlides/notesSlide6.xml"/><Relationship Id="Rb4fc311211e74b2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c3d3d5c206c34686" Type="http://schemas.openxmlformats.org/officeDocument/2006/relationships/notesSlide" Target="../notesSlides/notesSlide7.xml"/><Relationship Id="Rdd0b31faac944e89"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1" name="cover-orbit">
            <a:extLst xmlns:a="http://schemas.openxmlformats.org/drawingml/2006/main">
              <a:ext uri="{FF2B5EF4-FFF2-40B4-BE49-F238E27FC236}">
                <a16:creationId xmlns:a16="http://schemas.microsoft.com/office/drawing/2014/main" id="{5ACE4FB8-7924-45CC-B49B-CB3F92C694A7}"/>
              </a:ext>
            </a:extLst>
          </p:cNvPr>
          <p:cNvSpPr>
            <a:spLocks xmlns:a="http://schemas.openxmlformats.org/drawingml/2006/main" noGrp="1"/>
          </p:cNvSpPr>
          <p:nvPr/>
        </p:nvSpPr>
        <p:spPr>
          <a:xfrm xmlns:a="http://schemas.openxmlformats.org/drawingml/2006/main">
            <a:off x="7810500" y="190500"/>
            <a:ext cx="4000500" cy="40005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 name="cover-ring">
            <a:extLst xmlns:a="http://schemas.openxmlformats.org/drawingml/2006/main">
              <a:ext uri="{FF2B5EF4-FFF2-40B4-BE49-F238E27FC236}">
                <a16:creationId xmlns:a16="http://schemas.microsoft.com/office/drawing/2014/main" id="{6DA7BC43-37A8-44B4-9FFD-E910E5B10971}"/>
              </a:ext>
            </a:extLst>
          </p:cNvPr>
          <p:cNvSpPr>
            <a:spLocks xmlns:a="http://schemas.openxmlformats.org/drawingml/2006/main" noGrp="1"/>
          </p:cNvSpPr>
          <p:nvPr/>
        </p:nvSpPr>
        <p:spPr>
          <a:xfrm xmlns:a="http://schemas.openxmlformats.org/drawingml/2006/main">
            <a:off x="8477250" y="590550"/>
            <a:ext cx="2857500" cy="2857500"/>
          </a:xfrm>
          <a:prstGeom xmlns:a="http://schemas.openxmlformats.org/drawingml/2006/main" prst="ellipse">
            <a:avLst/>
          </a:prstGeom>
          <a:noFill xmlns:a="http://schemas.openxmlformats.org/drawingml/2006/main"/>
          <a:ln xmlns:a="http://schemas.openxmlformats.org/drawingml/2006/main" w="9525">
            <a:solidFill>
              <a:srgbClr val="5EEAD4"/>
            </a:solidFill>
            <a:prstDash val="solid"/>
          </a:ln>
        </p:spPr>
      </p:sp>
      <p:sp>
        <p:nvSpPr>
          <p:cNvPr id="3" name="cover-core">
            <a:extLst xmlns:a="http://schemas.openxmlformats.org/drawingml/2006/main">
              <a:ext uri="{FF2B5EF4-FFF2-40B4-BE49-F238E27FC236}">
                <a16:creationId xmlns:a16="http://schemas.microsoft.com/office/drawing/2014/main" id="{3C6FC34F-86D8-45B5-AE0E-66C315C9C374}"/>
              </a:ext>
            </a:extLst>
          </p:cNvPr>
          <p:cNvSpPr>
            <a:spLocks xmlns:a="http://schemas.openxmlformats.org/drawingml/2006/main" noGrp="1"/>
          </p:cNvSpPr>
          <p:nvPr/>
        </p:nvSpPr>
        <p:spPr>
          <a:xfrm xmlns:a="http://schemas.openxmlformats.org/drawingml/2006/main">
            <a:off x="9258300" y="1371600"/>
            <a:ext cx="1295400" cy="1295400"/>
          </a:xfrm>
          <a:prstGeom xmlns:a="http://schemas.openxmlformats.org/drawingml/2006/main" prst="ellipse">
            <a:avLst/>
          </a:prstGeom>
          <a:solidFill xmlns:a="http://schemas.openxmlformats.org/drawingml/2006/main">
            <a:srgbClr val="5EEA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AEACED-2141-484B-8254-F135DEEA46D8}"/>
              </a:ext>
            </a:extLst>
          </p:cNvPr>
          <p:cNvSpPr>
            <a:spLocks xmlns:a="http://schemas.openxmlformats.org/drawingml/2006/main" noGrp="1"/>
          </p:cNvSpPr>
          <p:nvPr/>
        </p:nvSpPr>
        <p:spPr>
          <a:xfrm xmlns:a="http://schemas.openxmlformats.org/drawingml/2006/main">
            <a:off x="685800" y="704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EEAD4"/>
                </a:solidFill>
                <a:latin typeface="Arial"/>
                <a:ea typeface="Arial"/>
                <a:cs typeface="Arial"/>
              </a:defRPr>
            </a:defPPr>
            <a:lvl1pPr>
              <a:defRPr sz="1200" b="1">
                <a:solidFill>
                  <a:srgbClr val="5EEAD4"/>
                </a:solidFill>
                <a:latin typeface="Arial"/>
                <a:ea typeface="Arial"/>
                <a:cs typeface="Arial"/>
              </a:defRPr>
            </a:lvl1pPr>
            <a:lvl2pPr>
              <a:defRPr sz="1200" b="1">
                <a:solidFill>
                  <a:srgbClr val="5EEAD4"/>
                </a:solidFill>
                <a:latin typeface="Arial"/>
                <a:ea typeface="Arial"/>
                <a:cs typeface="Arial"/>
              </a:defRPr>
            </a:lvl2pPr>
            <a:lvl3pPr>
              <a:defRPr sz="1200" b="1">
                <a:solidFill>
                  <a:srgbClr val="5EEAD4"/>
                </a:solidFill>
                <a:latin typeface="Arial"/>
                <a:ea typeface="Arial"/>
                <a:cs typeface="Arial"/>
              </a:defRPr>
            </a:lvl3pPr>
            <a:lvl4pPr>
              <a:defRPr sz="1200" b="1">
                <a:solidFill>
                  <a:srgbClr val="5EEAD4"/>
                </a:solidFill>
                <a:latin typeface="Arial"/>
                <a:ea typeface="Arial"/>
                <a:cs typeface="Arial"/>
              </a:defRPr>
            </a:lvl4pPr>
            <a:lvl5pPr>
              <a:defRPr sz="1200" b="1">
                <a:solidFill>
                  <a:srgbClr val="5EEAD4"/>
                </a:solidFill>
                <a:latin typeface="Arial"/>
                <a:ea typeface="Arial"/>
                <a:cs typeface="Arial"/>
              </a:defRPr>
            </a:lvl5pPr>
            <a:lvl6pPr>
              <a:defRPr sz="1200" b="1">
                <a:solidFill>
                  <a:srgbClr val="5EEAD4"/>
                </a:solidFill>
                <a:latin typeface="Arial"/>
                <a:ea typeface="Arial"/>
                <a:cs typeface="Arial"/>
              </a:defRPr>
            </a:lvl6pPr>
            <a:lvl7pPr>
              <a:defRPr sz="1200" b="1">
                <a:solidFill>
                  <a:srgbClr val="5EEAD4"/>
                </a:solidFill>
                <a:latin typeface="Arial"/>
                <a:ea typeface="Arial"/>
                <a:cs typeface="Arial"/>
              </a:defRPr>
            </a:lvl7pPr>
            <a:lvl8pPr>
              <a:defRPr sz="1200" b="1">
                <a:solidFill>
                  <a:srgbClr val="5EEAD4"/>
                </a:solidFill>
                <a:latin typeface="Arial"/>
                <a:ea typeface="Arial"/>
                <a:cs typeface="Arial"/>
              </a:defRPr>
            </a:lvl8pPr>
            <a:lvl9pPr>
              <a:defRPr sz="1200" b="1">
                <a:solidFill>
                  <a:srgbClr val="5EEAD4"/>
                </a:solidFill>
                <a:latin typeface="Arial"/>
                <a:ea typeface="Arial"/>
                <a:cs typeface="Arial"/>
              </a:defRPr>
            </a:lvl9pPr>
          </a:lstStyle>
          <a:p xmlns:a="http://schemas.openxmlformats.org/drawingml/2006/main">
            <a:pPr>
              <a:defRPr sz="1200" b="1">
                <a:solidFill>
                  <a:srgbClr val="5EEAD4"/>
                </a:solidFill>
                <a:latin typeface="Arial"/>
                <a:ea typeface="Arial"/>
                <a:cs typeface="Arial"/>
              </a:defRPr>
            </a:pPr>
            <a:r>
              <a:rPr sz="1200" b="1">
                <a:solidFill>
                  <a:srgbClr val="5EEAD4"/>
                </a:solidFill>
                <a:latin typeface="Arial"/>
                <a:ea typeface="Arial"/>
                <a:cs typeface="Arial"/>
              </a:rPr>
              <a:t>ME3 VOICE DUPLEX</a:t>
            </a:r>
          </a:p>
        </p:txBody>
      </p:sp>
      <p:sp>
        <p:nvSpPr>
          <p:cNvPr id="5" name="">
            <a:extLst xmlns:a="http://schemas.openxmlformats.org/drawingml/2006/main">
              <a:ext uri="{FF2B5EF4-FFF2-40B4-BE49-F238E27FC236}">
                <a16:creationId xmlns:a16="http://schemas.microsoft.com/office/drawing/2014/main" id="{5EB8A1A1-DDE8-4C1D-A298-77E7249F955E}"/>
              </a:ext>
            </a:extLst>
          </p:cNvPr>
          <p:cNvSpPr>
            <a:spLocks xmlns:a="http://schemas.openxmlformats.org/drawingml/2006/main" noGrp="1"/>
          </p:cNvSpPr>
          <p:nvPr/>
        </p:nvSpPr>
        <p:spPr>
          <a:xfrm xmlns:a="http://schemas.openxmlformats.org/drawingml/2006/main">
            <a:off x="685800" y="1381125"/>
            <a:ext cx="6286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AFC"/>
                </a:solidFill>
                <a:latin typeface="Arial"/>
                <a:ea typeface="Arial"/>
                <a:cs typeface="Arial"/>
              </a:defRPr>
            </a:defPPr>
            <a:lvl1pPr>
              <a:defRPr sz="4050" b="1">
                <a:solidFill>
                  <a:srgbClr val="F7FAFC"/>
                </a:solidFill>
                <a:latin typeface="Arial"/>
                <a:ea typeface="Arial"/>
                <a:cs typeface="Arial"/>
              </a:defRPr>
            </a:lvl1pPr>
            <a:lvl2pPr>
              <a:defRPr sz="4050" b="1">
                <a:solidFill>
                  <a:srgbClr val="F7FAFC"/>
                </a:solidFill>
                <a:latin typeface="Arial"/>
                <a:ea typeface="Arial"/>
                <a:cs typeface="Arial"/>
              </a:defRPr>
            </a:lvl2pPr>
            <a:lvl3pPr>
              <a:defRPr sz="4050" b="1">
                <a:solidFill>
                  <a:srgbClr val="F7FAFC"/>
                </a:solidFill>
                <a:latin typeface="Arial"/>
                <a:ea typeface="Arial"/>
                <a:cs typeface="Arial"/>
              </a:defRPr>
            </a:lvl3pPr>
            <a:lvl4pPr>
              <a:defRPr sz="4050" b="1">
                <a:solidFill>
                  <a:srgbClr val="F7FAFC"/>
                </a:solidFill>
                <a:latin typeface="Arial"/>
                <a:ea typeface="Arial"/>
                <a:cs typeface="Arial"/>
              </a:defRPr>
            </a:lvl4pPr>
            <a:lvl5pPr>
              <a:defRPr sz="4050" b="1">
                <a:solidFill>
                  <a:srgbClr val="F7FAFC"/>
                </a:solidFill>
                <a:latin typeface="Arial"/>
                <a:ea typeface="Arial"/>
                <a:cs typeface="Arial"/>
              </a:defRPr>
            </a:lvl5pPr>
            <a:lvl6pPr>
              <a:defRPr sz="4050" b="1">
                <a:solidFill>
                  <a:srgbClr val="F7FAFC"/>
                </a:solidFill>
                <a:latin typeface="Arial"/>
                <a:ea typeface="Arial"/>
                <a:cs typeface="Arial"/>
              </a:defRPr>
            </a:lvl6pPr>
            <a:lvl7pPr>
              <a:defRPr sz="4050" b="1">
                <a:solidFill>
                  <a:srgbClr val="F7FAFC"/>
                </a:solidFill>
                <a:latin typeface="Arial"/>
                <a:ea typeface="Arial"/>
                <a:cs typeface="Arial"/>
              </a:defRPr>
            </a:lvl7pPr>
            <a:lvl8pPr>
              <a:defRPr sz="4050" b="1">
                <a:solidFill>
                  <a:srgbClr val="F7FAFC"/>
                </a:solidFill>
                <a:latin typeface="Arial"/>
                <a:ea typeface="Arial"/>
                <a:cs typeface="Arial"/>
              </a:defRPr>
            </a:lvl8pPr>
            <a:lvl9pPr>
              <a:defRPr sz="4050" b="1">
                <a:solidFill>
                  <a:srgbClr val="F7FAFC"/>
                </a:solidFill>
                <a:latin typeface="Arial"/>
                <a:ea typeface="Arial"/>
                <a:cs typeface="Arial"/>
              </a:defRPr>
            </a:lvl9pPr>
          </a:lstStyle>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From voice request</a:t>
            </a:r>
          </a:p>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to verified action</a:t>
            </a:r>
          </a:p>
        </p:txBody>
      </p:sp>
      <p:sp>
        <p:nvSpPr>
          <p:cNvPr id="6" name="">
            <a:extLst xmlns:a="http://schemas.openxmlformats.org/drawingml/2006/main">
              <a:ext uri="{FF2B5EF4-FFF2-40B4-BE49-F238E27FC236}">
                <a16:creationId xmlns:a16="http://schemas.microsoft.com/office/drawing/2014/main" id="{98348AF5-9196-4B50-AFED-F59042C1B771}"/>
              </a:ext>
            </a:extLst>
          </p:cNvPr>
          <p:cNvSpPr>
            <a:spLocks xmlns:a="http://schemas.openxmlformats.org/drawingml/2006/main" noGrp="1"/>
          </p:cNvSpPr>
          <p:nvPr/>
        </p:nvSpPr>
        <p:spPr>
          <a:xfrm xmlns:a="http://schemas.openxmlformats.org/drawingml/2006/main">
            <a:off x="723900" y="3143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A8B8CA"/>
                </a:solidFill>
                <a:latin typeface="Arial"/>
                <a:ea typeface="Arial"/>
                <a:cs typeface="Arial"/>
              </a:defRPr>
            </a:defPPr>
            <a:lvl1pPr>
              <a:defRPr sz="1800">
                <a:solidFill>
                  <a:srgbClr val="A8B8CA"/>
                </a:solidFill>
                <a:latin typeface="Arial"/>
                <a:ea typeface="Arial"/>
                <a:cs typeface="Arial"/>
              </a:defRPr>
            </a:lvl1pPr>
            <a:lvl2pPr>
              <a:defRPr sz="1800">
                <a:solidFill>
                  <a:srgbClr val="A8B8CA"/>
                </a:solidFill>
                <a:latin typeface="Arial"/>
                <a:ea typeface="Arial"/>
                <a:cs typeface="Arial"/>
              </a:defRPr>
            </a:lvl2pPr>
            <a:lvl3pPr>
              <a:defRPr sz="1800">
                <a:solidFill>
                  <a:srgbClr val="A8B8CA"/>
                </a:solidFill>
                <a:latin typeface="Arial"/>
                <a:ea typeface="Arial"/>
                <a:cs typeface="Arial"/>
              </a:defRPr>
            </a:lvl3pPr>
            <a:lvl4pPr>
              <a:defRPr sz="1800">
                <a:solidFill>
                  <a:srgbClr val="A8B8CA"/>
                </a:solidFill>
                <a:latin typeface="Arial"/>
                <a:ea typeface="Arial"/>
                <a:cs typeface="Arial"/>
              </a:defRPr>
            </a:lvl4pPr>
            <a:lvl5pPr>
              <a:defRPr sz="1800">
                <a:solidFill>
                  <a:srgbClr val="A8B8CA"/>
                </a:solidFill>
                <a:latin typeface="Arial"/>
                <a:ea typeface="Arial"/>
                <a:cs typeface="Arial"/>
              </a:defRPr>
            </a:lvl5pPr>
            <a:lvl6pPr>
              <a:defRPr sz="1800">
                <a:solidFill>
                  <a:srgbClr val="A8B8CA"/>
                </a:solidFill>
                <a:latin typeface="Arial"/>
                <a:ea typeface="Arial"/>
                <a:cs typeface="Arial"/>
              </a:defRPr>
            </a:lvl6pPr>
            <a:lvl7pPr>
              <a:defRPr sz="1800">
                <a:solidFill>
                  <a:srgbClr val="A8B8CA"/>
                </a:solidFill>
                <a:latin typeface="Arial"/>
                <a:ea typeface="Arial"/>
                <a:cs typeface="Arial"/>
              </a:defRPr>
            </a:lvl7pPr>
            <a:lvl8pPr>
              <a:defRPr sz="1800">
                <a:solidFill>
                  <a:srgbClr val="A8B8CA"/>
                </a:solidFill>
                <a:latin typeface="Arial"/>
                <a:ea typeface="Arial"/>
                <a:cs typeface="Arial"/>
              </a:defRPr>
            </a:lvl8pPr>
            <a:lvl9pPr>
              <a:defRPr sz="1800">
                <a:solidFill>
                  <a:srgbClr val="A8B8CA"/>
                </a:solidFill>
                <a:latin typeface="Arial"/>
                <a:ea typeface="Arial"/>
                <a:cs typeface="Arial"/>
              </a:defRPr>
            </a:lvl9pPr>
          </a:lstStyle>
          <a:p xmlns:a="http://schemas.openxmlformats.org/drawingml/2006/main">
            <a:pPr>
              <a:defRPr sz="1800">
                <a:solidFill>
                  <a:srgbClr val="A8B8CA"/>
                </a:solidFill>
                <a:latin typeface="Arial"/>
                <a:ea typeface="Arial"/>
                <a:cs typeface="Arial"/>
              </a:defRPr>
            </a:pPr>
            <a:r>
              <a:rPr sz="1800">
                <a:solidFill>
                  <a:srgbClr val="A8B8CA"/>
                </a:solidFill>
                <a:latin typeface="Arial"/>
                <a:ea typeface="Arial"/>
                <a:cs typeface="Arial"/>
              </a:rPr>
              <a:t>A Raspberry Pi full-duplex agent with a Qwen tool-using brain</a:t>
            </a:r>
          </a:p>
        </p:txBody>
      </p:sp>
      <p:sp>
        <p:nvSpPr>
          <p:cNvPr id="7" name="cover-callout">
            <a:extLst xmlns:a="http://schemas.openxmlformats.org/drawingml/2006/main">
              <a:ext uri="{FF2B5EF4-FFF2-40B4-BE49-F238E27FC236}">
                <a16:creationId xmlns:a16="http://schemas.microsoft.com/office/drawing/2014/main" id="{00D987EE-BB82-4554-A376-548BB4E0D059}"/>
              </a:ext>
            </a:extLst>
          </p:cNvPr>
          <p:cNvSpPr>
            <a:spLocks xmlns:a="http://schemas.openxmlformats.org/drawingml/2006/main" noGrp="1"/>
          </p:cNvSpPr>
          <p:nvPr/>
        </p:nvSpPr>
        <p:spPr>
          <a:xfrm xmlns:a="http://schemas.openxmlformats.org/drawingml/2006/main">
            <a:off x="723900" y="4095750"/>
            <a:ext cx="5429250" cy="762000"/>
          </a:xfrm>
          <a:prstGeom xmlns:a="http://schemas.openxmlformats.org/drawingml/2006/main" prst="roundRect">
            <a:avLst>
              <a:gd name="adj" fmla="val 15000"/>
            </a:avLst>
          </a:prstGeom>
          <a:solidFill xmlns:a="http://schemas.openxmlformats.org/drawingml/2006/main">
            <a:srgbClr val="143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29845A-1EE7-4A63-8896-257DD68EE22C}"/>
              </a:ext>
            </a:extLst>
          </p:cNvPr>
          <p:cNvSpPr>
            <a:spLocks xmlns:a="http://schemas.openxmlformats.org/drawingml/2006/main" noGrp="1"/>
          </p:cNvSpPr>
          <p:nvPr/>
        </p:nvSpPr>
        <p:spPr>
          <a:xfrm xmlns:a="http://schemas.openxmlformats.org/drawingml/2006/main">
            <a:off x="971550" y="426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7F3D0"/>
                </a:solidFill>
                <a:latin typeface="Arial"/>
                <a:ea typeface="Arial"/>
                <a:cs typeface="Arial"/>
              </a:defRPr>
            </a:defPPr>
            <a:lvl1pPr>
              <a:defRPr sz="1650" b="1">
                <a:solidFill>
                  <a:srgbClr val="A7F3D0"/>
                </a:solidFill>
                <a:latin typeface="Arial"/>
                <a:ea typeface="Arial"/>
                <a:cs typeface="Arial"/>
              </a:defRPr>
            </a:lvl1pPr>
            <a:lvl2pPr>
              <a:defRPr sz="1650" b="1">
                <a:solidFill>
                  <a:srgbClr val="A7F3D0"/>
                </a:solidFill>
                <a:latin typeface="Arial"/>
                <a:ea typeface="Arial"/>
                <a:cs typeface="Arial"/>
              </a:defRPr>
            </a:lvl2pPr>
            <a:lvl3pPr>
              <a:defRPr sz="1650" b="1">
                <a:solidFill>
                  <a:srgbClr val="A7F3D0"/>
                </a:solidFill>
                <a:latin typeface="Arial"/>
                <a:ea typeface="Arial"/>
                <a:cs typeface="Arial"/>
              </a:defRPr>
            </a:lvl3pPr>
            <a:lvl4pPr>
              <a:defRPr sz="1650" b="1">
                <a:solidFill>
                  <a:srgbClr val="A7F3D0"/>
                </a:solidFill>
                <a:latin typeface="Arial"/>
                <a:ea typeface="Arial"/>
                <a:cs typeface="Arial"/>
              </a:defRPr>
            </a:lvl4pPr>
            <a:lvl5pPr>
              <a:defRPr sz="1650" b="1">
                <a:solidFill>
                  <a:srgbClr val="A7F3D0"/>
                </a:solidFill>
                <a:latin typeface="Arial"/>
                <a:ea typeface="Arial"/>
                <a:cs typeface="Arial"/>
              </a:defRPr>
            </a:lvl5pPr>
            <a:lvl6pPr>
              <a:defRPr sz="1650" b="1">
                <a:solidFill>
                  <a:srgbClr val="A7F3D0"/>
                </a:solidFill>
                <a:latin typeface="Arial"/>
                <a:ea typeface="Arial"/>
                <a:cs typeface="Arial"/>
              </a:defRPr>
            </a:lvl6pPr>
            <a:lvl7pPr>
              <a:defRPr sz="1650" b="1">
                <a:solidFill>
                  <a:srgbClr val="A7F3D0"/>
                </a:solidFill>
                <a:latin typeface="Arial"/>
                <a:ea typeface="Arial"/>
                <a:cs typeface="Arial"/>
              </a:defRPr>
            </a:lvl7pPr>
            <a:lvl8pPr>
              <a:defRPr sz="1650" b="1">
                <a:solidFill>
                  <a:srgbClr val="A7F3D0"/>
                </a:solidFill>
                <a:latin typeface="Arial"/>
                <a:ea typeface="Arial"/>
                <a:cs typeface="Arial"/>
              </a:defRPr>
            </a:lvl8pPr>
            <a:lvl9pPr>
              <a:defRPr sz="1650" b="1">
                <a:solidFill>
                  <a:srgbClr val="A7F3D0"/>
                </a:solidFill>
                <a:latin typeface="Arial"/>
                <a:ea typeface="Arial"/>
                <a:cs typeface="Arial"/>
              </a:defRPr>
            </a:lvl9pPr>
          </a:lstStyle>
          <a:p xmlns:a="http://schemas.openxmlformats.org/drawingml/2006/main">
            <a:pPr>
              <a:defRPr sz="1650" b="1">
                <a:solidFill>
                  <a:srgbClr val="A7F3D0"/>
                </a:solidFill>
                <a:latin typeface="Arial"/>
                <a:ea typeface="Arial"/>
                <a:cs typeface="Arial"/>
              </a:defRPr>
            </a:pPr>
            <a:r>
              <a:rPr sz="1650" b="1">
                <a:solidFill>
                  <a:srgbClr val="A7F3D0"/>
                </a:solidFill>
                <a:latin typeface="Arial"/>
                <a:ea typeface="Arial"/>
                <a:cs typeface="Arial"/>
              </a:rPr>
              <a:t>No task-specific training required</a:t>
            </a:r>
          </a:p>
        </p:txBody>
      </p:sp>
      <p:sp>
        <p:nvSpPr>
          <p:cNvPr id="9" name="">
            <a:extLst xmlns:a="http://schemas.openxmlformats.org/drawingml/2006/main">
              <a:ext uri="{FF2B5EF4-FFF2-40B4-BE49-F238E27FC236}">
                <a16:creationId xmlns:a16="http://schemas.microsoft.com/office/drawing/2014/main" id="{5468B4A3-3D6D-492D-B34E-C59A0B46AC49}"/>
              </a:ext>
            </a:extLst>
          </p:cNvPr>
          <p:cNvSpPr>
            <a:spLocks xmlns:a="http://schemas.openxmlformats.org/drawingml/2006/main" noGrp="1"/>
          </p:cNvSpPr>
          <p:nvPr/>
        </p:nvSpPr>
        <p:spPr>
          <a:xfrm xmlns:a="http://schemas.openxmlformats.org/drawingml/2006/main">
            <a:off x="971550" y="4552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Inference + typed tools + verification</a:t>
            </a:r>
          </a:p>
        </p:txBody>
      </p:sp>
      <p:sp>
        <p:nvSpPr>
          <p:cNvPr id="10" name="">
            <a:extLst xmlns:a="http://schemas.openxmlformats.org/drawingml/2006/main">
              <a:ext uri="{FF2B5EF4-FFF2-40B4-BE49-F238E27FC236}">
                <a16:creationId xmlns:a16="http://schemas.microsoft.com/office/drawing/2014/main" id="{8381A038-D62B-46F2-945A-37C6E499219D}"/>
              </a:ext>
            </a:extLst>
          </p:cNvPr>
          <p:cNvSpPr>
            <a:spLocks xmlns:a="http://schemas.openxmlformats.org/drawingml/2006/main" noGrp="1"/>
          </p:cNvSpPr>
          <p:nvPr/>
        </p:nvSpPr>
        <p:spPr>
          <a:xfrm xmlns:a="http://schemas.openxmlformats.org/drawingml/2006/main">
            <a:off x="723900" y="6000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Crizepvill F. Dumalaog  •  Mapua University  •  2026</a:t>
            </a:r>
          </a:p>
        </p:txBody>
      </p:sp>
    </p:spTree>
    <p:extLst>
      <p:ext uri="{BB962C8B-B14F-4D97-AF65-F5344CB8AC3E}">
        <p14:creationId xmlns:p14="http://schemas.microsoft.com/office/powerpoint/2010/main" val="1703199884"/>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52181DB-C8FE-4715-8349-13FDFA904C15}"/>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AA6BA0AD-50D7-484E-8C79-A425B8CB8EB3}"/>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A spoken request becomes a checked result</a:t>
            </a:r>
          </a:p>
        </p:txBody>
      </p:sp>
      <p:sp>
        <p:nvSpPr>
          <p:cNvPr id="3" name="">
            <a:extLst xmlns:a="http://schemas.openxmlformats.org/drawingml/2006/main">
              <a:ext uri="{FF2B5EF4-FFF2-40B4-BE49-F238E27FC236}">
                <a16:creationId xmlns:a16="http://schemas.microsoft.com/office/drawing/2014/main" id="{7B8B48EA-AE39-4BCC-9633-3F35A41C4420}"/>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user stays in conversation while the model reasons and acts through bounded tools.</a:t>
            </a:r>
          </a:p>
        </p:txBody>
      </p:sp>
      <p:cxnSp>
        <p:nvCxnSpPr>
          <p:cNvPr id="4" name="sequence-1">
            <a:extLst xmlns:a="http://schemas.openxmlformats.org/drawingml/2006/main">
              <a:ext uri="{FF2B5EF4-FFF2-40B4-BE49-F238E27FC236}">
                <a16:creationId xmlns:a16="http://schemas.microsoft.com/office/drawing/2014/main" id="{5FC7D7AD-C97B-4B0B-BB33-2615D61CF456}"/>
              </a:ext>
            </a:extLst>
          </p:cNvPr>
          <p:cNvCxnSpPr/>
          <p:nvPr/>
        </p:nvCxnSpPr>
        <p:spPr>
          <a:xfrm xmlns:a="http://schemas.openxmlformats.org/drawingml/2006/main">
            <a:off x="2247900" y="3143250"/>
            <a:ext cx="952500"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sequence-2">
            <a:extLst xmlns:a="http://schemas.openxmlformats.org/drawingml/2006/main">
              <a:ext uri="{FF2B5EF4-FFF2-40B4-BE49-F238E27FC236}">
                <a16:creationId xmlns:a16="http://schemas.microsoft.com/office/drawing/2014/main" id="{0C93CFAF-7086-4C74-A9E2-B7F653FFC9DC}"/>
              </a:ext>
            </a:extLst>
          </p:cNvPr>
          <p:cNvCxnSpPr/>
          <p:nvPr/>
        </p:nvCxnSpPr>
        <p:spPr>
          <a:xfrm xmlns:a="http://schemas.openxmlformats.org/drawingml/2006/main">
            <a:off x="4819650" y="3143250"/>
            <a:ext cx="952500"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sequence-3">
            <a:extLst xmlns:a="http://schemas.openxmlformats.org/drawingml/2006/main">
              <a:ext uri="{FF2B5EF4-FFF2-40B4-BE49-F238E27FC236}">
                <a16:creationId xmlns:a16="http://schemas.microsoft.com/office/drawing/2014/main" id="{1302EEE4-47F7-44D9-99A3-D6BE3A063FAF}"/>
              </a:ext>
            </a:extLst>
          </p:cNvPr>
          <p:cNvCxnSpPr/>
          <p:nvPr/>
        </p:nvCxnSpPr>
        <p:spPr>
          <a:xfrm xmlns:a="http://schemas.openxmlformats.org/drawingml/2006/main">
            <a:off x="7391400" y="3143250"/>
            <a:ext cx="952500" cy="0"/>
          </a:xfrm>
          <a:prstGeom xmlns:a="http://schemas.openxmlformats.org/drawingml/2006/main" prst="straightConnector1">
            <a:avLst/>
          </a:prstGeom>
          <a:ln xmlns:a="http://schemas.openxmlformats.org/drawingml/2006/main" w="19050">
            <a:solidFill>
              <a:srgbClr val="FCD34D"/>
            </a:solidFill>
            <a:prstDash val="solid"/>
            <a:tailEnd type="arrow" w="med" len="med"/>
          </a:ln>
        </p:spPr>
      </p:cxnSp>
      <p:sp>
        <p:nvSpPr>
          <p:cNvPr id="7" name="sequence-node-0">
            <a:extLst xmlns:a="http://schemas.openxmlformats.org/drawingml/2006/main">
              <a:ext uri="{FF2B5EF4-FFF2-40B4-BE49-F238E27FC236}">
                <a16:creationId xmlns:a16="http://schemas.microsoft.com/office/drawing/2014/main" id="{2E1F78D5-C966-4467-B199-40116D654B6F}"/>
              </a:ext>
            </a:extLst>
          </p:cNvPr>
          <p:cNvSpPr>
            <a:spLocks xmlns:a="http://schemas.openxmlformats.org/drawingml/2006/main" noGrp="1"/>
          </p:cNvSpPr>
          <p:nvPr/>
        </p:nvSpPr>
        <p:spPr>
          <a:xfrm xmlns:a="http://schemas.openxmlformats.org/drawingml/2006/main">
            <a:off x="7620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5EEAD4"/>
            </a:solidFill>
            <a:prstDash val="solid"/>
          </a:ln>
        </p:spPr>
      </p:sp>
      <p:sp>
        <p:nvSpPr>
          <p:cNvPr id="8" name="">
            <a:extLst xmlns:a="http://schemas.openxmlformats.org/drawingml/2006/main">
              <a:ext uri="{FF2B5EF4-FFF2-40B4-BE49-F238E27FC236}">
                <a16:creationId xmlns:a16="http://schemas.microsoft.com/office/drawing/2014/main" id="{DF14A7D9-0248-4DBE-A80A-643A8B84868C}"/>
              </a:ext>
            </a:extLst>
          </p:cNvPr>
          <p:cNvSpPr>
            <a:spLocks xmlns:a="http://schemas.openxmlformats.org/drawingml/2006/main" noGrp="1"/>
          </p:cNvSpPr>
          <p:nvPr/>
        </p:nvSpPr>
        <p:spPr>
          <a:xfrm xmlns:a="http://schemas.openxmlformats.org/drawingml/2006/main">
            <a:off x="9334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0B1C7DDF-56FD-4177-A464-9BF31B7E40B0}"/>
              </a:ext>
            </a:extLst>
          </p:cNvPr>
          <p:cNvSpPr>
            <a:spLocks xmlns:a="http://schemas.openxmlformats.org/drawingml/2006/main" noGrp="1"/>
          </p:cNvSpPr>
          <p:nvPr/>
        </p:nvSpPr>
        <p:spPr>
          <a:xfrm xmlns:a="http://schemas.openxmlformats.org/drawingml/2006/main">
            <a:off x="9334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Speak</a:t>
            </a:r>
          </a:p>
        </p:txBody>
      </p:sp>
      <p:sp>
        <p:nvSpPr>
          <p:cNvPr id="10" name="">
            <a:extLst xmlns:a="http://schemas.openxmlformats.org/drawingml/2006/main">
              <a:ext uri="{FF2B5EF4-FFF2-40B4-BE49-F238E27FC236}">
                <a16:creationId xmlns:a16="http://schemas.microsoft.com/office/drawing/2014/main" id="{E44BE22E-1D63-42CA-BF40-606FB8D12343}"/>
              </a:ext>
            </a:extLst>
          </p:cNvPr>
          <p:cNvSpPr>
            <a:spLocks xmlns:a="http://schemas.openxmlformats.org/drawingml/2006/main" noGrp="1"/>
          </p:cNvSpPr>
          <p:nvPr/>
        </p:nvSpPr>
        <p:spPr>
          <a:xfrm xmlns:a="http://schemas.openxmlformats.org/drawingml/2006/main">
            <a:off x="9334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“Build me a web app”</a:t>
            </a:r>
          </a:p>
        </p:txBody>
      </p:sp>
      <p:sp>
        <p:nvSpPr>
          <p:cNvPr id="11" name="sequence-node-1">
            <a:extLst xmlns:a="http://schemas.openxmlformats.org/drawingml/2006/main">
              <a:ext uri="{FF2B5EF4-FFF2-40B4-BE49-F238E27FC236}">
                <a16:creationId xmlns:a16="http://schemas.microsoft.com/office/drawing/2014/main" id="{497C1579-D0E0-439A-9AFC-D8368770F9FE}"/>
              </a:ext>
            </a:extLst>
          </p:cNvPr>
          <p:cNvSpPr>
            <a:spLocks xmlns:a="http://schemas.openxmlformats.org/drawingml/2006/main" noGrp="1"/>
          </p:cNvSpPr>
          <p:nvPr/>
        </p:nvSpPr>
        <p:spPr>
          <a:xfrm xmlns:a="http://schemas.openxmlformats.org/drawingml/2006/main">
            <a:off x="33337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60A5FA"/>
            </a:solidFill>
            <a:prstDash val="solid"/>
          </a:ln>
        </p:spPr>
      </p:sp>
      <p:sp>
        <p:nvSpPr>
          <p:cNvPr id="12" name="">
            <a:extLst xmlns:a="http://schemas.openxmlformats.org/drawingml/2006/main">
              <a:ext uri="{FF2B5EF4-FFF2-40B4-BE49-F238E27FC236}">
                <a16:creationId xmlns:a16="http://schemas.microsoft.com/office/drawing/2014/main" id="{D685F419-A48A-428C-AF54-D158203F345B}"/>
              </a:ext>
            </a:extLst>
          </p:cNvPr>
          <p:cNvSpPr>
            <a:spLocks xmlns:a="http://schemas.openxmlformats.org/drawingml/2006/main" noGrp="1"/>
          </p:cNvSpPr>
          <p:nvPr/>
        </p:nvSpPr>
        <p:spPr>
          <a:xfrm xmlns:a="http://schemas.openxmlformats.org/drawingml/2006/main">
            <a:off x="35052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CFF42F64-02D3-4EDF-B21B-B4373D146104}"/>
              </a:ext>
            </a:extLst>
          </p:cNvPr>
          <p:cNvSpPr>
            <a:spLocks xmlns:a="http://schemas.openxmlformats.org/drawingml/2006/main" noGrp="1"/>
          </p:cNvSpPr>
          <p:nvPr/>
        </p:nvSpPr>
        <p:spPr>
          <a:xfrm xmlns:a="http://schemas.openxmlformats.org/drawingml/2006/main">
            <a:off x="35052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84F83477-2342-454E-84B6-43DB5DD2186F}"/>
              </a:ext>
            </a:extLst>
          </p:cNvPr>
          <p:cNvSpPr>
            <a:spLocks xmlns:a="http://schemas.openxmlformats.org/drawingml/2006/main" noGrp="1"/>
          </p:cNvSpPr>
          <p:nvPr/>
        </p:nvSpPr>
        <p:spPr>
          <a:xfrm xmlns:a="http://schemas.openxmlformats.org/drawingml/2006/main">
            <a:off x="35052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Qwen selects tool calls</a:t>
            </a:r>
          </a:p>
        </p:txBody>
      </p:sp>
      <p:sp>
        <p:nvSpPr>
          <p:cNvPr id="15" name="sequence-node-2">
            <a:extLst xmlns:a="http://schemas.openxmlformats.org/drawingml/2006/main">
              <a:ext uri="{FF2B5EF4-FFF2-40B4-BE49-F238E27FC236}">
                <a16:creationId xmlns:a16="http://schemas.microsoft.com/office/drawing/2014/main" id="{0FE98C52-8280-4A18-9C89-2F1594E3A773}"/>
              </a:ext>
            </a:extLst>
          </p:cNvPr>
          <p:cNvSpPr>
            <a:spLocks xmlns:a="http://schemas.openxmlformats.org/drawingml/2006/main" noGrp="1"/>
          </p:cNvSpPr>
          <p:nvPr/>
        </p:nvSpPr>
        <p:spPr>
          <a:xfrm xmlns:a="http://schemas.openxmlformats.org/drawingml/2006/main">
            <a:off x="59055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FCD34D"/>
            </a:solidFill>
            <a:prstDash val="solid"/>
          </a:ln>
        </p:spPr>
      </p:sp>
      <p:sp>
        <p:nvSpPr>
          <p:cNvPr id="16" name="">
            <a:extLst xmlns:a="http://schemas.openxmlformats.org/drawingml/2006/main">
              <a:ext uri="{FF2B5EF4-FFF2-40B4-BE49-F238E27FC236}">
                <a16:creationId xmlns:a16="http://schemas.microsoft.com/office/drawing/2014/main" id="{C054B538-C921-4BAB-A39A-2FDC3339180C}"/>
              </a:ext>
            </a:extLst>
          </p:cNvPr>
          <p:cNvSpPr>
            <a:spLocks xmlns:a="http://schemas.openxmlformats.org/drawingml/2006/main" noGrp="1"/>
          </p:cNvSpPr>
          <p:nvPr/>
        </p:nvSpPr>
        <p:spPr>
          <a:xfrm xmlns:a="http://schemas.openxmlformats.org/drawingml/2006/main">
            <a:off x="60769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91E7677-48D6-4290-9DA6-75095BB2A39B}"/>
              </a:ext>
            </a:extLst>
          </p:cNvPr>
          <p:cNvSpPr>
            <a:spLocks xmlns:a="http://schemas.openxmlformats.org/drawingml/2006/main" noGrp="1"/>
          </p:cNvSpPr>
          <p:nvPr/>
        </p:nvSpPr>
        <p:spPr>
          <a:xfrm xmlns:a="http://schemas.openxmlformats.org/drawingml/2006/main">
            <a:off x="60769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Act</a:t>
            </a:r>
          </a:p>
        </p:txBody>
      </p:sp>
      <p:sp>
        <p:nvSpPr>
          <p:cNvPr id="18" name="">
            <a:extLst xmlns:a="http://schemas.openxmlformats.org/drawingml/2006/main">
              <a:ext uri="{FF2B5EF4-FFF2-40B4-BE49-F238E27FC236}">
                <a16:creationId xmlns:a16="http://schemas.microsoft.com/office/drawing/2014/main" id="{36007617-1C0E-4172-81C5-378850D146E7}"/>
              </a:ext>
            </a:extLst>
          </p:cNvPr>
          <p:cNvSpPr>
            <a:spLocks xmlns:a="http://schemas.openxmlformats.org/drawingml/2006/main" noGrp="1"/>
          </p:cNvSpPr>
          <p:nvPr/>
        </p:nvSpPr>
        <p:spPr>
          <a:xfrm xmlns:a="http://schemas.openxmlformats.org/drawingml/2006/main">
            <a:off x="60769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Files, web, commands, jobs</a:t>
            </a:r>
          </a:p>
        </p:txBody>
      </p:sp>
      <p:sp>
        <p:nvSpPr>
          <p:cNvPr id="19" name="sequence-node-3">
            <a:extLst xmlns:a="http://schemas.openxmlformats.org/drawingml/2006/main">
              <a:ext uri="{FF2B5EF4-FFF2-40B4-BE49-F238E27FC236}">
                <a16:creationId xmlns:a16="http://schemas.microsoft.com/office/drawing/2014/main" id="{4C520AC9-77DD-4317-9C4E-47FB9F7C4682}"/>
              </a:ext>
            </a:extLst>
          </p:cNvPr>
          <p:cNvSpPr>
            <a:spLocks xmlns:a="http://schemas.openxmlformats.org/drawingml/2006/main" noGrp="1"/>
          </p:cNvSpPr>
          <p:nvPr/>
        </p:nvSpPr>
        <p:spPr>
          <a:xfrm xmlns:a="http://schemas.openxmlformats.org/drawingml/2006/main">
            <a:off x="84772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A7F3D0"/>
            </a:solidFill>
            <a:prstDash val="solid"/>
          </a:ln>
        </p:spPr>
      </p:sp>
      <p:sp>
        <p:nvSpPr>
          <p:cNvPr id="20" name="">
            <a:extLst xmlns:a="http://schemas.openxmlformats.org/drawingml/2006/main">
              <a:ext uri="{FF2B5EF4-FFF2-40B4-BE49-F238E27FC236}">
                <a16:creationId xmlns:a16="http://schemas.microsoft.com/office/drawing/2014/main" id="{9D36E830-87E0-42DE-BE0E-2E7E80F079DE}"/>
              </a:ext>
            </a:extLst>
          </p:cNvPr>
          <p:cNvSpPr>
            <a:spLocks xmlns:a="http://schemas.openxmlformats.org/drawingml/2006/main" noGrp="1"/>
          </p:cNvSpPr>
          <p:nvPr/>
        </p:nvSpPr>
        <p:spPr>
          <a:xfrm xmlns:a="http://schemas.openxmlformats.org/drawingml/2006/main">
            <a:off x="86487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D6FFC89C-902C-4F5E-867C-E41A016453A5}"/>
              </a:ext>
            </a:extLst>
          </p:cNvPr>
          <p:cNvSpPr>
            <a:spLocks xmlns:a="http://schemas.openxmlformats.org/drawingml/2006/main" noGrp="1"/>
          </p:cNvSpPr>
          <p:nvPr/>
        </p:nvSpPr>
        <p:spPr>
          <a:xfrm xmlns:a="http://schemas.openxmlformats.org/drawingml/2006/main">
            <a:off x="86487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54B38D1E-9AB9-4556-A47E-A6BDBD71413D}"/>
              </a:ext>
            </a:extLst>
          </p:cNvPr>
          <p:cNvSpPr>
            <a:spLocks xmlns:a="http://schemas.openxmlformats.org/drawingml/2006/main" noGrp="1"/>
          </p:cNvSpPr>
          <p:nvPr/>
        </p:nvSpPr>
        <p:spPr>
          <a:xfrm xmlns:a="http://schemas.openxmlformats.org/drawingml/2006/main">
            <a:off x="86487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Read-back + verification</a:t>
            </a:r>
          </a:p>
        </p:txBody>
      </p:sp>
      <p:sp>
        <p:nvSpPr>
          <p:cNvPr id="23" name="sequence-caption">
            <a:extLst xmlns:a="http://schemas.openxmlformats.org/drawingml/2006/main">
              <a:ext uri="{FF2B5EF4-FFF2-40B4-BE49-F238E27FC236}">
                <a16:creationId xmlns:a16="http://schemas.microsoft.com/office/drawing/2014/main" id="{57E31121-71E9-400C-82CD-25DBAA90588E}"/>
              </a:ext>
            </a:extLst>
          </p:cNvPr>
          <p:cNvSpPr>
            <a:spLocks xmlns:a="http://schemas.openxmlformats.org/drawingml/2006/main" noGrp="1"/>
          </p:cNvSpPr>
          <p:nvPr/>
        </p:nvSpPr>
        <p:spPr>
          <a:xfrm xmlns:a="http://schemas.openxmlformats.org/drawingml/2006/main">
            <a:off x="1714500" y="4648200"/>
            <a:ext cx="8763000" cy="819150"/>
          </a:xfrm>
          <a:prstGeom xmlns:a="http://schemas.openxmlformats.org/drawingml/2006/main" prst="roundRect">
            <a:avLst>
              <a:gd name="adj" fmla="val 13953"/>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3118B8C-976B-40C4-BE59-6487BCA34E84}"/>
              </a:ext>
            </a:extLst>
          </p:cNvPr>
          <p:cNvSpPr>
            <a:spLocks xmlns:a="http://schemas.openxmlformats.org/drawingml/2006/main" noGrp="1"/>
          </p:cNvSpPr>
          <p:nvPr/>
        </p:nvSpPr>
        <p:spPr>
          <a:xfrm xmlns:a="http://schemas.openxmlformats.org/drawingml/2006/main">
            <a:off x="2019300" y="48387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7FAFC"/>
                </a:solidFill>
                <a:latin typeface="Arial"/>
                <a:ea typeface="Arial"/>
                <a:cs typeface="Arial"/>
              </a:defRPr>
            </a:defPPr>
            <a:lvl1pPr>
              <a:defRPr sz="1725" b="1">
                <a:solidFill>
                  <a:srgbClr val="F7FAFC"/>
                </a:solidFill>
                <a:latin typeface="Arial"/>
                <a:ea typeface="Arial"/>
                <a:cs typeface="Arial"/>
              </a:defRPr>
            </a:lvl1pPr>
            <a:lvl2pPr>
              <a:defRPr sz="1725" b="1">
                <a:solidFill>
                  <a:srgbClr val="F7FAFC"/>
                </a:solidFill>
                <a:latin typeface="Arial"/>
                <a:ea typeface="Arial"/>
                <a:cs typeface="Arial"/>
              </a:defRPr>
            </a:lvl2pPr>
            <a:lvl3pPr>
              <a:defRPr sz="1725" b="1">
                <a:solidFill>
                  <a:srgbClr val="F7FAFC"/>
                </a:solidFill>
                <a:latin typeface="Arial"/>
                <a:ea typeface="Arial"/>
                <a:cs typeface="Arial"/>
              </a:defRPr>
            </a:lvl3pPr>
            <a:lvl4pPr>
              <a:defRPr sz="1725" b="1">
                <a:solidFill>
                  <a:srgbClr val="F7FAFC"/>
                </a:solidFill>
                <a:latin typeface="Arial"/>
                <a:ea typeface="Arial"/>
                <a:cs typeface="Arial"/>
              </a:defRPr>
            </a:lvl4pPr>
            <a:lvl5pPr>
              <a:defRPr sz="1725" b="1">
                <a:solidFill>
                  <a:srgbClr val="F7FAFC"/>
                </a:solidFill>
                <a:latin typeface="Arial"/>
                <a:ea typeface="Arial"/>
                <a:cs typeface="Arial"/>
              </a:defRPr>
            </a:lvl5pPr>
            <a:lvl6pPr>
              <a:defRPr sz="1725" b="1">
                <a:solidFill>
                  <a:srgbClr val="F7FAFC"/>
                </a:solidFill>
                <a:latin typeface="Arial"/>
                <a:ea typeface="Arial"/>
                <a:cs typeface="Arial"/>
              </a:defRPr>
            </a:lvl6pPr>
            <a:lvl7pPr>
              <a:defRPr sz="1725" b="1">
                <a:solidFill>
                  <a:srgbClr val="F7FAFC"/>
                </a:solidFill>
                <a:latin typeface="Arial"/>
                <a:ea typeface="Arial"/>
                <a:cs typeface="Arial"/>
              </a:defRPr>
            </a:lvl7pPr>
            <a:lvl8pPr>
              <a:defRPr sz="1725" b="1">
                <a:solidFill>
                  <a:srgbClr val="F7FAFC"/>
                </a:solidFill>
                <a:latin typeface="Arial"/>
                <a:ea typeface="Arial"/>
                <a:cs typeface="Arial"/>
              </a:defRPr>
            </a:lvl8pPr>
            <a:lvl9pPr>
              <a:defRPr sz="1725" b="1">
                <a:solidFill>
                  <a:srgbClr val="F7FAFC"/>
                </a:solidFill>
                <a:latin typeface="Arial"/>
                <a:ea typeface="Arial"/>
                <a:cs typeface="Arial"/>
              </a:defRPr>
            </a:lvl9pPr>
          </a:lstStyle>
          <a:p xmlns:a="http://schemas.openxmlformats.org/drawingml/2006/main">
            <a:pPr>
              <a:defRPr sz="1725" b="1">
                <a:solidFill>
                  <a:srgbClr val="F7FAFC"/>
                </a:solidFill>
                <a:latin typeface="Arial"/>
                <a:ea typeface="Arial"/>
                <a:cs typeface="Arial"/>
              </a:defRPr>
            </a:pPr>
            <a:r>
              <a:rPr sz="1725" b="1">
                <a:solidFill>
                  <a:srgbClr val="F7FAFC"/>
                </a:solidFill>
                <a:latin typeface="Arial"/>
                <a:ea typeface="Arial"/>
                <a:cs typeface="Arial"/>
              </a:rPr>
              <a:t>Full duplex means listening continues during playback.</a:t>
            </a:r>
          </a:p>
        </p:txBody>
      </p:sp>
      <p:sp>
        <p:nvSpPr>
          <p:cNvPr id="25" name="">
            <a:extLst xmlns:a="http://schemas.openxmlformats.org/drawingml/2006/main">
              <a:ext uri="{FF2B5EF4-FFF2-40B4-BE49-F238E27FC236}">
                <a16:creationId xmlns:a16="http://schemas.microsoft.com/office/drawing/2014/main" id="{FBF9D819-45C2-40E1-8F7D-D8430D322989}"/>
              </a:ext>
            </a:extLst>
          </p:cNvPr>
          <p:cNvSpPr>
            <a:spLocks xmlns:a="http://schemas.openxmlformats.org/drawingml/2006/main" noGrp="1"/>
          </p:cNvSpPr>
          <p:nvPr/>
        </p:nvSpPr>
        <p:spPr>
          <a:xfrm xmlns:a="http://schemas.openxmlformats.org/drawingml/2006/main">
            <a:off x="2019300" y="516255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Speech during TTS cancels playback and starts a new turn.</a:t>
            </a:r>
          </a:p>
        </p:txBody>
      </p:sp>
      <p:sp>
        <p:nvSpPr>
          <p:cNvPr id="26" name="">
            <a:extLst xmlns:a="http://schemas.openxmlformats.org/drawingml/2006/main">
              <a:ext uri="{FF2B5EF4-FFF2-40B4-BE49-F238E27FC236}">
                <a16:creationId xmlns:a16="http://schemas.microsoft.com/office/drawing/2014/main" id="{DC668173-87D3-469D-99E6-5E46499A8488}"/>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2/7</a:t>
            </a:r>
          </a:p>
        </p:txBody>
      </p:sp>
    </p:spTree>
    <p:extLst>
      <p:ext uri="{BB962C8B-B14F-4D97-AF65-F5344CB8AC3E}">
        <p14:creationId xmlns:p14="http://schemas.microsoft.com/office/powerpoint/2010/main" val="284457492"/>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258C790-E02D-4F8C-8894-E4BAF234C67E}"/>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201300C8-6AB6-4774-B53E-DD9EE34C62A1}"/>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Local speech, remote reasoning, owned actions</a:t>
            </a:r>
          </a:p>
        </p:txBody>
      </p:sp>
      <p:sp>
        <p:nvSpPr>
          <p:cNvPr id="3" name="">
            <a:extLst xmlns:a="http://schemas.openxmlformats.org/drawingml/2006/main">
              <a:ext uri="{FF2B5EF4-FFF2-40B4-BE49-F238E27FC236}">
                <a16:creationId xmlns:a16="http://schemas.microsoft.com/office/drawing/2014/main" id="{6D0720D7-E835-4436-AB08-64A2082A0184}"/>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Speech stays local; Qwen reasons remotely; typed tools own side effects.</a:t>
            </a:r>
          </a:p>
        </p:txBody>
      </p:sp>
      <p:cxnSp>
        <p:nvCxnSpPr>
          <p:cNvPr id="4" name="arch-local-to-qwen">
            <a:extLst xmlns:a="http://schemas.openxmlformats.org/drawingml/2006/main">
              <a:ext uri="{FF2B5EF4-FFF2-40B4-BE49-F238E27FC236}">
                <a16:creationId xmlns:a16="http://schemas.microsoft.com/office/drawing/2014/main" id="{274481A7-481D-49E3-9745-A0F45B16993C}"/>
              </a:ext>
            </a:extLst>
          </p:cNvPr>
          <p:cNvCxnSpPr/>
          <p:nvPr/>
        </p:nvCxnSpPr>
        <p:spPr>
          <a:xfrm xmlns:a="http://schemas.openxmlformats.org/drawingml/2006/main">
            <a:off x="2333625" y="3181350"/>
            <a:ext cx="71437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arch-qwen-to-tools">
            <a:extLst xmlns:a="http://schemas.openxmlformats.org/drawingml/2006/main">
              <a:ext uri="{FF2B5EF4-FFF2-40B4-BE49-F238E27FC236}">
                <a16:creationId xmlns:a16="http://schemas.microsoft.com/office/drawing/2014/main" id="{795D3DB0-AC01-4A8B-A5C7-DB33BF485FB5}"/>
              </a:ext>
            </a:extLst>
          </p:cNvPr>
          <p:cNvCxnSpPr/>
          <p:nvPr/>
        </p:nvCxnSpPr>
        <p:spPr>
          <a:xfrm xmlns:a="http://schemas.openxmlformats.org/drawingml/2006/main">
            <a:off x="5381625" y="3181350"/>
            <a:ext cx="71437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arch-tools-to-response">
            <a:extLst xmlns:a="http://schemas.openxmlformats.org/drawingml/2006/main">
              <a:ext uri="{FF2B5EF4-FFF2-40B4-BE49-F238E27FC236}">
                <a16:creationId xmlns:a16="http://schemas.microsoft.com/office/drawing/2014/main" id="{B1C92171-326D-4288-ACF5-5FD7A0C0594A}"/>
              </a:ext>
            </a:extLst>
          </p:cNvPr>
          <p:cNvCxnSpPr/>
          <p:nvPr/>
        </p:nvCxnSpPr>
        <p:spPr>
          <a:xfrm xmlns:a="http://schemas.openxmlformats.org/drawingml/2006/main">
            <a:off x="8429625" y="3181350"/>
            <a:ext cx="714375" cy="0"/>
          </a:xfrm>
          <a:prstGeom xmlns:a="http://schemas.openxmlformats.org/drawingml/2006/main" prst="straightConnector1">
            <a:avLst/>
          </a:prstGeom>
          <a:ln xmlns:a="http://schemas.openxmlformats.org/drawingml/2006/main" w="19050">
            <a:solidFill>
              <a:srgbClr val="A7F3D0"/>
            </a:solidFill>
            <a:prstDash val="solid"/>
            <a:tailEnd type="arrow" w="med" len="med"/>
          </a:ln>
        </p:spPr>
      </p:cxnSp>
      <p:sp>
        <p:nvSpPr>
          <p:cNvPr id="7" name="arch-node-0">
            <a:extLst xmlns:a="http://schemas.openxmlformats.org/drawingml/2006/main">
              <a:ext uri="{FF2B5EF4-FFF2-40B4-BE49-F238E27FC236}">
                <a16:creationId xmlns:a16="http://schemas.microsoft.com/office/drawing/2014/main" id="{43E555A8-95E4-4E17-8D3A-B72D9EA0D951}"/>
              </a:ext>
            </a:extLst>
          </p:cNvPr>
          <p:cNvSpPr>
            <a:spLocks xmlns:a="http://schemas.openxmlformats.org/drawingml/2006/main" noGrp="1"/>
          </p:cNvSpPr>
          <p:nvPr/>
        </p:nvSpPr>
        <p:spPr>
          <a:xfrm xmlns:a="http://schemas.openxmlformats.org/drawingml/2006/main">
            <a:off x="666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5EEAD4"/>
            </a:solidFill>
            <a:prstDash val="solid"/>
          </a:ln>
        </p:spPr>
      </p:sp>
      <p:sp>
        <p:nvSpPr>
          <p:cNvPr id="8" name="arch-accent-0">
            <a:extLst xmlns:a="http://schemas.openxmlformats.org/drawingml/2006/main">
              <a:ext uri="{FF2B5EF4-FFF2-40B4-BE49-F238E27FC236}">
                <a16:creationId xmlns:a16="http://schemas.microsoft.com/office/drawing/2014/main" id="{45DC5F2B-6870-49E9-B7A5-3CD6DB256402}"/>
              </a:ext>
            </a:extLst>
          </p:cNvPr>
          <p:cNvSpPr>
            <a:spLocks xmlns:a="http://schemas.openxmlformats.org/drawingml/2006/main" noGrp="1"/>
          </p:cNvSpPr>
          <p:nvPr/>
        </p:nvSpPr>
        <p:spPr>
          <a:xfrm xmlns:a="http://schemas.openxmlformats.org/drawingml/2006/main">
            <a:off x="857250" y="2514600"/>
            <a:ext cx="457200" cy="5715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CE72F6C-C804-4928-A503-D5CB67E89732}"/>
              </a:ext>
            </a:extLst>
          </p:cNvPr>
          <p:cNvSpPr>
            <a:spLocks xmlns:a="http://schemas.openxmlformats.org/drawingml/2006/main" noGrp="1"/>
          </p:cNvSpPr>
          <p:nvPr/>
        </p:nvSpPr>
        <p:spPr>
          <a:xfrm xmlns:a="http://schemas.openxmlformats.org/drawingml/2006/main">
            <a:off x="857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LOCAL AUDIO</a:t>
            </a:r>
          </a:p>
        </p:txBody>
      </p:sp>
      <p:sp>
        <p:nvSpPr>
          <p:cNvPr id="10" name="">
            <a:extLst xmlns:a="http://schemas.openxmlformats.org/drawingml/2006/main">
              <a:ext uri="{FF2B5EF4-FFF2-40B4-BE49-F238E27FC236}">
                <a16:creationId xmlns:a16="http://schemas.microsoft.com/office/drawing/2014/main" id="{ACB860B0-7E7B-4642-9AA2-816095C1ECD7}"/>
              </a:ext>
            </a:extLst>
          </p:cNvPr>
          <p:cNvSpPr>
            <a:spLocks xmlns:a="http://schemas.openxmlformats.org/drawingml/2006/main" noGrp="1"/>
          </p:cNvSpPr>
          <p:nvPr/>
        </p:nvSpPr>
        <p:spPr>
          <a:xfrm xmlns:a="http://schemas.openxmlformats.org/drawingml/2006/main">
            <a:off x="857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Mic → VAD → ASR</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TTS → speaker</a:t>
            </a:r>
          </a:p>
        </p:txBody>
      </p:sp>
      <p:sp>
        <p:nvSpPr>
          <p:cNvPr id="11" name="">
            <a:extLst xmlns:a="http://schemas.openxmlformats.org/drawingml/2006/main">
              <a:ext uri="{FF2B5EF4-FFF2-40B4-BE49-F238E27FC236}">
                <a16:creationId xmlns:a16="http://schemas.microsoft.com/office/drawing/2014/main" id="{1AD101F3-54B2-444D-9F7F-ED385D3343AB}"/>
              </a:ext>
            </a:extLst>
          </p:cNvPr>
          <p:cNvSpPr>
            <a:spLocks xmlns:a="http://schemas.openxmlformats.org/drawingml/2006/main" noGrp="1"/>
          </p:cNvSpPr>
          <p:nvPr/>
        </p:nvSpPr>
        <p:spPr>
          <a:xfrm xmlns:a="http://schemas.openxmlformats.org/drawingml/2006/main">
            <a:off x="857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Pi / Windows</a:t>
            </a:r>
          </a:p>
        </p:txBody>
      </p:sp>
      <p:sp>
        <p:nvSpPr>
          <p:cNvPr id="12" name="arch-node-1">
            <a:extLst xmlns:a="http://schemas.openxmlformats.org/drawingml/2006/main">
              <a:ext uri="{FF2B5EF4-FFF2-40B4-BE49-F238E27FC236}">
                <a16:creationId xmlns:a16="http://schemas.microsoft.com/office/drawing/2014/main" id="{86227CE7-50F8-4FD2-A4E4-7F51A9236712}"/>
              </a:ext>
            </a:extLst>
          </p:cNvPr>
          <p:cNvSpPr>
            <a:spLocks xmlns:a="http://schemas.openxmlformats.org/drawingml/2006/main" noGrp="1"/>
          </p:cNvSpPr>
          <p:nvPr/>
        </p:nvSpPr>
        <p:spPr>
          <a:xfrm xmlns:a="http://schemas.openxmlformats.org/drawingml/2006/main">
            <a:off x="3714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60A5FA"/>
            </a:solidFill>
            <a:prstDash val="solid"/>
          </a:ln>
        </p:spPr>
      </p:sp>
      <p:sp>
        <p:nvSpPr>
          <p:cNvPr id="13" name="arch-accent-1">
            <a:extLst xmlns:a="http://schemas.openxmlformats.org/drawingml/2006/main">
              <a:ext uri="{FF2B5EF4-FFF2-40B4-BE49-F238E27FC236}">
                <a16:creationId xmlns:a16="http://schemas.microsoft.com/office/drawing/2014/main" id="{5FAE8D7C-9096-444C-8054-321145434B2B}"/>
              </a:ext>
            </a:extLst>
          </p:cNvPr>
          <p:cNvSpPr>
            <a:spLocks xmlns:a="http://schemas.openxmlformats.org/drawingml/2006/main" noGrp="1"/>
          </p:cNvSpPr>
          <p:nvPr/>
        </p:nvSpPr>
        <p:spPr>
          <a:xfrm xmlns:a="http://schemas.openxmlformats.org/drawingml/2006/main">
            <a:off x="3905250" y="2514600"/>
            <a:ext cx="457200" cy="5715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8A65D8-68CA-4935-86F6-96475A4D8BED}"/>
              </a:ext>
            </a:extLst>
          </p:cNvPr>
          <p:cNvSpPr>
            <a:spLocks xmlns:a="http://schemas.openxmlformats.org/drawingml/2006/main" noGrp="1"/>
          </p:cNvSpPr>
          <p:nvPr/>
        </p:nvSpPr>
        <p:spPr>
          <a:xfrm xmlns:a="http://schemas.openxmlformats.org/drawingml/2006/main">
            <a:off x="3905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QWEN BRAIN</a:t>
            </a:r>
          </a:p>
        </p:txBody>
      </p:sp>
      <p:sp>
        <p:nvSpPr>
          <p:cNvPr id="15" name="">
            <a:extLst xmlns:a="http://schemas.openxmlformats.org/drawingml/2006/main">
              <a:ext uri="{FF2B5EF4-FFF2-40B4-BE49-F238E27FC236}">
                <a16:creationId xmlns:a16="http://schemas.microsoft.com/office/drawing/2014/main" id="{CA5FCC16-F2B5-4DA4-ADF3-25DE3B13BF00}"/>
              </a:ext>
            </a:extLst>
          </p:cNvPr>
          <p:cNvSpPr>
            <a:spLocks xmlns:a="http://schemas.openxmlformats.org/drawingml/2006/main" noGrp="1"/>
          </p:cNvSpPr>
          <p:nvPr/>
        </p:nvSpPr>
        <p:spPr>
          <a:xfrm xmlns:a="http://schemas.openxmlformats.org/drawingml/2006/main">
            <a:off x="3905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Chat completions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tool_choice = auto</a:t>
            </a:r>
          </a:p>
        </p:txBody>
      </p:sp>
      <p:sp>
        <p:nvSpPr>
          <p:cNvPr id="16" name="">
            <a:extLst xmlns:a="http://schemas.openxmlformats.org/drawingml/2006/main">
              <a:ext uri="{FF2B5EF4-FFF2-40B4-BE49-F238E27FC236}">
                <a16:creationId xmlns:a16="http://schemas.microsoft.com/office/drawing/2014/main" id="{3F01A50B-AA64-47FE-B9F1-6D26B0B4F3D0}"/>
              </a:ext>
            </a:extLst>
          </p:cNvPr>
          <p:cNvSpPr>
            <a:spLocks xmlns:a="http://schemas.openxmlformats.org/drawingml/2006/main" noGrp="1"/>
          </p:cNvSpPr>
          <p:nvPr/>
        </p:nvSpPr>
        <p:spPr>
          <a:xfrm xmlns:a="http://schemas.openxmlformats.org/drawingml/2006/main">
            <a:off x="3905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vLLM API</a:t>
            </a:r>
          </a:p>
        </p:txBody>
      </p:sp>
      <p:sp>
        <p:nvSpPr>
          <p:cNvPr id="17" name="arch-node-2">
            <a:extLst xmlns:a="http://schemas.openxmlformats.org/drawingml/2006/main">
              <a:ext uri="{FF2B5EF4-FFF2-40B4-BE49-F238E27FC236}">
                <a16:creationId xmlns:a16="http://schemas.microsoft.com/office/drawing/2014/main" id="{6491FF05-824B-4425-B3B1-A8F955FE95A8}"/>
              </a:ext>
            </a:extLst>
          </p:cNvPr>
          <p:cNvSpPr>
            <a:spLocks xmlns:a="http://schemas.openxmlformats.org/drawingml/2006/main" noGrp="1"/>
          </p:cNvSpPr>
          <p:nvPr/>
        </p:nvSpPr>
        <p:spPr>
          <a:xfrm xmlns:a="http://schemas.openxmlformats.org/drawingml/2006/main">
            <a:off x="6762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FCD34D"/>
            </a:solidFill>
            <a:prstDash val="solid"/>
          </a:ln>
        </p:spPr>
      </p:sp>
      <p:sp>
        <p:nvSpPr>
          <p:cNvPr id="18" name="arch-accent-2">
            <a:extLst xmlns:a="http://schemas.openxmlformats.org/drawingml/2006/main">
              <a:ext uri="{FF2B5EF4-FFF2-40B4-BE49-F238E27FC236}">
                <a16:creationId xmlns:a16="http://schemas.microsoft.com/office/drawing/2014/main" id="{14C85F64-2B58-430D-BD49-D4856F4D5187}"/>
              </a:ext>
            </a:extLst>
          </p:cNvPr>
          <p:cNvSpPr>
            <a:spLocks xmlns:a="http://schemas.openxmlformats.org/drawingml/2006/main" noGrp="1"/>
          </p:cNvSpPr>
          <p:nvPr/>
        </p:nvSpPr>
        <p:spPr>
          <a:xfrm xmlns:a="http://schemas.openxmlformats.org/drawingml/2006/main">
            <a:off x="6953250" y="2514600"/>
            <a:ext cx="457200" cy="57150"/>
          </a:xfrm>
          <a:prstGeom xmlns:a="http://schemas.openxmlformats.org/drawingml/2006/main" prst="rect">
            <a:avLst/>
          </a:prstGeom>
          <a:solidFill xmlns:a="http://schemas.openxmlformats.org/drawingml/2006/main">
            <a:srgbClr val="FCD3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67B795A-F559-4F6C-ABED-085D3A1F310F}"/>
              </a:ext>
            </a:extLst>
          </p:cNvPr>
          <p:cNvSpPr>
            <a:spLocks xmlns:a="http://schemas.openxmlformats.org/drawingml/2006/main" noGrp="1"/>
          </p:cNvSpPr>
          <p:nvPr/>
        </p:nvSpPr>
        <p:spPr>
          <a:xfrm xmlns:a="http://schemas.openxmlformats.org/drawingml/2006/main">
            <a:off x="6953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TOOL REGISTRY</a:t>
            </a:r>
          </a:p>
        </p:txBody>
      </p:sp>
      <p:sp>
        <p:nvSpPr>
          <p:cNvPr id="20" name="">
            <a:extLst xmlns:a="http://schemas.openxmlformats.org/drawingml/2006/main">
              <a:ext uri="{FF2B5EF4-FFF2-40B4-BE49-F238E27FC236}">
                <a16:creationId xmlns:a16="http://schemas.microsoft.com/office/drawing/2014/main" id="{0D5744A8-2E33-426B-9D0F-61992688F17E}"/>
              </a:ext>
            </a:extLst>
          </p:cNvPr>
          <p:cNvSpPr>
            <a:spLocks xmlns:a="http://schemas.openxmlformats.org/drawingml/2006/main" noGrp="1"/>
          </p:cNvSpPr>
          <p:nvPr/>
        </p:nvSpPr>
        <p:spPr>
          <a:xfrm xmlns:a="http://schemas.openxmlformats.org/drawingml/2006/main">
            <a:off x="6953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Files • web • commands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background tasks</a:t>
            </a:r>
          </a:p>
        </p:txBody>
      </p:sp>
      <p:sp>
        <p:nvSpPr>
          <p:cNvPr id="21" name="">
            <a:extLst xmlns:a="http://schemas.openxmlformats.org/drawingml/2006/main">
              <a:ext uri="{FF2B5EF4-FFF2-40B4-BE49-F238E27FC236}">
                <a16:creationId xmlns:a16="http://schemas.microsoft.com/office/drawing/2014/main" id="{015FA5A4-A11D-4FAF-AEFA-F7B8E8C80103}"/>
              </a:ext>
            </a:extLst>
          </p:cNvPr>
          <p:cNvSpPr>
            <a:spLocks xmlns:a="http://schemas.openxmlformats.org/drawingml/2006/main" noGrp="1"/>
          </p:cNvSpPr>
          <p:nvPr/>
        </p:nvSpPr>
        <p:spPr>
          <a:xfrm xmlns:a="http://schemas.openxmlformats.org/drawingml/2006/main">
            <a:off x="6953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ME3 policy</a:t>
            </a:r>
          </a:p>
        </p:txBody>
      </p:sp>
      <p:sp>
        <p:nvSpPr>
          <p:cNvPr id="22" name="arch-node-3">
            <a:extLst xmlns:a="http://schemas.openxmlformats.org/drawingml/2006/main">
              <a:ext uri="{FF2B5EF4-FFF2-40B4-BE49-F238E27FC236}">
                <a16:creationId xmlns:a16="http://schemas.microsoft.com/office/drawing/2014/main" id="{3FB0F94E-F3EA-4B18-806A-447F1CC3EDE9}"/>
              </a:ext>
            </a:extLst>
          </p:cNvPr>
          <p:cNvSpPr>
            <a:spLocks xmlns:a="http://schemas.openxmlformats.org/drawingml/2006/main" noGrp="1"/>
          </p:cNvSpPr>
          <p:nvPr/>
        </p:nvSpPr>
        <p:spPr>
          <a:xfrm xmlns:a="http://schemas.openxmlformats.org/drawingml/2006/main">
            <a:off x="9810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A7F3D0"/>
            </a:solidFill>
            <a:prstDash val="solid"/>
          </a:ln>
        </p:spPr>
      </p:sp>
      <p:sp>
        <p:nvSpPr>
          <p:cNvPr id="23" name="arch-accent-3">
            <a:extLst xmlns:a="http://schemas.openxmlformats.org/drawingml/2006/main">
              <a:ext uri="{FF2B5EF4-FFF2-40B4-BE49-F238E27FC236}">
                <a16:creationId xmlns:a16="http://schemas.microsoft.com/office/drawing/2014/main" id="{E2DF5BDD-6525-437F-B8A2-879B599AABD2}"/>
              </a:ext>
            </a:extLst>
          </p:cNvPr>
          <p:cNvSpPr>
            <a:spLocks xmlns:a="http://schemas.openxmlformats.org/drawingml/2006/main" noGrp="1"/>
          </p:cNvSpPr>
          <p:nvPr/>
        </p:nvSpPr>
        <p:spPr>
          <a:xfrm xmlns:a="http://schemas.openxmlformats.org/drawingml/2006/main">
            <a:off x="10001250" y="2514600"/>
            <a:ext cx="457200" cy="57150"/>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0E64280-9F63-4798-9AEA-AB3574293DF4}"/>
              </a:ext>
            </a:extLst>
          </p:cNvPr>
          <p:cNvSpPr>
            <a:spLocks xmlns:a="http://schemas.openxmlformats.org/drawingml/2006/main" noGrp="1"/>
          </p:cNvSpPr>
          <p:nvPr/>
        </p:nvSpPr>
        <p:spPr>
          <a:xfrm xmlns:a="http://schemas.openxmlformats.org/drawingml/2006/main">
            <a:off x="10001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B147226F-A2A3-4360-9066-6DA20B5B7641}"/>
              </a:ext>
            </a:extLst>
          </p:cNvPr>
          <p:cNvSpPr>
            <a:spLocks xmlns:a="http://schemas.openxmlformats.org/drawingml/2006/main" noGrp="1"/>
          </p:cNvSpPr>
          <p:nvPr/>
        </p:nvSpPr>
        <p:spPr>
          <a:xfrm xmlns:a="http://schemas.openxmlformats.org/drawingml/2006/main">
            <a:off x="10001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 result →</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spoken response</a:t>
            </a:r>
          </a:p>
        </p:txBody>
      </p:sp>
      <p:sp>
        <p:nvSpPr>
          <p:cNvPr id="26" name="">
            <a:extLst xmlns:a="http://schemas.openxmlformats.org/drawingml/2006/main">
              <a:ext uri="{FF2B5EF4-FFF2-40B4-BE49-F238E27FC236}">
                <a16:creationId xmlns:a16="http://schemas.microsoft.com/office/drawing/2014/main" id="{61DC964D-012F-417D-8DBA-51B835192F44}"/>
              </a:ext>
            </a:extLst>
          </p:cNvPr>
          <p:cNvSpPr>
            <a:spLocks xmlns:a="http://schemas.openxmlformats.org/drawingml/2006/main" noGrp="1"/>
          </p:cNvSpPr>
          <p:nvPr/>
        </p:nvSpPr>
        <p:spPr>
          <a:xfrm xmlns:a="http://schemas.openxmlformats.org/drawingml/2006/main">
            <a:off x="10001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auditable</a:t>
            </a:r>
          </a:p>
        </p:txBody>
      </p:sp>
      <p:sp>
        <p:nvSpPr>
          <p:cNvPr id="27" name="arch-principle">
            <a:extLst xmlns:a="http://schemas.openxmlformats.org/drawingml/2006/main">
              <a:ext uri="{FF2B5EF4-FFF2-40B4-BE49-F238E27FC236}">
                <a16:creationId xmlns:a16="http://schemas.microsoft.com/office/drawing/2014/main" id="{5C86D9D2-530C-4403-8978-5DC4BC692E2E}"/>
              </a:ext>
            </a:extLst>
          </p:cNvPr>
          <p:cNvSpPr>
            <a:spLocks xmlns:a="http://schemas.openxmlformats.org/drawingml/2006/main" noGrp="1"/>
          </p:cNvSpPr>
          <p:nvPr/>
        </p:nvSpPr>
        <p:spPr>
          <a:xfrm xmlns:a="http://schemas.openxmlformats.org/drawingml/2006/main">
            <a:off x="1619250" y="4762500"/>
            <a:ext cx="8953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5940A13-8404-40E8-8936-6D0CFE88DCA4}"/>
              </a:ext>
            </a:extLst>
          </p:cNvPr>
          <p:cNvSpPr>
            <a:spLocks xmlns:a="http://schemas.openxmlformats.org/drawingml/2006/main" noGrp="1"/>
          </p:cNvSpPr>
          <p:nvPr/>
        </p:nvSpPr>
        <p:spPr>
          <a:xfrm xmlns:a="http://schemas.openxmlformats.org/drawingml/2006/main">
            <a:off x="1952625" y="495300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One bounded registry is shared by direct Qwen calls and MCP wrappers.</a:t>
            </a:r>
          </a:p>
        </p:txBody>
      </p:sp>
      <p:sp>
        <p:nvSpPr>
          <p:cNvPr id="29" name="">
            <a:extLst xmlns:a="http://schemas.openxmlformats.org/drawingml/2006/main">
              <a:ext uri="{FF2B5EF4-FFF2-40B4-BE49-F238E27FC236}">
                <a16:creationId xmlns:a16="http://schemas.microsoft.com/office/drawing/2014/main" id="{C11EBFFC-F1F3-455A-82FE-12A2E2CDBDFF}"/>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3/7</a:t>
            </a:r>
          </a:p>
        </p:txBody>
      </p:sp>
    </p:spTree>
    <p:extLst>
      <p:ext uri="{BB962C8B-B14F-4D97-AF65-F5344CB8AC3E}">
        <p14:creationId xmlns:p14="http://schemas.microsoft.com/office/powerpoint/2010/main" val="149787387"/>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4C1BF44-6EED-4607-B633-81FF214FECEE}"/>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TOOL CALL IN ACTION</a:t>
            </a:r>
          </a:p>
        </p:txBody>
      </p:sp>
      <p:sp>
        <p:nvSpPr>
          <p:cNvPr id="2" name="">
            <a:extLst xmlns:a="http://schemas.openxmlformats.org/drawingml/2006/main">
              <a:ext uri="{FF2B5EF4-FFF2-40B4-BE49-F238E27FC236}">
                <a16:creationId xmlns:a16="http://schemas.microsoft.com/office/drawing/2014/main" id="{DD67EF16-AF9F-474D-87D2-93EF87BF23FA}"/>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“Build a web app” is an executable request</a:t>
            </a:r>
          </a:p>
        </p:txBody>
      </p:sp>
      <p:sp>
        <p:nvSpPr>
          <p:cNvPr id="3" name="">
            <a:extLst xmlns:a="http://schemas.openxmlformats.org/drawingml/2006/main">
              <a:ext uri="{FF2B5EF4-FFF2-40B4-BE49-F238E27FC236}">
                <a16:creationId xmlns:a16="http://schemas.microsoft.com/office/drawing/2014/main" id="{85966FC0-8D8C-43D9-B17D-00BCA858C6CC}"/>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same loop can start from text; the voice path connects to the Pi audio pipeline.</a:t>
            </a:r>
          </a:p>
        </p:txBody>
      </p:sp>
      <p:sp>
        <p:nvSpPr>
          <p:cNvPr id="4" name="webapp-request">
            <a:extLst xmlns:a="http://schemas.openxmlformats.org/drawingml/2006/main">
              <a:ext uri="{FF2B5EF4-FFF2-40B4-BE49-F238E27FC236}">
                <a16:creationId xmlns:a16="http://schemas.microsoft.com/office/drawing/2014/main" id="{FCD792D2-276B-446B-B6C3-9AD1058F4889}"/>
              </a:ext>
            </a:extLst>
          </p:cNvPr>
          <p:cNvSpPr>
            <a:spLocks xmlns:a="http://schemas.openxmlformats.org/drawingml/2006/main" noGrp="1"/>
          </p:cNvSpPr>
          <p:nvPr/>
        </p:nvSpPr>
        <p:spPr>
          <a:xfrm xmlns:a="http://schemas.openxmlformats.org/drawingml/2006/main">
            <a:off x="666750" y="2095500"/>
            <a:ext cx="2762250" cy="2857500"/>
          </a:xfrm>
          <a:prstGeom xmlns:a="http://schemas.openxmlformats.org/drawingml/2006/main" prst="roundRect">
            <a:avLst>
              <a:gd name="adj" fmla="val 4138"/>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821AB31E-863C-4563-8523-30EF780A5531}"/>
              </a:ext>
            </a:extLst>
          </p:cNvPr>
          <p:cNvSpPr>
            <a:spLocks xmlns:a="http://schemas.openxmlformats.org/drawingml/2006/main" noGrp="1"/>
          </p:cNvSpPr>
          <p:nvPr/>
        </p:nvSpPr>
        <p:spPr>
          <a:xfrm xmlns:a="http://schemas.openxmlformats.org/drawingml/2006/main">
            <a:off x="93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VOICE REQUEST</a:t>
            </a:r>
          </a:p>
        </p:txBody>
      </p:sp>
      <p:sp>
        <p:nvSpPr>
          <p:cNvPr id="6" name="">
            <a:extLst xmlns:a="http://schemas.openxmlformats.org/drawingml/2006/main">
              <a:ext uri="{FF2B5EF4-FFF2-40B4-BE49-F238E27FC236}">
                <a16:creationId xmlns:a16="http://schemas.microsoft.com/office/drawing/2014/main" id="{224484A1-BFC7-4BE9-88E3-D7FC56936421}"/>
              </a:ext>
            </a:extLst>
          </p:cNvPr>
          <p:cNvSpPr>
            <a:spLocks xmlns:a="http://schemas.openxmlformats.org/drawingml/2006/main" noGrp="1"/>
          </p:cNvSpPr>
          <p:nvPr/>
        </p:nvSpPr>
        <p:spPr>
          <a:xfrm xmlns:a="http://schemas.openxmlformats.org/drawingml/2006/main">
            <a:off x="933450" y="28384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FAFC"/>
                </a:solidFill>
                <a:latin typeface="Arial"/>
                <a:ea typeface="Arial"/>
                <a:cs typeface="Arial"/>
              </a:defRPr>
            </a:defPPr>
            <a:lvl1pPr>
              <a:defRPr sz="2400" b="1">
                <a:solidFill>
                  <a:srgbClr val="F7FAFC"/>
                </a:solidFill>
                <a:latin typeface="Arial"/>
                <a:ea typeface="Arial"/>
                <a:cs typeface="Arial"/>
              </a:defRPr>
            </a:lvl1pPr>
            <a:lvl2pPr>
              <a:defRPr sz="2400" b="1">
                <a:solidFill>
                  <a:srgbClr val="F7FAFC"/>
                </a:solidFill>
                <a:latin typeface="Arial"/>
                <a:ea typeface="Arial"/>
                <a:cs typeface="Arial"/>
              </a:defRPr>
            </a:lvl2pPr>
            <a:lvl3pPr>
              <a:defRPr sz="2400" b="1">
                <a:solidFill>
                  <a:srgbClr val="F7FAFC"/>
                </a:solidFill>
                <a:latin typeface="Arial"/>
                <a:ea typeface="Arial"/>
                <a:cs typeface="Arial"/>
              </a:defRPr>
            </a:lvl3pPr>
            <a:lvl4pPr>
              <a:defRPr sz="2400" b="1">
                <a:solidFill>
                  <a:srgbClr val="F7FAFC"/>
                </a:solidFill>
                <a:latin typeface="Arial"/>
                <a:ea typeface="Arial"/>
                <a:cs typeface="Arial"/>
              </a:defRPr>
            </a:lvl4pPr>
            <a:lvl5pPr>
              <a:defRPr sz="2400" b="1">
                <a:solidFill>
                  <a:srgbClr val="F7FAFC"/>
                </a:solidFill>
                <a:latin typeface="Arial"/>
                <a:ea typeface="Arial"/>
                <a:cs typeface="Arial"/>
              </a:defRPr>
            </a:lvl5pPr>
            <a:lvl6pPr>
              <a:defRPr sz="2400" b="1">
                <a:solidFill>
                  <a:srgbClr val="F7FAFC"/>
                </a:solidFill>
                <a:latin typeface="Arial"/>
                <a:ea typeface="Arial"/>
                <a:cs typeface="Arial"/>
              </a:defRPr>
            </a:lvl6pPr>
            <a:lvl7pPr>
              <a:defRPr sz="2400" b="1">
                <a:solidFill>
                  <a:srgbClr val="F7FAFC"/>
                </a:solidFill>
                <a:latin typeface="Arial"/>
                <a:ea typeface="Arial"/>
                <a:cs typeface="Arial"/>
              </a:defRPr>
            </a:lvl7pPr>
            <a:lvl8pPr>
              <a:defRPr sz="2400" b="1">
                <a:solidFill>
                  <a:srgbClr val="F7FAFC"/>
                </a:solidFill>
                <a:latin typeface="Arial"/>
                <a:ea typeface="Arial"/>
                <a:cs typeface="Arial"/>
              </a:defRPr>
            </a:lvl8pPr>
            <a:lvl9pPr>
              <a:defRPr sz="2400" b="1">
                <a:solidFill>
                  <a:srgbClr val="F7FAFC"/>
                </a:solidFill>
                <a:latin typeface="Arial"/>
                <a:ea typeface="Arial"/>
                <a:cs typeface="Arial"/>
              </a:defRPr>
            </a:lvl9pPr>
          </a:lstStyle>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“Build a</a:t>
            </a:r>
          </a:p>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web app.”</a:t>
            </a:r>
          </a:p>
        </p:txBody>
      </p:sp>
      <p:sp>
        <p:nvSpPr>
          <p:cNvPr id="7" name="">
            <a:extLst xmlns:a="http://schemas.openxmlformats.org/drawingml/2006/main">
              <a:ext uri="{FF2B5EF4-FFF2-40B4-BE49-F238E27FC236}">
                <a16:creationId xmlns:a16="http://schemas.microsoft.com/office/drawing/2014/main" id="{BE7C7D02-428E-45FE-9803-8776F4F99AC1}"/>
              </a:ext>
            </a:extLst>
          </p:cNvPr>
          <p:cNvSpPr>
            <a:spLocks xmlns:a="http://schemas.openxmlformats.org/drawingml/2006/main" noGrp="1"/>
          </p:cNvSpPr>
          <p:nvPr/>
        </p:nvSpPr>
        <p:spPr>
          <a:xfrm xmlns:a="http://schemas.openxmlformats.org/drawingml/2006/main">
            <a:off x="933450" y="4095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Qwen turns intent</a:t>
            </a:r>
          </a:p>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into tool calls.</a:t>
            </a:r>
          </a:p>
        </p:txBody>
      </p:sp>
      <p:cxnSp>
        <p:nvCxnSpPr>
          <p:cNvPr id="8" name="webapp-to-calls">
            <a:extLst xmlns:a="http://schemas.openxmlformats.org/drawingml/2006/main">
              <a:ext uri="{FF2B5EF4-FFF2-40B4-BE49-F238E27FC236}">
                <a16:creationId xmlns:a16="http://schemas.microsoft.com/office/drawing/2014/main" id="{966B2A32-4D42-44A3-926C-65CB4FACE16F}"/>
              </a:ext>
            </a:extLst>
          </p:cNvPr>
          <p:cNvCxnSpPr/>
          <p:nvPr/>
        </p:nvCxnSpPr>
        <p:spPr>
          <a:xfrm xmlns:a="http://schemas.openxmlformats.org/drawingml/2006/main">
            <a:off x="3429000" y="3486150"/>
            <a:ext cx="61912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sp>
        <p:nvSpPr>
          <p:cNvPr id="9" name="webapp-calls">
            <a:extLst xmlns:a="http://schemas.openxmlformats.org/drawingml/2006/main">
              <a:ext uri="{FF2B5EF4-FFF2-40B4-BE49-F238E27FC236}">
                <a16:creationId xmlns:a16="http://schemas.microsoft.com/office/drawing/2014/main" id="{4C10F48D-8287-438C-A895-D02325654379}"/>
              </a:ext>
            </a:extLst>
          </p:cNvPr>
          <p:cNvSpPr>
            <a:spLocks xmlns:a="http://schemas.openxmlformats.org/drawingml/2006/main" noGrp="1"/>
          </p:cNvSpPr>
          <p:nvPr/>
        </p:nvSpPr>
        <p:spPr>
          <a:xfrm xmlns:a="http://schemas.openxmlformats.org/drawingml/2006/main">
            <a:off x="4191000" y="2095500"/>
            <a:ext cx="333375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60A5FA"/>
            </a:solidFill>
            <a:prstDash val="solid"/>
          </a:ln>
        </p:spPr>
      </p:sp>
      <p:sp>
        <p:nvSpPr>
          <p:cNvPr id="10" name="">
            <a:extLst xmlns:a="http://schemas.openxmlformats.org/drawingml/2006/main">
              <a:ext uri="{FF2B5EF4-FFF2-40B4-BE49-F238E27FC236}">
                <a16:creationId xmlns:a16="http://schemas.microsoft.com/office/drawing/2014/main" id="{7BAECDC7-C221-402F-A128-742AF92B9E82}"/>
              </a:ext>
            </a:extLst>
          </p:cNvPr>
          <p:cNvSpPr>
            <a:spLocks xmlns:a="http://schemas.openxmlformats.org/drawingml/2006/main" noGrp="1"/>
          </p:cNvSpPr>
          <p:nvPr/>
        </p:nvSpPr>
        <p:spPr>
          <a:xfrm xmlns:a="http://schemas.openxmlformats.org/drawingml/2006/main">
            <a:off x="445770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TOOL LOOP</a:t>
            </a:r>
          </a:p>
        </p:txBody>
      </p:sp>
      <p:sp>
        <p:nvSpPr>
          <p:cNvPr id="11" name="">
            <a:extLst xmlns:a="http://schemas.openxmlformats.org/drawingml/2006/main">
              <a:ext uri="{FF2B5EF4-FFF2-40B4-BE49-F238E27FC236}">
                <a16:creationId xmlns:a16="http://schemas.microsoft.com/office/drawing/2014/main" id="{5BDD0B6E-7F6F-4105-9CDA-B0F8B6ED125B}"/>
              </a:ext>
            </a:extLst>
          </p:cNvPr>
          <p:cNvSpPr>
            <a:spLocks xmlns:a="http://schemas.openxmlformats.org/drawingml/2006/main" noGrp="1"/>
          </p:cNvSpPr>
          <p:nvPr/>
        </p:nvSpPr>
        <p:spPr>
          <a:xfrm xmlns:a="http://schemas.openxmlformats.org/drawingml/2006/main">
            <a:off x="4457700" y="28575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7FAFC"/>
                </a:solidFill>
                <a:latin typeface="Arial"/>
                <a:ea typeface="Arial"/>
                <a:cs typeface="Arial"/>
              </a:defRPr>
            </a:defPPr>
            <a:lvl1pPr>
              <a:defRPr sz="1800" b="1">
                <a:solidFill>
                  <a:srgbClr val="F7FAFC"/>
                </a:solidFill>
                <a:latin typeface="Arial"/>
                <a:ea typeface="Arial"/>
                <a:cs typeface="Arial"/>
              </a:defRPr>
            </a:lvl1pPr>
            <a:lvl2pPr>
              <a:defRPr sz="1800" b="1">
                <a:solidFill>
                  <a:srgbClr val="F7FAFC"/>
                </a:solidFill>
                <a:latin typeface="Arial"/>
                <a:ea typeface="Arial"/>
                <a:cs typeface="Arial"/>
              </a:defRPr>
            </a:lvl2pPr>
            <a:lvl3pPr>
              <a:defRPr sz="1800" b="1">
                <a:solidFill>
                  <a:srgbClr val="F7FAFC"/>
                </a:solidFill>
                <a:latin typeface="Arial"/>
                <a:ea typeface="Arial"/>
                <a:cs typeface="Arial"/>
              </a:defRPr>
            </a:lvl3pPr>
            <a:lvl4pPr>
              <a:defRPr sz="1800" b="1">
                <a:solidFill>
                  <a:srgbClr val="F7FAFC"/>
                </a:solidFill>
                <a:latin typeface="Arial"/>
                <a:ea typeface="Arial"/>
                <a:cs typeface="Arial"/>
              </a:defRPr>
            </a:lvl4pPr>
            <a:lvl5pPr>
              <a:defRPr sz="1800" b="1">
                <a:solidFill>
                  <a:srgbClr val="F7FAFC"/>
                </a:solidFill>
                <a:latin typeface="Arial"/>
                <a:ea typeface="Arial"/>
                <a:cs typeface="Arial"/>
              </a:defRPr>
            </a:lvl5pPr>
            <a:lvl6pPr>
              <a:defRPr sz="1800" b="1">
                <a:solidFill>
                  <a:srgbClr val="F7FAFC"/>
                </a:solidFill>
                <a:latin typeface="Arial"/>
                <a:ea typeface="Arial"/>
                <a:cs typeface="Arial"/>
              </a:defRPr>
            </a:lvl6pPr>
            <a:lvl7pPr>
              <a:defRPr sz="1800" b="1">
                <a:solidFill>
                  <a:srgbClr val="F7FAFC"/>
                </a:solidFill>
                <a:latin typeface="Arial"/>
                <a:ea typeface="Arial"/>
                <a:cs typeface="Arial"/>
              </a:defRPr>
            </a:lvl7pPr>
            <a:lvl8pPr>
              <a:defRPr sz="1800" b="1">
                <a:solidFill>
                  <a:srgbClr val="F7FAFC"/>
                </a:solidFill>
                <a:latin typeface="Arial"/>
                <a:ea typeface="Arial"/>
                <a:cs typeface="Arial"/>
              </a:defRPr>
            </a:lvl8pPr>
            <a:lvl9pPr>
              <a:defRPr sz="1800" b="1">
                <a:solidFill>
                  <a:srgbClr val="F7FAFC"/>
                </a:solidFill>
                <a:latin typeface="Arial"/>
                <a:ea typeface="Arial"/>
                <a:cs typeface="Arial"/>
              </a:defRPr>
            </a:lvl9pPr>
          </a:lstStyle>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list_files</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write_file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read_file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run_command</a:t>
            </a:r>
          </a:p>
        </p:txBody>
      </p:sp>
      <p:sp>
        <p:nvSpPr>
          <p:cNvPr id="12" name="">
            <a:extLst xmlns:a="http://schemas.openxmlformats.org/drawingml/2006/main">
              <a:ext uri="{FF2B5EF4-FFF2-40B4-BE49-F238E27FC236}">
                <a16:creationId xmlns:a16="http://schemas.microsoft.com/office/drawing/2014/main" id="{4B9ADE9A-4CC9-4605-BF4C-75FE4EA9D7FC}"/>
              </a:ext>
            </a:extLst>
          </p:cNvPr>
          <p:cNvSpPr>
            <a:spLocks xmlns:a="http://schemas.openxmlformats.org/drawingml/2006/main" noGrp="1"/>
          </p:cNvSpPr>
          <p:nvPr/>
        </p:nvSpPr>
        <p:spPr>
          <a:xfrm xmlns:a="http://schemas.openxmlformats.org/drawingml/2006/main">
            <a:off x="4457700" y="4438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Each call returns JSON evidence.</a:t>
            </a:r>
          </a:p>
        </p:txBody>
      </p:sp>
      <p:cxnSp>
        <p:nvCxnSpPr>
          <p:cNvPr id="13" name="calls-to-files">
            <a:extLst xmlns:a="http://schemas.openxmlformats.org/drawingml/2006/main">
              <a:ext uri="{FF2B5EF4-FFF2-40B4-BE49-F238E27FC236}">
                <a16:creationId xmlns:a16="http://schemas.microsoft.com/office/drawing/2014/main" id="{7CB957E2-FA0D-40D3-85F1-64BD34A867A4}"/>
              </a:ext>
            </a:extLst>
          </p:cNvPr>
          <p:cNvCxnSpPr/>
          <p:nvPr/>
        </p:nvCxnSpPr>
        <p:spPr>
          <a:xfrm xmlns:a="http://schemas.openxmlformats.org/drawingml/2006/main">
            <a:off x="7524750" y="3486150"/>
            <a:ext cx="61912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sp>
        <p:nvSpPr>
          <p:cNvPr id="14" name="webapp-result">
            <a:extLst xmlns:a="http://schemas.openxmlformats.org/drawingml/2006/main">
              <a:ext uri="{FF2B5EF4-FFF2-40B4-BE49-F238E27FC236}">
                <a16:creationId xmlns:a16="http://schemas.microsoft.com/office/drawing/2014/main" id="{0BB6DC1D-419D-4CBE-B0A4-F1DECC718E55}"/>
              </a:ext>
            </a:extLst>
          </p:cNvPr>
          <p:cNvSpPr>
            <a:spLocks xmlns:a="http://schemas.openxmlformats.org/drawingml/2006/main" noGrp="1"/>
          </p:cNvSpPr>
          <p:nvPr/>
        </p:nvSpPr>
        <p:spPr>
          <a:xfrm xmlns:a="http://schemas.openxmlformats.org/drawingml/2006/main">
            <a:off x="8286750" y="2095500"/>
            <a:ext cx="323850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A7F3D0"/>
            </a:solidFill>
            <a:prstDash val="solid"/>
          </a:ln>
        </p:spPr>
      </p:sp>
      <p:sp>
        <p:nvSpPr>
          <p:cNvPr id="15" name="">
            <a:extLst xmlns:a="http://schemas.openxmlformats.org/drawingml/2006/main">
              <a:ext uri="{FF2B5EF4-FFF2-40B4-BE49-F238E27FC236}">
                <a16:creationId xmlns:a16="http://schemas.microsoft.com/office/drawing/2014/main" id="{61463916-F339-4A3C-8619-EB9A112ED39D}"/>
              </a:ext>
            </a:extLst>
          </p:cNvPr>
          <p:cNvSpPr>
            <a:spLocks xmlns:a="http://schemas.openxmlformats.org/drawingml/2006/main" noGrp="1"/>
          </p:cNvSpPr>
          <p:nvPr/>
        </p:nvSpPr>
        <p:spPr>
          <a:xfrm xmlns:a="http://schemas.openxmlformats.org/drawingml/2006/main">
            <a:off x="855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PROJECT RESULT</a:t>
            </a:r>
          </a:p>
        </p:txBody>
      </p:sp>
      <p:sp>
        <p:nvSpPr>
          <p:cNvPr id="16" name="">
            <a:extLst xmlns:a="http://schemas.openxmlformats.org/drawingml/2006/main">
              <a:ext uri="{FF2B5EF4-FFF2-40B4-BE49-F238E27FC236}">
                <a16:creationId xmlns:a16="http://schemas.microsoft.com/office/drawing/2014/main" id="{80E4B4D8-BB9B-474D-B877-1092183344C4}"/>
              </a:ext>
            </a:extLst>
          </p:cNvPr>
          <p:cNvSpPr>
            <a:spLocks xmlns:a="http://schemas.openxmlformats.org/drawingml/2006/main" noGrp="1"/>
          </p:cNvSpPr>
          <p:nvPr/>
        </p:nvSpPr>
        <p:spPr>
          <a:xfrm xmlns:a="http://schemas.openxmlformats.org/drawingml/2006/main">
            <a:off x="8553450" y="281940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agent_workspace/</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voice_webapp/</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index.html</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styles.css</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app.js</a:t>
            </a:r>
          </a:p>
        </p:txBody>
      </p:sp>
      <p:sp>
        <p:nvSpPr>
          <p:cNvPr id="17" name="">
            <a:extLst xmlns:a="http://schemas.openxmlformats.org/drawingml/2006/main">
              <a:ext uri="{FF2B5EF4-FFF2-40B4-BE49-F238E27FC236}">
                <a16:creationId xmlns:a16="http://schemas.microsoft.com/office/drawing/2014/main" id="{B78AA081-25DD-4FC2-B4FE-87CD3F32558A}"/>
              </a:ext>
            </a:extLst>
          </p:cNvPr>
          <p:cNvSpPr>
            <a:spLocks xmlns:a="http://schemas.openxmlformats.org/drawingml/2006/main" noGrp="1"/>
          </p:cNvSpPr>
          <p:nvPr/>
        </p:nvSpPr>
        <p:spPr>
          <a:xfrm xmlns:a="http://schemas.openxmlformats.org/drawingml/2006/main">
            <a:off x="8553450" y="44577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Verified by a later list + read pass.</a:t>
            </a:r>
          </a:p>
        </p:txBody>
      </p:sp>
      <p:sp>
        <p:nvSpPr>
          <p:cNvPr id="18" name="">
            <a:extLst xmlns:a="http://schemas.openxmlformats.org/drawingml/2006/main">
              <a:ext uri="{FF2B5EF4-FFF2-40B4-BE49-F238E27FC236}">
                <a16:creationId xmlns:a16="http://schemas.microsoft.com/office/drawing/2014/main" id="{A14722F0-3E6B-4645-9449-EE672CEE7D6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4/7</a:t>
            </a:r>
          </a:p>
        </p:txBody>
      </p:sp>
    </p:spTree>
    <p:extLst>
      <p:ext uri="{BB962C8B-B14F-4D97-AF65-F5344CB8AC3E}">
        <p14:creationId xmlns:p14="http://schemas.microsoft.com/office/powerpoint/2010/main" val="682042465"/>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088C88D-9B31-4C61-8E04-CB2FFBA35A4C}"/>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CAPABILITY BOUNDARY</a:t>
            </a:r>
          </a:p>
        </p:txBody>
      </p:sp>
      <p:sp>
        <p:nvSpPr>
          <p:cNvPr id="2" name="">
            <a:extLst xmlns:a="http://schemas.openxmlformats.org/drawingml/2006/main">
              <a:ext uri="{FF2B5EF4-FFF2-40B4-BE49-F238E27FC236}">
                <a16:creationId xmlns:a16="http://schemas.microsoft.com/office/drawing/2014/main" id="{61611C95-B259-4BD3-9219-948E8E397ED8}"/>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Onit-like usefulness through typed, reviewable tools</a:t>
            </a:r>
          </a:p>
        </p:txBody>
      </p:sp>
      <p:sp>
        <p:nvSpPr>
          <p:cNvPr id="3" name="">
            <a:extLst xmlns:a="http://schemas.openxmlformats.org/drawingml/2006/main">
              <a:ext uri="{FF2B5EF4-FFF2-40B4-BE49-F238E27FC236}">
                <a16:creationId xmlns:a16="http://schemas.microsoft.com/office/drawing/2014/main" id="{157BAC4B-F434-4764-AAC7-F65ECCA9F0A3}"/>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Broad task coverage, with a safer default surface for an always-listening device.</a:t>
            </a:r>
          </a:p>
        </p:txBody>
      </p:sp>
      <p:sp>
        <p:nvSpPr>
          <p:cNvPr id="4" name="cap-left-0">
            <a:extLst xmlns:a="http://schemas.openxmlformats.org/drawingml/2006/main">
              <a:ext uri="{FF2B5EF4-FFF2-40B4-BE49-F238E27FC236}">
                <a16:creationId xmlns:a16="http://schemas.microsoft.com/office/drawing/2014/main" id="{E5B88BE9-5B33-4A76-9D24-C9655F40BEBD}"/>
              </a:ext>
            </a:extLst>
          </p:cNvPr>
          <p:cNvSpPr>
            <a:spLocks xmlns:a="http://schemas.openxmlformats.org/drawingml/2006/main" noGrp="1"/>
          </p:cNvSpPr>
          <p:nvPr/>
        </p:nvSpPr>
        <p:spPr>
          <a:xfrm xmlns:a="http://schemas.openxmlformats.org/drawingml/2006/main">
            <a:off x="762000" y="20383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68FC7B51-D85B-4A8B-8D1F-EADDDBB31FBF}"/>
              </a:ext>
            </a:extLst>
          </p:cNvPr>
          <p:cNvSpPr>
            <a:spLocks xmlns:a="http://schemas.openxmlformats.org/drawingml/2006/main" noGrp="1"/>
          </p:cNvSpPr>
          <p:nvPr/>
        </p:nvSpPr>
        <p:spPr>
          <a:xfrm xmlns:a="http://schemas.openxmlformats.org/drawingml/2006/main">
            <a:off x="971550" y="21336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EEAD4"/>
                </a:solidFill>
                <a:latin typeface="Arial"/>
                <a:ea typeface="Arial"/>
                <a:cs typeface="Arial"/>
              </a:defRPr>
            </a:defPPr>
            <a:lvl1pPr>
              <a:defRPr sz="1350" b="1">
                <a:solidFill>
                  <a:srgbClr val="5EEAD4"/>
                </a:solidFill>
                <a:latin typeface="Arial"/>
                <a:ea typeface="Arial"/>
                <a:cs typeface="Arial"/>
              </a:defRPr>
            </a:lvl1pPr>
            <a:lvl2pPr>
              <a:defRPr sz="1350" b="1">
                <a:solidFill>
                  <a:srgbClr val="5EEAD4"/>
                </a:solidFill>
                <a:latin typeface="Arial"/>
                <a:ea typeface="Arial"/>
                <a:cs typeface="Arial"/>
              </a:defRPr>
            </a:lvl2pPr>
            <a:lvl3pPr>
              <a:defRPr sz="1350" b="1">
                <a:solidFill>
                  <a:srgbClr val="5EEAD4"/>
                </a:solidFill>
                <a:latin typeface="Arial"/>
                <a:ea typeface="Arial"/>
                <a:cs typeface="Arial"/>
              </a:defRPr>
            </a:lvl3pPr>
            <a:lvl4pPr>
              <a:defRPr sz="1350" b="1">
                <a:solidFill>
                  <a:srgbClr val="5EEAD4"/>
                </a:solidFill>
                <a:latin typeface="Arial"/>
                <a:ea typeface="Arial"/>
                <a:cs typeface="Arial"/>
              </a:defRPr>
            </a:lvl4pPr>
            <a:lvl5pPr>
              <a:defRPr sz="1350" b="1">
                <a:solidFill>
                  <a:srgbClr val="5EEAD4"/>
                </a:solidFill>
                <a:latin typeface="Arial"/>
                <a:ea typeface="Arial"/>
                <a:cs typeface="Arial"/>
              </a:defRPr>
            </a:lvl5pPr>
            <a:lvl6pPr>
              <a:defRPr sz="1350" b="1">
                <a:solidFill>
                  <a:srgbClr val="5EEAD4"/>
                </a:solidFill>
                <a:latin typeface="Arial"/>
                <a:ea typeface="Arial"/>
                <a:cs typeface="Arial"/>
              </a:defRPr>
            </a:lvl6pPr>
            <a:lvl7pPr>
              <a:defRPr sz="1350" b="1">
                <a:solidFill>
                  <a:srgbClr val="5EEAD4"/>
                </a:solidFill>
                <a:latin typeface="Arial"/>
                <a:ea typeface="Arial"/>
                <a:cs typeface="Arial"/>
              </a:defRPr>
            </a:lvl7pPr>
            <a:lvl8pPr>
              <a:defRPr sz="1350" b="1">
                <a:solidFill>
                  <a:srgbClr val="5EEAD4"/>
                </a:solidFill>
                <a:latin typeface="Arial"/>
                <a:ea typeface="Arial"/>
                <a:cs typeface="Arial"/>
              </a:defRPr>
            </a:lvl8pPr>
            <a:lvl9pPr>
              <a:defRPr sz="1350" b="1">
                <a:solidFill>
                  <a:srgbClr val="5EEAD4"/>
                </a:solidFill>
                <a:latin typeface="Arial"/>
                <a:ea typeface="Arial"/>
                <a:cs typeface="Arial"/>
              </a:defRPr>
            </a:lvl9pPr>
          </a:lstStyle>
          <a:p xmlns:a="http://schemas.openxmlformats.org/drawingml/2006/main">
            <a:pPr>
              <a:defRPr sz="1350" b="1">
                <a:solidFill>
                  <a:srgbClr val="5EEAD4"/>
                </a:solidFill>
                <a:latin typeface="Arial"/>
                <a:ea typeface="Arial"/>
                <a:cs typeface="Arial"/>
              </a:defRPr>
            </a:pPr>
            <a:r>
              <a:rPr sz="1350" b="1">
                <a:solidFill>
                  <a:srgbClr val="5EEAD4"/>
                </a:solidFill>
                <a:latin typeface="Arial"/>
                <a:ea typeface="Arial"/>
                <a:cs typeface="Arial"/>
              </a:rPr>
              <a:t>Conversation</a:t>
            </a:r>
          </a:p>
        </p:txBody>
      </p:sp>
      <p:sp>
        <p:nvSpPr>
          <p:cNvPr id="6" name="">
            <a:extLst xmlns:a="http://schemas.openxmlformats.org/drawingml/2006/main">
              <a:ext uri="{FF2B5EF4-FFF2-40B4-BE49-F238E27FC236}">
                <a16:creationId xmlns:a16="http://schemas.microsoft.com/office/drawing/2014/main" id="{B12B8EC3-238F-47F7-B52A-79664E977368}"/>
              </a:ext>
            </a:extLst>
          </p:cNvPr>
          <p:cNvSpPr>
            <a:spLocks xmlns:a="http://schemas.openxmlformats.org/drawingml/2006/main" noGrp="1"/>
          </p:cNvSpPr>
          <p:nvPr/>
        </p:nvSpPr>
        <p:spPr>
          <a:xfrm xmlns:a="http://schemas.openxmlformats.org/drawingml/2006/main">
            <a:off x="2952750" y="21336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Qwen chat + multi-step tool loop</a:t>
            </a:r>
          </a:p>
        </p:txBody>
      </p:sp>
      <p:sp>
        <p:nvSpPr>
          <p:cNvPr id="7" name="cap-left-1">
            <a:extLst xmlns:a="http://schemas.openxmlformats.org/drawingml/2006/main">
              <a:ext uri="{FF2B5EF4-FFF2-40B4-BE49-F238E27FC236}">
                <a16:creationId xmlns:a16="http://schemas.microsoft.com/office/drawing/2014/main" id="{87461CFA-7F45-454C-80B9-B0B0C0FBC418}"/>
              </a:ext>
            </a:extLst>
          </p:cNvPr>
          <p:cNvSpPr>
            <a:spLocks xmlns:a="http://schemas.openxmlformats.org/drawingml/2006/main" noGrp="1"/>
          </p:cNvSpPr>
          <p:nvPr/>
        </p:nvSpPr>
        <p:spPr>
          <a:xfrm xmlns:a="http://schemas.openxmlformats.org/drawingml/2006/main">
            <a:off x="762000" y="26479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BAD9CC50-AB06-4826-88FB-2A19F8F63476}"/>
              </a:ext>
            </a:extLst>
          </p:cNvPr>
          <p:cNvSpPr>
            <a:spLocks xmlns:a="http://schemas.openxmlformats.org/drawingml/2006/main" noGrp="1"/>
          </p:cNvSpPr>
          <p:nvPr/>
        </p:nvSpPr>
        <p:spPr>
          <a:xfrm xmlns:a="http://schemas.openxmlformats.org/drawingml/2006/main">
            <a:off x="971550" y="27432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60A5FA"/>
                </a:solidFill>
                <a:latin typeface="Arial"/>
                <a:ea typeface="Arial"/>
                <a:cs typeface="Arial"/>
              </a:defRPr>
            </a:defPPr>
            <a:lvl1pPr>
              <a:defRPr sz="1350" b="1">
                <a:solidFill>
                  <a:srgbClr val="60A5FA"/>
                </a:solidFill>
                <a:latin typeface="Arial"/>
                <a:ea typeface="Arial"/>
                <a:cs typeface="Arial"/>
              </a:defRPr>
            </a:lvl1pPr>
            <a:lvl2pPr>
              <a:defRPr sz="1350" b="1">
                <a:solidFill>
                  <a:srgbClr val="60A5FA"/>
                </a:solidFill>
                <a:latin typeface="Arial"/>
                <a:ea typeface="Arial"/>
                <a:cs typeface="Arial"/>
              </a:defRPr>
            </a:lvl2pPr>
            <a:lvl3pPr>
              <a:defRPr sz="1350" b="1">
                <a:solidFill>
                  <a:srgbClr val="60A5FA"/>
                </a:solidFill>
                <a:latin typeface="Arial"/>
                <a:ea typeface="Arial"/>
                <a:cs typeface="Arial"/>
              </a:defRPr>
            </a:lvl3pPr>
            <a:lvl4pPr>
              <a:defRPr sz="1350" b="1">
                <a:solidFill>
                  <a:srgbClr val="60A5FA"/>
                </a:solidFill>
                <a:latin typeface="Arial"/>
                <a:ea typeface="Arial"/>
                <a:cs typeface="Arial"/>
              </a:defRPr>
            </a:lvl4pPr>
            <a:lvl5pPr>
              <a:defRPr sz="1350" b="1">
                <a:solidFill>
                  <a:srgbClr val="60A5FA"/>
                </a:solidFill>
                <a:latin typeface="Arial"/>
                <a:ea typeface="Arial"/>
                <a:cs typeface="Arial"/>
              </a:defRPr>
            </a:lvl5pPr>
            <a:lvl6pPr>
              <a:defRPr sz="1350" b="1">
                <a:solidFill>
                  <a:srgbClr val="60A5FA"/>
                </a:solidFill>
                <a:latin typeface="Arial"/>
                <a:ea typeface="Arial"/>
                <a:cs typeface="Arial"/>
              </a:defRPr>
            </a:lvl6pPr>
            <a:lvl7pPr>
              <a:defRPr sz="1350" b="1">
                <a:solidFill>
                  <a:srgbClr val="60A5FA"/>
                </a:solidFill>
                <a:latin typeface="Arial"/>
                <a:ea typeface="Arial"/>
                <a:cs typeface="Arial"/>
              </a:defRPr>
            </a:lvl7pPr>
            <a:lvl8pPr>
              <a:defRPr sz="1350" b="1">
                <a:solidFill>
                  <a:srgbClr val="60A5FA"/>
                </a:solidFill>
                <a:latin typeface="Arial"/>
                <a:ea typeface="Arial"/>
                <a:cs typeface="Arial"/>
              </a:defRPr>
            </a:lvl8pPr>
            <a:lvl9pPr>
              <a:defRPr sz="1350" b="1">
                <a:solidFill>
                  <a:srgbClr val="60A5FA"/>
                </a:solidFill>
                <a:latin typeface="Arial"/>
                <a:ea typeface="Arial"/>
                <a:cs typeface="Arial"/>
              </a:defRPr>
            </a:lvl9pPr>
          </a:lstStyle>
          <a:p xmlns:a="http://schemas.openxmlformats.org/drawingml/2006/main">
            <a:pPr>
              <a:defRPr sz="1350" b="1">
                <a:solidFill>
                  <a:srgbClr val="60A5FA"/>
                </a:solidFill>
                <a:latin typeface="Arial"/>
                <a:ea typeface="Arial"/>
                <a:cs typeface="Arial"/>
              </a:defRPr>
            </a:pPr>
            <a:r>
              <a:rPr sz="1350" b="1">
                <a:solidFill>
                  <a:srgbClr val="60A5FA"/>
                </a:solidFill>
                <a:latin typeface="Arial"/>
                <a:ea typeface="Arial"/>
                <a:cs typeface="Arial"/>
              </a:rPr>
              <a:t>Project work</a:t>
            </a:r>
          </a:p>
        </p:txBody>
      </p:sp>
      <p:sp>
        <p:nvSpPr>
          <p:cNvPr id="9" name="">
            <a:extLst xmlns:a="http://schemas.openxmlformats.org/drawingml/2006/main">
              <a:ext uri="{FF2B5EF4-FFF2-40B4-BE49-F238E27FC236}">
                <a16:creationId xmlns:a16="http://schemas.microsoft.com/office/drawing/2014/main" id="{3E2804A6-8128-4DE5-91B8-992FB7FD2A4B}"/>
              </a:ext>
            </a:extLst>
          </p:cNvPr>
          <p:cNvSpPr>
            <a:spLocks xmlns:a="http://schemas.openxmlformats.org/drawingml/2006/main" noGrp="1"/>
          </p:cNvSpPr>
          <p:nvPr/>
        </p:nvSpPr>
        <p:spPr>
          <a:xfrm xmlns:a="http://schemas.openxmlformats.org/drawingml/2006/main">
            <a:off x="2952750" y="27432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list / read / write / search files</a:t>
            </a:r>
          </a:p>
        </p:txBody>
      </p:sp>
      <p:sp>
        <p:nvSpPr>
          <p:cNvPr id="10" name="cap-left-2">
            <a:extLst xmlns:a="http://schemas.openxmlformats.org/drawingml/2006/main">
              <a:ext uri="{FF2B5EF4-FFF2-40B4-BE49-F238E27FC236}">
                <a16:creationId xmlns:a16="http://schemas.microsoft.com/office/drawing/2014/main" id="{C19D4216-627E-42A5-B065-B93EEB4495A0}"/>
              </a:ext>
            </a:extLst>
          </p:cNvPr>
          <p:cNvSpPr>
            <a:spLocks xmlns:a="http://schemas.openxmlformats.org/drawingml/2006/main" noGrp="1"/>
          </p:cNvSpPr>
          <p:nvPr/>
        </p:nvSpPr>
        <p:spPr>
          <a:xfrm xmlns:a="http://schemas.openxmlformats.org/drawingml/2006/main">
            <a:off x="762000" y="32575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A7F3D0"/>
            </a:solidFill>
            <a:prstDash val="solid"/>
          </a:ln>
        </p:spPr>
      </p:sp>
      <p:sp>
        <p:nvSpPr>
          <p:cNvPr id="11" name="">
            <a:extLst xmlns:a="http://schemas.openxmlformats.org/drawingml/2006/main">
              <a:ext uri="{FF2B5EF4-FFF2-40B4-BE49-F238E27FC236}">
                <a16:creationId xmlns:a16="http://schemas.microsoft.com/office/drawing/2014/main" id="{4694C415-DA59-497B-9036-F3695229BC07}"/>
              </a:ext>
            </a:extLst>
          </p:cNvPr>
          <p:cNvSpPr>
            <a:spLocks xmlns:a="http://schemas.openxmlformats.org/drawingml/2006/main" noGrp="1"/>
          </p:cNvSpPr>
          <p:nvPr/>
        </p:nvSpPr>
        <p:spPr>
          <a:xfrm xmlns:a="http://schemas.openxmlformats.org/drawingml/2006/main">
            <a:off x="971550" y="33528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Web</a:t>
            </a:r>
          </a:p>
        </p:txBody>
      </p:sp>
      <p:sp>
        <p:nvSpPr>
          <p:cNvPr id="12" name="">
            <a:extLst xmlns:a="http://schemas.openxmlformats.org/drawingml/2006/main">
              <a:ext uri="{FF2B5EF4-FFF2-40B4-BE49-F238E27FC236}">
                <a16:creationId xmlns:a16="http://schemas.microsoft.com/office/drawing/2014/main" id="{486707BB-713B-48CF-B322-AAAF4FE9C992}"/>
              </a:ext>
            </a:extLst>
          </p:cNvPr>
          <p:cNvSpPr>
            <a:spLocks xmlns:a="http://schemas.openxmlformats.org/drawingml/2006/main" noGrp="1"/>
          </p:cNvSpPr>
          <p:nvPr/>
        </p:nvSpPr>
        <p:spPr>
          <a:xfrm xmlns:a="http://schemas.openxmlformats.org/drawingml/2006/main">
            <a:off x="2952750" y="33528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public URL fetch + web search</a:t>
            </a:r>
          </a:p>
        </p:txBody>
      </p:sp>
      <p:sp>
        <p:nvSpPr>
          <p:cNvPr id="13" name="cap-left-3">
            <a:extLst xmlns:a="http://schemas.openxmlformats.org/drawingml/2006/main">
              <a:ext uri="{FF2B5EF4-FFF2-40B4-BE49-F238E27FC236}">
                <a16:creationId xmlns:a16="http://schemas.microsoft.com/office/drawing/2014/main" id="{087923EA-2116-4482-9337-8AA0DCC96D24}"/>
              </a:ext>
            </a:extLst>
          </p:cNvPr>
          <p:cNvSpPr>
            <a:spLocks xmlns:a="http://schemas.openxmlformats.org/drawingml/2006/main" noGrp="1"/>
          </p:cNvSpPr>
          <p:nvPr/>
        </p:nvSpPr>
        <p:spPr>
          <a:xfrm xmlns:a="http://schemas.openxmlformats.org/drawingml/2006/main">
            <a:off x="762000" y="38671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CD34D"/>
            </a:solidFill>
            <a:prstDash val="solid"/>
          </a:ln>
        </p:spPr>
      </p:sp>
      <p:sp>
        <p:nvSpPr>
          <p:cNvPr id="14" name="">
            <a:extLst xmlns:a="http://schemas.openxmlformats.org/drawingml/2006/main">
              <a:ext uri="{FF2B5EF4-FFF2-40B4-BE49-F238E27FC236}">
                <a16:creationId xmlns:a16="http://schemas.microsoft.com/office/drawing/2014/main" id="{A47BE1E9-3AE1-4F3C-B35F-79E332F2EE01}"/>
              </a:ext>
            </a:extLst>
          </p:cNvPr>
          <p:cNvSpPr>
            <a:spLocks xmlns:a="http://schemas.openxmlformats.org/drawingml/2006/main" noGrp="1"/>
          </p:cNvSpPr>
          <p:nvPr/>
        </p:nvSpPr>
        <p:spPr>
          <a:xfrm xmlns:a="http://schemas.openxmlformats.org/drawingml/2006/main">
            <a:off x="971550" y="39624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CD34D"/>
                </a:solidFill>
                <a:latin typeface="Arial"/>
                <a:ea typeface="Arial"/>
                <a:cs typeface="Arial"/>
              </a:defRPr>
            </a:defPPr>
            <a:lvl1pPr>
              <a:defRPr sz="1350" b="1">
                <a:solidFill>
                  <a:srgbClr val="FCD34D"/>
                </a:solidFill>
                <a:latin typeface="Arial"/>
                <a:ea typeface="Arial"/>
                <a:cs typeface="Arial"/>
              </a:defRPr>
            </a:lvl1pPr>
            <a:lvl2pPr>
              <a:defRPr sz="1350" b="1">
                <a:solidFill>
                  <a:srgbClr val="FCD34D"/>
                </a:solidFill>
                <a:latin typeface="Arial"/>
                <a:ea typeface="Arial"/>
                <a:cs typeface="Arial"/>
              </a:defRPr>
            </a:lvl2pPr>
            <a:lvl3pPr>
              <a:defRPr sz="1350" b="1">
                <a:solidFill>
                  <a:srgbClr val="FCD34D"/>
                </a:solidFill>
                <a:latin typeface="Arial"/>
                <a:ea typeface="Arial"/>
                <a:cs typeface="Arial"/>
              </a:defRPr>
            </a:lvl3pPr>
            <a:lvl4pPr>
              <a:defRPr sz="1350" b="1">
                <a:solidFill>
                  <a:srgbClr val="FCD34D"/>
                </a:solidFill>
                <a:latin typeface="Arial"/>
                <a:ea typeface="Arial"/>
                <a:cs typeface="Arial"/>
              </a:defRPr>
            </a:lvl4pPr>
            <a:lvl5pPr>
              <a:defRPr sz="1350" b="1">
                <a:solidFill>
                  <a:srgbClr val="FCD34D"/>
                </a:solidFill>
                <a:latin typeface="Arial"/>
                <a:ea typeface="Arial"/>
                <a:cs typeface="Arial"/>
              </a:defRPr>
            </a:lvl5pPr>
            <a:lvl6pPr>
              <a:defRPr sz="1350" b="1">
                <a:solidFill>
                  <a:srgbClr val="FCD34D"/>
                </a:solidFill>
                <a:latin typeface="Arial"/>
                <a:ea typeface="Arial"/>
                <a:cs typeface="Arial"/>
              </a:defRPr>
            </a:lvl6pPr>
            <a:lvl7pPr>
              <a:defRPr sz="1350" b="1">
                <a:solidFill>
                  <a:srgbClr val="FCD34D"/>
                </a:solidFill>
                <a:latin typeface="Arial"/>
                <a:ea typeface="Arial"/>
                <a:cs typeface="Arial"/>
              </a:defRPr>
            </a:lvl7pPr>
            <a:lvl8pPr>
              <a:defRPr sz="1350" b="1">
                <a:solidFill>
                  <a:srgbClr val="FCD34D"/>
                </a:solidFill>
                <a:latin typeface="Arial"/>
                <a:ea typeface="Arial"/>
                <a:cs typeface="Arial"/>
              </a:defRPr>
            </a:lvl8pPr>
            <a:lvl9pPr>
              <a:defRPr sz="1350" b="1">
                <a:solidFill>
                  <a:srgbClr val="FCD34D"/>
                </a:solidFill>
                <a:latin typeface="Arial"/>
                <a:ea typeface="Arial"/>
                <a:cs typeface="Arial"/>
              </a:defRPr>
            </a:lvl9pPr>
          </a:lstStyle>
          <a:p xmlns:a="http://schemas.openxmlformats.org/drawingml/2006/main">
            <a:pPr>
              <a:defRPr sz="1350" b="1">
                <a:solidFill>
                  <a:srgbClr val="FCD34D"/>
                </a:solidFill>
                <a:latin typeface="Arial"/>
                <a:ea typeface="Arial"/>
                <a:cs typeface="Arial"/>
              </a:defRPr>
            </a:pPr>
            <a:r>
              <a:rPr sz="1350" b="1">
                <a:solidFill>
                  <a:srgbClr val="FCD34D"/>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03CCF388-5406-4759-9F87-34F7E2B9B490}"/>
              </a:ext>
            </a:extLst>
          </p:cNvPr>
          <p:cNvSpPr>
            <a:spLocks xmlns:a="http://schemas.openxmlformats.org/drawingml/2006/main" noGrp="1"/>
          </p:cNvSpPr>
          <p:nvPr/>
        </p:nvSpPr>
        <p:spPr>
          <a:xfrm xmlns:a="http://schemas.openxmlformats.org/drawingml/2006/main">
            <a:off x="2952750" y="39624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allowlisted commands + background jobs</a:t>
            </a:r>
          </a:p>
        </p:txBody>
      </p:sp>
      <p:sp>
        <p:nvSpPr>
          <p:cNvPr id="16" name="cap-left-4">
            <a:extLst xmlns:a="http://schemas.openxmlformats.org/drawingml/2006/main">
              <a:ext uri="{FF2B5EF4-FFF2-40B4-BE49-F238E27FC236}">
                <a16:creationId xmlns:a16="http://schemas.microsoft.com/office/drawing/2014/main" id="{40EEFBDD-2DA3-4D7F-8029-8563FD7CF196}"/>
              </a:ext>
            </a:extLst>
          </p:cNvPr>
          <p:cNvSpPr>
            <a:spLocks xmlns:a="http://schemas.openxmlformats.org/drawingml/2006/main" noGrp="1"/>
          </p:cNvSpPr>
          <p:nvPr/>
        </p:nvSpPr>
        <p:spPr>
          <a:xfrm xmlns:a="http://schemas.openxmlformats.org/drawingml/2006/main">
            <a:off x="762000" y="44767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DA4AF"/>
            </a:solidFill>
            <a:prstDash val="solid"/>
          </a:ln>
        </p:spPr>
      </p:sp>
      <p:sp>
        <p:nvSpPr>
          <p:cNvPr id="17" name="">
            <a:extLst xmlns:a="http://schemas.openxmlformats.org/drawingml/2006/main">
              <a:ext uri="{FF2B5EF4-FFF2-40B4-BE49-F238E27FC236}">
                <a16:creationId xmlns:a16="http://schemas.microsoft.com/office/drawing/2014/main" id="{D1F507A8-5C45-458E-9E7C-8FE328E6DF0E}"/>
              </a:ext>
            </a:extLst>
          </p:cNvPr>
          <p:cNvSpPr>
            <a:spLocks xmlns:a="http://schemas.openxmlformats.org/drawingml/2006/main" noGrp="1"/>
          </p:cNvSpPr>
          <p:nvPr/>
        </p:nvSpPr>
        <p:spPr>
          <a:xfrm xmlns:a="http://schemas.openxmlformats.org/drawingml/2006/main">
            <a:off x="971550" y="45720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DA4AF"/>
                </a:solidFill>
                <a:latin typeface="Arial"/>
                <a:ea typeface="Arial"/>
                <a:cs typeface="Arial"/>
              </a:defRPr>
            </a:defPPr>
            <a:lvl1pPr>
              <a:defRPr sz="1350" b="1">
                <a:solidFill>
                  <a:srgbClr val="FDA4AF"/>
                </a:solidFill>
                <a:latin typeface="Arial"/>
                <a:ea typeface="Arial"/>
                <a:cs typeface="Arial"/>
              </a:defRPr>
            </a:lvl1pPr>
            <a:lvl2pPr>
              <a:defRPr sz="1350" b="1">
                <a:solidFill>
                  <a:srgbClr val="FDA4AF"/>
                </a:solidFill>
                <a:latin typeface="Arial"/>
                <a:ea typeface="Arial"/>
                <a:cs typeface="Arial"/>
              </a:defRPr>
            </a:lvl2pPr>
            <a:lvl3pPr>
              <a:defRPr sz="1350" b="1">
                <a:solidFill>
                  <a:srgbClr val="FDA4AF"/>
                </a:solidFill>
                <a:latin typeface="Arial"/>
                <a:ea typeface="Arial"/>
                <a:cs typeface="Arial"/>
              </a:defRPr>
            </a:lvl3pPr>
            <a:lvl4pPr>
              <a:defRPr sz="1350" b="1">
                <a:solidFill>
                  <a:srgbClr val="FDA4AF"/>
                </a:solidFill>
                <a:latin typeface="Arial"/>
                <a:ea typeface="Arial"/>
                <a:cs typeface="Arial"/>
              </a:defRPr>
            </a:lvl4pPr>
            <a:lvl5pPr>
              <a:defRPr sz="1350" b="1">
                <a:solidFill>
                  <a:srgbClr val="FDA4AF"/>
                </a:solidFill>
                <a:latin typeface="Arial"/>
                <a:ea typeface="Arial"/>
                <a:cs typeface="Arial"/>
              </a:defRPr>
            </a:lvl5pPr>
            <a:lvl6pPr>
              <a:defRPr sz="1350" b="1">
                <a:solidFill>
                  <a:srgbClr val="FDA4AF"/>
                </a:solidFill>
                <a:latin typeface="Arial"/>
                <a:ea typeface="Arial"/>
                <a:cs typeface="Arial"/>
              </a:defRPr>
            </a:lvl6pPr>
            <a:lvl7pPr>
              <a:defRPr sz="1350" b="1">
                <a:solidFill>
                  <a:srgbClr val="FDA4AF"/>
                </a:solidFill>
                <a:latin typeface="Arial"/>
                <a:ea typeface="Arial"/>
                <a:cs typeface="Arial"/>
              </a:defRPr>
            </a:lvl7pPr>
            <a:lvl8pPr>
              <a:defRPr sz="1350" b="1">
                <a:solidFill>
                  <a:srgbClr val="FDA4AF"/>
                </a:solidFill>
                <a:latin typeface="Arial"/>
                <a:ea typeface="Arial"/>
                <a:cs typeface="Arial"/>
              </a:defRPr>
            </a:lvl8pPr>
            <a:lvl9pPr>
              <a:defRPr sz="1350" b="1">
                <a:solidFill>
                  <a:srgbClr val="FDA4AF"/>
                </a:solidFill>
                <a:latin typeface="Arial"/>
                <a:ea typeface="Arial"/>
                <a:cs typeface="Arial"/>
              </a:defRPr>
            </a:lvl9pPr>
          </a:lstStyle>
          <a:p xmlns:a="http://schemas.openxmlformats.org/drawingml/2006/main">
            <a:pPr>
              <a:defRPr sz="1350" b="1">
                <a:solidFill>
                  <a:srgbClr val="FDA4AF"/>
                </a:solidFill>
                <a:latin typeface="Arial"/>
                <a:ea typeface="Arial"/>
                <a:cs typeface="Arial"/>
              </a:defRPr>
            </a:pPr>
            <a:r>
              <a:rPr sz="1350" b="1">
                <a:solidFill>
                  <a:srgbClr val="FDA4AF"/>
                </a:solidFill>
                <a:latin typeface="Arial"/>
                <a:ea typeface="Arial"/>
                <a:cs typeface="Arial"/>
              </a:rPr>
              <a:t>Operations</a:t>
            </a:r>
          </a:p>
        </p:txBody>
      </p:sp>
      <p:sp>
        <p:nvSpPr>
          <p:cNvPr id="18" name="">
            <a:extLst xmlns:a="http://schemas.openxmlformats.org/drawingml/2006/main">
              <a:ext uri="{FF2B5EF4-FFF2-40B4-BE49-F238E27FC236}">
                <a16:creationId xmlns:a16="http://schemas.microsoft.com/office/drawing/2014/main" id="{CA9F43D6-91C7-429E-9D4A-7A55C744B22A}"/>
              </a:ext>
            </a:extLst>
          </p:cNvPr>
          <p:cNvSpPr>
            <a:spLocks xmlns:a="http://schemas.openxmlformats.org/drawingml/2006/main" noGrp="1"/>
          </p:cNvSpPr>
          <p:nvPr/>
        </p:nvSpPr>
        <p:spPr>
          <a:xfrm xmlns:a="http://schemas.openxmlformats.org/drawingml/2006/main">
            <a:off x="2952750" y="45720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system info + timers + MCP bridge</a:t>
            </a:r>
          </a:p>
        </p:txBody>
      </p:sp>
      <p:sp>
        <p:nvSpPr>
          <p:cNvPr id="19" name="boundary-callout">
            <a:extLst xmlns:a="http://schemas.openxmlformats.org/drawingml/2006/main">
              <a:ext uri="{FF2B5EF4-FFF2-40B4-BE49-F238E27FC236}">
                <a16:creationId xmlns:a16="http://schemas.microsoft.com/office/drawing/2014/main" id="{E2B9B4ED-A06D-40A9-BEDE-0B1DB0CD00B6}"/>
              </a:ext>
            </a:extLst>
          </p:cNvPr>
          <p:cNvSpPr>
            <a:spLocks xmlns:a="http://schemas.openxmlformats.org/drawingml/2006/main" noGrp="1"/>
          </p:cNvSpPr>
          <p:nvPr/>
        </p:nvSpPr>
        <p:spPr>
          <a:xfrm xmlns:a="http://schemas.openxmlformats.org/drawingml/2006/main">
            <a:off x="8667750" y="2038350"/>
            <a:ext cx="2857500" cy="2857500"/>
          </a:xfrm>
          <a:prstGeom xmlns:a="http://schemas.openxmlformats.org/drawingml/2006/main" prst="roundRect">
            <a:avLst>
              <a:gd name="adj" fmla="val 4000"/>
            </a:avLst>
          </a:prstGeom>
          <a:solidFill xmlns:a="http://schemas.openxmlformats.org/drawingml/2006/main">
            <a:srgbClr val="102A43"/>
          </a:solidFill>
          <a:ln xmlns:a="http://schemas.openxmlformats.org/drawingml/2006/main" w="9525">
            <a:solidFill>
              <a:srgbClr val="FCD34D"/>
            </a:solidFill>
            <a:prstDash val="solid"/>
          </a:ln>
        </p:spPr>
      </p:sp>
      <p:sp>
        <p:nvSpPr>
          <p:cNvPr id="20" name="">
            <a:extLst xmlns:a="http://schemas.openxmlformats.org/drawingml/2006/main">
              <a:ext uri="{FF2B5EF4-FFF2-40B4-BE49-F238E27FC236}">
                <a16:creationId xmlns:a16="http://schemas.microsoft.com/office/drawing/2014/main" id="{BDE02C1D-A7F9-474C-957A-A417567EFB93}"/>
              </a:ext>
            </a:extLst>
          </p:cNvPr>
          <p:cNvSpPr>
            <a:spLocks xmlns:a="http://schemas.openxmlformats.org/drawingml/2006/main" noGrp="1"/>
          </p:cNvSpPr>
          <p:nvPr/>
        </p:nvSpPr>
        <p:spPr>
          <a:xfrm xmlns:a="http://schemas.openxmlformats.org/drawingml/2006/main">
            <a:off x="8896350" y="2400300"/>
            <a:ext cx="2400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CD34D"/>
                </a:solidFill>
                <a:latin typeface="Arial"/>
                <a:ea typeface="Arial"/>
                <a:cs typeface="Arial"/>
              </a:defRPr>
            </a:defPPr>
            <a:lvl1pPr>
              <a:defRPr sz="2025" b="1">
                <a:solidFill>
                  <a:srgbClr val="FCD34D"/>
                </a:solidFill>
                <a:latin typeface="Arial"/>
                <a:ea typeface="Arial"/>
                <a:cs typeface="Arial"/>
              </a:defRPr>
            </a:lvl1pPr>
            <a:lvl2pPr>
              <a:defRPr sz="2025" b="1">
                <a:solidFill>
                  <a:srgbClr val="FCD34D"/>
                </a:solidFill>
                <a:latin typeface="Arial"/>
                <a:ea typeface="Arial"/>
                <a:cs typeface="Arial"/>
              </a:defRPr>
            </a:lvl2pPr>
            <a:lvl3pPr>
              <a:defRPr sz="2025" b="1">
                <a:solidFill>
                  <a:srgbClr val="FCD34D"/>
                </a:solidFill>
                <a:latin typeface="Arial"/>
                <a:ea typeface="Arial"/>
                <a:cs typeface="Arial"/>
              </a:defRPr>
            </a:lvl3pPr>
            <a:lvl4pPr>
              <a:defRPr sz="2025" b="1">
                <a:solidFill>
                  <a:srgbClr val="FCD34D"/>
                </a:solidFill>
                <a:latin typeface="Arial"/>
                <a:ea typeface="Arial"/>
                <a:cs typeface="Arial"/>
              </a:defRPr>
            </a:lvl4pPr>
            <a:lvl5pPr>
              <a:defRPr sz="2025" b="1">
                <a:solidFill>
                  <a:srgbClr val="FCD34D"/>
                </a:solidFill>
                <a:latin typeface="Arial"/>
                <a:ea typeface="Arial"/>
                <a:cs typeface="Arial"/>
              </a:defRPr>
            </a:lvl5pPr>
            <a:lvl6pPr>
              <a:defRPr sz="2025" b="1">
                <a:solidFill>
                  <a:srgbClr val="FCD34D"/>
                </a:solidFill>
                <a:latin typeface="Arial"/>
                <a:ea typeface="Arial"/>
                <a:cs typeface="Arial"/>
              </a:defRPr>
            </a:lvl6pPr>
            <a:lvl7pPr>
              <a:defRPr sz="2025" b="1">
                <a:solidFill>
                  <a:srgbClr val="FCD34D"/>
                </a:solidFill>
                <a:latin typeface="Arial"/>
                <a:ea typeface="Arial"/>
                <a:cs typeface="Arial"/>
              </a:defRPr>
            </a:lvl7pPr>
            <a:lvl8pPr>
              <a:defRPr sz="2025" b="1">
                <a:solidFill>
                  <a:srgbClr val="FCD34D"/>
                </a:solidFill>
                <a:latin typeface="Arial"/>
                <a:ea typeface="Arial"/>
                <a:cs typeface="Arial"/>
              </a:defRPr>
            </a:lvl8pPr>
            <a:lvl9pPr>
              <a:defRPr sz="2025" b="1">
                <a:solidFill>
                  <a:srgbClr val="FCD34D"/>
                </a:solidFill>
                <a:latin typeface="Arial"/>
                <a:ea typeface="Arial"/>
                <a:cs typeface="Arial"/>
              </a:defRPr>
            </a:lvl9pPr>
          </a:lstStyle>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PARITY ≠</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UNRESTRICTED</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SHELL</a:t>
            </a:r>
          </a:p>
        </p:txBody>
      </p:sp>
      <p:sp>
        <p:nvSpPr>
          <p:cNvPr id="21" name="">
            <a:extLst xmlns:a="http://schemas.openxmlformats.org/drawingml/2006/main">
              <a:ext uri="{FF2B5EF4-FFF2-40B4-BE49-F238E27FC236}">
                <a16:creationId xmlns:a16="http://schemas.microsoft.com/office/drawing/2014/main" id="{BD252CD3-7796-4E09-A67D-34715407ACB6}"/>
              </a:ext>
            </a:extLst>
          </p:cNvPr>
          <p:cNvSpPr>
            <a:spLocks xmlns:a="http://schemas.openxmlformats.org/drawingml/2006/main" noGrp="1"/>
          </p:cNvSpPr>
          <p:nvPr/>
        </p:nvSpPr>
        <p:spPr>
          <a:xfrm xmlns:a="http://schemas.openxmlformats.org/drawingml/2006/main">
            <a:off x="8991600" y="3752850"/>
            <a:ext cx="2209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Paths stay inside ME3.</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Secrets and model caches are</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blocked. Destructive patterns</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are rejected.</a:t>
            </a:r>
          </a:p>
        </p:txBody>
      </p:sp>
      <p:sp>
        <p:nvSpPr>
          <p:cNvPr id="22" name="">
            <a:extLst xmlns:a="http://schemas.openxmlformats.org/drawingml/2006/main">
              <a:ext uri="{FF2B5EF4-FFF2-40B4-BE49-F238E27FC236}">
                <a16:creationId xmlns:a16="http://schemas.microsoft.com/office/drawing/2014/main" id="{98D30BCB-C357-4ADB-88D6-6F453DFBC495}"/>
              </a:ext>
            </a:extLst>
          </p:cNvPr>
          <p:cNvSpPr>
            <a:spLocks xmlns:a="http://schemas.openxmlformats.org/drawingml/2006/main" noGrp="1"/>
          </p:cNvSpPr>
          <p:nvPr/>
        </p:nvSpPr>
        <p:spPr>
          <a:xfrm xmlns:a="http://schemas.openxmlformats.org/drawingml/2006/main">
            <a:off x="781050" y="54673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7FAFC"/>
                </a:solidFill>
                <a:latin typeface="Arial"/>
                <a:ea typeface="Arial"/>
                <a:cs typeface="Arial"/>
              </a:defRPr>
            </a:defPPr>
            <a:lvl1pPr>
              <a:defRPr sz="1500" b="1">
                <a:solidFill>
                  <a:srgbClr val="F7FAFC"/>
                </a:solidFill>
                <a:latin typeface="Arial"/>
                <a:ea typeface="Arial"/>
                <a:cs typeface="Arial"/>
              </a:defRPr>
            </a:lvl1pPr>
            <a:lvl2pPr>
              <a:defRPr sz="1500" b="1">
                <a:solidFill>
                  <a:srgbClr val="F7FAFC"/>
                </a:solidFill>
                <a:latin typeface="Arial"/>
                <a:ea typeface="Arial"/>
                <a:cs typeface="Arial"/>
              </a:defRPr>
            </a:lvl2pPr>
            <a:lvl3pPr>
              <a:defRPr sz="1500" b="1">
                <a:solidFill>
                  <a:srgbClr val="F7FAFC"/>
                </a:solidFill>
                <a:latin typeface="Arial"/>
                <a:ea typeface="Arial"/>
                <a:cs typeface="Arial"/>
              </a:defRPr>
            </a:lvl3pPr>
            <a:lvl4pPr>
              <a:defRPr sz="1500" b="1">
                <a:solidFill>
                  <a:srgbClr val="F7FAFC"/>
                </a:solidFill>
                <a:latin typeface="Arial"/>
                <a:ea typeface="Arial"/>
                <a:cs typeface="Arial"/>
              </a:defRPr>
            </a:lvl4pPr>
            <a:lvl5pPr>
              <a:defRPr sz="1500" b="1">
                <a:solidFill>
                  <a:srgbClr val="F7FAFC"/>
                </a:solidFill>
                <a:latin typeface="Arial"/>
                <a:ea typeface="Arial"/>
                <a:cs typeface="Arial"/>
              </a:defRPr>
            </a:lvl5pPr>
            <a:lvl6pPr>
              <a:defRPr sz="1500" b="1">
                <a:solidFill>
                  <a:srgbClr val="F7FAFC"/>
                </a:solidFill>
                <a:latin typeface="Arial"/>
                <a:ea typeface="Arial"/>
                <a:cs typeface="Arial"/>
              </a:defRPr>
            </a:lvl6pPr>
            <a:lvl7pPr>
              <a:defRPr sz="1500" b="1">
                <a:solidFill>
                  <a:srgbClr val="F7FAFC"/>
                </a:solidFill>
                <a:latin typeface="Arial"/>
                <a:ea typeface="Arial"/>
                <a:cs typeface="Arial"/>
              </a:defRPr>
            </a:lvl7pPr>
            <a:lvl8pPr>
              <a:defRPr sz="1500" b="1">
                <a:solidFill>
                  <a:srgbClr val="F7FAFC"/>
                </a:solidFill>
                <a:latin typeface="Arial"/>
                <a:ea typeface="Arial"/>
                <a:cs typeface="Arial"/>
              </a:defRPr>
            </a:lvl8pPr>
            <a:lvl9pPr>
              <a:defRPr sz="1500" b="1">
                <a:solidFill>
                  <a:srgbClr val="F7FAFC"/>
                </a:solidFill>
                <a:latin typeface="Arial"/>
                <a:ea typeface="Arial"/>
                <a:cs typeface="Arial"/>
              </a:defRPr>
            </a:lvl9pPr>
          </a:lstStyle>
          <a:p xmlns:a="http://schemas.openxmlformats.org/drawingml/2006/main">
            <a:pPr>
              <a:defRPr sz="1500" b="1">
                <a:solidFill>
                  <a:srgbClr val="F7FAFC"/>
                </a:solidFill>
                <a:latin typeface="Arial"/>
                <a:ea typeface="Arial"/>
                <a:cs typeface="Arial"/>
              </a:defRPr>
            </a:pPr>
            <a:r>
              <a:rPr sz="1500" b="1">
                <a:solidFill>
                  <a:srgbClr val="F7FAFC"/>
                </a:solidFill>
                <a:latin typeface="Arial"/>
                <a:ea typeface="Arial"/>
                <a:cs typeface="Arial"/>
              </a:rPr>
              <a:t>Capability is added as a typed tool with an observable result.</a:t>
            </a:r>
          </a:p>
        </p:txBody>
      </p:sp>
      <p:sp>
        <p:nvSpPr>
          <p:cNvPr id="23" name="">
            <a:extLst xmlns:a="http://schemas.openxmlformats.org/drawingml/2006/main">
              <a:ext uri="{FF2B5EF4-FFF2-40B4-BE49-F238E27FC236}">
                <a16:creationId xmlns:a16="http://schemas.microsoft.com/office/drawing/2014/main" id="{7A55B758-543A-42D3-9DF1-8D56BE4E3FCF}"/>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5/7</a:t>
            </a:r>
          </a:p>
        </p:txBody>
      </p:sp>
    </p:spTree>
    <p:extLst>
      <p:ext uri="{BB962C8B-B14F-4D97-AF65-F5344CB8AC3E}">
        <p14:creationId xmlns:p14="http://schemas.microsoft.com/office/powerpoint/2010/main" val="888641833"/>
      </p:ext>
    </p:extLst>
  </p:cSld>
</p:sld>
</file>

<file path=ppt/slides/slide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8022F38-1400-424B-BCDB-452E00821418}"/>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4CDFD296-AEED-411A-9ED4-D91D1DB371A5}"/>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The implementation is verified in layers</a:t>
            </a:r>
          </a:p>
        </p:txBody>
      </p:sp>
      <p:sp>
        <p:nvSpPr>
          <p:cNvPr id="3" name="">
            <a:extLst xmlns:a="http://schemas.openxmlformats.org/drawingml/2006/main">
              <a:ext uri="{FF2B5EF4-FFF2-40B4-BE49-F238E27FC236}">
                <a16:creationId xmlns:a16="http://schemas.microsoft.com/office/drawing/2014/main" id="{1FA4E695-06A8-440D-B3EC-35089461741F}"/>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Each layer answers a different question; a local pass is not silently promoted to Pi or benchmark evidence.</a:t>
            </a:r>
          </a:p>
        </p:txBody>
      </p:sp>
      <p:sp>
        <p:nvSpPr>
          <p:cNvPr id="4" name="verified-now">
            <a:extLst xmlns:a="http://schemas.openxmlformats.org/drawingml/2006/main">
              <a:ext uri="{FF2B5EF4-FFF2-40B4-BE49-F238E27FC236}">
                <a16:creationId xmlns:a16="http://schemas.microsoft.com/office/drawing/2014/main" id="{EBC99D81-49B3-4B01-9E3D-D1E051746C6B}"/>
              </a:ext>
            </a:extLst>
          </p:cNvPr>
          <p:cNvSpPr>
            <a:spLocks xmlns:a="http://schemas.openxmlformats.org/drawingml/2006/main" noGrp="1"/>
          </p:cNvSpPr>
          <p:nvPr/>
        </p:nvSpPr>
        <p:spPr>
          <a:xfrm xmlns:a="http://schemas.openxmlformats.org/drawingml/2006/main">
            <a:off x="723900" y="2038350"/>
            <a:ext cx="495300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A7F3D0"/>
            </a:solidFill>
            <a:prstDash val="solid"/>
          </a:ln>
        </p:spPr>
      </p:sp>
      <p:sp>
        <p:nvSpPr>
          <p:cNvPr id="5" name="">
            <a:extLst xmlns:a="http://schemas.openxmlformats.org/drawingml/2006/main">
              <a:ext uri="{FF2B5EF4-FFF2-40B4-BE49-F238E27FC236}">
                <a16:creationId xmlns:a16="http://schemas.microsoft.com/office/drawing/2014/main" id="{5AA53BE7-9E79-405A-8A4B-8172B6AED274}"/>
              </a:ext>
            </a:extLst>
          </p:cNvPr>
          <p:cNvSpPr>
            <a:spLocks xmlns:a="http://schemas.openxmlformats.org/drawingml/2006/main" noGrp="1"/>
          </p:cNvSpPr>
          <p:nvPr/>
        </p:nvSpPr>
        <p:spPr>
          <a:xfrm xmlns:a="http://schemas.openxmlformats.org/drawingml/2006/main">
            <a:off x="102870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VERIFIED NOW</a:t>
            </a:r>
          </a:p>
        </p:txBody>
      </p:sp>
      <p:sp>
        <p:nvSpPr>
          <p:cNvPr id="6" name="">
            <a:extLst xmlns:a="http://schemas.openxmlformats.org/drawingml/2006/main">
              <a:ext uri="{FF2B5EF4-FFF2-40B4-BE49-F238E27FC236}">
                <a16:creationId xmlns:a16="http://schemas.microsoft.com/office/drawing/2014/main" id="{BE350B77-C2BF-48F7-9C1F-74F02A31D9EA}"/>
              </a:ext>
            </a:extLst>
          </p:cNvPr>
          <p:cNvSpPr>
            <a:spLocks xmlns:a="http://schemas.openxmlformats.org/drawingml/2006/main" noGrp="1"/>
          </p:cNvSpPr>
          <p:nvPr/>
        </p:nvSpPr>
        <p:spPr>
          <a:xfrm xmlns:a="http://schemas.openxmlformats.org/drawingml/2006/main">
            <a:off x="1028700" y="27813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deployed (release 164608, transfer hash verified)</a:t>
            </a:r>
          </a:p>
        </p:txBody>
      </p:sp>
      <p:sp>
        <p:nvSpPr>
          <p:cNvPr id="7" name="">
            <a:extLst xmlns:a="http://schemas.openxmlformats.org/drawingml/2006/main">
              <a:ext uri="{FF2B5EF4-FFF2-40B4-BE49-F238E27FC236}">
                <a16:creationId xmlns:a16="http://schemas.microsoft.com/office/drawing/2014/main" id="{67039372-64A5-4289-9D1C-F1D99D24A0D5}"/>
              </a:ext>
            </a:extLst>
          </p:cNvPr>
          <p:cNvSpPr>
            <a:spLocks xmlns:a="http://schemas.openxmlformats.org/drawingml/2006/main" noGrp="1"/>
          </p:cNvSpPr>
          <p:nvPr/>
        </p:nvSpPr>
        <p:spPr>
          <a:xfrm xmlns:a="http://schemas.openxmlformats.org/drawingml/2006/main">
            <a:off x="1028700" y="32289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--check passes; Qwen key provisioned (mode 600)</a:t>
            </a:r>
          </a:p>
        </p:txBody>
      </p:sp>
      <p:sp>
        <p:nvSpPr>
          <p:cNvPr id="8" name="">
            <a:extLst xmlns:a="http://schemas.openxmlformats.org/drawingml/2006/main">
              <a:ext uri="{FF2B5EF4-FFF2-40B4-BE49-F238E27FC236}">
                <a16:creationId xmlns:a16="http://schemas.microsoft.com/office/drawing/2014/main" id="{9965B4A2-B8CF-46D6-B196-7F78A2BC60F0}"/>
              </a:ext>
            </a:extLst>
          </p:cNvPr>
          <p:cNvSpPr>
            <a:spLocks xmlns:a="http://schemas.openxmlformats.org/drawingml/2006/main" noGrp="1"/>
          </p:cNvSpPr>
          <p:nvPr/>
        </p:nvSpPr>
        <p:spPr>
          <a:xfrm xmlns:a="http://schemas.openxmlformats.org/drawingml/2006/main">
            <a:off x="1028700" y="36766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text E2E: Qwen built + served a web app, URL LAN-verified</a:t>
            </a:r>
          </a:p>
        </p:txBody>
      </p:sp>
      <p:sp>
        <p:nvSpPr>
          <p:cNvPr id="9" name="">
            <a:extLst xmlns:a="http://schemas.openxmlformats.org/drawingml/2006/main">
              <a:ext uri="{FF2B5EF4-FFF2-40B4-BE49-F238E27FC236}">
                <a16:creationId xmlns:a16="http://schemas.microsoft.com/office/drawing/2014/main" id="{A1124D11-B50D-4239-ABEB-BD99A8CB1FCC}"/>
              </a:ext>
            </a:extLst>
          </p:cNvPr>
          <p:cNvSpPr>
            <a:spLocks xmlns:a="http://schemas.openxmlformats.org/drawingml/2006/main" noGrp="1"/>
          </p:cNvSpPr>
          <p:nvPr/>
        </p:nvSpPr>
        <p:spPr>
          <a:xfrm xmlns:a="http://schemas.openxmlformats.org/drawingml/2006/main">
            <a:off x="1028700" y="41243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Dev box: Qwen web-app file creation + read-back; 4 tooling tests</a:t>
            </a:r>
          </a:p>
        </p:txBody>
      </p:sp>
      <p:sp>
        <p:nvSpPr>
          <p:cNvPr id="10" name="">
            <a:extLst xmlns:a="http://schemas.openxmlformats.org/drawingml/2006/main">
              <a:ext uri="{FF2B5EF4-FFF2-40B4-BE49-F238E27FC236}">
                <a16:creationId xmlns:a16="http://schemas.microsoft.com/office/drawing/2014/main" id="{D0591F91-F62B-43E1-B56C-FD9E116B4EB4}"/>
              </a:ext>
            </a:extLst>
          </p:cNvPr>
          <p:cNvSpPr>
            <a:spLocks xmlns:a="http://schemas.openxmlformats.org/drawingml/2006/main" noGrp="1"/>
          </p:cNvSpPr>
          <p:nvPr/>
        </p:nvSpPr>
        <p:spPr>
          <a:xfrm xmlns:a="http://schemas.openxmlformats.org/drawingml/2006/main">
            <a:off x="1028700" y="45720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All 4 MCP services + PortAudio smoke + v1.5 contract checks</a:t>
            </a:r>
          </a:p>
        </p:txBody>
      </p:sp>
      <p:sp>
        <p:nvSpPr>
          <p:cNvPr id="11" name="next-gates">
            <a:extLst xmlns:a="http://schemas.openxmlformats.org/drawingml/2006/main">
              <a:ext uri="{FF2B5EF4-FFF2-40B4-BE49-F238E27FC236}">
                <a16:creationId xmlns:a16="http://schemas.microsoft.com/office/drawing/2014/main" id="{C95FDB70-7326-46AD-A86C-801F9120E54B}"/>
              </a:ext>
            </a:extLst>
          </p:cNvPr>
          <p:cNvSpPr>
            <a:spLocks xmlns:a="http://schemas.openxmlformats.org/drawingml/2006/main" noGrp="1"/>
          </p:cNvSpPr>
          <p:nvPr/>
        </p:nvSpPr>
        <p:spPr>
          <a:xfrm xmlns:a="http://schemas.openxmlformats.org/drawingml/2006/main">
            <a:off x="6191250" y="2038350"/>
            <a:ext cx="527685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FCD34D"/>
            </a:solidFill>
            <a:prstDash val="solid"/>
          </a:ln>
        </p:spPr>
      </p:sp>
      <p:sp>
        <p:nvSpPr>
          <p:cNvPr id="12" name="">
            <a:extLst xmlns:a="http://schemas.openxmlformats.org/drawingml/2006/main">
              <a:ext uri="{FF2B5EF4-FFF2-40B4-BE49-F238E27FC236}">
                <a16:creationId xmlns:a16="http://schemas.microsoft.com/office/drawing/2014/main" id="{1B3B262F-2DCD-49B8-B19A-57C85A1B3327}"/>
              </a:ext>
            </a:extLst>
          </p:cNvPr>
          <p:cNvSpPr>
            <a:spLocks xmlns:a="http://schemas.openxmlformats.org/drawingml/2006/main" noGrp="1"/>
          </p:cNvSpPr>
          <p:nvPr/>
        </p:nvSpPr>
        <p:spPr>
          <a:xfrm xmlns:a="http://schemas.openxmlformats.org/drawingml/2006/main">
            <a:off x="64960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REMAINING GATES</a:t>
            </a:r>
          </a:p>
        </p:txBody>
      </p:sp>
      <p:sp>
        <p:nvSpPr>
          <p:cNvPr id="13" name="">
            <a:extLst xmlns:a="http://schemas.openxmlformats.org/drawingml/2006/main">
              <a:ext uri="{FF2B5EF4-FFF2-40B4-BE49-F238E27FC236}">
                <a16:creationId xmlns:a16="http://schemas.microsoft.com/office/drawing/2014/main" id="{40FC0FA1-EFB0-44D3-A98B-F4B14752B0FE}"/>
              </a:ext>
            </a:extLst>
          </p:cNvPr>
          <p:cNvSpPr>
            <a:spLocks xmlns:a="http://schemas.openxmlformats.org/drawingml/2006/main" noGrp="1"/>
          </p:cNvSpPr>
          <p:nvPr/>
        </p:nvSpPr>
        <p:spPr>
          <a:xfrm xmlns:a="http://schemas.openxmlformats.org/drawingml/2006/main">
            <a:off x="6496050" y="27813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live audio run on installed hardware (0 audio devices now)</a:t>
            </a:r>
          </a:p>
        </p:txBody>
      </p:sp>
      <p:sp>
        <p:nvSpPr>
          <p:cNvPr id="15" name="">
            <a:extLst xmlns:a="http://schemas.openxmlformats.org/drawingml/2006/main">
              <a:ext uri="{FF2B5EF4-FFF2-40B4-BE49-F238E27FC236}">
                <a16:creationId xmlns:a16="http://schemas.microsoft.com/office/drawing/2014/main" id="{6183EF0C-3E02-48C5-8C41-EEA7EC6A3C30}"/>
              </a:ext>
            </a:extLst>
          </p:cNvPr>
          <p:cNvSpPr>
            <a:spLocks xmlns:a="http://schemas.openxmlformats.org/drawingml/2006/main" noGrp="1"/>
          </p:cNvSpPr>
          <p:nvPr/>
        </p:nvSpPr>
        <p:spPr>
          <a:xfrm xmlns:a="http://schemas.openxmlformats.org/drawingml/2006/main">
            <a:off x="6496050" y="33051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Clean, unaudited FULL-DUPLEX-BENCH v1.5 capture</a:t>
            </a:r>
          </a:p>
        </p:txBody>
      </p:sp>
      <p:sp>
        <p:nvSpPr>
          <p:cNvPr id="16" name="">
            <a:extLst xmlns:a="http://schemas.openxmlformats.org/drawingml/2006/main">
              <a:ext uri="{FF2B5EF4-FFF2-40B4-BE49-F238E27FC236}">
                <a16:creationId xmlns:a16="http://schemas.microsoft.com/office/drawing/2014/main" id="{E1DBA6D3-F327-4A4A-AA2D-6609BBC2DE3D}"/>
              </a:ext>
            </a:extLst>
          </p:cNvPr>
          <p:cNvSpPr>
            <a:spLocks xmlns:a="http://schemas.openxmlformats.org/drawingml/2006/main" noGrp="1"/>
          </p:cNvSpPr>
          <p:nvPr/>
        </p:nvSpPr>
        <p:spPr>
          <a:xfrm xmlns:a="http://schemas.openxmlformats.org/drawingml/2006/main">
            <a:off x="6496050" y="38290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HTTPS endpoint when an administrator provides one</a:t>
            </a:r>
          </a:p>
        </p:txBody>
      </p:sp>
      <p:sp>
        <p:nvSpPr>
          <p:cNvPr id="17" name="">
            <a:extLst xmlns:a="http://schemas.openxmlformats.org/drawingml/2006/main">
              <a:ext uri="{FF2B5EF4-FFF2-40B4-BE49-F238E27FC236}">
                <a16:creationId xmlns:a16="http://schemas.microsoft.com/office/drawing/2014/main" id="{D7A86CBB-AB41-4C1D-8299-195ADAD926E3}"/>
              </a:ext>
            </a:extLst>
          </p:cNvPr>
          <p:cNvSpPr>
            <a:spLocks xmlns:a="http://schemas.openxmlformats.org/drawingml/2006/main" noGrp="1"/>
          </p:cNvSpPr>
          <p:nvPr/>
        </p:nvSpPr>
        <p:spPr>
          <a:xfrm xmlns:a="http://schemas.openxmlformats.org/drawingml/2006/main">
            <a:off x="6496050" y="48577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7F3D0"/>
                </a:solidFill>
                <a:latin typeface="Arial"/>
                <a:ea typeface="Arial"/>
                <a:cs typeface="Arial"/>
              </a:defRPr>
            </a:defPPr>
            <a:lvl1pPr>
              <a:defRPr sz="1500" b="1">
                <a:solidFill>
                  <a:srgbClr val="A7F3D0"/>
                </a:solidFill>
                <a:latin typeface="Arial"/>
                <a:ea typeface="Arial"/>
                <a:cs typeface="Arial"/>
              </a:defRPr>
            </a:lvl1pPr>
            <a:lvl2pPr>
              <a:defRPr sz="1500" b="1">
                <a:solidFill>
                  <a:srgbClr val="A7F3D0"/>
                </a:solidFill>
                <a:latin typeface="Arial"/>
                <a:ea typeface="Arial"/>
                <a:cs typeface="Arial"/>
              </a:defRPr>
            </a:lvl2pPr>
            <a:lvl3pPr>
              <a:defRPr sz="1500" b="1">
                <a:solidFill>
                  <a:srgbClr val="A7F3D0"/>
                </a:solidFill>
                <a:latin typeface="Arial"/>
                <a:ea typeface="Arial"/>
                <a:cs typeface="Arial"/>
              </a:defRPr>
            </a:lvl3pPr>
            <a:lvl4pPr>
              <a:defRPr sz="1500" b="1">
                <a:solidFill>
                  <a:srgbClr val="A7F3D0"/>
                </a:solidFill>
                <a:latin typeface="Arial"/>
                <a:ea typeface="Arial"/>
                <a:cs typeface="Arial"/>
              </a:defRPr>
            </a:lvl4pPr>
            <a:lvl5pPr>
              <a:defRPr sz="1500" b="1">
                <a:solidFill>
                  <a:srgbClr val="A7F3D0"/>
                </a:solidFill>
                <a:latin typeface="Arial"/>
                <a:ea typeface="Arial"/>
                <a:cs typeface="Arial"/>
              </a:defRPr>
            </a:lvl5pPr>
            <a:lvl6pPr>
              <a:defRPr sz="1500" b="1">
                <a:solidFill>
                  <a:srgbClr val="A7F3D0"/>
                </a:solidFill>
                <a:latin typeface="Arial"/>
                <a:ea typeface="Arial"/>
                <a:cs typeface="Arial"/>
              </a:defRPr>
            </a:lvl6pPr>
            <a:lvl7pPr>
              <a:defRPr sz="1500" b="1">
                <a:solidFill>
                  <a:srgbClr val="A7F3D0"/>
                </a:solidFill>
                <a:latin typeface="Arial"/>
                <a:ea typeface="Arial"/>
                <a:cs typeface="Arial"/>
              </a:defRPr>
            </a:lvl7pPr>
            <a:lvl8pPr>
              <a:defRPr sz="1500" b="1">
                <a:solidFill>
                  <a:srgbClr val="A7F3D0"/>
                </a:solidFill>
                <a:latin typeface="Arial"/>
                <a:ea typeface="Arial"/>
                <a:cs typeface="Arial"/>
              </a:defRPr>
            </a:lvl8pPr>
            <a:lvl9pPr>
              <a:defRPr sz="1500" b="1">
                <a:solidFill>
                  <a:srgbClr val="A7F3D0"/>
                </a:solidFill>
                <a:latin typeface="Arial"/>
                <a:ea typeface="Arial"/>
                <a:cs typeface="Arial"/>
              </a:defRPr>
            </a:lvl9pPr>
          </a:lstStyle>
          <a:p xmlns:a="http://schemas.openxmlformats.org/drawingml/2006/main">
            <a:pPr>
              <a:defRPr sz="1500" b="1">
                <a:solidFill>
                  <a:srgbClr val="A7F3D0"/>
                </a:solidFill>
                <a:latin typeface="Arial"/>
                <a:ea typeface="Arial"/>
                <a:cs typeface="Arial"/>
              </a:defRPr>
            </a:pPr>
            <a:r>
              <a:rPr sz="1500" b="1">
                <a:solidFill>
                  <a:srgbClr val="A7F3D0"/>
                </a:solidFill>
                <a:latin typeface="Arial"/>
                <a:ea typeface="Arial"/>
                <a:cs typeface="Arial"/>
              </a:rPr>
              <a:t>No training run is in the critical path.</a:t>
            </a:r>
          </a:p>
        </p:txBody>
      </p:sp>
      <p:sp>
        <p:nvSpPr>
          <p:cNvPr id="18" name="">
            <a:extLst xmlns:a="http://schemas.openxmlformats.org/drawingml/2006/main">
              <a:ext uri="{FF2B5EF4-FFF2-40B4-BE49-F238E27FC236}">
                <a16:creationId xmlns:a16="http://schemas.microsoft.com/office/drawing/2014/main" id="{67F3E6FC-118B-4266-9817-496A6D5520E0}"/>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6/7</a:t>
            </a:r>
          </a:p>
        </p:txBody>
      </p:sp>
    </p:spTree>
    <p:extLst>
      <p:ext uri="{BB962C8B-B14F-4D97-AF65-F5344CB8AC3E}">
        <p14:creationId xmlns:p14="http://schemas.microsoft.com/office/powerpoint/2010/main" val="441222156"/>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ose-rule">
            <a:extLst xmlns:a="http://schemas.openxmlformats.org/drawingml/2006/main">
              <a:ext uri="{FF2B5EF4-FFF2-40B4-BE49-F238E27FC236}">
                <a16:creationId xmlns:a16="http://schemas.microsoft.com/office/drawing/2014/main" id="{488A110B-5AC4-4B1C-9CAF-7A09107AF774}"/>
              </a:ext>
            </a:extLst>
          </p:cNvPr>
          <p:cNvSpPr>
            <a:spLocks xmlns:a="http://schemas.openxmlformats.org/drawingml/2006/main" noGrp="1"/>
          </p:cNvSpPr>
          <p:nvPr/>
        </p:nvSpPr>
        <p:spPr>
          <a:xfrm xmlns:a="http://schemas.openxmlformats.org/drawingml/2006/main">
            <a:off x="609600" y="609600"/>
            <a:ext cx="95250" cy="533400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2FEABC-8E9A-413E-8B2B-BDAD8C8A7D01}"/>
              </a:ext>
            </a:extLst>
          </p:cNvPr>
          <p:cNvSpPr>
            <a:spLocks xmlns:a="http://schemas.openxmlformats.org/drawingml/2006/main" noGrp="1"/>
          </p:cNvSpPr>
          <p:nvPr/>
        </p:nvSpPr>
        <p:spPr>
          <a:xfrm xmlns:a="http://schemas.openxmlformats.org/drawingml/2006/main">
            <a:off x="1066800" y="93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THE TAKEAWAY</a:t>
            </a:r>
          </a:p>
        </p:txBody>
      </p:sp>
      <p:sp>
        <p:nvSpPr>
          <p:cNvPr id="3" name="">
            <a:extLst xmlns:a="http://schemas.openxmlformats.org/drawingml/2006/main">
              <a:ext uri="{FF2B5EF4-FFF2-40B4-BE49-F238E27FC236}">
                <a16:creationId xmlns:a16="http://schemas.microsoft.com/office/drawing/2014/main" id="{9F9D7F2B-D2F8-476D-9BCD-196FB8ACA3C5}"/>
              </a:ext>
            </a:extLst>
          </p:cNvPr>
          <p:cNvSpPr>
            <a:spLocks xmlns:a="http://schemas.openxmlformats.org/drawingml/2006/main" noGrp="1"/>
          </p:cNvSpPr>
          <p:nvPr/>
        </p:nvSpPr>
        <p:spPr>
          <a:xfrm xmlns:a="http://schemas.openxmlformats.org/drawingml/2006/main">
            <a:off x="1066800" y="14668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7FAFC"/>
                </a:solidFill>
                <a:latin typeface="Arial"/>
                <a:ea typeface="Arial"/>
                <a:cs typeface="Arial"/>
              </a:defRPr>
            </a:defPPr>
            <a:lvl1pPr>
              <a:defRPr sz="3450" b="1">
                <a:solidFill>
                  <a:srgbClr val="F7FAFC"/>
                </a:solidFill>
                <a:latin typeface="Arial"/>
                <a:ea typeface="Arial"/>
                <a:cs typeface="Arial"/>
              </a:defRPr>
            </a:lvl1pPr>
            <a:lvl2pPr>
              <a:defRPr sz="3450" b="1">
                <a:solidFill>
                  <a:srgbClr val="F7FAFC"/>
                </a:solidFill>
                <a:latin typeface="Arial"/>
                <a:ea typeface="Arial"/>
                <a:cs typeface="Arial"/>
              </a:defRPr>
            </a:lvl2pPr>
            <a:lvl3pPr>
              <a:defRPr sz="3450" b="1">
                <a:solidFill>
                  <a:srgbClr val="F7FAFC"/>
                </a:solidFill>
                <a:latin typeface="Arial"/>
                <a:ea typeface="Arial"/>
                <a:cs typeface="Arial"/>
              </a:defRPr>
            </a:lvl3pPr>
            <a:lvl4pPr>
              <a:defRPr sz="3450" b="1">
                <a:solidFill>
                  <a:srgbClr val="F7FAFC"/>
                </a:solidFill>
                <a:latin typeface="Arial"/>
                <a:ea typeface="Arial"/>
                <a:cs typeface="Arial"/>
              </a:defRPr>
            </a:lvl4pPr>
            <a:lvl5pPr>
              <a:defRPr sz="3450" b="1">
                <a:solidFill>
                  <a:srgbClr val="F7FAFC"/>
                </a:solidFill>
                <a:latin typeface="Arial"/>
                <a:ea typeface="Arial"/>
                <a:cs typeface="Arial"/>
              </a:defRPr>
            </a:lvl5pPr>
            <a:lvl6pPr>
              <a:defRPr sz="3450" b="1">
                <a:solidFill>
                  <a:srgbClr val="F7FAFC"/>
                </a:solidFill>
                <a:latin typeface="Arial"/>
                <a:ea typeface="Arial"/>
                <a:cs typeface="Arial"/>
              </a:defRPr>
            </a:lvl6pPr>
            <a:lvl7pPr>
              <a:defRPr sz="3450" b="1">
                <a:solidFill>
                  <a:srgbClr val="F7FAFC"/>
                </a:solidFill>
                <a:latin typeface="Arial"/>
                <a:ea typeface="Arial"/>
                <a:cs typeface="Arial"/>
              </a:defRPr>
            </a:lvl7pPr>
            <a:lvl8pPr>
              <a:defRPr sz="3450" b="1">
                <a:solidFill>
                  <a:srgbClr val="F7FAFC"/>
                </a:solidFill>
                <a:latin typeface="Arial"/>
                <a:ea typeface="Arial"/>
                <a:cs typeface="Arial"/>
              </a:defRPr>
            </a:lvl8pPr>
            <a:lvl9pPr>
              <a:defRPr sz="3450" b="1">
                <a:solidFill>
                  <a:srgbClr val="F7FAFC"/>
                </a:solidFill>
                <a:latin typeface="Arial"/>
                <a:ea typeface="Arial"/>
                <a:cs typeface="Arial"/>
              </a:defRPr>
            </a:lvl9pPr>
          </a:lstStyle>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 voice agent becomes</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useful when it can act</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and show its work.</a:t>
            </a:r>
          </a:p>
        </p:txBody>
      </p:sp>
      <p:sp>
        <p:nvSpPr>
          <p:cNvPr id="4" name="">
            <a:extLst xmlns:a="http://schemas.openxmlformats.org/drawingml/2006/main">
              <a:ext uri="{FF2B5EF4-FFF2-40B4-BE49-F238E27FC236}">
                <a16:creationId xmlns:a16="http://schemas.microsoft.com/office/drawing/2014/main" id="{85AA3186-719C-4D2F-851D-41CD367B1EC5}"/>
              </a:ext>
            </a:extLst>
          </p:cNvPr>
          <p:cNvSpPr>
            <a:spLocks xmlns:a="http://schemas.openxmlformats.org/drawingml/2006/main" noGrp="1"/>
          </p:cNvSpPr>
          <p:nvPr/>
        </p:nvSpPr>
        <p:spPr>
          <a:xfrm xmlns:a="http://schemas.openxmlformats.org/drawingml/2006/main">
            <a:off x="1104900" y="34099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A8B8CA"/>
                </a:solidFill>
                <a:latin typeface="Arial"/>
                <a:ea typeface="Arial"/>
                <a:cs typeface="Arial"/>
              </a:defRPr>
            </a:defPPr>
            <a:lvl1pPr>
              <a:defRPr sz="1650">
                <a:solidFill>
                  <a:srgbClr val="A8B8CA"/>
                </a:solidFill>
                <a:latin typeface="Arial"/>
                <a:ea typeface="Arial"/>
                <a:cs typeface="Arial"/>
              </a:defRPr>
            </a:lvl1pPr>
            <a:lvl2pPr>
              <a:defRPr sz="1650">
                <a:solidFill>
                  <a:srgbClr val="A8B8CA"/>
                </a:solidFill>
                <a:latin typeface="Arial"/>
                <a:ea typeface="Arial"/>
                <a:cs typeface="Arial"/>
              </a:defRPr>
            </a:lvl2pPr>
            <a:lvl3pPr>
              <a:defRPr sz="1650">
                <a:solidFill>
                  <a:srgbClr val="A8B8CA"/>
                </a:solidFill>
                <a:latin typeface="Arial"/>
                <a:ea typeface="Arial"/>
                <a:cs typeface="Arial"/>
              </a:defRPr>
            </a:lvl3pPr>
            <a:lvl4pPr>
              <a:defRPr sz="1650">
                <a:solidFill>
                  <a:srgbClr val="A8B8CA"/>
                </a:solidFill>
                <a:latin typeface="Arial"/>
                <a:ea typeface="Arial"/>
                <a:cs typeface="Arial"/>
              </a:defRPr>
            </a:lvl4pPr>
            <a:lvl5pPr>
              <a:defRPr sz="1650">
                <a:solidFill>
                  <a:srgbClr val="A8B8CA"/>
                </a:solidFill>
                <a:latin typeface="Arial"/>
                <a:ea typeface="Arial"/>
                <a:cs typeface="Arial"/>
              </a:defRPr>
            </a:lvl5pPr>
            <a:lvl6pPr>
              <a:defRPr sz="1650">
                <a:solidFill>
                  <a:srgbClr val="A8B8CA"/>
                </a:solidFill>
                <a:latin typeface="Arial"/>
                <a:ea typeface="Arial"/>
                <a:cs typeface="Arial"/>
              </a:defRPr>
            </a:lvl6pPr>
            <a:lvl7pPr>
              <a:defRPr sz="1650">
                <a:solidFill>
                  <a:srgbClr val="A8B8CA"/>
                </a:solidFill>
                <a:latin typeface="Arial"/>
                <a:ea typeface="Arial"/>
                <a:cs typeface="Arial"/>
              </a:defRPr>
            </a:lvl7pPr>
            <a:lvl8pPr>
              <a:defRPr sz="1650">
                <a:solidFill>
                  <a:srgbClr val="A8B8CA"/>
                </a:solidFill>
                <a:latin typeface="Arial"/>
                <a:ea typeface="Arial"/>
                <a:cs typeface="Arial"/>
              </a:defRPr>
            </a:lvl8pPr>
            <a:lvl9pPr>
              <a:defRPr sz="1650">
                <a:solidFill>
                  <a:srgbClr val="A8B8CA"/>
                </a:solidFill>
                <a:latin typeface="Arial"/>
                <a:ea typeface="Arial"/>
                <a:cs typeface="Arial"/>
              </a:defRPr>
            </a:lvl9pPr>
          </a:lstStyle>
          <a:p xmlns:a="http://schemas.openxmlformats.org/drawingml/2006/main">
            <a:pPr>
              <a:defRPr sz="1650">
                <a:solidFill>
                  <a:srgbClr val="A8B8CA"/>
                </a:solidFill>
                <a:latin typeface="Arial"/>
                <a:ea typeface="Arial"/>
                <a:cs typeface="Arial"/>
              </a:defRPr>
            </a:pPr>
            <a:r>
              <a:rPr sz="1650">
                <a:solidFill>
                  <a:srgbClr val="A8B8CA"/>
                </a:solidFill>
                <a:latin typeface="Arial"/>
                <a:ea typeface="Arial"/>
                <a:cs typeface="Arial"/>
              </a:rPr>
              <a:t>ME3 combines full-duplex audio, Qwen inference, typed tools, and verification into a deployable Raspberry Pi workflow.</a:t>
            </a:r>
          </a:p>
        </p:txBody>
      </p:sp>
      <p:sp>
        <p:nvSpPr>
          <p:cNvPr id="5" name="close-card">
            <a:extLst xmlns:a="http://schemas.openxmlformats.org/drawingml/2006/main">
              <a:ext uri="{FF2B5EF4-FFF2-40B4-BE49-F238E27FC236}">
                <a16:creationId xmlns:a16="http://schemas.microsoft.com/office/drawing/2014/main" id="{E6AD4BF4-6BF9-4B92-8015-FFB8DFF5E970}"/>
              </a:ext>
            </a:extLst>
          </p:cNvPr>
          <p:cNvSpPr>
            <a:spLocks xmlns:a="http://schemas.openxmlformats.org/drawingml/2006/main" noGrp="1"/>
          </p:cNvSpPr>
          <p:nvPr/>
        </p:nvSpPr>
        <p:spPr>
          <a:xfrm xmlns:a="http://schemas.openxmlformats.org/drawingml/2006/main">
            <a:off x="8572500" y="1524000"/>
            <a:ext cx="2381250" cy="2381250"/>
          </a:xfrm>
          <a:prstGeom xmlns:a="http://schemas.openxmlformats.org/drawingml/2006/main" prst="roundRect">
            <a:avLst>
              <a:gd name="adj" fmla="val 4800"/>
            </a:avLst>
          </a:prstGeom>
          <a:solidFill xmlns:a="http://schemas.openxmlformats.org/drawingml/2006/main">
            <a:srgbClr val="14324A"/>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15E2118F-5430-40E4-ADDB-0D3CCDBB8844}"/>
              </a:ext>
            </a:extLst>
          </p:cNvPr>
          <p:cNvSpPr>
            <a:spLocks xmlns:a="http://schemas.openxmlformats.org/drawingml/2006/main" noGrp="1"/>
          </p:cNvSpPr>
          <p:nvPr/>
        </p:nvSpPr>
        <p:spPr>
          <a:xfrm xmlns:a="http://schemas.openxmlformats.org/drawingml/2006/main">
            <a:off x="8896350" y="1857375"/>
            <a:ext cx="180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60A5FA"/>
                </a:solidFill>
                <a:latin typeface="Arial"/>
                <a:ea typeface="Arial"/>
                <a:cs typeface="Arial"/>
              </a:defRPr>
            </a:defPPr>
            <a:lvl1pPr>
              <a:defRPr sz="1875" b="1">
                <a:solidFill>
                  <a:srgbClr val="60A5FA"/>
                </a:solidFill>
                <a:latin typeface="Arial"/>
                <a:ea typeface="Arial"/>
                <a:cs typeface="Arial"/>
              </a:defRPr>
            </a:lvl1pPr>
            <a:lvl2pPr>
              <a:defRPr sz="1875" b="1">
                <a:solidFill>
                  <a:srgbClr val="60A5FA"/>
                </a:solidFill>
                <a:latin typeface="Arial"/>
                <a:ea typeface="Arial"/>
                <a:cs typeface="Arial"/>
              </a:defRPr>
            </a:lvl2pPr>
            <a:lvl3pPr>
              <a:defRPr sz="1875" b="1">
                <a:solidFill>
                  <a:srgbClr val="60A5FA"/>
                </a:solidFill>
                <a:latin typeface="Arial"/>
                <a:ea typeface="Arial"/>
                <a:cs typeface="Arial"/>
              </a:defRPr>
            </a:lvl3pPr>
            <a:lvl4pPr>
              <a:defRPr sz="1875" b="1">
                <a:solidFill>
                  <a:srgbClr val="60A5FA"/>
                </a:solidFill>
                <a:latin typeface="Arial"/>
                <a:ea typeface="Arial"/>
                <a:cs typeface="Arial"/>
              </a:defRPr>
            </a:lvl4pPr>
            <a:lvl5pPr>
              <a:defRPr sz="1875" b="1">
                <a:solidFill>
                  <a:srgbClr val="60A5FA"/>
                </a:solidFill>
                <a:latin typeface="Arial"/>
                <a:ea typeface="Arial"/>
                <a:cs typeface="Arial"/>
              </a:defRPr>
            </a:lvl5pPr>
            <a:lvl6pPr>
              <a:defRPr sz="1875" b="1">
                <a:solidFill>
                  <a:srgbClr val="60A5FA"/>
                </a:solidFill>
                <a:latin typeface="Arial"/>
                <a:ea typeface="Arial"/>
                <a:cs typeface="Arial"/>
              </a:defRPr>
            </a:lvl6pPr>
            <a:lvl7pPr>
              <a:defRPr sz="1875" b="1">
                <a:solidFill>
                  <a:srgbClr val="60A5FA"/>
                </a:solidFill>
                <a:latin typeface="Arial"/>
                <a:ea typeface="Arial"/>
                <a:cs typeface="Arial"/>
              </a:defRPr>
            </a:lvl7pPr>
            <a:lvl8pPr>
              <a:defRPr sz="1875" b="1">
                <a:solidFill>
                  <a:srgbClr val="60A5FA"/>
                </a:solidFill>
                <a:latin typeface="Arial"/>
                <a:ea typeface="Arial"/>
                <a:cs typeface="Arial"/>
              </a:defRPr>
            </a:lvl8pPr>
            <a:lvl9pPr>
              <a:defRPr sz="1875" b="1">
                <a:solidFill>
                  <a:srgbClr val="60A5FA"/>
                </a:solidFill>
                <a:latin typeface="Arial"/>
                <a:ea typeface="Arial"/>
                <a:cs typeface="Arial"/>
              </a:defRPr>
            </a:lvl9pPr>
          </a:lstStyle>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VOICE</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TOOLS</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DB69E1A7-1BD8-4105-909F-17864B31A39D}"/>
              </a:ext>
            </a:extLst>
          </p:cNvPr>
          <p:cNvSpPr>
            <a:spLocks xmlns:a="http://schemas.openxmlformats.org/drawingml/2006/main" noGrp="1"/>
          </p:cNvSpPr>
          <p:nvPr/>
        </p:nvSpPr>
        <p:spPr>
          <a:xfrm xmlns:a="http://schemas.openxmlformats.org/drawingml/2006/main">
            <a:off x="1104900" y="514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A7F3D0"/>
                </a:solidFill>
                <a:latin typeface="Arial"/>
                <a:ea typeface="Arial"/>
                <a:cs typeface="Arial"/>
              </a:defRPr>
            </a:defPPr>
            <a:lvl1pPr>
              <a:defRPr sz="1425" b="1">
                <a:solidFill>
                  <a:srgbClr val="A7F3D0"/>
                </a:solidFill>
                <a:latin typeface="Arial"/>
                <a:ea typeface="Arial"/>
                <a:cs typeface="Arial"/>
              </a:defRPr>
            </a:lvl1pPr>
            <a:lvl2pPr>
              <a:defRPr sz="1425" b="1">
                <a:solidFill>
                  <a:srgbClr val="A7F3D0"/>
                </a:solidFill>
                <a:latin typeface="Arial"/>
                <a:ea typeface="Arial"/>
                <a:cs typeface="Arial"/>
              </a:defRPr>
            </a:lvl2pPr>
            <a:lvl3pPr>
              <a:defRPr sz="1425" b="1">
                <a:solidFill>
                  <a:srgbClr val="A7F3D0"/>
                </a:solidFill>
                <a:latin typeface="Arial"/>
                <a:ea typeface="Arial"/>
                <a:cs typeface="Arial"/>
              </a:defRPr>
            </a:lvl3pPr>
            <a:lvl4pPr>
              <a:defRPr sz="1425" b="1">
                <a:solidFill>
                  <a:srgbClr val="A7F3D0"/>
                </a:solidFill>
                <a:latin typeface="Arial"/>
                <a:ea typeface="Arial"/>
                <a:cs typeface="Arial"/>
              </a:defRPr>
            </a:lvl4pPr>
            <a:lvl5pPr>
              <a:defRPr sz="1425" b="1">
                <a:solidFill>
                  <a:srgbClr val="A7F3D0"/>
                </a:solidFill>
                <a:latin typeface="Arial"/>
                <a:ea typeface="Arial"/>
                <a:cs typeface="Arial"/>
              </a:defRPr>
            </a:lvl5pPr>
            <a:lvl6pPr>
              <a:defRPr sz="1425" b="1">
                <a:solidFill>
                  <a:srgbClr val="A7F3D0"/>
                </a:solidFill>
                <a:latin typeface="Arial"/>
                <a:ea typeface="Arial"/>
                <a:cs typeface="Arial"/>
              </a:defRPr>
            </a:lvl6pPr>
            <a:lvl7pPr>
              <a:defRPr sz="1425" b="1">
                <a:solidFill>
                  <a:srgbClr val="A7F3D0"/>
                </a:solidFill>
                <a:latin typeface="Arial"/>
                <a:ea typeface="Arial"/>
                <a:cs typeface="Arial"/>
              </a:defRPr>
            </a:lvl7pPr>
            <a:lvl8pPr>
              <a:defRPr sz="1425" b="1">
                <a:solidFill>
                  <a:srgbClr val="A7F3D0"/>
                </a:solidFill>
                <a:latin typeface="Arial"/>
                <a:ea typeface="Arial"/>
                <a:cs typeface="Arial"/>
              </a:defRPr>
            </a:lvl8pPr>
            <a:lvl9pPr>
              <a:defRPr sz="1425" b="1">
                <a:solidFill>
                  <a:srgbClr val="A7F3D0"/>
                </a:solidFill>
                <a:latin typeface="Arial"/>
                <a:ea typeface="Arial"/>
                <a:cs typeface="Arial"/>
              </a:defRPr>
            </a:lvl9pPr>
          </a:lstStyle>
          <a:p xmlns:a="http://schemas.openxmlformats.org/drawingml/2006/main">
            <a:pPr>
              <a:defRPr sz="1425" b="1">
                <a:solidFill>
                  <a:srgbClr val="A7F3D0"/>
                </a:solidFill>
                <a:latin typeface="Arial"/>
                <a:ea typeface="Arial"/>
                <a:cs typeface="Arial"/>
              </a:defRPr>
            </a:pPr>
            <a:r>
              <a:rPr sz="1425" b="1">
                <a:solidFill>
                  <a:srgbClr val="A7F3D0"/>
                </a:solidFill>
                <a:latin typeface="Arial"/>
                <a:ea typeface="Arial"/>
                <a:cs typeface="Arial"/>
              </a:rPr>
              <a:t>Next: Pi audio + clean benchmark</a:t>
            </a:r>
          </a:p>
        </p:txBody>
      </p:sp>
      <p:sp>
        <p:nvSpPr>
          <p:cNvPr id="8" name="">
            <a:extLst xmlns:a="http://schemas.openxmlformats.org/drawingml/2006/main">
              <a:ext uri="{FF2B5EF4-FFF2-40B4-BE49-F238E27FC236}">
                <a16:creationId xmlns:a16="http://schemas.microsoft.com/office/drawing/2014/main" id="{5AF2FC53-0E45-4268-9457-6CB95D027B7C}"/>
              </a:ext>
            </a:extLst>
          </p:cNvPr>
          <p:cNvSpPr>
            <a:spLocks xmlns:a="http://schemas.openxmlformats.org/drawingml/2006/main" noGrp="1"/>
          </p:cNvSpPr>
          <p:nvPr/>
        </p:nvSpPr>
        <p:spPr>
          <a:xfrm xmlns:a="http://schemas.openxmlformats.org/drawingml/2006/main">
            <a:off x="1104900" y="5619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Documentation: ELI5/deep manual • ACM two-column paper • source + receipts</a:t>
            </a:r>
          </a:p>
        </p:txBody>
      </p:sp>
      <p:sp>
        <p:nvSpPr>
          <p:cNvPr id="9" name="">
            <a:extLst xmlns:a="http://schemas.openxmlformats.org/drawingml/2006/main">
              <a:ext uri="{FF2B5EF4-FFF2-40B4-BE49-F238E27FC236}">
                <a16:creationId xmlns:a16="http://schemas.microsoft.com/office/drawing/2014/main" id="{E4D3DC32-50BE-4EC0-A2F9-D2B1AD524FDD}"/>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7/7</a:t>
            </a:r>
          </a:p>
        </p:txBody>
      </p:sp>
    </p:spTree>
    <p:extLst>
      <p:ext uri="{BB962C8B-B14F-4D97-AF65-F5344CB8AC3E}">
        <p14:creationId xmlns:p14="http://schemas.microsoft.com/office/powerpoint/2010/main" val="1700605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2026-10-24T16:18:52.0480000Z</dcterms:created>
  <dcterms:modified xsi:type="dcterms:W3CDTF">2026-10-24T16:18:52.0480000Z</dcterms:modified>
</coreProperties>
</file>